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3" r:id="rId21"/>
    <p:sldId id="274" r:id="rId22"/>
    <p:sldId id="275" r:id="rId23"/>
    <p:sldId id="276" r:id="rId24"/>
    <p:sldId id="27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28E7F8-0AA7-4BFC-909F-1CB2E0A933E8}" v="35" dt="2020-12-14T04:05:34.0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-83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100234" userId="S::bishwajit.roy@vitbhopal.ac.in::60d196f8-eb86-4eb7-88e8-3bba8b3913a4" providerId="AD" clId="Web-{6D28E7F8-0AA7-4BFC-909F-1CB2E0A933E8}"/>
    <pc:docChg chg="addSld delSld modSld">
      <pc:chgData name="100234" userId="S::bishwajit.roy@vitbhopal.ac.in::60d196f8-eb86-4eb7-88e8-3bba8b3913a4" providerId="AD" clId="Web-{6D28E7F8-0AA7-4BFC-909F-1CB2E0A933E8}" dt="2020-12-14T04:05:34.073" v="33" actId="20577"/>
      <pc:docMkLst>
        <pc:docMk/>
      </pc:docMkLst>
      <pc:sldChg chg="addSp delSp modSp">
        <pc:chgData name="100234" userId="S::bishwajit.roy@vitbhopal.ac.in::60d196f8-eb86-4eb7-88e8-3bba8b3913a4" providerId="AD" clId="Web-{6D28E7F8-0AA7-4BFC-909F-1CB2E0A933E8}" dt="2020-12-14T04:03:27.320" v="2"/>
        <pc:sldMkLst>
          <pc:docMk/>
          <pc:sldMk cId="3100323470" sldId="256"/>
        </pc:sldMkLst>
        <pc:picChg chg="add del mod">
          <ac:chgData name="100234" userId="S::bishwajit.roy@vitbhopal.ac.in::60d196f8-eb86-4eb7-88e8-3bba8b3913a4" providerId="AD" clId="Web-{6D28E7F8-0AA7-4BFC-909F-1CB2E0A933E8}" dt="2020-12-14T04:03:27.320" v="2"/>
          <ac:picMkLst>
            <pc:docMk/>
            <pc:sldMk cId="3100323470" sldId="256"/>
            <ac:picMk id="4" creationId="{998E0815-F93F-4F94-969B-5849C688B10A}"/>
          </ac:picMkLst>
        </pc:picChg>
      </pc:sldChg>
      <pc:sldChg chg="modSp add del">
        <pc:chgData name="100234" userId="S::bishwajit.roy@vitbhopal.ac.in::60d196f8-eb86-4eb7-88e8-3bba8b3913a4" providerId="AD" clId="Web-{6D28E7F8-0AA7-4BFC-909F-1CB2E0A933E8}" dt="2020-12-14T04:05:34.073" v="32" actId="20577"/>
        <pc:sldMkLst>
          <pc:docMk/>
          <pc:sldMk cId="1147567909" sldId="257"/>
        </pc:sldMkLst>
        <pc:spChg chg="mod">
          <ac:chgData name="100234" userId="S::bishwajit.roy@vitbhopal.ac.in::60d196f8-eb86-4eb7-88e8-3bba8b3913a4" providerId="AD" clId="Web-{6D28E7F8-0AA7-4BFC-909F-1CB2E0A933E8}" dt="2020-12-14T04:05:34.073" v="32" actId="20577"/>
          <ac:spMkLst>
            <pc:docMk/>
            <pc:sldMk cId="1147567909" sldId="257"/>
            <ac:spMk id="3" creationId="{3E1F8D42-1211-40D6-B005-B1879FA6965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47D18F-F0ED-4E2D-99B2-DBBFF4E49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B4D1D372-C033-43AB-A8B0-6D04F3B10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3CD4E43-D65C-499D-9731-E8EA97458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E1CE5-312F-4923-BADC-66D25D93E5F3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1C5DF8D-EC38-4528-B9A8-33492B878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35F3BFC-5A8C-4207-8119-CD59D4FA5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14C4F-B73B-48A7-B629-D0BA96839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330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FE3DE07-D656-4569-B61A-84291A14B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0E6833F-1FD6-480C-A459-3D0329B66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A9DFBF3-9984-48FB-9467-69E6D134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E1CE5-312F-4923-BADC-66D25D93E5F3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CA64EF7-2E90-47E0-8CC4-257790B13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337F0D4-F89E-403B-9D3D-1427771D3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14C4F-B73B-48A7-B629-D0BA96839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059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C7DB36-B274-4C12-8A1C-91111CE3E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ECF0BB5-FDC2-409E-A194-3CEB33387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965DC47-8968-4F06-BFFE-5E843566A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E1CE5-312F-4923-BADC-66D25D93E5F3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C2E0630-A84B-4DDC-A797-6B6EAD9A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563DED2-D46C-4027-9D6E-108A6D56C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14C4F-B73B-48A7-B629-D0BA96839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65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DEA0774-79B3-49B7-A3E7-988EE4B62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353E857-CCBE-4F71-A9A4-7641A953FE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62EC8E2-1636-43CE-8B14-236B904D2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1307FB2-3BDF-4289-A0B7-5CC55B0B0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E1CE5-312F-4923-BADC-66D25D93E5F3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ED90F33-E46A-43BE-8D6D-844483585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EA3D1B8-8043-4180-A2E5-CF0C8938B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14C4F-B73B-48A7-B629-D0BA96839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4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6AD9E62-D04E-42F8-B6BD-E1ECD524F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59B1087-54A4-4C24-BBC4-FF2079582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EE107C4A-7A2C-4BF9-B8CB-FF0FB1FCE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AE15D06B-E63D-45AB-A8C9-FB4BAC4328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843CDF9-2CE9-409E-BC09-60FF4557B1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2E342F95-CE40-467D-8184-6F780B30A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E1CE5-312F-4923-BADC-66D25D93E5F3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4787B93A-4186-4059-BB10-724B3B278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A009A3F9-3AD4-4FB1-B75E-D8B081DA7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14C4F-B73B-48A7-B629-D0BA96839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764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660CC94-E163-49FD-9E3C-FD9128B79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F5904CF2-FB17-4AD2-939A-D4A551FE6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E1CE5-312F-4923-BADC-66D25D93E5F3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013C0A44-78A3-43BA-9689-E68835227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B2B9611-F719-4BDA-89AB-769AED2D6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14C4F-B73B-48A7-B629-D0BA96839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200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021403CC-5CC1-44C8-8D06-25B2D363E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E1CE5-312F-4923-BADC-66D25D93E5F3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43768EFE-655C-4619-B0A5-FDE3F6080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90C5A0E-6173-48C6-B588-317390FF4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14C4F-B73B-48A7-B629-D0BA96839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035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26DD5D1-1024-4265-A491-97957C285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F5CD5FF-AE0B-4117-9AA2-FFCCA8EF6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D7D82412-56E4-4ADB-B1A9-350EAA749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5ADCDF3-BC89-4130-A891-4BC4912EF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E1CE5-312F-4923-BADC-66D25D93E5F3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FE859D4-128D-424C-BA06-87AA4D476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FEE026A-2FF4-4359-8A7D-187FF665A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14C4F-B73B-48A7-B629-D0BA96839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107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D92D468-6712-44D4-BA27-E331BE898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4AE932EF-D75D-448F-A35F-0BD298BA3B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BA22195-4BAB-43A0-89B9-D796BE211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D350321-6B48-405A-8DB5-7C71F1A52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E1CE5-312F-4923-BADC-66D25D93E5F3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9AA7598-CD78-4349-8662-C7E245B3E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6B8A132-3689-4F67-8780-9B6E35DD1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14C4F-B73B-48A7-B629-D0BA96839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571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7B0FC8-E2EA-4AC0-990B-2756875BC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58DDF010-5BD7-4E8A-B05B-D91A3CAD43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4317F4E-653D-4E6F-AC3F-A2CD7AAB1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E1CE5-312F-4923-BADC-66D25D93E5F3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FF6EF83-23B7-4528-BA0F-2B1A6D7EA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24834F7-3237-44FA-8EF7-2A0EB495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14C4F-B73B-48A7-B629-D0BA96839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424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9391E418-07F7-48F4-BC2B-46AA7B40E5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79BFB228-ED24-4694-99CD-B6AAE3358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0C31D21-A2D0-417C-8F67-A6C9EC16D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E1CE5-312F-4923-BADC-66D25D93E5F3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2FAB653-27EE-4067-8B67-4C441E52F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9EEA0C7-870C-4981-8710-0B1B91203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14C4F-B73B-48A7-B629-D0BA96839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578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0089123D-6C01-4C9E-A6A4-6D8A9AB1F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3E0D394-80C5-403C-BB60-EEC8EAE7C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83A7B1-8BDD-4896-884C-6FF99C32D8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E1CE5-312F-4923-BADC-66D25D93E5F3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F5D3633-08B0-4499-BCCD-B477C9EE7B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F3A4B7E-A51D-41AF-9C49-8AAAF8C76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14C4F-B73B-48A7-B629-D0BA96839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573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BFF3B4A-9A6F-4452-B30F-84E41BAB40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5ACFC91-E4FA-4AF7-86E9-C78EF49840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323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1AE642-294C-4FF7-B80E-92DC760D5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E1F8D42-1211-40D6-B005-B1879FA69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2400">
                <a:ea typeface="+mn-lt"/>
                <a:cs typeface="+mn-lt"/>
              </a:rPr>
              <a:t>•A set in Python holds a sequence of values.</a:t>
            </a:r>
            <a:endParaRPr lang="en-IN" sz="2400" dirty="0">
              <a:cs typeface="Calibri"/>
            </a:endParaRPr>
          </a:p>
          <a:p>
            <a:pPr marL="0" indent="0">
              <a:buNone/>
            </a:pPr>
            <a:r>
              <a:rPr lang="en-IN" sz="2400">
                <a:ea typeface="+mn-lt"/>
                <a:cs typeface="+mn-lt"/>
              </a:rPr>
              <a:t>•It does not support indexing. </a:t>
            </a:r>
            <a:endParaRPr lang="en-IN">
              <a:cs typeface="Calibri" panose="020F0502020204030204"/>
            </a:endParaRPr>
          </a:p>
          <a:p>
            <a:pPr marL="0" indent="0">
              <a:buNone/>
            </a:pPr>
            <a:r>
              <a:rPr lang="en-IN" sz="2400">
                <a:ea typeface="+mn-lt"/>
                <a:cs typeface="+mn-lt"/>
              </a:rPr>
              <a:t>•It may contain values of different data types.</a:t>
            </a:r>
            <a:endParaRPr lang="en-IN">
              <a:cs typeface="Calibri" panose="020F0502020204030204"/>
            </a:endParaRPr>
          </a:p>
          <a:p>
            <a:pPr marL="0" indent="0">
              <a:buNone/>
            </a:pPr>
            <a:r>
              <a:rPr lang="en-IN" sz="2400" dirty="0">
                <a:ea typeface="+mn-lt"/>
                <a:cs typeface="+mn-lt"/>
              </a:rPr>
              <a:t>•An interpreter may sorted</a:t>
            </a:r>
            <a:r>
              <a:rPr lang="en-IN" sz="2400">
                <a:ea typeface="+mn-lt"/>
                <a:cs typeface="+mn-lt"/>
              </a:rPr>
              <a:t> the element of a set in</a:t>
            </a:r>
            <a:r>
              <a:rPr lang="en-IN" sz="2400" dirty="0">
                <a:ea typeface="+mn-lt"/>
                <a:cs typeface="+mn-lt"/>
              </a:rPr>
              <a:t> ascending order.</a:t>
            </a:r>
            <a:endParaRPr lang="en-IN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IN" sz="2400">
                <a:ea typeface="+mn-lt"/>
                <a:cs typeface="+mn-lt"/>
              </a:rPr>
              <a:t>•A Set may allow random assignment of elements.</a:t>
            </a:r>
            <a:endParaRPr lang="en-IN">
              <a:cs typeface="Calibri" panose="020F0502020204030204"/>
            </a:endParaRPr>
          </a:p>
          <a:p>
            <a:endParaRPr lang="en-IN" sz="24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47567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EBBFED3-2DB6-4570-A6DE-8F732BAE7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0" i="0" dirty="0">
                <a:solidFill>
                  <a:srgbClr val="444444"/>
                </a:solidFill>
                <a:effectLst/>
                <a:latin typeface="+mn-lt"/>
              </a:rPr>
              <a:t>Creating a Set</a:t>
            </a:r>
            <a:endParaRPr lang="en-IN" sz="4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586E493-B5CA-4D28-B15F-84BF578E1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/>
              <a:t>We need to type a sequence of items separated by commas, inside curly braces.</a:t>
            </a:r>
          </a:p>
          <a:p>
            <a:pPr algn="just"/>
            <a:endParaRPr lang="en-IN" sz="2400" dirty="0"/>
          </a:p>
          <a:p>
            <a:pPr algn="just"/>
            <a:endParaRPr lang="en-IN" sz="2400" dirty="0"/>
          </a:p>
          <a:p>
            <a:pPr algn="just"/>
            <a:endParaRPr lang="en-IN" sz="2400" dirty="0"/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A set also can not contain duplicate elements.</a:t>
            </a:r>
          </a:p>
          <a:p>
            <a:pPr algn="just"/>
            <a:endParaRPr lang="en-IN" sz="2400" dirty="0"/>
          </a:p>
          <a:p>
            <a:pPr algn="just"/>
            <a:endParaRPr lang="en-IN" sz="2400" dirty="0"/>
          </a:p>
          <a:p>
            <a:pPr algn="just"/>
            <a:endParaRPr lang="en-IN" sz="2400" dirty="0"/>
          </a:p>
          <a:p>
            <a:pPr algn="just"/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299E1B3-8BA6-4DC1-9251-20B4C84EB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51" y="2662748"/>
            <a:ext cx="2510906" cy="9959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33E76E8B-F8C1-4161-8EEE-B623E1CE6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712" y="2662748"/>
            <a:ext cx="3790537" cy="9959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AE28898C-D4E6-43BB-B085-E5E151031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5751" y="4905957"/>
            <a:ext cx="2404440" cy="86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104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DB98CE9-A3A2-4A7A-9D88-6C82BB73E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400" b="0" i="0" dirty="0">
                <a:solidFill>
                  <a:srgbClr val="444444"/>
                </a:solidFill>
                <a:effectLst/>
                <a:latin typeface="+mn-lt"/>
              </a:rPr>
              <a:t>Creating a 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FA8EDCD-6FE6-426A-BE26-168C59BFC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/>
              <a:t>A set is mutable, but may not contain mutable items like a </a:t>
            </a:r>
            <a:r>
              <a:rPr lang="en-IN" sz="2400" b="1" dirty="0"/>
              <a:t>list</a:t>
            </a:r>
            <a:r>
              <a:rPr lang="en-IN" sz="2400" dirty="0"/>
              <a:t>, </a:t>
            </a:r>
            <a:r>
              <a:rPr lang="en-IN" sz="2400" b="1" dirty="0"/>
              <a:t>set</a:t>
            </a:r>
            <a:r>
              <a:rPr lang="en-IN" sz="2400" dirty="0"/>
              <a:t>, or even a </a:t>
            </a:r>
            <a:r>
              <a:rPr lang="en-IN" sz="2400" b="1" dirty="0"/>
              <a:t>dictionary</a:t>
            </a:r>
            <a:r>
              <a:rPr lang="en-IN" sz="2400" dirty="0"/>
              <a:t>.</a:t>
            </a:r>
          </a:p>
          <a:p>
            <a:pPr algn="just"/>
            <a:endParaRPr lang="en-IN" sz="2400" dirty="0"/>
          </a:p>
          <a:p>
            <a:pPr algn="just"/>
            <a:endParaRPr lang="en-IN" sz="2400" dirty="0"/>
          </a:p>
          <a:p>
            <a:pPr algn="just"/>
            <a:endParaRPr lang="en-IN" sz="2400" dirty="0"/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A set can allow immutable items like </a:t>
            </a:r>
            <a:r>
              <a:rPr lang="en-IN" sz="2400" b="1" dirty="0"/>
              <a:t>tuple</a:t>
            </a:r>
            <a:r>
              <a:rPr lang="en-IN" sz="24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B05D5A7-4809-415D-B12A-3FD1201F2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139" y="2905919"/>
            <a:ext cx="4791075" cy="1095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799DCB72-9255-4E26-8F74-CCEB1E1A6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232" y="2876550"/>
            <a:ext cx="4781550" cy="1104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97253A49-9C93-4BB2-AA20-16E80BB0C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742" y="5283556"/>
            <a:ext cx="2680221" cy="89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23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777B780-8536-4B92-B7D3-DF002A4ED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400" b="0" i="0" dirty="0">
                <a:solidFill>
                  <a:srgbClr val="444444"/>
                </a:solidFill>
                <a:effectLst/>
                <a:latin typeface="+mn-lt"/>
              </a:rPr>
              <a:t>Creating a 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AE84E75-A84B-4257-A0C5-0BD59A353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We can also create a set with the set() function.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r>
              <a:rPr lang="en-IN" sz="2400" dirty="0"/>
              <a:t>This function creates a set object.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3334A91B-7388-41E7-82BE-DB2553E80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1377" y="2605436"/>
            <a:ext cx="1995488" cy="8447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0360E36E-BB59-4017-A39C-F9E417030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707" y="4269460"/>
            <a:ext cx="2415366" cy="226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462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7796E10-D24E-461A-8325-1CC135F07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0" i="0" dirty="0">
                <a:solidFill>
                  <a:srgbClr val="444444"/>
                </a:solidFill>
                <a:effectLst/>
                <a:latin typeface="+mn-lt"/>
              </a:rPr>
              <a:t>Accessing a Set</a:t>
            </a:r>
            <a:endParaRPr lang="en-IN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62C4053-8FF6-4444-A816-C4D36E517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>
                <a:solidFill>
                  <a:srgbClr val="444444"/>
                </a:solidFill>
              </a:rPr>
              <a:t>Set</a:t>
            </a:r>
            <a:r>
              <a:rPr lang="en-IN" sz="2400" b="0" i="0">
                <a:solidFill>
                  <a:srgbClr val="444444"/>
                </a:solidFill>
                <a:effectLst/>
              </a:rPr>
              <a:t> </a:t>
            </a:r>
            <a:r>
              <a:rPr lang="en-IN" sz="2400" b="0" i="0" dirty="0">
                <a:solidFill>
                  <a:srgbClr val="444444"/>
                </a:solidFill>
                <a:effectLst/>
              </a:rPr>
              <a:t>do not support indexing.</a:t>
            </a:r>
          </a:p>
          <a:p>
            <a:r>
              <a:rPr lang="en-IN" sz="2400" b="0" i="0" dirty="0">
                <a:solidFill>
                  <a:srgbClr val="444444"/>
                </a:solidFill>
                <a:effectLst/>
              </a:rPr>
              <a:t>it is only possible to access the entire set at once. </a:t>
            </a:r>
          </a:p>
          <a:p>
            <a:r>
              <a:rPr lang="en-IN" sz="2400" dirty="0"/>
              <a:t>Therefore we can not perform slice operation using slice operator.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1BC0897-CC69-4DF7-89EA-97D9A3092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346" y="3429000"/>
            <a:ext cx="5671618" cy="144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417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1E3B139-9AB4-4C78-9AA4-64CFD946C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Deleting a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4F8864C-7269-46B6-A442-68B42EA19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We can not delete an element using its index. </a:t>
            </a:r>
          </a:p>
          <a:p>
            <a:r>
              <a:rPr lang="en-IN" sz="2400" dirty="0">
                <a:solidFill>
                  <a:srgbClr val="444444"/>
                </a:solidFill>
              </a:rPr>
              <a:t>For this, we</a:t>
            </a:r>
            <a:r>
              <a:rPr lang="en-IN" sz="2400" b="0" i="0" dirty="0">
                <a:solidFill>
                  <a:srgbClr val="444444"/>
                </a:solidFill>
                <a:effectLst/>
              </a:rPr>
              <a:t> use following methods:</a:t>
            </a:r>
          </a:p>
          <a:p>
            <a:endParaRPr lang="en-IN" sz="2400" dirty="0">
              <a:solidFill>
                <a:srgbClr val="444444"/>
              </a:solidFill>
            </a:endParaRPr>
          </a:p>
          <a:p>
            <a:pPr marL="514350" indent="-514350">
              <a:buAutoNum type="romanLcParenR"/>
            </a:pPr>
            <a:r>
              <a:rPr lang="en-IN" sz="2400" b="1" dirty="0"/>
              <a:t>discard</a:t>
            </a:r>
            <a:r>
              <a:rPr lang="en-IN" sz="2400" dirty="0"/>
              <a:t>(): </a:t>
            </a:r>
            <a:r>
              <a:rPr lang="en-IN" sz="2000" dirty="0"/>
              <a:t>This method takes the item to delete as an argument.</a:t>
            </a:r>
          </a:p>
          <a:p>
            <a:pPr marL="514350" indent="-514350">
              <a:buAutoNum type="romanLcParenR"/>
            </a:pPr>
            <a:endParaRPr lang="en-IN" sz="2000" dirty="0"/>
          </a:p>
          <a:p>
            <a:pPr marL="514350" indent="-514350">
              <a:buAutoNum type="romanLcParenR"/>
            </a:pPr>
            <a:endParaRPr lang="en-IN" sz="2000" dirty="0"/>
          </a:p>
          <a:p>
            <a:pPr marL="514350" indent="-514350">
              <a:buAutoNum type="romanLcParenR"/>
            </a:pPr>
            <a:endParaRPr lang="en-IN" sz="2000" dirty="0"/>
          </a:p>
          <a:p>
            <a:pPr marL="514350" indent="-514350">
              <a:buAutoNum type="romanLcParenR"/>
            </a:pPr>
            <a:r>
              <a:rPr lang="en-IN" sz="2400" b="1" dirty="0"/>
              <a:t>remove()</a:t>
            </a:r>
            <a:r>
              <a:rPr lang="en-IN" sz="2400" dirty="0"/>
              <a:t>:</a:t>
            </a:r>
            <a:r>
              <a:rPr lang="en-IN" sz="2400" b="1" dirty="0"/>
              <a:t> </a:t>
            </a:r>
            <a:r>
              <a:rPr lang="en-IN" sz="2000" dirty="0"/>
              <a:t>It deletes an item from the set.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C9B7A31-3177-405B-B3A6-780F544C3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2964" y="2762249"/>
            <a:ext cx="3413312" cy="7833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8FA415E8-7C41-4A01-87EE-6776FF0E2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208" y="3893100"/>
            <a:ext cx="3062308" cy="8188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47B2D4B-86E6-4634-8850-D9AEF2AEAC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9208" y="5561757"/>
            <a:ext cx="3140996" cy="818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046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A1E00B5-BC2F-4DBA-97E3-82587E10F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Deleting a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1235464-FC34-4F86-99D8-ABE77052F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b="1" dirty="0"/>
              <a:t>discard</a:t>
            </a:r>
            <a:r>
              <a:rPr lang="en-IN" sz="2400" dirty="0"/>
              <a:t>() vs </a:t>
            </a:r>
            <a:r>
              <a:rPr lang="en-IN" sz="2400" b="1" dirty="0"/>
              <a:t>remove</a:t>
            </a:r>
            <a:r>
              <a:rPr lang="en-IN" sz="2400" dirty="0"/>
              <a:t>(): </a:t>
            </a:r>
            <a:r>
              <a:rPr lang="en-IN" sz="2000" dirty="0"/>
              <a:t>If we try to delete an item that doesn’t exist in the set, </a:t>
            </a:r>
            <a:r>
              <a:rPr lang="en-IN" sz="2000" b="1" dirty="0"/>
              <a:t>discard</a:t>
            </a:r>
            <a:r>
              <a:rPr lang="en-IN" sz="2000" dirty="0"/>
              <a:t>() ignores it, but </a:t>
            </a:r>
            <a:r>
              <a:rPr lang="en-IN" sz="2000" b="1" dirty="0"/>
              <a:t>remove</a:t>
            </a:r>
            <a:r>
              <a:rPr lang="en-IN" sz="2000" dirty="0"/>
              <a:t>() raises a Key error.</a:t>
            </a:r>
          </a:p>
          <a:p>
            <a:pPr algn="just"/>
            <a:endParaRPr lang="en-IN" sz="2000" dirty="0"/>
          </a:p>
          <a:p>
            <a:pPr algn="just"/>
            <a:endParaRPr lang="en-IN" sz="2000" dirty="0"/>
          </a:p>
          <a:p>
            <a:pPr algn="just"/>
            <a:endParaRPr lang="en-IN" sz="2000" dirty="0"/>
          </a:p>
          <a:p>
            <a:pPr algn="just"/>
            <a:endParaRPr lang="en-IN" sz="2000" dirty="0"/>
          </a:p>
          <a:p>
            <a:pPr algn="just"/>
            <a:endParaRPr lang="en-IN" sz="2000" dirty="0"/>
          </a:p>
          <a:p>
            <a:pPr algn="just"/>
            <a:endParaRPr lang="en-IN" sz="2000" dirty="0"/>
          </a:p>
          <a:p>
            <a:pPr marL="0" indent="0" algn="just">
              <a:buNone/>
            </a:pPr>
            <a:r>
              <a:rPr lang="en-IN" sz="2400" b="1" dirty="0"/>
              <a:t>iii) pop</a:t>
            </a:r>
            <a:r>
              <a:rPr lang="en-IN" sz="2400" dirty="0"/>
              <a:t>():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DDE5921A-F038-4640-8C45-CB15D7162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760" y="3100387"/>
            <a:ext cx="3127543" cy="7904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B278D115-9346-4D8D-9CF6-0B44AF604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212" y="3100387"/>
            <a:ext cx="5486733" cy="12382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3FFA120-2222-470C-86F1-5F5B952111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749" y="5044456"/>
            <a:ext cx="3911083" cy="13386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B5401CC-513A-457F-B46A-A2A97CD3AB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4643" y="5029223"/>
            <a:ext cx="4201196" cy="68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569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069948F-E612-43FC-A9D8-43470BA77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Deleting a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883BD8D-D7D3-45AE-983A-F1894C6C4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clear</a:t>
            </a:r>
            <a:r>
              <a:rPr lang="en-IN" sz="2400" dirty="0"/>
              <a:t>(): </a:t>
            </a:r>
            <a:r>
              <a:rPr lang="en-IN" sz="2000" dirty="0"/>
              <a:t>It empties the set in Python.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4BB3738-18BF-4D6B-86E2-DE677F121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558" y="2552796"/>
            <a:ext cx="3649789" cy="144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69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1FE0BA4-3BE2-4505-86C1-D0142A94C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Updating a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F00A6E7-00A0-4C9E-A793-B054A7FBF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We use two methods for this purpose: i) </a:t>
            </a:r>
            <a:r>
              <a:rPr lang="en-IN" sz="2400" b="1" dirty="0"/>
              <a:t>add</a:t>
            </a:r>
            <a:r>
              <a:rPr lang="en-IN" sz="2400" dirty="0"/>
              <a:t>() and ii) </a:t>
            </a:r>
            <a:r>
              <a:rPr lang="en-IN" sz="2400" b="1" dirty="0"/>
              <a:t>update</a:t>
            </a:r>
            <a:r>
              <a:rPr lang="en-IN" sz="2400" dirty="0"/>
              <a:t>().</a:t>
            </a:r>
          </a:p>
          <a:p>
            <a:endParaRPr lang="en-IN" sz="2400" dirty="0"/>
          </a:p>
          <a:p>
            <a:pPr marL="514350" indent="-514350">
              <a:buAutoNum type="romanLcParenR"/>
            </a:pPr>
            <a:r>
              <a:rPr lang="en-IN" sz="2400" b="1" dirty="0"/>
              <a:t>add</a:t>
            </a:r>
            <a:r>
              <a:rPr lang="en-IN" sz="2400" dirty="0"/>
              <a:t>(): </a:t>
            </a:r>
            <a:r>
              <a:rPr lang="en-IN" sz="2000" dirty="0"/>
              <a:t>It takes as argument the item to be added to the set.</a:t>
            </a:r>
          </a:p>
          <a:p>
            <a:pPr marL="514350" indent="-514350">
              <a:buAutoNum type="romanLcParenR"/>
            </a:pPr>
            <a:endParaRPr lang="en-IN" sz="2000" dirty="0"/>
          </a:p>
          <a:p>
            <a:pPr marL="514350" indent="-514350">
              <a:buAutoNum type="romanLcParenR"/>
            </a:pPr>
            <a:endParaRPr lang="en-IN" sz="2000" dirty="0"/>
          </a:p>
          <a:p>
            <a:pPr marL="514350" indent="-514350">
              <a:buAutoNum type="romanLcParenR"/>
            </a:pPr>
            <a:endParaRPr lang="en-IN" sz="2000" dirty="0"/>
          </a:p>
          <a:p>
            <a:pPr marL="514350" indent="-514350">
              <a:buAutoNum type="romanLcParenR"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If we add an existing item in the set, the set remains unaffected.</a:t>
            </a:r>
          </a:p>
          <a:p>
            <a:pPr marL="514350" indent="-514350">
              <a:buAutoNum type="romanLcParenR"/>
            </a:pPr>
            <a:endParaRPr lang="en-IN" sz="2000" dirty="0"/>
          </a:p>
          <a:p>
            <a:pPr marL="514350" indent="-514350">
              <a:buAutoNum type="romanLcParenR"/>
            </a:pPr>
            <a:endParaRPr lang="en-IN" sz="2000" dirty="0"/>
          </a:p>
          <a:p>
            <a:pPr marL="514350" indent="-514350">
              <a:buAutoNum type="romanLcParenR"/>
            </a:pPr>
            <a:endParaRPr lang="en-IN" sz="2000" dirty="0"/>
          </a:p>
          <a:p>
            <a:pPr marL="514350" indent="-514350">
              <a:buAutoNum type="romanLcParenR"/>
            </a:pPr>
            <a:endParaRPr lang="en-IN" sz="2000" dirty="0"/>
          </a:p>
          <a:p>
            <a:pPr marL="514350" indent="-514350">
              <a:buAutoNum type="romanLcParenR"/>
            </a:pPr>
            <a:endParaRPr lang="en-IN" sz="2000" dirty="0"/>
          </a:p>
          <a:p>
            <a:pPr marL="514350" indent="-514350">
              <a:buAutoNum type="romanLcParenR"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F202DD6-9F4E-40E4-8972-2CD3BD9D9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881" y="3331806"/>
            <a:ext cx="3458936" cy="13917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3F50695F-6838-41B3-9AD0-9B32C3631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881" y="5359789"/>
            <a:ext cx="3458936" cy="127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45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A4757BF-9F19-4216-8571-F0075DC43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Updating a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6F40933-2B93-469D-B631-56A80B547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ii) </a:t>
            </a:r>
            <a:r>
              <a:rPr lang="en-IN" sz="2400" b="1" dirty="0"/>
              <a:t>update</a:t>
            </a:r>
            <a:r>
              <a:rPr lang="en-IN" sz="2400" dirty="0"/>
              <a:t>(): </a:t>
            </a:r>
            <a:r>
              <a:rPr lang="en-IN" sz="2000" b="0" i="0" dirty="0">
                <a:solidFill>
                  <a:srgbClr val="444444"/>
                </a:solidFill>
                <a:effectLst/>
              </a:rPr>
              <a:t>This method can add multiple items to the set at once.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166A4A73-D2EA-450A-8CC4-42218C80F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799" y="2516543"/>
            <a:ext cx="4341899" cy="7305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47C2CC4F-954B-4D5A-A0D8-08BAF6DA6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7141" y="4410852"/>
            <a:ext cx="5847431" cy="13222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25D044F-0BB1-402D-BD1E-AE5B46BAB6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558" y="2443747"/>
            <a:ext cx="5980793" cy="91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25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9C21BFD-7FA6-454F-BE28-5C39C6A5A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Functions on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19592C3-D7F8-4007-84E3-01B70B487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len</a:t>
            </a:r>
            <a:r>
              <a:rPr lang="en-IN" dirty="0"/>
              <a:t>(): </a:t>
            </a:r>
            <a:r>
              <a:rPr lang="en-IN" sz="2000" dirty="0"/>
              <a:t>It </a:t>
            </a:r>
            <a:r>
              <a:rPr lang="en-IN" sz="2000" b="0" i="0" dirty="0">
                <a:solidFill>
                  <a:srgbClr val="444444"/>
                </a:solidFill>
                <a:effectLst/>
              </a:rPr>
              <a:t>returns the length of a set.</a:t>
            </a:r>
          </a:p>
          <a:p>
            <a:endParaRPr lang="en-IN" sz="2400" dirty="0">
              <a:solidFill>
                <a:srgbClr val="444444"/>
              </a:solidFill>
            </a:endParaRPr>
          </a:p>
          <a:p>
            <a:endParaRPr lang="en-IN" sz="2400" dirty="0">
              <a:solidFill>
                <a:srgbClr val="444444"/>
              </a:solidFill>
            </a:endParaRPr>
          </a:p>
          <a:p>
            <a:endParaRPr lang="en-IN" sz="2400" dirty="0">
              <a:solidFill>
                <a:srgbClr val="444444"/>
              </a:solidFill>
            </a:endParaRPr>
          </a:p>
          <a:p>
            <a:r>
              <a:rPr lang="en-IN" sz="2400" dirty="0"/>
              <a:t>max(): </a:t>
            </a:r>
            <a:r>
              <a:rPr lang="en-IN" sz="2000" dirty="0"/>
              <a:t>It returns the item from the set with the highest value.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400" dirty="0"/>
              <a:t>min(): </a:t>
            </a:r>
            <a:r>
              <a:rPr lang="en-IN" sz="2000" dirty="0"/>
              <a:t>It returns the item in the Python set with the lowest value.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D32C29D4-99CE-479F-BDA6-4D7FD6E56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695" y="2461142"/>
            <a:ext cx="4658482" cy="8558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C8863B99-AACE-4022-97BF-7C7A69A57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695" y="4376057"/>
            <a:ext cx="4507466" cy="6344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04CDC243-99C5-4586-B10D-A2270B3208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4695" y="5948363"/>
            <a:ext cx="4265354" cy="60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351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D12F010-BFCA-4586-A202-D93E1B319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Functions on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2F9D21A-E397-48C6-BA5A-B66C4B27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sum(): </a:t>
            </a:r>
            <a:r>
              <a:rPr lang="en-IN" sz="2400" dirty="0"/>
              <a:t>It </a:t>
            </a:r>
            <a:r>
              <a:rPr lang="en-IN" sz="2400" b="0" i="0" dirty="0">
                <a:solidFill>
                  <a:srgbClr val="444444"/>
                </a:solidFill>
                <a:effectLst/>
              </a:rPr>
              <a:t>returns the arithmetic sum of all the items in a set.</a:t>
            </a:r>
          </a:p>
          <a:p>
            <a:endParaRPr lang="en-IN" sz="2400" dirty="0">
              <a:solidFill>
                <a:srgbClr val="444444"/>
              </a:solidFill>
            </a:endParaRPr>
          </a:p>
          <a:p>
            <a:endParaRPr lang="en-IN" sz="2400" dirty="0">
              <a:solidFill>
                <a:srgbClr val="444444"/>
              </a:solidFill>
            </a:endParaRPr>
          </a:p>
          <a:p>
            <a:pPr algn="l" fontAlgn="base"/>
            <a:r>
              <a:rPr lang="en-IN" sz="1600" b="1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any(): </a:t>
            </a:r>
            <a:r>
              <a:rPr lang="en-IN" sz="2000" i="0" dirty="0">
                <a:solidFill>
                  <a:srgbClr val="444444"/>
                </a:solidFill>
                <a:effectLst/>
              </a:rPr>
              <a:t>It returns True even if one item in the set has a Boolean value of True.</a:t>
            </a:r>
            <a:endParaRPr lang="en-IN" sz="2400" b="1" i="0" dirty="0">
              <a:solidFill>
                <a:srgbClr val="444444"/>
              </a:solidFill>
              <a:effectLst/>
              <a:latin typeface="Verdana" panose="020B0604030504040204" pitchFamily="34" charset="0"/>
            </a:endParaRPr>
          </a:p>
          <a:p>
            <a:r>
              <a:rPr lang="en-IN" sz="1600" b="1" i="0" dirty="0">
                <a:solidFill>
                  <a:srgbClr val="444444"/>
                </a:solidFill>
                <a:effectLst/>
                <a:latin typeface="Verdana" panose="020B0604030504040204" pitchFamily="34" charset="0"/>
              </a:rPr>
              <a:t>all(): </a:t>
            </a:r>
            <a:r>
              <a:rPr lang="en-IN" sz="2000" i="0" dirty="0">
                <a:solidFill>
                  <a:srgbClr val="444444"/>
                </a:solidFill>
                <a:effectLst/>
              </a:rPr>
              <a:t>It returns True only if all items in the Python set have a Boolean value of True.</a:t>
            </a:r>
          </a:p>
          <a:p>
            <a:endParaRPr lang="en-IN" sz="2000" dirty="0">
              <a:solidFill>
                <a:srgbClr val="444444"/>
              </a:solidFill>
            </a:endParaRPr>
          </a:p>
          <a:p>
            <a:pPr algn="just"/>
            <a:r>
              <a:rPr lang="en-IN" sz="2400" b="1" i="0" dirty="0">
                <a:solidFill>
                  <a:srgbClr val="444444"/>
                </a:solidFill>
                <a:effectLst/>
              </a:rPr>
              <a:t>sorted(): </a:t>
            </a:r>
            <a:r>
              <a:rPr lang="en-IN" sz="2000" i="0" dirty="0">
                <a:solidFill>
                  <a:srgbClr val="444444"/>
                </a:solidFill>
                <a:effectLst/>
              </a:rPr>
              <a:t>It returns a sorted python set to list. It is sorted in ascending order, but it doesn’t modify the original set.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C32A63C-2D8B-47FF-AA92-1BB40724D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632" y="2365600"/>
            <a:ext cx="2823219" cy="6481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BE0C5FA-170A-4948-87E8-2AD98BA42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939" y="5239085"/>
            <a:ext cx="4866984" cy="1253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630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3D4ED02-828B-4B9C-93FD-CF1981B64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A96A463-8E8A-4EDB-8056-980333E32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union(): </a:t>
            </a:r>
            <a:r>
              <a:rPr lang="en-IN" sz="2000" dirty="0"/>
              <a:t>It returns all the items that are in any of those sets. it did not alter individual set.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intersection(): It takes as argument sets, and returns the common items in all the sets.</a:t>
            </a:r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B9F8F9A-3191-42D0-A7B9-D7E10375C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660" y="2241873"/>
            <a:ext cx="3076769" cy="19545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3DB81E23-B76A-46A8-8EFB-A40CA244E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242" y="2330806"/>
            <a:ext cx="5607698" cy="12595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ED28879A-F894-4EAF-8965-9ABCFC003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660" y="4700776"/>
            <a:ext cx="2796850" cy="17920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D311B717-1AA4-4EE5-8BF5-1A5049715D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2913" y="4917621"/>
            <a:ext cx="3915938" cy="52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89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E2C7F1F-5C2B-4CAE-8E57-5BDACF753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060A111-5E0F-4F7B-8448-75385717A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difference(): </a:t>
            </a:r>
            <a:r>
              <a:rPr lang="en-IN" sz="2000" dirty="0"/>
              <a:t>It returns the difference of two or more sets. It returns as a set.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r>
              <a:rPr lang="en-IN" sz="2400" i="0" dirty="0" err="1">
                <a:solidFill>
                  <a:srgbClr val="444444"/>
                </a:solidFill>
                <a:effectLst/>
              </a:rPr>
              <a:t>symmetric_difference</a:t>
            </a:r>
            <a:r>
              <a:rPr lang="en-IN" sz="2400" i="0" dirty="0">
                <a:solidFill>
                  <a:srgbClr val="444444"/>
                </a:solidFill>
                <a:effectLst/>
              </a:rPr>
              <a:t>(): </a:t>
            </a:r>
            <a:r>
              <a:rPr lang="en-IN" sz="2000" i="0" dirty="0">
                <a:solidFill>
                  <a:srgbClr val="444444"/>
                </a:solidFill>
                <a:effectLst/>
              </a:rPr>
              <a:t>It returns all the items that are unique to each set.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F5077FE-ABE2-4F5D-8BCE-386A849D0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693" y="2300288"/>
            <a:ext cx="3996127" cy="19288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8663293C-E921-4418-865A-76C803DDE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596" y="2419350"/>
            <a:ext cx="5708711" cy="13035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6854A642-1E9F-4E9F-B123-F55B60D81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693" y="4731155"/>
            <a:ext cx="3149498" cy="19752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836F79C0-1867-498A-8A65-9D8767AA4D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1595" y="5038531"/>
            <a:ext cx="5465403" cy="615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310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D547AD8F-2B10-4632-8497-E8EA8A55B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834" y="689785"/>
            <a:ext cx="10532332" cy="547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685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E2C7F1F-5C2B-4CAE-8E57-5BDACF753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060A111-5E0F-4F7B-8448-75385717A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err="1"/>
              <a:t>intersection_update</a:t>
            </a:r>
            <a:r>
              <a:rPr lang="en-IN" sz="2400" dirty="0"/>
              <a:t>(): </a:t>
            </a:r>
            <a:r>
              <a:rPr lang="en-IN" sz="2000" dirty="0"/>
              <a:t>It updates the set on which it is called.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r>
              <a:rPr lang="en-IN" sz="2400" i="0" dirty="0" err="1">
                <a:solidFill>
                  <a:srgbClr val="444444"/>
                </a:solidFill>
                <a:effectLst/>
              </a:rPr>
              <a:t>difference_update</a:t>
            </a:r>
            <a:r>
              <a:rPr lang="en-IN" sz="2400" i="0" dirty="0">
                <a:solidFill>
                  <a:srgbClr val="444444"/>
                </a:solidFill>
                <a:effectLst/>
              </a:rPr>
              <a:t>(): </a:t>
            </a:r>
            <a:r>
              <a:rPr lang="en-IN" sz="2000" dirty="0">
                <a:solidFill>
                  <a:srgbClr val="444444"/>
                </a:solidFill>
              </a:rPr>
              <a:t>It</a:t>
            </a:r>
            <a:r>
              <a:rPr lang="en-IN" sz="2000" i="0" dirty="0">
                <a:solidFill>
                  <a:srgbClr val="444444"/>
                </a:solidFill>
                <a:effectLst/>
              </a:rPr>
              <a:t> updates the set with the difference.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3DC4AF3-D4AF-4D6E-9E5E-A6FD81DD7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808" y="2459004"/>
            <a:ext cx="5146180" cy="11519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8EB63AA-0114-46BD-A30C-4AE8CEEFE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6808" y="4578656"/>
            <a:ext cx="5035615" cy="120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4471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E2C7F1F-5C2B-4CAE-8E57-5BDACF753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060A111-5E0F-4F7B-8448-75385717A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err="1"/>
              <a:t>symmetric_difference_update</a:t>
            </a:r>
            <a:r>
              <a:rPr lang="en-IN" sz="2400" dirty="0"/>
              <a:t>(): </a:t>
            </a:r>
            <a:r>
              <a:rPr lang="en-IN" sz="2000" dirty="0"/>
              <a:t>it updates the set on which it is called with the symmetric difference.</a:t>
            </a:r>
          </a:p>
          <a:p>
            <a:endParaRPr lang="en-IN" sz="2000" dirty="0"/>
          </a:p>
          <a:p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r>
              <a:rPr lang="en-IN" sz="2400" i="0" dirty="0">
                <a:solidFill>
                  <a:srgbClr val="444444"/>
                </a:solidFill>
                <a:effectLst/>
              </a:rPr>
              <a:t>copy(): </a:t>
            </a:r>
            <a:r>
              <a:rPr lang="en-IN" sz="2000" dirty="0">
                <a:solidFill>
                  <a:srgbClr val="444444"/>
                </a:solidFill>
              </a:rPr>
              <a:t>It</a:t>
            </a:r>
            <a:r>
              <a:rPr lang="en-IN" sz="2000" i="0" dirty="0">
                <a:solidFill>
                  <a:srgbClr val="444444"/>
                </a:solidFill>
                <a:effectLst/>
              </a:rPr>
              <a:t> creates a shallow copy of the set.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E15E835-BF12-4EC6-B239-7801C88F6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808" y="2459004"/>
            <a:ext cx="6115132" cy="11052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DA46EFBB-A224-4B32-9F71-BF5F838BC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6807" y="4537253"/>
            <a:ext cx="4625845" cy="9304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1439AFD9-8411-4792-B68C-84831272E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5143" y="5587118"/>
            <a:ext cx="451485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8895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E2C7F1F-5C2B-4CAE-8E57-5BDACF753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060A111-5E0F-4F7B-8448-75385717A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err="1"/>
              <a:t>isdisjoint</a:t>
            </a:r>
            <a:r>
              <a:rPr lang="en-IN" sz="2400" dirty="0"/>
              <a:t>(): </a:t>
            </a:r>
            <a:r>
              <a:rPr lang="en-IN" sz="2000" dirty="0"/>
              <a:t>It returns True if two sets have a null intersection.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pPr marL="0" indent="0">
              <a:buNone/>
            </a:pPr>
            <a:r>
              <a:rPr lang="en-IN" sz="2000" dirty="0"/>
              <a:t>                  However, it can take only one argument.</a:t>
            </a:r>
          </a:p>
          <a:p>
            <a:endParaRPr lang="en-IN" sz="2000" dirty="0"/>
          </a:p>
          <a:p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endParaRPr lang="en-IN" sz="2400" i="0" dirty="0">
              <a:solidFill>
                <a:srgbClr val="444444"/>
              </a:solidFill>
              <a:effectLst/>
            </a:endParaRPr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7516A8E-9962-4D13-95AF-EFA46F0F9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979" y="2426348"/>
            <a:ext cx="4106607" cy="10026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E8CF94B3-D3D7-49DE-B598-10D3C76E8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708" y="4451138"/>
            <a:ext cx="7873179" cy="118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56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E2C7F1F-5C2B-4CAE-8E57-5BDACF753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060A111-5E0F-4F7B-8448-75385717A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err="1"/>
              <a:t>issubset</a:t>
            </a:r>
            <a:r>
              <a:rPr lang="en-IN" sz="2400" dirty="0"/>
              <a:t>(): </a:t>
            </a:r>
            <a:r>
              <a:rPr lang="en-IN" sz="2000" dirty="0"/>
              <a:t>It returns true if the set in the argument contains this set.</a:t>
            </a:r>
          </a:p>
          <a:p>
            <a:pPr marL="0" indent="0">
              <a:buNone/>
            </a:pPr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r>
              <a:rPr lang="en-IN" sz="2400" i="0" dirty="0" err="1">
                <a:solidFill>
                  <a:srgbClr val="444444"/>
                </a:solidFill>
                <a:effectLst/>
              </a:rPr>
              <a:t>issuperset</a:t>
            </a:r>
            <a:r>
              <a:rPr lang="en-IN" sz="2400" i="0" dirty="0">
                <a:solidFill>
                  <a:srgbClr val="444444"/>
                </a:solidFill>
                <a:effectLst/>
              </a:rPr>
              <a:t>(): </a:t>
            </a:r>
            <a:r>
              <a:rPr lang="en-IN" sz="2000" dirty="0">
                <a:solidFill>
                  <a:srgbClr val="444444"/>
                </a:solidFill>
              </a:rPr>
              <a:t>returns True if the set contains the set in the argument.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FEC72B0-2D99-40EE-98E4-57BA9B5FE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033" y="2365994"/>
            <a:ext cx="4503807" cy="11496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D3BDD08-7E44-4314-8F48-BA8F3132F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033" y="4520682"/>
            <a:ext cx="4558878" cy="123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32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91D03C8-C63D-4192-929D-FBE65679F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Operation on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4794F61-BCFB-45E0-9150-E99D15707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Membership: ‘</a:t>
            </a:r>
            <a:r>
              <a:rPr lang="en-IN" b="1" dirty="0"/>
              <a:t>in</a:t>
            </a:r>
            <a:r>
              <a:rPr lang="en-IN" dirty="0"/>
              <a:t>’ and ‘</a:t>
            </a:r>
            <a:r>
              <a:rPr lang="en-IN" b="1" dirty="0"/>
              <a:t>not in</a:t>
            </a:r>
            <a:r>
              <a:rPr lang="en-IN" dirty="0"/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855009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433F065EB5D54B810525532F644710" ma:contentTypeVersion="2" ma:contentTypeDescription="Create a new document." ma:contentTypeScope="" ma:versionID="4616a87e4d0c608a23833d6bb4678d47">
  <xsd:schema xmlns:xsd="http://www.w3.org/2001/XMLSchema" xmlns:xs="http://www.w3.org/2001/XMLSchema" xmlns:p="http://schemas.microsoft.com/office/2006/metadata/properties" xmlns:ns2="3375627d-486e-458e-b537-71d2b3d2f487" targetNamespace="http://schemas.microsoft.com/office/2006/metadata/properties" ma:root="true" ma:fieldsID="68574f94a8af6fb41dc55666ba22a908" ns2:_="">
    <xsd:import namespace="3375627d-486e-458e-b537-71d2b3d2f48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75627d-486e-458e-b537-71d2b3d2f4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09CC47B-1D0F-461A-849E-E3C3A1A0D99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71A640E-3484-484F-BEA5-1712B46F447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D83DDC2-EBF7-487C-B0EF-C95D7D9658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375627d-486e-458e-b537-71d2b3d2f48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605</Words>
  <Application>Microsoft Office PowerPoint</Application>
  <PresentationFormat>Custom</PresentationFormat>
  <Paragraphs>133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Set</vt:lpstr>
      <vt:lpstr>PowerPoint Presentation</vt:lpstr>
      <vt:lpstr>Creating a Set</vt:lpstr>
      <vt:lpstr>Creating a Set</vt:lpstr>
      <vt:lpstr>Creating a Set</vt:lpstr>
      <vt:lpstr>Accessing a Set</vt:lpstr>
      <vt:lpstr>Deleting a Set</vt:lpstr>
      <vt:lpstr>Deleting a Set</vt:lpstr>
      <vt:lpstr>Deleting a Set</vt:lpstr>
      <vt:lpstr>Updating a Set</vt:lpstr>
      <vt:lpstr>Updating a Set</vt:lpstr>
      <vt:lpstr>Functions on Sets</vt:lpstr>
      <vt:lpstr>Functions on Sets</vt:lpstr>
      <vt:lpstr>Methods</vt:lpstr>
      <vt:lpstr>Methods</vt:lpstr>
      <vt:lpstr>PowerPoint Presentation</vt:lpstr>
      <vt:lpstr>Methods</vt:lpstr>
      <vt:lpstr>Methods</vt:lpstr>
      <vt:lpstr>Methods</vt:lpstr>
      <vt:lpstr>Methods</vt:lpstr>
      <vt:lpstr>Operation on set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</dc:title>
  <dc:creator>155CS14</dc:creator>
  <cp:lastModifiedBy>Windows User</cp:lastModifiedBy>
  <cp:revision>86</cp:revision>
  <dcterms:created xsi:type="dcterms:W3CDTF">2020-12-09T08:27:51Z</dcterms:created>
  <dcterms:modified xsi:type="dcterms:W3CDTF">2024-12-03T10:22:53Z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0x01010027433F065EB5D54B810525532F644710</vt:lpwstr>
  </property>
</Properties>
</file>