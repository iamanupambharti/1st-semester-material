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</p:sldIdLst>
  <p:sldSz cx="9144000" cy="5143500" type="screen16x9"/>
  <p:notesSz cx="6858000" cy="9144000"/>
  <p:embeddedFontLst>
    <p:embeddedFont>
      <p:font typeface="Old Standard TT" panose="020B0604020202020204" charset="0"/>
      <p:regular r:id="rId28"/>
      <p:bold r:id="rId29"/>
      <p:italic r:id="rId30"/>
    </p:embeddedFont>
    <p:embeddedFont>
      <p:font typeface="Source Code Pro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2" d="100"/>
          <a:sy n="102" d="100"/>
        </p:scale>
        <p:origin x="260" y="-2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23505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04bf937d8a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04bf937d8a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04bf937d8a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04bf937d8a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04bf937d8a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04bf937d8a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04bf937d8a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04bf937d8a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4bf937d8a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04bf937d8a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4bf937d8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04bf937d8a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04bf937d8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04bf937d8a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04bf937d8a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04bf937d8a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bf937d8a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04bf937d8a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04bf937d8a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04bf937d8a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04bf937d8a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04bf937d8a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04bf937d8a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04bf937d8a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04bf937d8a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04bf937d8a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04bf937d8a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04bf937d8a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4bf937d8a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04bf937d8a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04bf937d8a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04bf937d8a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04bf937d8a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04bf937d8a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04bf937d8a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04bf937d8a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04bf937d8a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04bf937d8a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04bf937d8a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04bf937d8a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04bf937d8a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04bf937d8a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04bf937d8a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04bf937d8a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4bf937d8a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04bf937d8a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04bf937d8a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04bf937d8a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/>
              <a:t>Introduction to Problem Solving and Programming</a:t>
            </a:r>
            <a:endParaRPr sz="275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Course Code: CSE 1021</a:t>
            </a:r>
            <a:endParaRPr sz="28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>
                <a:solidFill>
                  <a:schemeClr val="lt1"/>
                </a:solidFill>
              </a:rPr>
              <a:t>Chapter 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By: </a:t>
            </a:r>
            <a:r>
              <a:rPr lang="en" dirty="0" smtClean="0"/>
              <a:t>Dr. Sandip Mal</a:t>
            </a:r>
            <a:endParaRPr dirty="0"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2" y="0"/>
            <a:ext cx="2017882" cy="123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2103000" y="66675"/>
            <a:ext cx="6714300" cy="93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212121"/>
                </a:solidFill>
                <a:highlight>
                  <a:schemeClr val="lt2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VIT Bhopal University</a:t>
            </a:r>
            <a:endParaRPr sz="2100" b="1">
              <a:solidFill>
                <a:srgbClr val="212121"/>
              </a:solidFill>
              <a:highlight>
                <a:schemeClr val="lt2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12121"/>
                </a:solidFill>
                <a:highlight>
                  <a:schemeClr val="lt2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Bhopal-Indore Highway, Kothri Kalan, Sehore, Madhya Pradesh – 466114.</a:t>
            </a:r>
            <a:endParaRPr sz="2700">
              <a:solidFill>
                <a:srgbClr val="212121"/>
              </a:solidFill>
              <a:highlight>
                <a:schemeClr val="lt2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4: Syllabus</a:t>
            </a:r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Factoring Methods: 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0000"/>
                </a:solidFill>
              </a:rPr>
              <a:t>– Finding square root </a:t>
            </a:r>
            <a:endParaRPr b="1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0000"/>
                </a:solidFill>
              </a:rPr>
              <a:t>– Smallest Divisor </a:t>
            </a:r>
            <a:endParaRPr b="1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0000"/>
                </a:solidFill>
              </a:rPr>
              <a:t>– GCD </a:t>
            </a:r>
            <a:endParaRPr b="1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0000"/>
                </a:solidFill>
              </a:rPr>
              <a:t>– Generate Prime Numbers </a:t>
            </a:r>
            <a:endParaRPr b="1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0000"/>
                </a:solidFill>
              </a:rPr>
              <a:t>– Computing Prime Factors </a:t>
            </a:r>
            <a:endParaRPr b="1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/>
              <a:t>– Generating Pseudo-random numbers 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/>
              <a:t>– Raising a Number to Large Power 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dirty="0"/>
              <a:t>– </a:t>
            </a:r>
            <a:r>
              <a:rPr lang="en" b="1" dirty="0">
                <a:solidFill>
                  <a:srgbClr val="FF0000"/>
                </a:solidFill>
              </a:rPr>
              <a:t>Computing nth Fibonacci Numbers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Square Root</a:t>
            </a:r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Using Exponent. number = int(input("enter a number: ")) sqrt = number ** 0.5 print("square root:", sqrt) ...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Using math.sqrt() Method. import math number = int(input("enter a number:")) sqrt = math.sqrt(number) print("square root:" , sqrt) …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AutoNum type="arabicPeriod"/>
            </a:pPr>
            <a:r>
              <a:rPr lang="en"/>
              <a:t>Using math.pow() Method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1</a:t>
            </a:r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15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#Using Exponent</a:t>
            </a:r>
            <a:endParaRPr sz="1600" b="1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number = int(input("enter a number: "))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sqrt = number ** 0.5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print("square root:", sqrt)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2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24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#Using math.sqrt() method</a:t>
            </a:r>
            <a:endParaRPr sz="1600" b="1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import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math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number = int(input("enter a number:"))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sqrt = math.sqrt(number)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print("square root:" , sqrt)</a:t>
            </a:r>
            <a:endParaRPr sz="1600" b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3</a:t>
            </a:r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311700" y="1247800"/>
            <a:ext cx="8520600" cy="23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#Using math.pow() method</a:t>
            </a:r>
            <a:endParaRPr sz="1600" b="1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import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math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number = int(input("enter a number:"))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sqrt = math.pow(number, 0.5)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print("square root: ", sqrt)</a:t>
            </a:r>
            <a:endParaRPr sz="1600" b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Factors: Program</a:t>
            </a:r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6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#This function computes the factor of the argument passed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def print_factors(x):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  print("The factors of",x,"are:")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  for i in range(1, x + 1):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  	 if x % i == 0: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      	print(i)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num = int(input(“Enter a number to generate factors”))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print_factors(num)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 Prime Numbers: Program 1</a:t>
            </a:r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#Python program to display all the prime numbers within an interval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lower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int(input(“”Set lower limit))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upper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int(input(“”Set upper limit))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print("Prime numbers between", lower, "and", upper, "are:")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num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in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range(lower, upper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+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1):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</a:t>
            </a:r>
            <a:r>
              <a:rPr lang="en" sz="1600" i="1">
                <a:latin typeface="Source Code Pro"/>
                <a:ea typeface="Source Code Pro"/>
                <a:cs typeface="Source Code Pro"/>
                <a:sym typeface="Source Code Pro"/>
              </a:rPr>
              <a:t># all prime numbers are greater than 1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num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&gt;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1: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  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i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in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range(2, num):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      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(num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%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i)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==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0: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          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break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  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else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       print(num)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 Prime Numbers: Program 2</a:t>
            </a:r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31128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# Python program to display all the prime numbers using boolean variable?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5200" y="1143000"/>
            <a:ext cx="5286375" cy="343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Prime Factors</a:t>
            </a:r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In prime factorization, we factorize the numbers into prime numbers, called prime factors.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There are two methods of prime factorization:</a:t>
            </a:r>
            <a:endParaRPr sz="2000"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Division Method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Factor Tree Method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Prime Factors: Division Method</a:t>
            </a:r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7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rPr lang="en" sz="1600"/>
              <a:t>1. Find the prime factors of 15.</a:t>
            </a:r>
            <a:endParaRPr sz="160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rPr lang="en" sz="1600"/>
              <a:t>First Step: 2 is the smallest prime number. But it cannot divide 15 exactly. So, consider 3.</a:t>
            </a:r>
            <a:endParaRPr sz="160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rPr lang="en" sz="1600"/>
              <a:t>Second Step: Now, 5 cannot be divided by 3. Consider the next smallest prime number 5.</a:t>
            </a:r>
            <a:endParaRPr sz="160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rPr lang="en" sz="1600"/>
              <a:t>The prime factors of 15 are 3 × 5.</a:t>
            </a:r>
            <a:endParaRPr sz="160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endParaRPr sz="160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rPr lang="en" sz="1600"/>
              <a:t>2. Find the prime factors of 18.</a:t>
            </a:r>
            <a:endParaRPr sz="160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rPr lang="en" sz="1600"/>
              <a:t>First Step: Consider 2, the smallest prime number.</a:t>
            </a:r>
            <a:endParaRPr sz="160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rPr lang="en" sz="1600"/>
              <a:t>Second Step: As 9 cannot be divided by 2. Consider the next smallest prime 3. Repeat the process till quotient becomes 1.</a:t>
            </a:r>
            <a:endParaRPr sz="160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rPr lang="en" sz="1600"/>
              <a:t>The prime factors of 18 are 2 × 3 × 3.</a:t>
            </a:r>
            <a:endParaRPr sz="16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Prime Factors:  Factor Tree Method</a:t>
            </a:r>
            <a:endParaRPr/>
          </a:p>
        </p:txBody>
      </p:sp>
      <p:sp>
        <p:nvSpPr>
          <p:cNvPr id="129" name="Google Shape;129;p2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7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Suppose, we have to find the prime factors of 16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1.</a:t>
            </a:r>
            <a:r>
              <a:rPr lang="en"/>
              <a:t> We consider the number 16 as the root of the tree.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2.</a:t>
            </a:r>
            <a:r>
              <a:rPr lang="en"/>
              <a:t> We write a pair of factors as the branches of the tree i.e., 2 × 8 = 16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" b="1"/>
              <a:t>3.</a:t>
            </a:r>
            <a:r>
              <a:rPr lang="en"/>
              <a:t> We further factorize the composite factor 8 as 4 and 2, and again the composite factors 4 as 2 and 2.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" sz="1600"/>
              <a:t>2 × 8                  = 16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" sz="1600"/>
              <a:t>2 × 4  ×  2         = 16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" sz="1600"/>
              <a:t>2 × 2  ×  2 ×  2= 16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" sz="1900"/>
              <a:t>The prime factors of 16 = 2 × 2 × 2 × 2.</a:t>
            </a:r>
            <a:endParaRPr sz="1600"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9025" y="2963550"/>
            <a:ext cx="1670450" cy="209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Prime Factors: Program 1</a:t>
            </a:r>
            <a:endParaRPr/>
          </a:p>
        </p:txBody>
      </p:sp>
      <p:sp>
        <p:nvSpPr>
          <p:cNvPr id="136" name="Google Shape;136;p25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#WAP to compute the prime factors of a given number?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x=</a:t>
            </a:r>
            <a:r>
              <a:rPr lang="en" sz="1600">
                <a:solidFill>
                  <a:srgbClr val="8888C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eval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" sz="1600">
                <a:solidFill>
                  <a:srgbClr val="8888C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input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" sz="1600">
                <a:solidFill>
                  <a:srgbClr val="6A875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"enter num"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))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C78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while 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x!=</a:t>
            </a:r>
            <a:r>
              <a:rPr lang="en" sz="1600">
                <a:solidFill>
                  <a:srgbClr val="6897B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1600">
                <a:solidFill>
                  <a:srgbClr val="CC78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 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i </a:t>
            </a:r>
            <a:r>
              <a:rPr lang="en" sz="1600">
                <a:solidFill>
                  <a:srgbClr val="CC78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 </a:t>
            </a:r>
            <a:r>
              <a:rPr lang="en" sz="1600">
                <a:solidFill>
                  <a:srgbClr val="8888C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range 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" sz="1600">
                <a:solidFill>
                  <a:srgbClr val="6897B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</a:t>
            </a:r>
            <a:r>
              <a:rPr lang="en" sz="1600">
                <a:solidFill>
                  <a:srgbClr val="CC78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x+</a:t>
            </a:r>
            <a:r>
              <a:rPr lang="en" sz="1600">
                <a:solidFill>
                  <a:srgbClr val="6897B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):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1600">
                <a:solidFill>
                  <a:srgbClr val="CC78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 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x%i==</a:t>
            </a:r>
            <a:r>
              <a:rPr lang="en" sz="1600">
                <a:solidFill>
                  <a:srgbClr val="6897B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        </a:t>
            </a:r>
            <a:r>
              <a:rPr lang="en" sz="1600">
                <a:solidFill>
                  <a:srgbClr val="8888C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(i)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        x=x//i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        </a:t>
            </a:r>
            <a:r>
              <a:rPr lang="en" sz="1600">
                <a:solidFill>
                  <a:srgbClr val="CC783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break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Prime Factors: Program 2</a:t>
            </a:r>
            <a:endParaRPr/>
          </a:p>
        </p:txBody>
      </p:sp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7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Source Code Pro"/>
                <a:ea typeface="Source Code Pro"/>
                <a:cs typeface="Source Code Pro"/>
                <a:sym typeface="Source Code Pro"/>
              </a:rPr>
              <a:t>def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prime_factors(n):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  </a:t>
            </a:r>
            <a:r>
              <a:rPr lang="en" sz="1300" i="1">
                <a:latin typeface="Source Code Pro"/>
                <a:ea typeface="Source Code Pro"/>
                <a:cs typeface="Source Code Pro"/>
                <a:sym typeface="Source Code Pro"/>
              </a:rPr>
              <a:t>#even number divisible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  </a:t>
            </a:r>
            <a:r>
              <a:rPr lang="en" sz="1300" b="1">
                <a:latin typeface="Source Code Pro"/>
                <a:ea typeface="Source Code Pro"/>
                <a:cs typeface="Source Code Pro"/>
                <a:sym typeface="Source Code Pro"/>
              </a:rPr>
              <a:t>while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n </a:t>
            </a:r>
            <a:r>
              <a:rPr lang="en" sz="1300" b="1">
                <a:latin typeface="Source Code Pro"/>
                <a:ea typeface="Source Code Pro"/>
                <a:cs typeface="Source Code Pro"/>
                <a:sym typeface="Source Code Pro"/>
              </a:rPr>
              <a:t>%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2 </a:t>
            </a:r>
            <a:r>
              <a:rPr lang="en" sz="1300" b="1">
                <a:latin typeface="Source Code Pro"/>
                <a:ea typeface="Source Code Pro"/>
                <a:cs typeface="Source Code Pro"/>
                <a:sym typeface="Source Code Pro"/>
              </a:rPr>
              <a:t>==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0: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     print (2),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     n </a:t>
            </a:r>
            <a:r>
              <a:rPr lang="en" sz="1300" b="1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int(n </a:t>
            </a:r>
            <a:r>
              <a:rPr lang="en" sz="1300" b="1">
                <a:latin typeface="Source Code Pro"/>
                <a:ea typeface="Source Code Pro"/>
                <a:cs typeface="Source Code Pro"/>
                <a:sym typeface="Source Code Pro"/>
              </a:rPr>
              <a:t>/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2)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  </a:t>
            </a:r>
            <a:r>
              <a:rPr lang="en" sz="1300" i="1">
                <a:latin typeface="Source Code Pro"/>
                <a:ea typeface="Source Code Pro"/>
                <a:cs typeface="Source Code Pro"/>
                <a:sym typeface="Source Code Pro"/>
              </a:rPr>
              <a:t>#n became odd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  </a:t>
            </a:r>
            <a:r>
              <a:rPr lang="en" sz="1300" b="1"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i </a:t>
            </a:r>
            <a:r>
              <a:rPr lang="en" sz="1300" b="1">
                <a:latin typeface="Source Code Pro"/>
                <a:ea typeface="Source Code Pro"/>
                <a:cs typeface="Source Code Pro"/>
                <a:sym typeface="Source Code Pro"/>
              </a:rPr>
              <a:t>in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range(3,n</a:t>
            </a:r>
            <a:r>
              <a:rPr lang="en" sz="1300" b="1">
                <a:latin typeface="Source Code Pro"/>
                <a:ea typeface="Source Code Pro"/>
                <a:cs typeface="Source Code Pro"/>
                <a:sym typeface="Source Code Pro"/>
              </a:rPr>
              <a:t>+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1,2):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    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     </a:t>
            </a:r>
            <a:r>
              <a:rPr lang="en" sz="1300" b="1">
                <a:latin typeface="Source Code Pro"/>
                <a:ea typeface="Source Code Pro"/>
                <a:cs typeface="Source Code Pro"/>
                <a:sym typeface="Source Code Pro"/>
              </a:rPr>
              <a:t>while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(n </a:t>
            </a:r>
            <a:r>
              <a:rPr lang="en" sz="1300" b="1">
                <a:latin typeface="Source Code Pro"/>
                <a:ea typeface="Source Code Pro"/>
                <a:cs typeface="Source Code Pro"/>
                <a:sym typeface="Source Code Pro"/>
              </a:rPr>
              <a:t>%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i </a:t>
            </a:r>
            <a:r>
              <a:rPr lang="en" sz="1300" b="1">
                <a:latin typeface="Source Code Pro"/>
                <a:ea typeface="Source Code Pro"/>
                <a:cs typeface="Source Code Pro"/>
                <a:sym typeface="Source Code Pro"/>
              </a:rPr>
              <a:t>==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0):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        print (i)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        n </a:t>
            </a:r>
            <a:r>
              <a:rPr lang="en" sz="1300" b="1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int(n </a:t>
            </a:r>
            <a:r>
              <a:rPr lang="en" sz="1300" b="1">
                <a:latin typeface="Source Code Pro"/>
                <a:ea typeface="Source Code Pro"/>
                <a:cs typeface="Source Code Pro"/>
                <a:sym typeface="Source Code Pro"/>
              </a:rPr>
              <a:t>/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i)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  </a:t>
            </a:r>
            <a:r>
              <a:rPr lang="en" sz="1300" b="1"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n </a:t>
            </a:r>
            <a:r>
              <a:rPr lang="en" sz="1300" b="1">
                <a:latin typeface="Source Code Pro"/>
                <a:ea typeface="Source Code Pro"/>
                <a:cs typeface="Source Code Pro"/>
                <a:sym typeface="Source Code Pro"/>
              </a:rPr>
              <a:t>&gt;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2: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     print (n)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n </a:t>
            </a:r>
            <a:r>
              <a:rPr lang="en" sz="1300" b="1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int(input("Enter the number for calculating the prime factors :\n"))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prime_factors(n)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Prime Factors: Program 3</a:t>
            </a:r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6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n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int(input("Enter an integer:"))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print("Factors are:")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while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(i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&lt;=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n):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k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0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(n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%i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==0):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    j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while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(j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&lt;=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i):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       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(i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%j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==0):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            k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k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+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        j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j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+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(k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==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2):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        print(i)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i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+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endParaRPr sz="1600" b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Smallest Divisor: Program 1</a:t>
            </a:r>
            <a:endParaRPr/>
          </a:p>
        </p:txBody>
      </p:sp>
      <p:sp>
        <p:nvSpPr>
          <p:cNvPr id="154" name="Google Shape;154;p28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num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int(input("Enter a number : "))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i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in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range(2, num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+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1):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num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%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i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==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0: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    print ("The smallest divisor for {} is {}"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format(num, i))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break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lang="e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Smallest Divisor: Program 2</a:t>
            </a:r>
            <a:endParaRPr/>
          </a:p>
        </p:txBody>
      </p:sp>
      <p:sp>
        <p:nvSpPr>
          <p:cNvPr id="160" name="Google Shape;160;p29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n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int(input("Enter an integer:"))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[]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i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in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range(2,n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+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1):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(n 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% i 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== 0):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        a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append(i)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en" sz="1600" b="1"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sort()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0795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print("Smallest divisor is:",a[0])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lang="e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Program: HCF</a:t>
            </a:r>
            <a:endParaRPr dirty="0"/>
          </a:p>
        </p:txBody>
      </p:sp>
      <p:sp>
        <p:nvSpPr>
          <p:cNvPr id="166" name="Google Shape;166;p30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7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latin typeface="Source Code Pro"/>
                <a:ea typeface="Source Code Pro"/>
                <a:cs typeface="Source Code Pro"/>
                <a:sym typeface="Source Code Pro"/>
              </a:rPr>
              <a:t># define a function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Source Code Pro"/>
                <a:ea typeface="Source Code Pro"/>
                <a:cs typeface="Source Code Pro"/>
                <a:sym typeface="Source Code Pro"/>
              </a:rPr>
              <a:t>def</a:t>
            </a: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compute_hcf(x, y):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latin typeface="Source Code Pro"/>
                <a:ea typeface="Source Code Pro"/>
                <a:cs typeface="Source Code Pro"/>
                <a:sym typeface="Source Code Pro"/>
              </a:rPr>
              <a:t># choose the smaller number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1600" b="1" dirty="0"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x </a:t>
            </a:r>
            <a:r>
              <a:rPr lang="en" sz="1600" b="1" dirty="0">
                <a:latin typeface="Source Code Pro"/>
                <a:ea typeface="Source Code Pro"/>
                <a:cs typeface="Source Code Pro"/>
                <a:sym typeface="Source Code Pro"/>
              </a:rPr>
              <a:t>&gt;</a:t>
            </a: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y: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       smaller </a:t>
            </a:r>
            <a:r>
              <a:rPr lang="en" sz="1600" b="1" dirty="0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y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1600" b="1" dirty="0">
                <a:latin typeface="Source Code Pro"/>
                <a:ea typeface="Source Code Pro"/>
                <a:cs typeface="Source Code Pro"/>
                <a:sym typeface="Source Code Pro"/>
              </a:rPr>
              <a:t>else</a:t>
            </a: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       smaller </a:t>
            </a:r>
            <a:r>
              <a:rPr lang="en" sz="1600" b="1" dirty="0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x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1600" b="1" dirty="0"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i </a:t>
            </a:r>
            <a:r>
              <a:rPr lang="en" sz="1600" b="1" dirty="0">
                <a:latin typeface="Source Code Pro"/>
                <a:ea typeface="Source Code Pro"/>
                <a:cs typeface="Source Code Pro"/>
                <a:sym typeface="Source Code Pro"/>
              </a:rPr>
              <a:t>in</a:t>
            </a: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range(1, smaller</a:t>
            </a:r>
            <a:r>
              <a:rPr lang="en" sz="1600" b="1" dirty="0">
                <a:latin typeface="Source Code Pro"/>
                <a:ea typeface="Source Code Pro"/>
                <a:cs typeface="Source Code Pro"/>
                <a:sym typeface="Source Code Pro"/>
              </a:rPr>
              <a:t>+</a:t>
            </a: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1):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1600" b="1" dirty="0"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((x </a:t>
            </a:r>
            <a:r>
              <a:rPr lang="en" sz="1600" b="1" dirty="0">
                <a:latin typeface="Source Code Pro"/>
                <a:ea typeface="Source Code Pro"/>
                <a:cs typeface="Source Code Pro"/>
                <a:sym typeface="Source Code Pro"/>
              </a:rPr>
              <a:t>%</a:t>
            </a: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i </a:t>
            </a:r>
            <a:r>
              <a:rPr lang="en" sz="1600" b="1" dirty="0">
                <a:latin typeface="Source Code Pro"/>
                <a:ea typeface="Source Code Pro"/>
                <a:cs typeface="Source Code Pro"/>
                <a:sym typeface="Source Code Pro"/>
              </a:rPr>
              <a:t>==</a:t>
            </a: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0) </a:t>
            </a:r>
            <a:r>
              <a:rPr lang="en" sz="1600" b="1" dirty="0">
                <a:latin typeface="Source Code Pro"/>
                <a:ea typeface="Source Code Pro"/>
                <a:cs typeface="Source Code Pro"/>
                <a:sym typeface="Source Code Pro"/>
              </a:rPr>
              <a:t>and</a:t>
            </a: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(y </a:t>
            </a:r>
            <a:r>
              <a:rPr lang="en" sz="1600" b="1" dirty="0">
                <a:latin typeface="Source Code Pro"/>
                <a:ea typeface="Source Code Pro"/>
                <a:cs typeface="Source Code Pro"/>
                <a:sym typeface="Source Code Pro"/>
              </a:rPr>
              <a:t>%</a:t>
            </a: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i </a:t>
            </a:r>
            <a:r>
              <a:rPr lang="en" sz="1600" b="1" dirty="0">
                <a:latin typeface="Source Code Pro"/>
                <a:ea typeface="Source Code Pro"/>
                <a:cs typeface="Source Code Pro"/>
                <a:sym typeface="Source Code Pro"/>
              </a:rPr>
              <a:t>==</a:t>
            </a: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0)):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           hcf </a:t>
            </a:r>
            <a:r>
              <a:rPr lang="en" sz="1600" b="1" dirty="0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i 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1600" b="1" dirty="0">
                <a:latin typeface="Source Code Pro"/>
                <a:ea typeface="Source Code Pro"/>
                <a:cs typeface="Source Code Pro"/>
                <a:sym typeface="Source Code Pro"/>
              </a:rPr>
              <a:t>return</a:t>
            </a: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hcf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num1 </a:t>
            </a:r>
            <a:r>
              <a:rPr lang="en" sz="1600" b="1" dirty="0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54 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num2 </a:t>
            </a:r>
            <a:r>
              <a:rPr lang="en" sz="1600" b="1" dirty="0">
                <a:latin typeface="Source Code Pro"/>
                <a:ea typeface="Source Code Pro"/>
                <a:cs typeface="Source Code Pro"/>
                <a:sym typeface="Source Code Pro"/>
              </a:rPr>
              <a:t>=</a:t>
            </a: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24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print("The H.C.F. is", compute_hcf(num1, num2))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Program: GCD: Using Euclidean Algorithm</a:t>
            </a:r>
            <a:endParaRPr/>
          </a:p>
        </p:txBody>
      </p:sp>
      <p:sp>
        <p:nvSpPr>
          <p:cNvPr id="172" name="Google Shape;172;p3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def compute_GCD(x, y):  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  while(y): 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      x, y = y, x % y 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  return x 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a = 60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b = 48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print ("The gcd of 60 and 48 is : ",end="")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Source Code Pro"/>
                <a:ea typeface="Source Code Pro"/>
                <a:cs typeface="Source Code Pro"/>
                <a:sym typeface="Source Code Pro"/>
              </a:rPr>
              <a:t>print (compute_GCD(60,48))</a:t>
            </a:r>
            <a:endParaRPr sz="1600" dirty="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Program: GCD: Using in-built function</a:t>
            </a:r>
            <a:endParaRPr/>
          </a:p>
        </p:txBody>
      </p:sp>
      <p:sp>
        <p:nvSpPr>
          <p:cNvPr id="178" name="Google Shape;178;p32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import math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print ("The gcd of 60 and 48 is : ",end="")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latin typeface="Source Code Pro"/>
                <a:ea typeface="Source Code Pro"/>
                <a:cs typeface="Source Code Pro"/>
                <a:sym typeface="Source Code Pro"/>
              </a:rPr>
              <a:t>print (math.gcd(60,48))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Generating Pseudo Random Number</a:t>
            </a:r>
            <a:endParaRPr/>
          </a:p>
        </p:txBody>
      </p:sp>
      <p:sp>
        <p:nvSpPr>
          <p:cNvPr id="184" name="Google Shape;184;p33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 dirty="0"/>
              <a:t>Pseudo Random Number Generator(PRNG)</a:t>
            </a:r>
            <a:r>
              <a:rPr lang="en" sz="1700" dirty="0"/>
              <a:t> refers to an algorithm that uses mathematical formulas to produce sequences of random numbers.</a:t>
            </a:r>
            <a:endParaRPr sz="1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dirty="0"/>
              <a:t>PRNGs generate a sequence of numbers approximating the properties of random numbers.  </a:t>
            </a:r>
            <a:endParaRPr sz="1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 dirty="0"/>
              <a:t>A PRNG starts from an arbitrary starting state using a </a:t>
            </a:r>
            <a:r>
              <a:rPr lang="en" sz="1700" b="1" dirty="0"/>
              <a:t>seed state</a:t>
            </a:r>
            <a:r>
              <a:rPr lang="en" sz="1700" dirty="0"/>
              <a:t>. Many numbers are generated in a short time and can also be reproduced later, if the starting point in the sequence is known. Hence, the numbers are </a:t>
            </a:r>
            <a:r>
              <a:rPr lang="en" sz="1700" b="1" dirty="0"/>
              <a:t>deterministic and efficient</a:t>
            </a:r>
            <a:r>
              <a:rPr lang="en" sz="1700" dirty="0"/>
              <a:t>.</a:t>
            </a:r>
            <a:endParaRPr sz="1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 dirty="0"/>
              <a:t>With the advent of computers, programmers recognized the need for a means of introducing randomness into a computer program.</a:t>
            </a:r>
            <a:endParaRPr sz="1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 dirty="0"/>
              <a:t>PRNG is a technique developed to generate random numbers using a computer.</a:t>
            </a:r>
            <a:endParaRPr sz="17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Generating Pseudo Random Number</a:t>
            </a:r>
            <a:endParaRPr/>
          </a:p>
        </p:txBody>
      </p:sp>
      <p:sp>
        <p:nvSpPr>
          <p:cNvPr id="196" name="Google Shape;196;p35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7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dirty="0"/>
              <a:t>random.randrange(10)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dirty="0"/>
              <a:t>random.randrange(10, 20)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dirty="0"/>
              <a:t>random.randrange(100, 200, 2)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dirty="0"/>
              <a:t>random.randint(1,10)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dirty="0"/>
              <a:t>random.random() # </a:t>
            </a:r>
            <a:r>
              <a:rPr lang="en" sz="1600" b="1" dirty="0"/>
              <a:t>random.random()</a:t>
            </a:r>
            <a:r>
              <a:rPr lang="en" sz="1600" dirty="0"/>
              <a:t> − This function randomly generates a floating point number between 0.0 and 1.0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b="1" dirty="0"/>
              <a:t>random.uniform()</a:t>
            </a:r>
            <a:r>
              <a:rPr lang="en" sz="1600" dirty="0"/>
              <a:t> − This function returns a floating point random number between two parameters.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dirty="0"/>
              <a:t>random.uniform(0.5,1.5)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b="1" dirty="0"/>
              <a:t>random.choice()</a:t>
            </a:r>
            <a:r>
              <a:rPr lang="en" sz="1600" dirty="0"/>
              <a:t> This function picks a random element from the sequence. If the sequence is empty, IndexError is thrown.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dirty="0"/>
              <a:t>random.choice (“VITBHOPAL</a:t>
            </a:r>
            <a:r>
              <a:rPr lang="en" sz="1600" dirty="0" smtClean="0"/>
              <a:t>")</a:t>
            </a:r>
            <a:endParaRPr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Raising a Number to Large power</a:t>
            </a:r>
            <a:endParaRPr/>
          </a:p>
        </p:txBody>
      </p:sp>
      <p:sp>
        <p:nvSpPr>
          <p:cNvPr id="202" name="Google Shape;202;p36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7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dirty="0">
                <a:highlight>
                  <a:schemeClr val="accent1"/>
                </a:highlight>
              </a:rPr>
              <a:t>There are three ways you can raise a number to a power in Python:</a:t>
            </a:r>
            <a:endParaRPr dirty="0">
              <a:highlight>
                <a:schemeClr val="accent1"/>
              </a:highlight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endParaRPr dirty="0">
              <a:highlight>
                <a:schemeClr val="accent1"/>
              </a:highlight>
            </a:endParaRPr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>
                <a:highlight>
                  <a:schemeClr val="accent1"/>
                </a:highlight>
              </a:rPr>
              <a:t>The ** operator</a:t>
            </a:r>
            <a:endParaRPr dirty="0">
              <a:highlight>
                <a:schemeClr val="accent1"/>
              </a:highlight>
            </a:endParaRPr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>
                <a:highlight>
                  <a:schemeClr val="accent1"/>
                </a:highlight>
              </a:rPr>
              <a:t>The built-in pow() function</a:t>
            </a:r>
            <a:endParaRPr dirty="0">
              <a:highlight>
                <a:schemeClr val="accent1"/>
              </a:highlight>
            </a:endParaRPr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>
                <a:highlight>
                  <a:schemeClr val="accent1"/>
                </a:highlight>
              </a:rPr>
              <a:t>The math module’s math.pow() function</a:t>
            </a:r>
            <a:endParaRPr dirty="0">
              <a:highlight>
                <a:schemeClr val="accent1"/>
              </a:highlight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highlight>
                <a:schemeClr val="accent1"/>
              </a:highlight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dirty="0">
                <a:highlight>
                  <a:schemeClr val="accent1"/>
                </a:highlight>
              </a:rPr>
              <a:t>All three approaches work almost identically with one another. But there are some slight differences you may be interested to learn.</a:t>
            </a:r>
            <a:br>
              <a:rPr lang="en" dirty="0">
                <a:highlight>
                  <a:schemeClr val="accent1"/>
                </a:highlight>
              </a:rPr>
            </a:br>
            <a:endParaRPr dirty="0">
              <a:highlight>
                <a:schemeClr val="accent1"/>
              </a:highlight>
            </a:endParaRPr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dirty="0">
                <a:highlight>
                  <a:schemeClr val="accent1"/>
                </a:highlight>
              </a:rPr>
              <a:t>**</a:t>
            </a:r>
            <a:r>
              <a:rPr lang="en" dirty="0">
                <a:highlight>
                  <a:schemeClr val="accent1"/>
                </a:highlight>
              </a:rPr>
              <a:t> is generally faster.</a:t>
            </a:r>
            <a:endParaRPr dirty="0">
              <a:highlight>
                <a:schemeClr val="accent1"/>
              </a:highlight>
            </a:endParaRPr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dirty="0">
                <a:highlight>
                  <a:schemeClr val="accent1"/>
                </a:highlight>
              </a:rPr>
              <a:t>math.pow()</a:t>
            </a:r>
            <a:r>
              <a:rPr lang="en" dirty="0">
                <a:highlight>
                  <a:schemeClr val="accent1"/>
                </a:highlight>
              </a:rPr>
              <a:t> uses floats only.</a:t>
            </a:r>
            <a:endParaRPr dirty="0">
              <a:highlight>
                <a:schemeClr val="accent1"/>
              </a:highlight>
            </a:endParaRPr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 dirty="0">
                <a:highlight>
                  <a:schemeClr val="accent1"/>
                </a:highlight>
              </a:rPr>
              <a:t>math.pow()</a:t>
            </a:r>
            <a:r>
              <a:rPr lang="en" dirty="0">
                <a:highlight>
                  <a:schemeClr val="accent1"/>
                </a:highlight>
              </a:rPr>
              <a:t> does not allow imaginary numbers.</a:t>
            </a:r>
            <a:endParaRPr dirty="0">
              <a:highlight>
                <a:schemeClr val="accent1"/>
              </a:highlight>
            </a:endParaRPr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>
                <a:highlight>
                  <a:schemeClr val="accent1"/>
                </a:highlight>
              </a:rPr>
              <a:t>The built-in </a:t>
            </a:r>
            <a:r>
              <a:rPr lang="en" b="1" dirty="0" smtClean="0">
                <a:highlight>
                  <a:schemeClr val="accent1"/>
                </a:highlight>
              </a:rPr>
              <a:t>pow(3,3)</a:t>
            </a:r>
            <a:r>
              <a:rPr lang="en" dirty="0" smtClean="0">
                <a:highlight>
                  <a:schemeClr val="accent1"/>
                </a:highlight>
              </a:rPr>
              <a:t> </a:t>
            </a:r>
            <a:r>
              <a:rPr lang="en" dirty="0">
                <a:highlight>
                  <a:schemeClr val="accent1"/>
                </a:highlight>
              </a:rPr>
              <a:t>function accepts a third argument.</a:t>
            </a:r>
            <a:endParaRPr dirty="0">
              <a:highlight>
                <a:schemeClr val="accent1"/>
              </a:highlight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nth Fibonacci Number: Program 1</a:t>
            </a:r>
            <a:endParaRPr/>
          </a:p>
        </p:txBody>
      </p:sp>
      <p:sp>
        <p:nvSpPr>
          <p:cNvPr id="208" name="Google Shape;208;p37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def Fibonacci(n):</a:t>
            </a:r>
            <a:endParaRPr sz="14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if n&lt;0:</a:t>
            </a:r>
            <a:endParaRPr sz="14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    print("Incorrect input")</a:t>
            </a:r>
            <a:endParaRPr sz="14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# First Fibonacci number is 0</a:t>
            </a:r>
            <a:endParaRPr sz="14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elif n==0:</a:t>
            </a:r>
            <a:endParaRPr sz="14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    return (0)</a:t>
            </a:r>
            <a:endParaRPr sz="14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# Second Fibonacci number is 1</a:t>
            </a:r>
            <a:endParaRPr sz="14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elif n==1:</a:t>
            </a:r>
            <a:endParaRPr sz="14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    return (1)</a:t>
            </a:r>
            <a:endParaRPr sz="14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else:</a:t>
            </a:r>
            <a:endParaRPr sz="14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    return (Fibonacci(n-1)+Fibonacci(n-2))</a:t>
            </a:r>
            <a:endParaRPr sz="14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print(Fibonacci(15))</a:t>
            </a:r>
            <a:endParaRPr sz="14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 lang="e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Computing nth Fibonacci Number: Program 2</a:t>
            </a:r>
            <a:endParaRPr/>
          </a:p>
        </p:txBody>
      </p:sp>
      <p:sp>
        <p:nvSpPr>
          <p:cNvPr id="214" name="Google Shape;214;p38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8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def fibonacci(n):</a:t>
            </a:r>
            <a:endParaRPr sz="15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a = 0</a:t>
            </a:r>
            <a:endParaRPr sz="15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b = 1</a:t>
            </a:r>
            <a:endParaRPr sz="15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if n &lt; 0:</a:t>
            </a:r>
            <a:endParaRPr sz="15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    print("Incorrect input")</a:t>
            </a:r>
            <a:endParaRPr sz="15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elif n == 0:</a:t>
            </a:r>
            <a:endParaRPr sz="15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    return a</a:t>
            </a:r>
            <a:endParaRPr sz="15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elif n == 1:</a:t>
            </a:r>
            <a:endParaRPr sz="15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    return b</a:t>
            </a:r>
            <a:endParaRPr sz="15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else:</a:t>
            </a:r>
            <a:endParaRPr sz="15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    for i in range(2,n+1):</a:t>
            </a:r>
            <a:endParaRPr sz="15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        c = a + b</a:t>
            </a:r>
            <a:endParaRPr sz="15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        a = b</a:t>
            </a:r>
            <a:endParaRPr sz="15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        b = c</a:t>
            </a:r>
            <a:endParaRPr sz="15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        return b</a:t>
            </a:r>
            <a:endParaRPr sz="15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chemeClr val="lt1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print(fibonacci(15))</a:t>
            </a:r>
            <a:endParaRPr sz="1500">
              <a:highlight>
                <a:schemeClr val="lt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 lang="e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1631</TotalTime>
  <Words>1520</Words>
  <Application>Microsoft Office PowerPoint</Application>
  <PresentationFormat>On-screen Show (16:9)</PresentationFormat>
  <Paragraphs>262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Old Standard TT</vt:lpstr>
      <vt:lpstr>Times New Roman</vt:lpstr>
      <vt:lpstr>Arial</vt:lpstr>
      <vt:lpstr>Source Code Pro</vt:lpstr>
      <vt:lpstr>Paperback</vt:lpstr>
      <vt:lpstr>Introduction to Problem Solving and Programming Course Code: CSE 1021 Chapter 4</vt:lpstr>
      <vt:lpstr>Chapter 4: Syllabus</vt:lpstr>
      <vt:lpstr>Finding Square Root</vt:lpstr>
      <vt:lpstr>Program 1</vt:lpstr>
      <vt:lpstr>Program 2</vt:lpstr>
      <vt:lpstr>Program 3</vt:lpstr>
      <vt:lpstr>Finding Factors: Program</vt:lpstr>
      <vt:lpstr>Generate Prime Numbers: Program 1</vt:lpstr>
      <vt:lpstr>Generate Prime Numbers: Program 2</vt:lpstr>
      <vt:lpstr>Compute Prime Factors</vt:lpstr>
      <vt:lpstr>Compute Prime Factors: Division Method</vt:lpstr>
      <vt:lpstr>Compute Prime Factors:  Factor Tree Method</vt:lpstr>
      <vt:lpstr>Compute Prime Factors: Program 1</vt:lpstr>
      <vt:lpstr>Compute Prime Factors: Program 2</vt:lpstr>
      <vt:lpstr>Compute Prime Factors: Program 3</vt:lpstr>
      <vt:lpstr>Smallest Divisor: Program 1</vt:lpstr>
      <vt:lpstr>Smallest Divisor: Program 2</vt:lpstr>
      <vt:lpstr>Program: HCF</vt:lpstr>
      <vt:lpstr>Program: GCD: Using Euclidean Algorithm</vt:lpstr>
      <vt:lpstr>Program: GCD: Using in-built function</vt:lpstr>
      <vt:lpstr>Generating Pseudo Random Number</vt:lpstr>
      <vt:lpstr>Generating Pseudo Random Number</vt:lpstr>
      <vt:lpstr>Raising a Number to Large power</vt:lpstr>
      <vt:lpstr>Computing nth Fibonacci Number: Program 1</vt:lpstr>
      <vt:lpstr>Computing nth Fibonacci Number: Program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Problem Solving and Programming Course Code: CSE 1021 Chapter 4</dc:title>
  <cp:lastModifiedBy>vit</cp:lastModifiedBy>
  <cp:revision>8</cp:revision>
  <dcterms:modified xsi:type="dcterms:W3CDTF">2025-11-03T05:18:04Z</dcterms:modified>
</cp:coreProperties>
</file>