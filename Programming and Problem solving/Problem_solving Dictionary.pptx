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0" d="100"/>
          <a:sy n="60" d="100"/>
        </p:scale>
        <p:origin x="-996" y="-18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84FC52-4295-4FA0-A31F-5D9F49D666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1FB0666C-3D25-49E6-AE13-A6C0D92DB8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4A2FBE06-CE8F-491F-B7C0-271EA6EA1EF2}"/>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5" name="Footer Placeholder 4">
            <a:extLst>
              <a:ext uri="{FF2B5EF4-FFF2-40B4-BE49-F238E27FC236}">
                <a16:creationId xmlns="" xmlns:a16="http://schemas.microsoft.com/office/drawing/2014/main" id="{F768966E-EEFD-4CE2-87F2-F3920DE2B4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B87B163-578B-4482-B39E-65E35DAFA6B7}"/>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2991665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8A465DD-9F4A-4427-8FEF-E7A0193021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4B11F12-7CC1-46EB-A0C5-27B2631DC7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8730B07-1F83-4332-AF91-D6D057ADFD64}"/>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5" name="Footer Placeholder 4">
            <a:extLst>
              <a:ext uri="{FF2B5EF4-FFF2-40B4-BE49-F238E27FC236}">
                <a16:creationId xmlns="" xmlns:a16="http://schemas.microsoft.com/office/drawing/2014/main" id="{EF9D9CCF-0719-4C33-AFF9-BDCF8053555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F025545-DA24-4C33-98EE-27C8E66E46A5}"/>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3621064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259617B-8D73-4155-B65F-0773D2E96A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769FAB36-4BBC-4F98-8E5E-9ADEB3A1BE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CDF3DE68-587C-416C-A2C8-8F4E3891A841}"/>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5" name="Footer Placeholder 4">
            <a:extLst>
              <a:ext uri="{FF2B5EF4-FFF2-40B4-BE49-F238E27FC236}">
                <a16:creationId xmlns="" xmlns:a16="http://schemas.microsoft.com/office/drawing/2014/main" id="{DE3068A2-93D2-4AB9-AD93-2E0FB6663F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7FF78CA-ECE8-4ACE-865C-3B4FAF7A6A0E}"/>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16487291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602CC89-C94A-4B2C-B72E-62EC1BB4DF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9E8615D1-6750-4EC4-B7E2-0323C03089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D4E4D5E7-501E-49FA-97F5-DC1A8D6CAE3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92AAB164-57D0-4D5D-944D-41B49BC8F527}"/>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6" name="Footer Placeholder 5">
            <a:extLst>
              <a:ext uri="{FF2B5EF4-FFF2-40B4-BE49-F238E27FC236}">
                <a16:creationId xmlns="" xmlns:a16="http://schemas.microsoft.com/office/drawing/2014/main" id="{99ED5EDA-0D1E-4B3C-B2B4-759DB9F5E6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D1914124-283B-472C-BDC0-E43A685691BD}"/>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3629059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05FEBA3-8C3D-46EA-B3D5-E43BF9D37BA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5A7905D8-BE00-45BC-90DE-2AB69010FD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6D1B0B38-FCAC-41B1-B3AD-00192E12A8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04E029F1-46A8-40A0-9FF0-3D78694521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28138B5C-F9ED-4D3A-836E-8AC75F52EB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6FDAFEC4-148F-46A5-A9DB-52AA1ECA5402}"/>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8" name="Footer Placeholder 7">
            <a:extLst>
              <a:ext uri="{FF2B5EF4-FFF2-40B4-BE49-F238E27FC236}">
                <a16:creationId xmlns="" xmlns:a16="http://schemas.microsoft.com/office/drawing/2014/main" id="{522DF067-0E9B-4B1A-B7B6-3956F4575B9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4B0DFF5C-D9DB-4416-ACE9-75F816B567C1}"/>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2070786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253F07-5C5A-4F6F-8ACD-A2FF65DE66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C933C2BF-E136-4863-8349-86567805080F}"/>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4" name="Footer Placeholder 3">
            <a:extLst>
              <a:ext uri="{FF2B5EF4-FFF2-40B4-BE49-F238E27FC236}">
                <a16:creationId xmlns="" xmlns:a16="http://schemas.microsoft.com/office/drawing/2014/main" id="{F8B4CC11-99AF-4217-AAAD-FD730D43405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075B8B5A-26BB-4607-A643-E08EF61FD22B}"/>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622453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4442D470-FC0A-444E-8374-0D3AA7D3392C}"/>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3" name="Footer Placeholder 2">
            <a:extLst>
              <a:ext uri="{FF2B5EF4-FFF2-40B4-BE49-F238E27FC236}">
                <a16:creationId xmlns="" xmlns:a16="http://schemas.microsoft.com/office/drawing/2014/main" id="{3822691C-2990-4D62-96DD-6D362B19008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732B10F6-64ED-4125-9475-6998B6EDCAD7}"/>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2898209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9E6CC0-FA72-4743-A3D5-D751F5C89C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CB8F8F42-F2BF-4C0B-A15E-3054D44584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CC29D070-A64A-4C51-BA18-0EAD184FDB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6AF616C2-7E6F-4753-A82A-8CB9A684A920}"/>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6" name="Footer Placeholder 5">
            <a:extLst>
              <a:ext uri="{FF2B5EF4-FFF2-40B4-BE49-F238E27FC236}">
                <a16:creationId xmlns="" xmlns:a16="http://schemas.microsoft.com/office/drawing/2014/main" id="{6ABCE97C-2739-4F6C-9355-A8B23EA2542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F643BFFE-762A-4939-80AC-8B6F5D7B0FE3}"/>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2122085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0428F1D-C36B-48C4-AB7F-7B6037EC37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4D2B97F5-B817-4560-BF7D-D934F24365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D11023EC-FF34-4079-A70A-D416548408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CB7138F8-8F89-4CCD-860E-11EB362AF252}"/>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6" name="Footer Placeholder 5">
            <a:extLst>
              <a:ext uri="{FF2B5EF4-FFF2-40B4-BE49-F238E27FC236}">
                <a16:creationId xmlns="" xmlns:a16="http://schemas.microsoft.com/office/drawing/2014/main" id="{15F7A29A-F3FD-4937-B253-FD2EBFF1C1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018EDE97-0FB5-4411-8A59-B5953B1D48A5}"/>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3422714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A4500BF-AA5A-445F-9FF1-9376B687DFE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FCBC6F29-1AE5-487A-AAE0-EF53062DB1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0E5AE8F-FE57-4732-8658-FED843FEECEF}"/>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5" name="Footer Placeholder 4">
            <a:extLst>
              <a:ext uri="{FF2B5EF4-FFF2-40B4-BE49-F238E27FC236}">
                <a16:creationId xmlns="" xmlns:a16="http://schemas.microsoft.com/office/drawing/2014/main" id="{A102131A-D8F3-4097-92E5-001C178AE8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AEEDE69C-716B-4A24-8FD6-14D6ECFF5C7F}"/>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214684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F0648E58-CDC8-48EA-AE69-E3DCC60A5CE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92A154CC-F8EE-453F-A915-5A257F1EC1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F857CD4A-90C1-4EF9-8710-9BD03B785DFC}"/>
              </a:ext>
            </a:extLst>
          </p:cNvPr>
          <p:cNvSpPr>
            <a:spLocks noGrp="1"/>
          </p:cNvSpPr>
          <p:nvPr>
            <p:ph type="dt" sz="half" idx="10"/>
          </p:nvPr>
        </p:nvSpPr>
        <p:spPr/>
        <p:txBody>
          <a:bodyPr/>
          <a:lstStyle/>
          <a:p>
            <a:fld id="{B70ED11E-C660-4FD0-9DFE-8902E6FEDD99}" type="datetimeFigureOut">
              <a:rPr lang="en-IN" smtClean="0"/>
              <a:t>06-12-2024</a:t>
            </a:fld>
            <a:endParaRPr lang="en-IN"/>
          </a:p>
        </p:txBody>
      </p:sp>
      <p:sp>
        <p:nvSpPr>
          <p:cNvPr id="5" name="Footer Placeholder 4">
            <a:extLst>
              <a:ext uri="{FF2B5EF4-FFF2-40B4-BE49-F238E27FC236}">
                <a16:creationId xmlns="" xmlns:a16="http://schemas.microsoft.com/office/drawing/2014/main" id="{397765FD-0298-42C2-93D1-EA7B6696EE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9D64198F-24B2-4B39-8679-DC5CCC6B6591}"/>
              </a:ext>
            </a:extLst>
          </p:cNvPr>
          <p:cNvSpPr>
            <a:spLocks noGrp="1"/>
          </p:cNvSpPr>
          <p:nvPr>
            <p:ph type="sldNum" sz="quarter" idx="12"/>
          </p:nvPr>
        </p:nvSpPr>
        <p:spPr/>
        <p:txBody>
          <a:bodyPr/>
          <a:lstStyle/>
          <a:p>
            <a:fld id="{962F8584-49D7-40BD-B1B8-11C40DB58689}" type="slidenum">
              <a:rPr lang="en-IN" smtClean="0"/>
              <a:t>‹#›</a:t>
            </a:fld>
            <a:endParaRPr lang="en-IN"/>
          </a:p>
        </p:txBody>
      </p:sp>
    </p:spTree>
    <p:extLst>
      <p:ext uri="{BB962C8B-B14F-4D97-AF65-F5344CB8AC3E}">
        <p14:creationId xmlns:p14="http://schemas.microsoft.com/office/powerpoint/2010/main" val="355435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C157807B-5D87-45B2-90B9-DEEC2A2197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68AC61D3-85F9-4F85-8057-4B59813907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88CBEE2-806F-43D3-9987-FCD4AF770C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0ED11E-C660-4FD0-9DFE-8902E6FEDD99}" type="datetimeFigureOut">
              <a:rPr lang="en-IN" smtClean="0"/>
              <a:t>06-12-2024</a:t>
            </a:fld>
            <a:endParaRPr lang="en-IN"/>
          </a:p>
        </p:txBody>
      </p:sp>
      <p:sp>
        <p:nvSpPr>
          <p:cNvPr id="5" name="Footer Placeholder 4">
            <a:extLst>
              <a:ext uri="{FF2B5EF4-FFF2-40B4-BE49-F238E27FC236}">
                <a16:creationId xmlns="" xmlns:a16="http://schemas.microsoft.com/office/drawing/2014/main" id="{18DA2242-D44A-48F5-96BA-0C1F5ED23D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C85A272D-02FE-4B7B-B009-7BF36F0F6C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2F8584-49D7-40BD-B1B8-11C40DB58689}" type="slidenum">
              <a:rPr lang="en-IN" smtClean="0"/>
              <a:t>‹#›</a:t>
            </a:fld>
            <a:endParaRPr lang="en-IN"/>
          </a:p>
        </p:txBody>
      </p:sp>
    </p:spTree>
    <p:extLst>
      <p:ext uri="{BB962C8B-B14F-4D97-AF65-F5344CB8AC3E}">
        <p14:creationId xmlns:p14="http://schemas.microsoft.com/office/powerpoint/2010/main" val="10675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54A4812-835F-4121-9D81-9F0B789F04CB}"/>
              </a:ext>
            </a:extLst>
          </p:cNvPr>
          <p:cNvSpPr>
            <a:spLocks noGrp="1"/>
          </p:cNvSpPr>
          <p:nvPr>
            <p:ph type="ctrTitle"/>
          </p:nvPr>
        </p:nvSpPr>
        <p:spPr/>
        <p:txBody>
          <a:bodyPr/>
          <a:lstStyle/>
          <a:p>
            <a:r>
              <a:rPr lang="en-IN" dirty="0"/>
              <a:t>Python Dictionary</a:t>
            </a:r>
          </a:p>
        </p:txBody>
      </p:sp>
    </p:spTree>
    <p:extLst>
      <p:ext uri="{BB962C8B-B14F-4D97-AF65-F5344CB8AC3E}">
        <p14:creationId xmlns:p14="http://schemas.microsoft.com/office/powerpoint/2010/main" val="1127668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DD7FD1-C692-4F8A-B7C0-5DF424498336}"/>
              </a:ext>
            </a:extLst>
          </p:cNvPr>
          <p:cNvSpPr>
            <a:spLocks noGrp="1"/>
          </p:cNvSpPr>
          <p:nvPr>
            <p:ph type="title"/>
          </p:nvPr>
        </p:nvSpPr>
        <p:spPr/>
        <p:txBody>
          <a:bodyPr/>
          <a:lstStyle/>
          <a:p>
            <a:pPr algn="ctr"/>
            <a:r>
              <a:rPr lang="en-IN" dirty="0"/>
              <a:t>Accessing a Dictionary</a:t>
            </a:r>
          </a:p>
        </p:txBody>
      </p:sp>
      <p:sp>
        <p:nvSpPr>
          <p:cNvPr id="3" name="Content Placeholder 2">
            <a:extLst>
              <a:ext uri="{FF2B5EF4-FFF2-40B4-BE49-F238E27FC236}">
                <a16:creationId xmlns="" xmlns:a16="http://schemas.microsoft.com/office/drawing/2014/main" id="{96210A3F-5B53-4712-B5A3-C63A8D0216AB}"/>
              </a:ext>
            </a:extLst>
          </p:cNvPr>
          <p:cNvSpPr>
            <a:spLocks noGrp="1"/>
          </p:cNvSpPr>
          <p:nvPr>
            <p:ph idx="1"/>
          </p:nvPr>
        </p:nvSpPr>
        <p:spPr/>
        <p:txBody>
          <a:bodyPr>
            <a:normAutofit/>
          </a:bodyPr>
          <a:lstStyle/>
          <a:p>
            <a:r>
              <a:rPr lang="en-IN" sz="2400" dirty="0"/>
              <a:t>Accessing a value:</a:t>
            </a:r>
            <a:r>
              <a:rPr lang="en-IN" sz="1600" b="0" i="0" dirty="0">
                <a:solidFill>
                  <a:srgbClr val="444444"/>
                </a:solidFill>
                <a:effectLst/>
                <a:latin typeface="Georgia" panose="02040502050405020303" pitchFamily="18" charset="0"/>
              </a:rPr>
              <a:t> A Python dictionary is unordered. So to get a value from it, we need to put its key in square brackets.</a:t>
            </a:r>
          </a:p>
          <a:p>
            <a:endParaRPr lang="en-IN" sz="1600" dirty="0">
              <a:solidFill>
                <a:srgbClr val="444444"/>
              </a:solidFill>
              <a:latin typeface="Georgia" panose="02040502050405020303" pitchFamily="18" charset="0"/>
            </a:endParaRPr>
          </a:p>
          <a:p>
            <a:endParaRPr lang="en-IN" sz="1600" dirty="0">
              <a:solidFill>
                <a:srgbClr val="444444"/>
              </a:solidFill>
              <a:latin typeface="Georgia" panose="02040502050405020303" pitchFamily="18" charset="0"/>
            </a:endParaRPr>
          </a:p>
          <a:p>
            <a:endParaRPr lang="en-IN" sz="1600" dirty="0">
              <a:solidFill>
                <a:srgbClr val="444444"/>
              </a:solidFill>
              <a:latin typeface="Georgia" panose="02040502050405020303" pitchFamily="18" charset="0"/>
            </a:endParaRPr>
          </a:p>
          <a:p>
            <a:endParaRPr lang="en-IN" sz="1600" dirty="0">
              <a:solidFill>
                <a:srgbClr val="444444"/>
              </a:solidFill>
              <a:latin typeface="Georgia" panose="02040502050405020303" pitchFamily="18" charset="0"/>
            </a:endParaRPr>
          </a:p>
          <a:p>
            <a:r>
              <a:rPr lang="en-IN" sz="2400" dirty="0"/>
              <a:t>get(): </a:t>
            </a:r>
            <a:r>
              <a:rPr lang="en-IN" sz="1600" b="0" i="0" dirty="0">
                <a:solidFill>
                  <a:srgbClr val="444444"/>
                </a:solidFill>
                <a:effectLst/>
                <a:latin typeface="Georgia" panose="02040502050405020303" pitchFamily="18" charset="0"/>
              </a:rPr>
              <a:t>get() method takes a key as an argument and returns the corresponding value.</a:t>
            </a:r>
            <a:endParaRPr lang="en-IN" sz="2400" dirty="0"/>
          </a:p>
        </p:txBody>
      </p:sp>
      <p:pic>
        <p:nvPicPr>
          <p:cNvPr id="5" name="Picture 4">
            <a:extLst>
              <a:ext uri="{FF2B5EF4-FFF2-40B4-BE49-F238E27FC236}">
                <a16:creationId xmlns="" xmlns:a16="http://schemas.microsoft.com/office/drawing/2014/main" id="{F3FB2D05-CD12-4436-97E2-8BCBB20EFDEE}"/>
              </a:ext>
            </a:extLst>
          </p:cNvPr>
          <p:cNvPicPr>
            <a:picLocks noChangeAspect="1"/>
          </p:cNvPicPr>
          <p:nvPr/>
        </p:nvPicPr>
        <p:blipFill>
          <a:blip r:embed="rId2"/>
          <a:stretch>
            <a:fillRect/>
          </a:stretch>
        </p:blipFill>
        <p:spPr>
          <a:xfrm>
            <a:off x="1258562" y="2564169"/>
            <a:ext cx="4653154" cy="1116757"/>
          </a:xfrm>
          <a:prstGeom prst="rect">
            <a:avLst/>
          </a:prstGeom>
        </p:spPr>
      </p:pic>
      <p:pic>
        <p:nvPicPr>
          <p:cNvPr id="7" name="Picture 6">
            <a:extLst>
              <a:ext uri="{FF2B5EF4-FFF2-40B4-BE49-F238E27FC236}">
                <a16:creationId xmlns="" xmlns:a16="http://schemas.microsoft.com/office/drawing/2014/main" id="{6E1D2D8E-DB94-4D9C-9625-4FFA144A1E0D}"/>
              </a:ext>
            </a:extLst>
          </p:cNvPr>
          <p:cNvPicPr>
            <a:picLocks noChangeAspect="1"/>
          </p:cNvPicPr>
          <p:nvPr/>
        </p:nvPicPr>
        <p:blipFill>
          <a:blip r:embed="rId3"/>
          <a:stretch>
            <a:fillRect/>
          </a:stretch>
        </p:blipFill>
        <p:spPr>
          <a:xfrm>
            <a:off x="1258562" y="4600477"/>
            <a:ext cx="2398053" cy="932576"/>
          </a:xfrm>
          <a:prstGeom prst="rect">
            <a:avLst/>
          </a:prstGeom>
        </p:spPr>
      </p:pic>
      <p:pic>
        <p:nvPicPr>
          <p:cNvPr id="9" name="Picture 8">
            <a:extLst>
              <a:ext uri="{FF2B5EF4-FFF2-40B4-BE49-F238E27FC236}">
                <a16:creationId xmlns="" xmlns:a16="http://schemas.microsoft.com/office/drawing/2014/main" id="{70AC69BD-85FF-4178-8369-306C7A7FE234}"/>
              </a:ext>
            </a:extLst>
          </p:cNvPr>
          <p:cNvPicPr>
            <a:picLocks noChangeAspect="1"/>
          </p:cNvPicPr>
          <p:nvPr/>
        </p:nvPicPr>
        <p:blipFill>
          <a:blip r:embed="rId4"/>
          <a:stretch>
            <a:fillRect/>
          </a:stretch>
        </p:blipFill>
        <p:spPr>
          <a:xfrm>
            <a:off x="6773929" y="2564169"/>
            <a:ext cx="4867275" cy="1085850"/>
          </a:xfrm>
          <a:prstGeom prst="rect">
            <a:avLst/>
          </a:prstGeom>
        </p:spPr>
      </p:pic>
      <p:pic>
        <p:nvPicPr>
          <p:cNvPr id="11" name="Picture 10">
            <a:extLst>
              <a:ext uri="{FF2B5EF4-FFF2-40B4-BE49-F238E27FC236}">
                <a16:creationId xmlns="" xmlns:a16="http://schemas.microsoft.com/office/drawing/2014/main" id="{C6B4EE6B-B44F-41E0-B898-523BAD0BF6DB}"/>
              </a:ext>
            </a:extLst>
          </p:cNvPr>
          <p:cNvPicPr>
            <a:picLocks noChangeAspect="1"/>
          </p:cNvPicPr>
          <p:nvPr/>
        </p:nvPicPr>
        <p:blipFill>
          <a:blip r:embed="rId5"/>
          <a:stretch>
            <a:fillRect/>
          </a:stretch>
        </p:blipFill>
        <p:spPr>
          <a:xfrm>
            <a:off x="6777038" y="4677455"/>
            <a:ext cx="2758847" cy="694898"/>
          </a:xfrm>
          <a:prstGeom prst="rect">
            <a:avLst/>
          </a:prstGeom>
        </p:spPr>
      </p:pic>
    </p:spTree>
    <p:extLst>
      <p:ext uri="{BB962C8B-B14F-4D97-AF65-F5344CB8AC3E}">
        <p14:creationId xmlns:p14="http://schemas.microsoft.com/office/powerpoint/2010/main" val="20248638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46738E-FBC1-43FE-9B54-E560E2DE311F}"/>
              </a:ext>
            </a:extLst>
          </p:cNvPr>
          <p:cNvSpPr>
            <a:spLocks noGrp="1"/>
          </p:cNvSpPr>
          <p:nvPr>
            <p:ph type="title"/>
          </p:nvPr>
        </p:nvSpPr>
        <p:spPr/>
        <p:txBody>
          <a:bodyPr/>
          <a:lstStyle/>
          <a:p>
            <a:pPr algn="ctr"/>
            <a:r>
              <a:rPr lang="en-IN" dirty="0"/>
              <a:t>Reassigning a Dictionary</a:t>
            </a:r>
          </a:p>
        </p:txBody>
      </p:sp>
      <p:sp>
        <p:nvSpPr>
          <p:cNvPr id="3" name="Content Placeholder 2">
            <a:extLst>
              <a:ext uri="{FF2B5EF4-FFF2-40B4-BE49-F238E27FC236}">
                <a16:creationId xmlns="" xmlns:a16="http://schemas.microsoft.com/office/drawing/2014/main" id="{69DBF42F-A73F-49AB-BEA2-5A9D7F8F4A71}"/>
              </a:ext>
            </a:extLst>
          </p:cNvPr>
          <p:cNvSpPr>
            <a:spLocks noGrp="1"/>
          </p:cNvSpPr>
          <p:nvPr>
            <p:ph idx="1"/>
          </p:nvPr>
        </p:nvSpPr>
        <p:spPr/>
        <p:txBody>
          <a:bodyPr>
            <a:normAutofit/>
          </a:bodyPr>
          <a:lstStyle/>
          <a:p>
            <a:pPr algn="just"/>
            <a:r>
              <a:rPr lang="en-IN" sz="2000" dirty="0"/>
              <a:t>The python dictionary is mutable. This means that we can change it or add new items without having to reassign all of it.</a:t>
            </a:r>
          </a:p>
          <a:p>
            <a:pPr algn="just"/>
            <a:r>
              <a:rPr lang="en-IN" sz="2000" dirty="0"/>
              <a:t>Updating the value of an existing key:</a:t>
            </a:r>
          </a:p>
          <a:p>
            <a:pPr algn="just"/>
            <a:endParaRPr lang="en-IN" sz="2000" dirty="0"/>
          </a:p>
          <a:p>
            <a:pPr algn="just"/>
            <a:endParaRPr lang="en-IN" sz="2000" dirty="0"/>
          </a:p>
          <a:p>
            <a:pPr algn="just"/>
            <a:endParaRPr lang="en-IN" sz="2000" dirty="0"/>
          </a:p>
          <a:p>
            <a:pPr algn="just"/>
            <a:r>
              <a:rPr lang="en-IN" sz="2000" dirty="0"/>
              <a:t>Adding a new key:</a:t>
            </a:r>
          </a:p>
          <a:p>
            <a:pPr algn="just"/>
            <a:endParaRPr lang="en-IN" sz="2000" dirty="0"/>
          </a:p>
        </p:txBody>
      </p:sp>
      <p:pic>
        <p:nvPicPr>
          <p:cNvPr id="7" name="Picture 6">
            <a:extLst>
              <a:ext uri="{FF2B5EF4-FFF2-40B4-BE49-F238E27FC236}">
                <a16:creationId xmlns="" xmlns:a16="http://schemas.microsoft.com/office/drawing/2014/main" id="{55511E38-4355-4FE5-AA58-A89BDD6DEFCF}"/>
              </a:ext>
            </a:extLst>
          </p:cNvPr>
          <p:cNvPicPr>
            <a:picLocks noChangeAspect="1"/>
          </p:cNvPicPr>
          <p:nvPr/>
        </p:nvPicPr>
        <p:blipFill>
          <a:blip r:embed="rId2"/>
          <a:stretch>
            <a:fillRect/>
          </a:stretch>
        </p:blipFill>
        <p:spPr>
          <a:xfrm>
            <a:off x="5372489" y="2552700"/>
            <a:ext cx="4838292" cy="1020924"/>
          </a:xfrm>
          <a:prstGeom prst="rect">
            <a:avLst/>
          </a:prstGeom>
        </p:spPr>
      </p:pic>
      <p:pic>
        <p:nvPicPr>
          <p:cNvPr id="9" name="Picture 8">
            <a:extLst>
              <a:ext uri="{FF2B5EF4-FFF2-40B4-BE49-F238E27FC236}">
                <a16:creationId xmlns="" xmlns:a16="http://schemas.microsoft.com/office/drawing/2014/main" id="{278D5A4D-B511-4B6D-8810-CD40BF9B9FAF}"/>
              </a:ext>
            </a:extLst>
          </p:cNvPr>
          <p:cNvPicPr>
            <a:picLocks noChangeAspect="1"/>
          </p:cNvPicPr>
          <p:nvPr/>
        </p:nvPicPr>
        <p:blipFill>
          <a:blip r:embed="rId3"/>
          <a:stretch>
            <a:fillRect/>
          </a:stretch>
        </p:blipFill>
        <p:spPr>
          <a:xfrm>
            <a:off x="3381472" y="4160739"/>
            <a:ext cx="5592352" cy="719170"/>
          </a:xfrm>
          <a:prstGeom prst="rect">
            <a:avLst/>
          </a:prstGeom>
        </p:spPr>
      </p:pic>
    </p:spTree>
    <p:extLst>
      <p:ext uri="{BB962C8B-B14F-4D97-AF65-F5344CB8AC3E}">
        <p14:creationId xmlns:p14="http://schemas.microsoft.com/office/powerpoint/2010/main" val="13470965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2143E12-5FF9-4BC8-AF37-648390D1B1FE}"/>
              </a:ext>
            </a:extLst>
          </p:cNvPr>
          <p:cNvSpPr>
            <a:spLocks noGrp="1"/>
          </p:cNvSpPr>
          <p:nvPr>
            <p:ph type="title"/>
          </p:nvPr>
        </p:nvSpPr>
        <p:spPr/>
        <p:txBody>
          <a:bodyPr/>
          <a:lstStyle/>
          <a:p>
            <a:pPr algn="ctr"/>
            <a:r>
              <a:rPr lang="en-IN" dirty="0"/>
              <a:t>Delete a Dictionary</a:t>
            </a:r>
          </a:p>
        </p:txBody>
      </p:sp>
      <p:sp>
        <p:nvSpPr>
          <p:cNvPr id="3" name="Content Placeholder 2">
            <a:extLst>
              <a:ext uri="{FF2B5EF4-FFF2-40B4-BE49-F238E27FC236}">
                <a16:creationId xmlns="" xmlns:a16="http://schemas.microsoft.com/office/drawing/2014/main" id="{923E89BB-9B76-4128-A372-A8A6340FBF2F}"/>
              </a:ext>
            </a:extLst>
          </p:cNvPr>
          <p:cNvSpPr>
            <a:spLocks noGrp="1"/>
          </p:cNvSpPr>
          <p:nvPr>
            <p:ph idx="1"/>
          </p:nvPr>
        </p:nvSpPr>
        <p:spPr/>
        <p:txBody>
          <a:bodyPr>
            <a:normAutofit/>
          </a:bodyPr>
          <a:lstStyle/>
          <a:p>
            <a:r>
              <a:rPr lang="en-IN" sz="2000" dirty="0"/>
              <a:t>Deleting an entire dictionary:</a:t>
            </a:r>
          </a:p>
          <a:p>
            <a:endParaRPr lang="en-IN" sz="2000" dirty="0"/>
          </a:p>
          <a:p>
            <a:endParaRPr lang="en-IN" sz="2000" dirty="0"/>
          </a:p>
          <a:p>
            <a:endParaRPr lang="en-IN" sz="2000" dirty="0"/>
          </a:p>
          <a:p>
            <a:endParaRPr lang="en-IN" sz="2000" dirty="0"/>
          </a:p>
          <a:p>
            <a:r>
              <a:rPr lang="en-IN" sz="2000" dirty="0"/>
              <a:t>Deleting a single key-value pair:  </a:t>
            </a:r>
          </a:p>
        </p:txBody>
      </p:sp>
      <p:pic>
        <p:nvPicPr>
          <p:cNvPr id="5" name="Picture 4">
            <a:extLst>
              <a:ext uri="{FF2B5EF4-FFF2-40B4-BE49-F238E27FC236}">
                <a16:creationId xmlns="" xmlns:a16="http://schemas.microsoft.com/office/drawing/2014/main" id="{D4ABBDEB-0AEE-444C-920F-F250902613CE}"/>
              </a:ext>
            </a:extLst>
          </p:cNvPr>
          <p:cNvPicPr>
            <a:picLocks noChangeAspect="1"/>
          </p:cNvPicPr>
          <p:nvPr/>
        </p:nvPicPr>
        <p:blipFill>
          <a:blip r:embed="rId2"/>
          <a:stretch>
            <a:fillRect/>
          </a:stretch>
        </p:blipFill>
        <p:spPr>
          <a:xfrm>
            <a:off x="4436219" y="1905000"/>
            <a:ext cx="5081005" cy="1572458"/>
          </a:xfrm>
          <a:prstGeom prst="rect">
            <a:avLst/>
          </a:prstGeom>
        </p:spPr>
      </p:pic>
      <p:pic>
        <p:nvPicPr>
          <p:cNvPr id="7" name="Picture 6">
            <a:extLst>
              <a:ext uri="{FF2B5EF4-FFF2-40B4-BE49-F238E27FC236}">
                <a16:creationId xmlns="" xmlns:a16="http://schemas.microsoft.com/office/drawing/2014/main" id="{0F47C7EB-8D0A-47A3-A04A-0A95F980FE54}"/>
              </a:ext>
            </a:extLst>
          </p:cNvPr>
          <p:cNvPicPr>
            <a:picLocks noChangeAspect="1"/>
          </p:cNvPicPr>
          <p:nvPr/>
        </p:nvPicPr>
        <p:blipFill>
          <a:blip r:embed="rId3"/>
          <a:stretch>
            <a:fillRect/>
          </a:stretch>
        </p:blipFill>
        <p:spPr>
          <a:xfrm>
            <a:off x="4436219" y="4403348"/>
            <a:ext cx="4684481" cy="924432"/>
          </a:xfrm>
          <a:prstGeom prst="rect">
            <a:avLst/>
          </a:prstGeom>
        </p:spPr>
      </p:pic>
    </p:spTree>
    <p:extLst>
      <p:ext uri="{BB962C8B-B14F-4D97-AF65-F5344CB8AC3E}">
        <p14:creationId xmlns:p14="http://schemas.microsoft.com/office/powerpoint/2010/main" val="13706091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AEF09CA-7DC3-4B70-8A53-6391BC1AC54D}"/>
              </a:ext>
            </a:extLst>
          </p:cNvPr>
          <p:cNvSpPr>
            <a:spLocks noGrp="1"/>
          </p:cNvSpPr>
          <p:nvPr>
            <p:ph type="title"/>
          </p:nvPr>
        </p:nvSpPr>
        <p:spPr/>
        <p:txBody>
          <a:bodyPr/>
          <a:lstStyle/>
          <a:p>
            <a:pPr algn="ctr"/>
            <a:r>
              <a:rPr lang="en-IN" dirty="0"/>
              <a:t>In-Built Functions</a:t>
            </a:r>
          </a:p>
        </p:txBody>
      </p:sp>
      <p:sp>
        <p:nvSpPr>
          <p:cNvPr id="3" name="Content Placeholder 2">
            <a:extLst>
              <a:ext uri="{FF2B5EF4-FFF2-40B4-BE49-F238E27FC236}">
                <a16:creationId xmlns="" xmlns:a16="http://schemas.microsoft.com/office/drawing/2014/main" id="{B2F858B2-28E6-49A0-AD13-72AB2CDDCB9E}"/>
              </a:ext>
            </a:extLst>
          </p:cNvPr>
          <p:cNvSpPr>
            <a:spLocks noGrp="1"/>
          </p:cNvSpPr>
          <p:nvPr>
            <p:ph idx="1"/>
          </p:nvPr>
        </p:nvSpPr>
        <p:spPr/>
        <p:txBody>
          <a:bodyPr/>
          <a:lstStyle/>
          <a:p>
            <a:r>
              <a:rPr lang="en-IN" dirty="0" err="1"/>
              <a:t>len</a:t>
            </a:r>
            <a:r>
              <a:rPr lang="en-IN" dirty="0"/>
              <a:t>(): </a:t>
            </a:r>
            <a:r>
              <a:rPr lang="en-IN" sz="2000" dirty="0"/>
              <a:t>It returns the length of the dictionary.</a:t>
            </a:r>
          </a:p>
          <a:p>
            <a:endParaRPr lang="en-IN" sz="2000" dirty="0"/>
          </a:p>
          <a:p>
            <a:endParaRPr lang="en-IN" sz="2000" dirty="0"/>
          </a:p>
          <a:p>
            <a:endParaRPr lang="en-IN" sz="2000" dirty="0"/>
          </a:p>
          <a:p>
            <a:r>
              <a:rPr lang="en-IN" dirty="0"/>
              <a:t>any(): </a:t>
            </a:r>
            <a:r>
              <a:rPr lang="en-IN" sz="2000" dirty="0"/>
              <a:t>It returns True if even one key in a dictionary has a Boolean value of True.</a:t>
            </a:r>
          </a:p>
        </p:txBody>
      </p:sp>
      <p:pic>
        <p:nvPicPr>
          <p:cNvPr id="5" name="Picture 4">
            <a:extLst>
              <a:ext uri="{FF2B5EF4-FFF2-40B4-BE49-F238E27FC236}">
                <a16:creationId xmlns="" xmlns:a16="http://schemas.microsoft.com/office/drawing/2014/main" id="{AF508B67-107D-4658-A2D8-08233E7A33F7}"/>
              </a:ext>
            </a:extLst>
          </p:cNvPr>
          <p:cNvPicPr>
            <a:picLocks noChangeAspect="1"/>
          </p:cNvPicPr>
          <p:nvPr/>
        </p:nvPicPr>
        <p:blipFill>
          <a:blip r:embed="rId2"/>
          <a:stretch>
            <a:fillRect/>
          </a:stretch>
        </p:blipFill>
        <p:spPr>
          <a:xfrm>
            <a:off x="3542717" y="2475721"/>
            <a:ext cx="4520628" cy="1135225"/>
          </a:xfrm>
          <a:prstGeom prst="rect">
            <a:avLst/>
          </a:prstGeom>
        </p:spPr>
      </p:pic>
      <p:pic>
        <p:nvPicPr>
          <p:cNvPr id="7" name="Picture 6">
            <a:extLst>
              <a:ext uri="{FF2B5EF4-FFF2-40B4-BE49-F238E27FC236}">
                <a16:creationId xmlns="" xmlns:a16="http://schemas.microsoft.com/office/drawing/2014/main" id="{086D82DF-5153-4099-8501-4634ACBFC6C8}"/>
              </a:ext>
            </a:extLst>
          </p:cNvPr>
          <p:cNvPicPr>
            <a:picLocks noChangeAspect="1"/>
          </p:cNvPicPr>
          <p:nvPr/>
        </p:nvPicPr>
        <p:blipFill>
          <a:blip r:embed="rId3"/>
          <a:stretch>
            <a:fillRect/>
          </a:stretch>
        </p:blipFill>
        <p:spPr>
          <a:xfrm>
            <a:off x="3542717" y="4261042"/>
            <a:ext cx="3520556" cy="1884533"/>
          </a:xfrm>
          <a:prstGeom prst="rect">
            <a:avLst/>
          </a:prstGeom>
        </p:spPr>
      </p:pic>
    </p:spTree>
    <p:extLst>
      <p:ext uri="{BB962C8B-B14F-4D97-AF65-F5344CB8AC3E}">
        <p14:creationId xmlns:p14="http://schemas.microsoft.com/office/powerpoint/2010/main" val="18855514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F09403-7059-4BBB-8F5B-71E98F8CFA7A}"/>
              </a:ext>
            </a:extLst>
          </p:cNvPr>
          <p:cNvSpPr>
            <a:spLocks noGrp="1"/>
          </p:cNvSpPr>
          <p:nvPr>
            <p:ph type="title"/>
          </p:nvPr>
        </p:nvSpPr>
        <p:spPr/>
        <p:txBody>
          <a:bodyPr/>
          <a:lstStyle/>
          <a:p>
            <a:pPr algn="ctr"/>
            <a:r>
              <a:rPr lang="en-IN" dirty="0"/>
              <a:t>In-Built Functions</a:t>
            </a:r>
          </a:p>
        </p:txBody>
      </p:sp>
      <p:sp>
        <p:nvSpPr>
          <p:cNvPr id="3" name="Content Placeholder 2">
            <a:extLst>
              <a:ext uri="{FF2B5EF4-FFF2-40B4-BE49-F238E27FC236}">
                <a16:creationId xmlns="" xmlns:a16="http://schemas.microsoft.com/office/drawing/2014/main" id="{62930C19-7D3F-405D-AA62-3D690C2DB5B2}"/>
              </a:ext>
            </a:extLst>
          </p:cNvPr>
          <p:cNvSpPr>
            <a:spLocks noGrp="1"/>
          </p:cNvSpPr>
          <p:nvPr>
            <p:ph idx="1"/>
          </p:nvPr>
        </p:nvSpPr>
        <p:spPr/>
        <p:txBody>
          <a:bodyPr/>
          <a:lstStyle/>
          <a:p>
            <a:r>
              <a:rPr lang="en-IN" dirty="0"/>
              <a:t>all(): </a:t>
            </a:r>
            <a:r>
              <a:rPr lang="en-IN" sz="2000" dirty="0"/>
              <a:t>It returns True only if all the keys in the dictionary have a Boolean value of True.</a:t>
            </a:r>
          </a:p>
          <a:p>
            <a:endParaRPr lang="en-IN" sz="2000" dirty="0"/>
          </a:p>
          <a:p>
            <a:endParaRPr lang="en-IN" sz="2000" dirty="0"/>
          </a:p>
          <a:p>
            <a:endParaRPr lang="en-IN" sz="2000" dirty="0"/>
          </a:p>
          <a:p>
            <a:endParaRPr lang="en-IN" sz="2000" dirty="0"/>
          </a:p>
          <a:p>
            <a:endParaRPr lang="en-IN" sz="2000" dirty="0"/>
          </a:p>
          <a:p>
            <a:r>
              <a:rPr lang="en-IN" dirty="0"/>
              <a:t>sorted(): </a:t>
            </a:r>
            <a:r>
              <a:rPr lang="en-IN" sz="2000" dirty="0"/>
              <a:t>It returns a sorted sequence of the keys in the dictionary.</a:t>
            </a:r>
          </a:p>
          <a:p>
            <a:endParaRPr lang="en-IN" sz="2000" dirty="0"/>
          </a:p>
          <a:p>
            <a:endParaRPr lang="en-IN" sz="2000" dirty="0"/>
          </a:p>
          <a:p>
            <a:endParaRPr lang="en-IN" sz="2000" dirty="0"/>
          </a:p>
          <a:p>
            <a:endParaRPr lang="en-IN" sz="2000" dirty="0"/>
          </a:p>
          <a:p>
            <a:endParaRPr lang="en-IN" sz="2000" dirty="0"/>
          </a:p>
        </p:txBody>
      </p:sp>
      <p:pic>
        <p:nvPicPr>
          <p:cNvPr id="5" name="Picture 4">
            <a:extLst>
              <a:ext uri="{FF2B5EF4-FFF2-40B4-BE49-F238E27FC236}">
                <a16:creationId xmlns="" xmlns:a16="http://schemas.microsoft.com/office/drawing/2014/main" id="{0ACB5239-FDB7-42B2-AC81-11210C0CF512}"/>
              </a:ext>
            </a:extLst>
          </p:cNvPr>
          <p:cNvPicPr>
            <a:picLocks noChangeAspect="1"/>
          </p:cNvPicPr>
          <p:nvPr/>
        </p:nvPicPr>
        <p:blipFill>
          <a:blip r:embed="rId2"/>
          <a:stretch>
            <a:fillRect/>
          </a:stretch>
        </p:blipFill>
        <p:spPr>
          <a:xfrm>
            <a:off x="3943543" y="2557365"/>
            <a:ext cx="3782203" cy="1453050"/>
          </a:xfrm>
          <a:prstGeom prst="rect">
            <a:avLst/>
          </a:prstGeom>
        </p:spPr>
      </p:pic>
      <p:pic>
        <p:nvPicPr>
          <p:cNvPr id="7" name="Picture 6">
            <a:extLst>
              <a:ext uri="{FF2B5EF4-FFF2-40B4-BE49-F238E27FC236}">
                <a16:creationId xmlns="" xmlns:a16="http://schemas.microsoft.com/office/drawing/2014/main" id="{5EEBC0B1-0510-435B-85E7-4EE73FF2DD5B}"/>
              </a:ext>
            </a:extLst>
          </p:cNvPr>
          <p:cNvPicPr>
            <a:picLocks noChangeAspect="1"/>
          </p:cNvPicPr>
          <p:nvPr/>
        </p:nvPicPr>
        <p:blipFill>
          <a:blip r:embed="rId3"/>
          <a:stretch>
            <a:fillRect/>
          </a:stretch>
        </p:blipFill>
        <p:spPr>
          <a:xfrm>
            <a:off x="3943543" y="4778376"/>
            <a:ext cx="3514192" cy="1714500"/>
          </a:xfrm>
          <a:prstGeom prst="rect">
            <a:avLst/>
          </a:prstGeom>
        </p:spPr>
      </p:pic>
    </p:spTree>
    <p:extLst>
      <p:ext uri="{BB962C8B-B14F-4D97-AF65-F5344CB8AC3E}">
        <p14:creationId xmlns:p14="http://schemas.microsoft.com/office/powerpoint/2010/main" val="1125033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8BD0E6-7520-4E07-ABF8-6A81BAFBE38E}"/>
              </a:ext>
            </a:extLst>
          </p:cNvPr>
          <p:cNvSpPr>
            <a:spLocks noGrp="1"/>
          </p:cNvSpPr>
          <p:nvPr>
            <p:ph type="title"/>
          </p:nvPr>
        </p:nvSpPr>
        <p:spPr/>
        <p:txBody>
          <a:bodyPr/>
          <a:lstStyle/>
          <a:p>
            <a:pPr algn="ctr"/>
            <a:r>
              <a:rPr lang="en-IN" dirty="0"/>
              <a:t>In-Built Methods</a:t>
            </a:r>
          </a:p>
        </p:txBody>
      </p:sp>
      <p:sp>
        <p:nvSpPr>
          <p:cNvPr id="3" name="Content Placeholder 2">
            <a:extLst>
              <a:ext uri="{FF2B5EF4-FFF2-40B4-BE49-F238E27FC236}">
                <a16:creationId xmlns="" xmlns:a16="http://schemas.microsoft.com/office/drawing/2014/main" id="{04314233-7A0F-440A-BF95-B79EA7867A87}"/>
              </a:ext>
            </a:extLst>
          </p:cNvPr>
          <p:cNvSpPr>
            <a:spLocks noGrp="1"/>
          </p:cNvSpPr>
          <p:nvPr>
            <p:ph idx="1"/>
          </p:nvPr>
        </p:nvSpPr>
        <p:spPr/>
        <p:txBody>
          <a:bodyPr/>
          <a:lstStyle/>
          <a:p>
            <a:r>
              <a:rPr lang="en-IN" dirty="0"/>
              <a:t>keys(): </a:t>
            </a:r>
            <a:r>
              <a:rPr lang="en-IN" sz="2000" dirty="0"/>
              <a:t>It returns a list of keys in a dictionary.</a:t>
            </a:r>
          </a:p>
          <a:p>
            <a:endParaRPr lang="en-IN" sz="2000" dirty="0"/>
          </a:p>
          <a:p>
            <a:endParaRPr lang="en-IN" sz="2000" dirty="0"/>
          </a:p>
          <a:p>
            <a:endParaRPr lang="en-IN" sz="2000" dirty="0"/>
          </a:p>
          <a:p>
            <a:r>
              <a:rPr lang="en-IN" dirty="0"/>
              <a:t>values(): </a:t>
            </a:r>
            <a:r>
              <a:rPr lang="en-IN" sz="2000" dirty="0"/>
              <a:t>It returns a list of values in the dictionary.</a:t>
            </a:r>
          </a:p>
          <a:p>
            <a:endParaRPr lang="en-IN" sz="2000" dirty="0"/>
          </a:p>
          <a:p>
            <a:endParaRPr lang="en-IN" sz="2000" dirty="0"/>
          </a:p>
          <a:p>
            <a:r>
              <a:rPr lang="en-IN" dirty="0"/>
              <a:t>items(): </a:t>
            </a:r>
            <a:r>
              <a:rPr lang="en-IN" sz="2000" dirty="0"/>
              <a:t>It returns a list of key-value pairs.</a:t>
            </a:r>
          </a:p>
        </p:txBody>
      </p:sp>
      <p:pic>
        <p:nvPicPr>
          <p:cNvPr id="5" name="Picture 4">
            <a:extLst>
              <a:ext uri="{FF2B5EF4-FFF2-40B4-BE49-F238E27FC236}">
                <a16:creationId xmlns="" xmlns:a16="http://schemas.microsoft.com/office/drawing/2014/main" id="{C008F4BA-7EF8-42C5-9E4D-35BDDC433A84}"/>
              </a:ext>
            </a:extLst>
          </p:cNvPr>
          <p:cNvPicPr>
            <a:picLocks noChangeAspect="1"/>
          </p:cNvPicPr>
          <p:nvPr/>
        </p:nvPicPr>
        <p:blipFill>
          <a:blip r:embed="rId2"/>
          <a:stretch>
            <a:fillRect/>
          </a:stretch>
        </p:blipFill>
        <p:spPr>
          <a:xfrm>
            <a:off x="3768594" y="2437913"/>
            <a:ext cx="3557429" cy="743826"/>
          </a:xfrm>
          <a:prstGeom prst="rect">
            <a:avLst/>
          </a:prstGeom>
        </p:spPr>
      </p:pic>
      <p:pic>
        <p:nvPicPr>
          <p:cNvPr id="7" name="Picture 6">
            <a:extLst>
              <a:ext uri="{FF2B5EF4-FFF2-40B4-BE49-F238E27FC236}">
                <a16:creationId xmlns="" xmlns:a16="http://schemas.microsoft.com/office/drawing/2014/main" id="{FC2EA51B-DDF4-4792-8478-9422DCC78845}"/>
              </a:ext>
            </a:extLst>
          </p:cNvPr>
          <p:cNvPicPr>
            <a:picLocks noChangeAspect="1"/>
          </p:cNvPicPr>
          <p:nvPr/>
        </p:nvPicPr>
        <p:blipFill>
          <a:blip r:embed="rId3"/>
          <a:stretch>
            <a:fillRect/>
          </a:stretch>
        </p:blipFill>
        <p:spPr>
          <a:xfrm>
            <a:off x="3768594" y="4109795"/>
            <a:ext cx="3603692" cy="564842"/>
          </a:xfrm>
          <a:prstGeom prst="rect">
            <a:avLst/>
          </a:prstGeom>
        </p:spPr>
      </p:pic>
      <p:pic>
        <p:nvPicPr>
          <p:cNvPr id="9" name="Picture 8">
            <a:extLst>
              <a:ext uri="{FF2B5EF4-FFF2-40B4-BE49-F238E27FC236}">
                <a16:creationId xmlns="" xmlns:a16="http://schemas.microsoft.com/office/drawing/2014/main" id="{37F85D36-9D65-465D-B019-3DBAB29054F0}"/>
              </a:ext>
            </a:extLst>
          </p:cNvPr>
          <p:cNvPicPr>
            <a:picLocks noChangeAspect="1"/>
          </p:cNvPicPr>
          <p:nvPr/>
        </p:nvPicPr>
        <p:blipFill>
          <a:blip r:embed="rId4"/>
          <a:stretch>
            <a:fillRect/>
          </a:stretch>
        </p:blipFill>
        <p:spPr>
          <a:xfrm>
            <a:off x="3800475" y="5378855"/>
            <a:ext cx="5250220" cy="511951"/>
          </a:xfrm>
          <a:prstGeom prst="rect">
            <a:avLst/>
          </a:prstGeom>
        </p:spPr>
      </p:pic>
    </p:spTree>
    <p:extLst>
      <p:ext uri="{BB962C8B-B14F-4D97-AF65-F5344CB8AC3E}">
        <p14:creationId xmlns:p14="http://schemas.microsoft.com/office/powerpoint/2010/main" val="33709749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8BD0E6-7520-4E07-ABF8-6A81BAFBE38E}"/>
              </a:ext>
            </a:extLst>
          </p:cNvPr>
          <p:cNvSpPr>
            <a:spLocks noGrp="1"/>
          </p:cNvSpPr>
          <p:nvPr>
            <p:ph type="title"/>
          </p:nvPr>
        </p:nvSpPr>
        <p:spPr/>
        <p:txBody>
          <a:bodyPr/>
          <a:lstStyle/>
          <a:p>
            <a:pPr algn="ctr"/>
            <a:r>
              <a:rPr lang="en-IN" dirty="0"/>
              <a:t>In-Built Methods</a:t>
            </a:r>
          </a:p>
        </p:txBody>
      </p:sp>
      <p:sp>
        <p:nvSpPr>
          <p:cNvPr id="3" name="Content Placeholder 2">
            <a:extLst>
              <a:ext uri="{FF2B5EF4-FFF2-40B4-BE49-F238E27FC236}">
                <a16:creationId xmlns="" xmlns:a16="http://schemas.microsoft.com/office/drawing/2014/main" id="{04314233-7A0F-440A-BF95-B79EA7867A87}"/>
              </a:ext>
            </a:extLst>
          </p:cNvPr>
          <p:cNvSpPr>
            <a:spLocks noGrp="1"/>
          </p:cNvSpPr>
          <p:nvPr>
            <p:ph idx="1"/>
          </p:nvPr>
        </p:nvSpPr>
        <p:spPr/>
        <p:txBody>
          <a:bodyPr>
            <a:normAutofit/>
          </a:bodyPr>
          <a:lstStyle/>
          <a:p>
            <a:r>
              <a:rPr lang="en-IN" dirty="0"/>
              <a:t>get(): </a:t>
            </a:r>
            <a:r>
              <a:rPr lang="en-IN" sz="2000" dirty="0"/>
              <a:t>It takes one to two arguments. While the first is the key to search for, the second is the value to return if the key isn’t found. </a:t>
            </a:r>
          </a:p>
          <a:p>
            <a:endParaRPr lang="en-IN" sz="2000" dirty="0"/>
          </a:p>
          <a:p>
            <a:endParaRPr lang="en-IN" dirty="0"/>
          </a:p>
          <a:p>
            <a:endParaRPr lang="en-IN" dirty="0"/>
          </a:p>
          <a:p>
            <a:r>
              <a:rPr lang="en-IN" b="0" i="0" dirty="0">
                <a:solidFill>
                  <a:srgbClr val="444444"/>
                </a:solidFill>
                <a:effectLst/>
              </a:rPr>
              <a:t>clear()</a:t>
            </a:r>
            <a:r>
              <a:rPr lang="en-IN" dirty="0"/>
              <a:t>: </a:t>
            </a:r>
            <a:r>
              <a:rPr lang="en-IN" sz="2000" dirty="0"/>
              <a:t>It empties the dictionary.</a:t>
            </a:r>
          </a:p>
          <a:p>
            <a:endParaRPr lang="en-IN" sz="2000" dirty="0"/>
          </a:p>
          <a:p>
            <a:endParaRPr lang="en-IN" sz="2000" dirty="0"/>
          </a:p>
          <a:p>
            <a:r>
              <a:rPr lang="en-IN" dirty="0"/>
              <a:t>copy(): </a:t>
            </a:r>
            <a:r>
              <a:rPr lang="en-IN" sz="2000" dirty="0"/>
              <a:t>It creates a shallow copy of the dictionary.</a:t>
            </a:r>
          </a:p>
        </p:txBody>
      </p:sp>
      <p:pic>
        <p:nvPicPr>
          <p:cNvPr id="6" name="Picture 5">
            <a:extLst>
              <a:ext uri="{FF2B5EF4-FFF2-40B4-BE49-F238E27FC236}">
                <a16:creationId xmlns="" xmlns:a16="http://schemas.microsoft.com/office/drawing/2014/main" id="{F11E7FF5-C91A-48A0-B15D-C0B4C0694BE3}"/>
              </a:ext>
            </a:extLst>
          </p:cNvPr>
          <p:cNvPicPr>
            <a:picLocks noChangeAspect="1"/>
          </p:cNvPicPr>
          <p:nvPr/>
        </p:nvPicPr>
        <p:blipFill>
          <a:blip r:embed="rId2"/>
          <a:stretch>
            <a:fillRect/>
          </a:stretch>
        </p:blipFill>
        <p:spPr>
          <a:xfrm>
            <a:off x="4146387" y="2559892"/>
            <a:ext cx="3303103" cy="1097708"/>
          </a:xfrm>
          <a:prstGeom prst="rect">
            <a:avLst/>
          </a:prstGeom>
        </p:spPr>
      </p:pic>
      <p:pic>
        <p:nvPicPr>
          <p:cNvPr id="12" name="Picture 11">
            <a:extLst>
              <a:ext uri="{FF2B5EF4-FFF2-40B4-BE49-F238E27FC236}">
                <a16:creationId xmlns="" xmlns:a16="http://schemas.microsoft.com/office/drawing/2014/main" id="{0541513E-80D7-4896-9D88-1FB0544ABB96}"/>
              </a:ext>
            </a:extLst>
          </p:cNvPr>
          <p:cNvPicPr>
            <a:picLocks noChangeAspect="1"/>
          </p:cNvPicPr>
          <p:nvPr/>
        </p:nvPicPr>
        <p:blipFill>
          <a:blip r:embed="rId3"/>
          <a:stretch>
            <a:fillRect/>
          </a:stretch>
        </p:blipFill>
        <p:spPr>
          <a:xfrm>
            <a:off x="7019438" y="5509985"/>
            <a:ext cx="3228975" cy="1038225"/>
          </a:xfrm>
          <a:prstGeom prst="rect">
            <a:avLst/>
          </a:prstGeom>
        </p:spPr>
      </p:pic>
      <p:pic>
        <p:nvPicPr>
          <p:cNvPr id="5" name="Picture 4">
            <a:extLst>
              <a:ext uri="{FF2B5EF4-FFF2-40B4-BE49-F238E27FC236}">
                <a16:creationId xmlns="" xmlns:a16="http://schemas.microsoft.com/office/drawing/2014/main" id="{0777BB37-3442-4DFC-8FEB-C8F511D0A957}"/>
              </a:ext>
            </a:extLst>
          </p:cNvPr>
          <p:cNvPicPr>
            <a:picLocks noChangeAspect="1"/>
          </p:cNvPicPr>
          <p:nvPr/>
        </p:nvPicPr>
        <p:blipFill>
          <a:blip r:embed="rId4"/>
          <a:stretch>
            <a:fillRect/>
          </a:stretch>
        </p:blipFill>
        <p:spPr>
          <a:xfrm>
            <a:off x="4978705" y="4190932"/>
            <a:ext cx="2094073" cy="742803"/>
          </a:xfrm>
          <a:prstGeom prst="rect">
            <a:avLst/>
          </a:prstGeom>
        </p:spPr>
      </p:pic>
    </p:spTree>
    <p:extLst>
      <p:ext uri="{BB962C8B-B14F-4D97-AF65-F5344CB8AC3E}">
        <p14:creationId xmlns:p14="http://schemas.microsoft.com/office/powerpoint/2010/main" val="180716331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36A8ED-C5D1-4097-B9FE-4C3456A2758E}"/>
              </a:ext>
            </a:extLst>
          </p:cNvPr>
          <p:cNvSpPr>
            <a:spLocks noGrp="1"/>
          </p:cNvSpPr>
          <p:nvPr>
            <p:ph type="title"/>
          </p:nvPr>
        </p:nvSpPr>
        <p:spPr/>
        <p:txBody>
          <a:bodyPr/>
          <a:lstStyle/>
          <a:p>
            <a:pPr algn="ctr"/>
            <a:r>
              <a:rPr lang="en-IN" dirty="0"/>
              <a:t>In-Built Methods</a:t>
            </a:r>
          </a:p>
        </p:txBody>
      </p:sp>
      <p:sp>
        <p:nvSpPr>
          <p:cNvPr id="3" name="Content Placeholder 2">
            <a:extLst>
              <a:ext uri="{FF2B5EF4-FFF2-40B4-BE49-F238E27FC236}">
                <a16:creationId xmlns="" xmlns:a16="http://schemas.microsoft.com/office/drawing/2014/main" id="{35FFAB46-6C5B-4981-B39E-E60C1B4B16FF}"/>
              </a:ext>
            </a:extLst>
          </p:cNvPr>
          <p:cNvSpPr>
            <a:spLocks noGrp="1"/>
          </p:cNvSpPr>
          <p:nvPr>
            <p:ph idx="1"/>
          </p:nvPr>
        </p:nvSpPr>
        <p:spPr/>
        <p:txBody>
          <a:bodyPr/>
          <a:lstStyle/>
          <a:p>
            <a:pPr algn="just"/>
            <a:r>
              <a:rPr lang="en-IN" dirty="0"/>
              <a:t>Pop():</a:t>
            </a:r>
            <a:r>
              <a:rPr lang="en-IN" sz="2000" dirty="0"/>
              <a:t>This method is used to remove and display an item from the dictionary. It takes one to two arguments. The first is the key to be deleted, while the second is the value that’s returned if the key isn’t found.</a:t>
            </a:r>
          </a:p>
        </p:txBody>
      </p:sp>
      <p:pic>
        <p:nvPicPr>
          <p:cNvPr id="5" name="Picture 4">
            <a:extLst>
              <a:ext uri="{FF2B5EF4-FFF2-40B4-BE49-F238E27FC236}">
                <a16:creationId xmlns="" xmlns:a16="http://schemas.microsoft.com/office/drawing/2014/main" id="{82EE5B53-4B3A-49E2-A8AD-0C743BC2C3B9}"/>
              </a:ext>
            </a:extLst>
          </p:cNvPr>
          <p:cNvPicPr>
            <a:picLocks noChangeAspect="1"/>
          </p:cNvPicPr>
          <p:nvPr/>
        </p:nvPicPr>
        <p:blipFill>
          <a:blip r:embed="rId2"/>
          <a:stretch>
            <a:fillRect/>
          </a:stretch>
        </p:blipFill>
        <p:spPr>
          <a:xfrm>
            <a:off x="3363199" y="2865567"/>
            <a:ext cx="4924425" cy="2638425"/>
          </a:xfrm>
          <a:prstGeom prst="rect">
            <a:avLst/>
          </a:prstGeom>
        </p:spPr>
      </p:pic>
    </p:spTree>
    <p:extLst>
      <p:ext uri="{BB962C8B-B14F-4D97-AF65-F5344CB8AC3E}">
        <p14:creationId xmlns:p14="http://schemas.microsoft.com/office/powerpoint/2010/main" val="29466119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36A8ED-C5D1-4097-B9FE-4C3456A2758E}"/>
              </a:ext>
            </a:extLst>
          </p:cNvPr>
          <p:cNvSpPr>
            <a:spLocks noGrp="1"/>
          </p:cNvSpPr>
          <p:nvPr>
            <p:ph type="title"/>
          </p:nvPr>
        </p:nvSpPr>
        <p:spPr/>
        <p:txBody>
          <a:bodyPr/>
          <a:lstStyle/>
          <a:p>
            <a:pPr algn="ctr"/>
            <a:r>
              <a:rPr lang="en-IN" dirty="0"/>
              <a:t>In-Built Methods</a:t>
            </a:r>
          </a:p>
        </p:txBody>
      </p:sp>
      <p:sp>
        <p:nvSpPr>
          <p:cNvPr id="3" name="Content Placeholder 2">
            <a:extLst>
              <a:ext uri="{FF2B5EF4-FFF2-40B4-BE49-F238E27FC236}">
                <a16:creationId xmlns="" xmlns:a16="http://schemas.microsoft.com/office/drawing/2014/main" id="{35FFAB46-6C5B-4981-B39E-E60C1B4B16FF}"/>
              </a:ext>
            </a:extLst>
          </p:cNvPr>
          <p:cNvSpPr>
            <a:spLocks noGrp="1"/>
          </p:cNvSpPr>
          <p:nvPr>
            <p:ph idx="1"/>
          </p:nvPr>
        </p:nvSpPr>
        <p:spPr/>
        <p:txBody>
          <a:bodyPr/>
          <a:lstStyle/>
          <a:p>
            <a:pPr algn="just"/>
            <a:r>
              <a:rPr lang="en-IN" dirty="0" err="1"/>
              <a:t>popitem</a:t>
            </a:r>
            <a:r>
              <a:rPr lang="en-IN" dirty="0"/>
              <a:t>():</a:t>
            </a:r>
          </a:p>
          <a:p>
            <a:pPr algn="just"/>
            <a:endParaRPr lang="en-IN" sz="2000" dirty="0"/>
          </a:p>
          <a:p>
            <a:pPr algn="just"/>
            <a:endParaRPr lang="en-IN" sz="2000" dirty="0"/>
          </a:p>
          <a:p>
            <a:pPr algn="just"/>
            <a:endParaRPr lang="en-IN" sz="2000" dirty="0"/>
          </a:p>
          <a:p>
            <a:pPr algn="just"/>
            <a:endParaRPr lang="en-IN" sz="2000" dirty="0"/>
          </a:p>
          <a:p>
            <a:pPr algn="just"/>
            <a:endParaRPr lang="en-IN" sz="2000" dirty="0"/>
          </a:p>
          <a:p>
            <a:pPr algn="just"/>
            <a:r>
              <a:rPr lang="en-IN" dirty="0" err="1"/>
              <a:t>fromkeys</a:t>
            </a:r>
            <a:r>
              <a:rPr lang="en-IN" dirty="0"/>
              <a:t>():</a:t>
            </a:r>
          </a:p>
        </p:txBody>
      </p:sp>
      <p:pic>
        <p:nvPicPr>
          <p:cNvPr id="10" name="Picture 9">
            <a:extLst>
              <a:ext uri="{FF2B5EF4-FFF2-40B4-BE49-F238E27FC236}">
                <a16:creationId xmlns="" xmlns:a16="http://schemas.microsoft.com/office/drawing/2014/main" id="{D031F61F-0588-48C2-80F6-DDF6AD5631EB}"/>
              </a:ext>
            </a:extLst>
          </p:cNvPr>
          <p:cNvPicPr>
            <a:picLocks noChangeAspect="1"/>
          </p:cNvPicPr>
          <p:nvPr/>
        </p:nvPicPr>
        <p:blipFill>
          <a:blip r:embed="rId2"/>
          <a:stretch>
            <a:fillRect/>
          </a:stretch>
        </p:blipFill>
        <p:spPr>
          <a:xfrm>
            <a:off x="2884811" y="2023478"/>
            <a:ext cx="3798629" cy="2054667"/>
          </a:xfrm>
          <a:prstGeom prst="rect">
            <a:avLst/>
          </a:prstGeom>
        </p:spPr>
      </p:pic>
      <p:pic>
        <p:nvPicPr>
          <p:cNvPr id="12" name="Picture 11">
            <a:extLst>
              <a:ext uri="{FF2B5EF4-FFF2-40B4-BE49-F238E27FC236}">
                <a16:creationId xmlns="" xmlns:a16="http://schemas.microsoft.com/office/drawing/2014/main" id="{B014F75B-8BB8-4E43-81B5-50AEC331EC50}"/>
              </a:ext>
            </a:extLst>
          </p:cNvPr>
          <p:cNvPicPr>
            <a:picLocks noChangeAspect="1"/>
          </p:cNvPicPr>
          <p:nvPr/>
        </p:nvPicPr>
        <p:blipFill>
          <a:blip r:embed="rId3"/>
          <a:stretch>
            <a:fillRect/>
          </a:stretch>
        </p:blipFill>
        <p:spPr>
          <a:xfrm>
            <a:off x="2884811" y="4753234"/>
            <a:ext cx="5172075" cy="1733550"/>
          </a:xfrm>
          <a:prstGeom prst="rect">
            <a:avLst/>
          </a:prstGeom>
        </p:spPr>
      </p:pic>
    </p:spTree>
    <p:extLst>
      <p:ext uri="{BB962C8B-B14F-4D97-AF65-F5344CB8AC3E}">
        <p14:creationId xmlns:p14="http://schemas.microsoft.com/office/powerpoint/2010/main" val="21107109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36A8ED-C5D1-4097-B9FE-4C3456A2758E}"/>
              </a:ext>
            </a:extLst>
          </p:cNvPr>
          <p:cNvSpPr>
            <a:spLocks noGrp="1"/>
          </p:cNvSpPr>
          <p:nvPr>
            <p:ph type="title"/>
          </p:nvPr>
        </p:nvSpPr>
        <p:spPr/>
        <p:txBody>
          <a:bodyPr/>
          <a:lstStyle/>
          <a:p>
            <a:pPr algn="ctr"/>
            <a:r>
              <a:rPr lang="en-IN" dirty="0"/>
              <a:t>In-Built Methods</a:t>
            </a:r>
          </a:p>
        </p:txBody>
      </p:sp>
      <p:sp>
        <p:nvSpPr>
          <p:cNvPr id="3" name="Content Placeholder 2">
            <a:extLst>
              <a:ext uri="{FF2B5EF4-FFF2-40B4-BE49-F238E27FC236}">
                <a16:creationId xmlns="" xmlns:a16="http://schemas.microsoft.com/office/drawing/2014/main" id="{35FFAB46-6C5B-4981-B39E-E60C1B4B16FF}"/>
              </a:ext>
            </a:extLst>
          </p:cNvPr>
          <p:cNvSpPr>
            <a:spLocks noGrp="1"/>
          </p:cNvSpPr>
          <p:nvPr>
            <p:ph idx="1"/>
          </p:nvPr>
        </p:nvSpPr>
        <p:spPr/>
        <p:txBody>
          <a:bodyPr/>
          <a:lstStyle/>
          <a:p>
            <a:pPr algn="just"/>
            <a:r>
              <a:rPr lang="en-IN" dirty="0"/>
              <a:t>update():</a:t>
            </a:r>
          </a:p>
          <a:p>
            <a:pPr algn="just"/>
            <a:endParaRPr lang="en-IN" sz="2000" dirty="0"/>
          </a:p>
          <a:p>
            <a:pPr algn="just"/>
            <a:endParaRPr lang="en-IN" sz="2000" dirty="0"/>
          </a:p>
          <a:p>
            <a:pPr algn="just"/>
            <a:endParaRPr lang="en-IN" sz="2000" dirty="0"/>
          </a:p>
          <a:p>
            <a:pPr algn="just"/>
            <a:endParaRPr lang="en-IN" sz="2000" dirty="0"/>
          </a:p>
          <a:p>
            <a:pPr marL="0" indent="0" algn="just">
              <a:buNone/>
            </a:pPr>
            <a:endParaRPr lang="en-IN" sz="2000" dirty="0"/>
          </a:p>
        </p:txBody>
      </p:sp>
      <p:pic>
        <p:nvPicPr>
          <p:cNvPr id="5" name="Picture 4">
            <a:extLst>
              <a:ext uri="{FF2B5EF4-FFF2-40B4-BE49-F238E27FC236}">
                <a16:creationId xmlns="" xmlns:a16="http://schemas.microsoft.com/office/drawing/2014/main" id="{9814BE08-B0F5-46E6-B21A-A429249E24D4}"/>
              </a:ext>
            </a:extLst>
          </p:cNvPr>
          <p:cNvPicPr>
            <a:picLocks noChangeAspect="1"/>
          </p:cNvPicPr>
          <p:nvPr/>
        </p:nvPicPr>
        <p:blipFill>
          <a:blip r:embed="rId2"/>
          <a:stretch>
            <a:fillRect/>
          </a:stretch>
        </p:blipFill>
        <p:spPr>
          <a:xfrm>
            <a:off x="3168034" y="2134863"/>
            <a:ext cx="5727963" cy="1294137"/>
          </a:xfrm>
          <a:prstGeom prst="rect">
            <a:avLst/>
          </a:prstGeom>
        </p:spPr>
      </p:pic>
    </p:spTree>
    <p:extLst>
      <p:ext uri="{BB962C8B-B14F-4D97-AF65-F5344CB8AC3E}">
        <p14:creationId xmlns:p14="http://schemas.microsoft.com/office/powerpoint/2010/main" val="162181546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2A4C6E0-D199-4A86-B676-61C9E178076C}"/>
              </a:ext>
            </a:extLst>
          </p:cNvPr>
          <p:cNvSpPr>
            <a:spLocks noGrp="1"/>
          </p:cNvSpPr>
          <p:nvPr>
            <p:ph type="title"/>
          </p:nvPr>
        </p:nvSpPr>
        <p:spPr/>
        <p:txBody>
          <a:bodyPr/>
          <a:lstStyle/>
          <a:p>
            <a:pPr algn="ctr"/>
            <a:r>
              <a:rPr lang="en-IN" dirty="0"/>
              <a:t>Nested Dictionary</a:t>
            </a:r>
          </a:p>
        </p:txBody>
      </p:sp>
      <p:sp>
        <p:nvSpPr>
          <p:cNvPr id="3" name="Content Placeholder 2">
            <a:extLst>
              <a:ext uri="{FF2B5EF4-FFF2-40B4-BE49-F238E27FC236}">
                <a16:creationId xmlns="" xmlns:a16="http://schemas.microsoft.com/office/drawing/2014/main" id="{51436483-98A1-42E6-ABA1-554872554AAC}"/>
              </a:ext>
            </a:extLst>
          </p:cNvPr>
          <p:cNvSpPr>
            <a:spLocks noGrp="1"/>
          </p:cNvSpPr>
          <p:nvPr>
            <p:ph idx="1"/>
          </p:nvPr>
        </p:nvSpPr>
        <p:spPr/>
        <p:txBody>
          <a:bodyPr>
            <a:normAutofit/>
          </a:bodyPr>
          <a:lstStyle/>
          <a:p>
            <a:r>
              <a:rPr lang="en-IN" sz="2000" dirty="0"/>
              <a:t>We can also place a Python dictionary as a value within a dictionary.</a:t>
            </a:r>
          </a:p>
        </p:txBody>
      </p:sp>
      <p:pic>
        <p:nvPicPr>
          <p:cNvPr id="7" name="Picture 6">
            <a:extLst>
              <a:ext uri="{FF2B5EF4-FFF2-40B4-BE49-F238E27FC236}">
                <a16:creationId xmlns="" xmlns:a16="http://schemas.microsoft.com/office/drawing/2014/main" id="{1B6DB877-1E23-434F-99E0-AC9FAC1FE44E}"/>
              </a:ext>
            </a:extLst>
          </p:cNvPr>
          <p:cNvPicPr>
            <a:picLocks noChangeAspect="1"/>
          </p:cNvPicPr>
          <p:nvPr/>
        </p:nvPicPr>
        <p:blipFill>
          <a:blip r:embed="rId2"/>
          <a:stretch>
            <a:fillRect/>
          </a:stretch>
        </p:blipFill>
        <p:spPr>
          <a:xfrm>
            <a:off x="5735314" y="2748254"/>
            <a:ext cx="5312600" cy="1217256"/>
          </a:xfrm>
          <a:prstGeom prst="rect">
            <a:avLst/>
          </a:prstGeom>
        </p:spPr>
      </p:pic>
      <p:pic>
        <p:nvPicPr>
          <p:cNvPr id="6" name="Picture 5">
            <a:extLst>
              <a:ext uri="{FF2B5EF4-FFF2-40B4-BE49-F238E27FC236}">
                <a16:creationId xmlns="" xmlns:a16="http://schemas.microsoft.com/office/drawing/2014/main" id="{933F1150-AE82-4A5A-82A7-B47E25440442}"/>
              </a:ext>
            </a:extLst>
          </p:cNvPr>
          <p:cNvPicPr>
            <a:picLocks noChangeAspect="1"/>
          </p:cNvPicPr>
          <p:nvPr/>
        </p:nvPicPr>
        <p:blipFill>
          <a:blip r:embed="rId3"/>
          <a:stretch>
            <a:fillRect/>
          </a:stretch>
        </p:blipFill>
        <p:spPr>
          <a:xfrm>
            <a:off x="1019798" y="2816834"/>
            <a:ext cx="4163830" cy="802666"/>
          </a:xfrm>
          <a:prstGeom prst="rect">
            <a:avLst/>
          </a:prstGeom>
        </p:spPr>
      </p:pic>
    </p:spTree>
    <p:extLst>
      <p:ext uri="{BB962C8B-B14F-4D97-AF65-F5344CB8AC3E}">
        <p14:creationId xmlns:p14="http://schemas.microsoft.com/office/powerpoint/2010/main" val="15441641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7433F065EB5D54B810525532F644710" ma:contentTypeVersion="2" ma:contentTypeDescription="Create a new document." ma:contentTypeScope="" ma:versionID="4616a87e4d0c608a23833d6bb4678d47">
  <xsd:schema xmlns:xsd="http://www.w3.org/2001/XMLSchema" xmlns:xs="http://www.w3.org/2001/XMLSchema" xmlns:p="http://schemas.microsoft.com/office/2006/metadata/properties" xmlns:ns2="3375627d-486e-458e-b537-71d2b3d2f487" targetNamespace="http://schemas.microsoft.com/office/2006/metadata/properties" ma:root="true" ma:fieldsID="68574f94a8af6fb41dc55666ba22a908" ns2:_="">
    <xsd:import namespace="3375627d-486e-458e-b537-71d2b3d2f487"/>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75627d-486e-458e-b537-71d2b3d2f4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F218053-8F59-46F9-9A8C-AD6A7EFE1E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75627d-486e-458e-b537-71d2b3d2f4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A1CFFFD-BACE-4BA8-B547-36BEB8F8F42A}">
  <ds:schemaRefs>
    <ds:schemaRef ds:uri="http://schemas.microsoft.com/sharepoint/v3/contenttype/forms"/>
  </ds:schemaRefs>
</ds:datastoreItem>
</file>

<file path=customXml/itemProps3.xml><?xml version="1.0" encoding="utf-8"?>
<ds:datastoreItem xmlns:ds="http://schemas.openxmlformats.org/officeDocument/2006/customXml" ds:itemID="{F438E10A-2664-46D5-A165-1F577FE0B680}">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508</TotalTime>
  <Words>293</Words>
  <Application>Microsoft Office PowerPoint</Application>
  <PresentationFormat>Custom</PresentationFormat>
  <Paragraphs>74</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Python Dictionary</vt:lpstr>
      <vt:lpstr>Accessing a Dictionary</vt:lpstr>
      <vt:lpstr>Reassigning a Dictionary</vt:lpstr>
      <vt:lpstr>Delete a Dictionary</vt:lpstr>
      <vt:lpstr>In-Built Functions</vt:lpstr>
      <vt:lpstr>In-Built Functions</vt:lpstr>
      <vt:lpstr>In-Built Methods</vt:lpstr>
      <vt:lpstr>In-Built Methods</vt:lpstr>
      <vt:lpstr>In-Built Methods</vt:lpstr>
      <vt:lpstr>In-Built Methods</vt:lpstr>
      <vt:lpstr>In-Built Methods</vt:lpstr>
      <vt:lpstr>Nested Dictionary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BISHWAJIT ROY</dc:creator>
  <cp:lastModifiedBy>Windows User</cp:lastModifiedBy>
  <cp:revision>39</cp:revision>
  <dcterms:created xsi:type="dcterms:W3CDTF">2021-01-11T13:31:49Z</dcterms:created>
  <dcterms:modified xsi:type="dcterms:W3CDTF">2024-12-06T06:58:58Z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0x01010027433F065EB5D54B810525532F644710</vt:lpwstr>
  </property>
</Properties>
</file>