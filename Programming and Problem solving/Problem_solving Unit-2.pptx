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66" r:id="rId3"/>
    <p:sldId id="467" r:id="rId4"/>
    <p:sldId id="451" r:id="rId5"/>
    <p:sldId id="549" r:id="rId6"/>
    <p:sldId id="452" r:id="rId7"/>
    <p:sldId id="453" r:id="rId8"/>
    <p:sldId id="454" r:id="rId9"/>
    <p:sldId id="550" r:id="rId10"/>
    <p:sldId id="551" r:id="rId11"/>
    <p:sldId id="552" r:id="rId12"/>
    <p:sldId id="553" r:id="rId13"/>
    <p:sldId id="554" r:id="rId14"/>
    <p:sldId id="555" r:id="rId15"/>
    <p:sldId id="457" r:id="rId16"/>
    <p:sldId id="556" r:id="rId17"/>
    <p:sldId id="557" r:id="rId18"/>
    <p:sldId id="558" r:id="rId19"/>
    <p:sldId id="559" r:id="rId20"/>
    <p:sldId id="560" r:id="rId21"/>
    <p:sldId id="561" r:id="rId22"/>
    <p:sldId id="562" r:id="rId23"/>
    <p:sldId id="458" r:id="rId24"/>
    <p:sldId id="574" r:id="rId25"/>
    <p:sldId id="563" r:id="rId26"/>
    <p:sldId id="564" r:id="rId27"/>
    <p:sldId id="565" r:id="rId28"/>
    <p:sldId id="566" r:id="rId29"/>
    <p:sldId id="567" r:id="rId30"/>
    <p:sldId id="568" r:id="rId31"/>
    <p:sldId id="570" r:id="rId32"/>
    <p:sldId id="569" r:id="rId33"/>
    <p:sldId id="571" r:id="rId34"/>
    <p:sldId id="572" r:id="rId35"/>
    <p:sldId id="57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AFDD-3F0B-152A-F530-422B0831F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6DB77-BF2B-AEDD-3B7D-DDEF4D989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958E7-2C94-0258-BE71-8E51E4790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F6B7C-F2AA-D9E8-A1BA-02E27CC6A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3B583-6475-606E-D8EA-F71DBFD5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29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6C309-F89D-7418-8B1B-07178F9D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353A9-60B2-CEC2-5D12-75C7813DC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495D9-6F13-6B42-D6DF-C5C8A3C82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DA1B7-9FE3-3F56-55A0-2FA08144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773EA-C96D-B77E-F741-E8B26CA7C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997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8C65-7508-8F12-AAE9-C6F484C4F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02CA7-9E78-ED32-EADE-461C63155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8E47E-1329-C7C4-4CA0-0396A332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1D500-FE6E-2A11-3464-BF54FEF0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0C6C6-5512-31E7-A67E-99F2435B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09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7EE9-AE66-7C4E-F268-BA315636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A011-30C4-A279-85D6-B31A6924A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13FEA-A9DA-6C68-4E52-8D46EC925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35DA1-457E-7640-87A5-70741678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ECFB0-7335-BAD2-ECB6-0F1DBEB13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E9AA5-E817-D6B1-72A7-D15A365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765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D9E5-D224-9904-5D35-746774F2E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05892-E71A-E139-2C26-F0B80FBBB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E8627-3296-5C97-04E7-578399873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197DB0-684F-977C-D53C-7F13B0D36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9688E-C3E6-0B5C-F260-354F1BD2F6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E7CCBF-7355-BBC7-235B-6743E487F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864B4A-48EE-2D52-3737-E8AAC09C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FB48D-C5A9-C3AC-D6ED-85AD0428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75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9780-6D5F-CC23-7EBA-96F0E69AE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09F691-B4DB-C66E-2F54-309BD3C5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3C0946-F0E4-14AB-E179-840DDF29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B6500-1E8B-232A-4643-34E70535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4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FA68F6-726E-0D95-7F99-74E6B2CF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DA1C0-D506-711E-A768-512ECD79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E4579-679E-9D30-2AC7-206767197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24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D991-1DBF-F2B3-1DAC-C2BCCF378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3A4BE-800E-FDD9-99DB-3D35BF4CA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50CB1-87C5-FA85-749F-B6C303874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FD142-DABD-42CC-DBC9-359329D4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6FC93-CFF7-D1F0-E60C-6602E63C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30742-EC84-A9E7-2D83-25A2F93C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374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647DB-7892-C98A-3770-41669241A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B4F1F-D2D8-7A41-28D7-5AC5955C3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32150-59E8-5265-3955-B5F1562E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DB4AC-1651-2B1F-8E48-0A3FEAED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9C421-A00C-E0B9-6A4C-CF221C32D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AB69D-19A8-D496-592D-8AAAA43B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600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93E84-2340-A28E-2A18-E88D21D7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275BE-482E-2DBD-DA0D-F00B6089A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CDD5B-DD75-CCEF-E07F-2C481EFD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51F3A-C388-8FDC-AE04-A54138EB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24A5F-07F8-CD58-4075-8EBB0E95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BC4B2-4E74-F466-41E0-43AEE9011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FDAAF-2498-C7D8-E09C-FB7E0C92D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05391-05FD-E120-4970-02ACC2C9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86637-3741-0FBC-016A-9F81021A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1812C-DD80-E83F-E5B7-07094BAA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99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C4E2F-BA16-2A86-99E7-4A4A9BB74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33C10-E808-B762-F77C-CFF07EF52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8C68C-7B88-BC95-A2AD-3A6F0F8EB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6FECA-BB0D-45D7-90E7-55A3CA2B7D8A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5FF84-2E93-4A67-A076-DB1301ACF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D4A60-108B-DCB1-818B-866F73B3D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95B63-2DE0-4C11-A06B-B2EFDA60E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22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CB13A-5550-C548-70C9-71A820A74E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Unit-2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B92B6-F5F5-F94A-A784-0E3A30AEF4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767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VALUES AND DATA TYPES</a:t>
            </a:r>
            <a:endParaRPr lang="en-US" b="1" dirty="0"/>
          </a:p>
        </p:txBody>
      </p:sp>
      <p:pic>
        <p:nvPicPr>
          <p:cNvPr id="3074" name="Picture 2" descr="Declaring a Variable – CS Comic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261" y="1964456"/>
            <a:ext cx="4086115" cy="267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Digital Academy » SYNTAX &amp; VARIABLES (Definition, Declaration, Data Types  and Scope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622" y="4263242"/>
            <a:ext cx="6840178" cy="213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225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VALUES AND DATA TYPES</a:t>
            </a:r>
            <a:endParaRPr lang="en-US" dirty="0"/>
          </a:p>
        </p:txBody>
      </p:sp>
      <p:pic>
        <p:nvPicPr>
          <p:cNvPr id="4110" name="Picture 14" descr="Image for pos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299" y="1850506"/>
            <a:ext cx="6560304" cy="425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Basic of Datastructure |Datatypes | - YouTub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341" y="1528549"/>
            <a:ext cx="4109367" cy="231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29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solidFill>
                  <a:srgbClr val="0070C0"/>
                </a:solidFill>
                <a:latin typeface="+mn-lt"/>
              </a:rPr>
              <a:t>NUMBERS</a:t>
            </a:r>
            <a:endParaRPr lang="en-US" sz="44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1984725"/>
            <a:ext cx="10612272" cy="1346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Number data type stores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Numerical Values.</a:t>
            </a:r>
          </a:p>
          <a:p>
            <a:pPr marR="0" lvl="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5"/>
              </a:lnSpc>
            </a:pPr>
            <a:r>
              <a:rPr lang="en-US" dirty="0"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 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This data type is immutable [i.e. values/items cannot be changed].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0"/>
              </a:lnSpc>
            </a:pPr>
            <a:r>
              <a:rPr lang="en-US" dirty="0"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 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Python supports integers, floating point numbers and complex numbers. They are defined as,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511960" y="3625413"/>
            <a:ext cx="7528778" cy="3222900"/>
          </a:xfrm>
          <a:prstGeom prst="rect">
            <a:avLst/>
          </a:prstGeom>
          <a:noFill/>
        </p:spPr>
      </p:pic>
      <p:pic>
        <p:nvPicPr>
          <p:cNvPr id="2052" name="Picture 4" descr="Python Numbers - Three cheers for int, float and complex numbers -  TechVidva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08" y="3625413"/>
            <a:ext cx="4252652" cy="222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439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263" t="27059" r="7781" b="25179"/>
          <a:stretch/>
        </p:blipFill>
        <p:spPr>
          <a:xfrm>
            <a:off x="1" y="0"/>
            <a:ext cx="102412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3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4400" dirty="0">
                <a:solidFill>
                  <a:srgbClr val="0070C0"/>
                </a:solidFill>
                <a:latin typeface="+mn-lt"/>
              </a:rPr>
              <a:t>SEQUENCE</a:t>
            </a:r>
            <a:endParaRPr lang="en-US" sz="4400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1944456"/>
            <a:ext cx="10694158" cy="3981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sequence is an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ordered collection of items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indexed by positive integers.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5"/>
              </a:lnSpc>
            </a:pPr>
            <a:r>
              <a:rPr lang="en-US" dirty="0"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 </a:t>
            </a:r>
            <a:endParaRPr lang="en-US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It is a combination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 mutable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(value can be changed)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and immutable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(values cannot be changed) data types.</a:t>
            </a:r>
          </a:p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There </a:t>
            </a:r>
            <a:r>
              <a:rPr lang="en-US" dirty="0"/>
              <a:t> are three types of sequence data type available in Python, they are</a:t>
            </a:r>
          </a:p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endParaRPr lang="en-US" sz="1400" dirty="0"/>
          </a:p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endParaRPr lang="en-US" sz="1400" dirty="0"/>
          </a:p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endParaRPr lang="en-US" sz="1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70C0"/>
                </a:solidFill>
              </a:rPr>
              <a:t>Strings</a:t>
            </a:r>
            <a:endParaRPr lang="en-US" sz="3600" dirty="0">
              <a:solidFill>
                <a:srgbClr val="0070C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70C0"/>
                </a:solidFill>
              </a:rPr>
              <a:t>Lists</a:t>
            </a:r>
            <a:endParaRPr lang="en-US" sz="3600" dirty="0">
              <a:solidFill>
                <a:srgbClr val="0070C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70C0"/>
                </a:solidFill>
              </a:rPr>
              <a:t>Tuples</a:t>
            </a:r>
            <a:endParaRPr lang="en-US" sz="3600" dirty="0">
              <a:solidFill>
                <a:srgbClr val="0070C0"/>
              </a:solidFill>
            </a:endParaRPr>
          </a:p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342900" marR="0" lvl="0" indent="-3429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457200" algn="l"/>
              </a:tabLst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959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STRINGS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709684" y="1838991"/>
            <a:ext cx="10644116" cy="4129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String in Python consists of a </a:t>
            </a:r>
            <a:r>
              <a:rPr lang="en-US" sz="2400" b="1" u="sng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series or sequence of characters - letters,</a:t>
            </a:r>
            <a:r>
              <a:rPr lang="en-US" sz="24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b="1" u="sng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numbers, and special characters.</a:t>
            </a:r>
            <a:endParaRPr lang="en-US" sz="2400" b="1" dirty="0">
              <a:solidFill>
                <a:schemeClr val="accent5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25"/>
              </a:lnSpc>
            </a:pPr>
            <a:r>
              <a:rPr lang="en-US" sz="2400" dirty="0"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Strings are marked by quotes: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1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1219200" marR="0" algn="just">
              <a:spcBef>
                <a:spcPts val="0"/>
              </a:spcBef>
              <a:spcAft>
                <a:spcPts val="0"/>
              </a:spcAft>
              <a:tabLst>
                <a:tab pos="2781300" algn="l"/>
                <a:tab pos="3124200" algn="l"/>
              </a:tabLst>
            </a:pPr>
            <a:r>
              <a:rPr lang="en-US" sz="2400" dirty="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·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 single quotes </a:t>
            </a:r>
            <a:r>
              <a:rPr lang="en-US" sz="24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('	')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'This a string in single quotes'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562100" marR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·"/>
              <a:tabLst>
                <a:tab pos="31369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double quotes </a:t>
            </a:r>
            <a:r>
              <a:rPr lang="en-US" sz="24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(" ")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"This a string in double quotes“</a:t>
            </a:r>
            <a:endParaRPr lang="en-US" sz="2400" b="1" dirty="0">
              <a:latin typeface="Times New Roman" panose="02020603050405020304" pitchFamily="18" charset="0"/>
              <a:ea typeface="Cambria" panose="02040503050406030204" pitchFamily="18" charset="0"/>
            </a:endParaRPr>
          </a:p>
          <a:p>
            <a:pPr marL="1562100" marR="0" indent="-342900" algn="just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·"/>
              <a:tabLst>
                <a:tab pos="31369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triple quotes </a:t>
            </a:r>
            <a:r>
              <a:rPr lang="en-US" sz="2400" b="1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(""“    """)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 This is a paragraph. It is made up of multiple lines and sentences."""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5"/>
              </a:lnSpc>
            </a:pPr>
            <a:r>
              <a:rPr lang="en-US" sz="2400" dirty="0">
                <a:latin typeface="Symbol" panose="05050102010706020507" pitchFamily="18" charset="2"/>
                <a:ea typeface="Symbol" panose="05050102010706020507" pitchFamily="18" charset="2"/>
                <a:cs typeface="Symbol" panose="05050102010706020507" pitchFamily="18" charset="2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Individual character in a string is accessed using a subscript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(index).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15"/>
              </a:lnSpc>
            </a:pPr>
            <a:r>
              <a:rPr lang="en-US" sz="2400" dirty="0"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Characters can be accessed using indexing and slicing operations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1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698500" marR="0" indent="-282575" algn="just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Strings are immutable i.e. the contents of the string cannot be changed after it is created.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0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STRINGS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09684" y="1838991"/>
            <a:ext cx="10644116" cy="4375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Strings and Operations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endParaRPr lang="en-US" sz="2400" b="1" dirty="0">
              <a:solidFill>
                <a:schemeClr val="accent2">
                  <a:lumMod val="7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Indexing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	Concatenation 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Slicing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Repetition 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Membership 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endParaRPr lang="en-US" sz="24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endParaRPr 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4400" b="1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Live Examples …….</a:t>
            </a:r>
          </a:p>
        </p:txBody>
      </p:sp>
      <p:pic>
        <p:nvPicPr>
          <p:cNvPr id="5" name="Picture 2" descr="Python Tutorial: A Tutori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979" y="1838991"/>
            <a:ext cx="4954137" cy="326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680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Python St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79"/>
            <a:ext cx="9575074" cy="633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869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Python St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398" y="182880"/>
            <a:ext cx="7172688" cy="657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43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Python St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914" y="169818"/>
            <a:ext cx="7393577" cy="643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718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list in Python is used to store the sequence of various types of data.</a:t>
            </a:r>
          </a:p>
          <a:p>
            <a:pPr marL="0" indent="0">
              <a:buNone/>
            </a:pPr>
            <a:r>
              <a:rPr lang="en-US" dirty="0"/>
              <a:t>L1 = ["John", 102, "USA"]    </a:t>
            </a:r>
          </a:p>
          <a:p>
            <a:pPr marL="0" indent="0">
              <a:buNone/>
            </a:pPr>
            <a:r>
              <a:rPr lang="en-US" dirty="0"/>
              <a:t>L2 = [1, 2, 3, 4, 5, 6]   </a:t>
            </a:r>
          </a:p>
          <a:p>
            <a:r>
              <a:rPr lang="en-US" dirty="0"/>
              <a:t>The items in the list are separated with the comma (,) and enclosed with the square brackets [].</a:t>
            </a:r>
          </a:p>
          <a:p>
            <a:r>
              <a:rPr lang="en-US" dirty="0"/>
              <a:t>Python lists are mutable type it means that we can modify its element after it created. </a:t>
            </a:r>
          </a:p>
          <a:p>
            <a:r>
              <a:rPr lang="en-US" dirty="0"/>
              <a:t>However, Python consists of six data-types </a:t>
            </a:r>
          </a:p>
          <a:p>
            <a:r>
              <a:rPr lang="en-US" dirty="0"/>
              <a:t>They are capable to store the sequences.</a:t>
            </a:r>
          </a:p>
          <a:p>
            <a:r>
              <a:rPr lang="en-US" dirty="0"/>
              <a:t>But the most common and reliable type is the list.</a:t>
            </a:r>
          </a:p>
        </p:txBody>
      </p:sp>
    </p:spTree>
    <p:extLst>
      <p:ext uri="{BB962C8B-B14F-4D97-AF65-F5344CB8AC3E}">
        <p14:creationId xmlns:p14="http://schemas.microsoft.com/office/powerpoint/2010/main" val="3084770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print</a:t>
            </a:r>
            <a:r>
              <a:rPr lang="en-US" dirty="0"/>
              <a:t>(type(L1)) </a:t>
            </a:r>
          </a:p>
          <a:p>
            <a:r>
              <a:rPr lang="en-US" dirty="0"/>
              <a:t> </a:t>
            </a:r>
          </a:p>
          <a:p>
            <a:r>
              <a:rPr lang="en-US" b="1" dirty="0"/>
              <a:t>print</a:t>
            </a:r>
            <a:r>
              <a:rPr lang="en-US" dirty="0"/>
              <a:t>(type(L2))</a:t>
            </a:r>
          </a:p>
          <a:p>
            <a:endParaRPr lang="en-US" dirty="0"/>
          </a:p>
          <a:p>
            <a:r>
              <a:rPr lang="en-US" dirty="0"/>
              <a:t>&lt;class ‘list’&gt;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76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Lists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lists are ordered.</a:t>
            </a:r>
          </a:p>
          <a:p>
            <a:pPr marL="0" indent="0">
              <a:buNone/>
            </a:pPr>
            <a:r>
              <a:rPr lang="en-US" dirty="0"/>
              <a:t>a = [1,2,"Peter",4.50,"Ricky",5,6]  </a:t>
            </a:r>
          </a:p>
          <a:p>
            <a:pPr marL="0" indent="0">
              <a:buNone/>
            </a:pPr>
            <a:r>
              <a:rPr lang="en-US" dirty="0"/>
              <a:t>b = [1,2,5,"Peter",4.50,"Ricky",6]  </a:t>
            </a:r>
          </a:p>
          <a:p>
            <a:pPr marL="0" indent="0">
              <a:buNone/>
            </a:pPr>
            <a:r>
              <a:rPr lang="en-US" dirty="0"/>
              <a:t>a ==b  This results in False. Why?</a:t>
            </a:r>
          </a:p>
          <a:p>
            <a:r>
              <a:rPr lang="en-US" dirty="0"/>
              <a:t>The element of the list can access by index.</a:t>
            </a:r>
          </a:p>
          <a:p>
            <a:r>
              <a:rPr lang="en-US" dirty="0"/>
              <a:t>The lists are the mutable type.</a:t>
            </a:r>
          </a:p>
          <a:p>
            <a:r>
              <a:rPr lang="en-US" dirty="0"/>
              <a:t>A list can store the number of various elements.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188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LISTS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73942" y="1590797"/>
            <a:ext cx="10644116" cy="4375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Lists and Operations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800" b="1" dirty="0">
                <a:solidFill>
                  <a:srgbClr val="D1054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Indexing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800" b="1" dirty="0">
                <a:solidFill>
                  <a:srgbClr val="D1054E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	Concatenation 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800" b="1" dirty="0">
                <a:solidFill>
                  <a:srgbClr val="D1054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Slicing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800" b="1" dirty="0">
                <a:solidFill>
                  <a:srgbClr val="D1054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Repetition 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800" b="1" dirty="0">
                <a:solidFill>
                  <a:srgbClr val="D1054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Membership 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800" b="1" dirty="0">
                <a:solidFill>
                  <a:srgbClr val="D1054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Updation-Deletion and Insertion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endParaRPr 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4400" b="1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</a:t>
            </a:r>
            <a:r>
              <a:rPr lang="en-US" sz="4400" b="1" dirty="0">
                <a:solidFill>
                  <a:srgbClr val="B28D0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Live Examples …….</a:t>
            </a:r>
          </a:p>
        </p:txBody>
      </p:sp>
    </p:spTree>
    <p:extLst>
      <p:ext uri="{BB962C8B-B14F-4D97-AF65-F5344CB8AC3E}">
        <p14:creationId xmlns:p14="http://schemas.microsoft.com/office/powerpoint/2010/main" val="3137308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107" t="17233" r="27177" b="580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76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list_varible</a:t>
            </a:r>
            <a:r>
              <a:rPr lang="en-US" dirty="0"/>
              <a:t>(</a:t>
            </a:r>
            <a:r>
              <a:rPr lang="en-US" dirty="0" err="1"/>
              <a:t>start:stop:step</a:t>
            </a:r>
            <a:r>
              <a:rPr lang="en-US" dirty="0"/>
              <a:t>) </a:t>
            </a:r>
          </a:p>
          <a:p>
            <a:r>
              <a:rPr lang="en-US" dirty="0"/>
              <a:t>The </a:t>
            </a:r>
            <a:r>
              <a:rPr lang="en-US" b="1" dirty="0"/>
              <a:t>start</a:t>
            </a:r>
            <a:r>
              <a:rPr lang="en-US" dirty="0"/>
              <a:t> denotes the starting index position of the list.</a:t>
            </a:r>
          </a:p>
          <a:p>
            <a:r>
              <a:rPr lang="en-US" dirty="0"/>
              <a:t>The </a:t>
            </a:r>
            <a:r>
              <a:rPr lang="en-US" b="1" dirty="0"/>
              <a:t>stop</a:t>
            </a:r>
            <a:r>
              <a:rPr lang="en-US" dirty="0"/>
              <a:t> denotes the last index position of the list.</a:t>
            </a:r>
          </a:p>
          <a:p>
            <a:r>
              <a:rPr lang="en-US" dirty="0"/>
              <a:t>The </a:t>
            </a:r>
            <a:r>
              <a:rPr lang="en-US" b="1" dirty="0"/>
              <a:t>step</a:t>
            </a:r>
            <a:r>
              <a:rPr lang="en-US" dirty="0"/>
              <a:t> is used to skip the nth element within a </a:t>
            </a:r>
            <a:r>
              <a:rPr lang="en-US" b="1" dirty="0" err="1"/>
              <a:t>start:stop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317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list = [1,2,3,4,5,6,7]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(list[0])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(list[1])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(list[2])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(list[3])  </a:t>
            </a:r>
          </a:p>
          <a:p>
            <a:pPr marL="0" indent="0">
              <a:buNone/>
            </a:pPr>
            <a:r>
              <a:rPr lang="en-US" dirty="0"/>
              <a:t># Slicing the elements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(list[0:6])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(list[:])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(list[2:5])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(list[1:6:2])  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508" t="29197" r="64123" b="31518"/>
          <a:stretch/>
        </p:blipFill>
        <p:spPr>
          <a:xfrm>
            <a:off x="6270172" y="1460568"/>
            <a:ext cx="4325982" cy="508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72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other languages, Python provides the flexibility to use the negative indexing also. </a:t>
            </a:r>
          </a:p>
          <a:p>
            <a:r>
              <a:rPr lang="en-US" dirty="0"/>
              <a:t>The negative indices are counted from the right. </a:t>
            </a:r>
          </a:p>
          <a:p>
            <a:r>
              <a:rPr lang="en-US" dirty="0"/>
              <a:t>The last element (rightmost) of the list has the index -1; </a:t>
            </a:r>
          </a:p>
          <a:p>
            <a:r>
              <a:rPr lang="en-US" dirty="0"/>
              <a:t>its adjacent left element is present at the index -2 and so on until the left-most elements are encountered.</a:t>
            </a:r>
          </a:p>
        </p:txBody>
      </p:sp>
    </p:spTree>
    <p:extLst>
      <p:ext uri="{BB962C8B-B14F-4D97-AF65-F5344CB8AC3E}">
        <p14:creationId xmlns:p14="http://schemas.microsoft.com/office/powerpoint/2010/main" val="2553510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408" t="15446" r="26875" b="508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263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List values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2776"/>
            <a:ext cx="10515600" cy="57476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Lists are the most versatile data structures in Python since they are mutable, and their values can be updated by using the slice and assignment operator.</a:t>
            </a:r>
          </a:p>
          <a:p>
            <a:pPr marL="0" indent="0">
              <a:buNone/>
            </a:pPr>
            <a:r>
              <a:rPr lang="en-US" dirty="0"/>
              <a:t>list = [1, 2, 3, 4, 5, 6]   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(list)  </a:t>
            </a:r>
          </a:p>
          <a:p>
            <a:pPr marL="0" indent="0">
              <a:buNone/>
            </a:pPr>
            <a:r>
              <a:rPr lang="en-US" dirty="0"/>
              <a:t>list[2] = 10 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(list)</a:t>
            </a:r>
          </a:p>
          <a:p>
            <a:pPr marL="0" indent="0">
              <a:buNone/>
            </a:pPr>
            <a:r>
              <a:rPr lang="en-US" dirty="0"/>
              <a:t>list[1:3] = [89, 78]   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(list)  </a:t>
            </a:r>
          </a:p>
          <a:p>
            <a:pPr marL="0" indent="0">
              <a:buNone/>
            </a:pPr>
            <a:r>
              <a:rPr lang="en-US" dirty="0"/>
              <a:t>list[-1] = 25  </a:t>
            </a:r>
          </a:p>
          <a:p>
            <a:pPr marL="0" indent="0">
              <a:buNone/>
            </a:pPr>
            <a:r>
              <a:rPr lang="en-US" b="1" dirty="0"/>
              <a:t>print</a:t>
            </a:r>
            <a:r>
              <a:rPr lang="en-US" dirty="0"/>
              <a:t>(list)  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089491" y="2222587"/>
            <a:ext cx="42643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[1, 2, 3, 4, 5, 6]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[1, 2, 10, 4, 5, 6]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[1, 89, 78, 4, 5, 6]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[1, 89, 78, 4, 5, 25]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257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609" t="14911" r="27478" b="723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25989" y="112991"/>
            <a:ext cx="368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l1 = [1, 2, 3, 4]  l2 = [5, 6, 7, 8]</a:t>
            </a:r>
          </a:p>
        </p:txBody>
      </p:sp>
    </p:spTree>
    <p:extLst>
      <p:ext uri="{BB962C8B-B14F-4D97-AF65-F5344CB8AC3E}">
        <p14:creationId xmlns:p14="http://schemas.microsoft.com/office/powerpoint/2010/main" val="1568487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TUPLES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838200" y="1690688"/>
            <a:ext cx="10515600" cy="3745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76200" lvl="0" indent="-342900" algn="just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5334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tuple is same as list, except that the set of elements is </a:t>
            </a:r>
            <a:r>
              <a:rPr lang="en-US" sz="2400" b="1" u="sng" dirty="0">
                <a:solidFill>
                  <a:srgbClr val="D1054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enclosed in parentheses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instead of square brackets.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20"/>
              </a:lnSpc>
            </a:pPr>
            <a:r>
              <a:rPr lang="en-US" sz="2400" dirty="0"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6200" lvl="0" indent="-342900" algn="just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533400" algn="l"/>
              </a:tabLst>
            </a:pPr>
            <a:r>
              <a:rPr lang="en-US" sz="2400" b="1" dirty="0">
                <a:solidFill>
                  <a:srgbClr val="D1054E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Tuple is an immutable list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 i.e. once a tuple has been created, you can't add</a:t>
            </a:r>
            <a:r>
              <a:rPr lang="en-US" sz="2400" b="1" dirty="0">
                <a:highlight>
                  <a:srgbClr val="D3D3D3"/>
                </a:highlight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elements to a tuple or remove elements from the tuple.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5"/>
              </a:lnSpc>
            </a:pPr>
            <a:r>
              <a:rPr lang="en-US" sz="2400" dirty="0"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 algn="just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tabLst>
                <a:tab pos="533400" algn="l"/>
              </a:tabLs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R="0" lvl="0" algn="just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tabLst>
                <a:tab pos="5334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Benefit of Tuple: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ts val="20"/>
              </a:lnSpc>
            </a:pPr>
            <a:r>
              <a:rPr lang="en-US" sz="2400" dirty="0">
                <a:latin typeface="Wingdings" panose="05000000000000000000" pitchFamily="2" charset="2"/>
                <a:ea typeface="Wingdings" panose="05000000000000000000" pitchFamily="2" charset="2"/>
                <a:cs typeface="Wingdings" panose="05000000000000000000" pitchFamily="2" charset="2"/>
              </a:rPr>
              <a:t> 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5334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Tuples are faster than lists.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5334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If the user wants to protect the data from accidental changes, tuple can be used.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99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"/>
              <a:tabLst>
                <a:tab pos="5334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Tuples can be used as keys in dictionaries, while lists can't.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045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TUPLES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709684" y="1838991"/>
            <a:ext cx="10644116" cy="43754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  <a:tabLst>
                <a:tab pos="698500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Tuples and Operations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endParaRPr lang="en-US" sz="2400" b="1" dirty="0">
              <a:solidFill>
                <a:schemeClr val="accent2">
                  <a:lumMod val="7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Indexing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rgbClr val="FF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	Concatenation 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Slicing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Repetition 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2400" b="1" dirty="0">
                <a:solidFill>
                  <a:srgbClr val="D1054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	</a:t>
            </a: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endParaRPr lang="en-US" sz="2400" b="1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endParaRPr lang="en-US" sz="24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tabLst>
                <a:tab pos="698500" algn="l"/>
              </a:tabLst>
            </a:pPr>
            <a:r>
              <a:rPr lang="en-US" sz="4400" b="1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</a:t>
            </a:r>
            <a:r>
              <a:rPr lang="en-US" sz="4400" b="1" dirty="0">
                <a:solidFill>
                  <a:srgbClr val="B28D0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Live Examples …….</a:t>
            </a:r>
          </a:p>
        </p:txBody>
      </p:sp>
    </p:spTree>
    <p:extLst>
      <p:ext uri="{BB962C8B-B14F-4D97-AF65-F5344CB8AC3E}">
        <p14:creationId xmlns:p14="http://schemas.microsoft.com/office/powerpoint/2010/main" val="2644572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T1 = (101, "Peter", 22)    </a:t>
            </a:r>
          </a:p>
          <a:p>
            <a:pPr marL="0" indent="0">
              <a:buNone/>
            </a:pPr>
            <a:r>
              <a:rPr lang="fr-FR" dirty="0"/>
              <a:t>T2 = ("Apple", "Banana", "Orange")     </a:t>
            </a:r>
          </a:p>
          <a:p>
            <a:pPr marL="0" indent="0">
              <a:buNone/>
            </a:pPr>
            <a:r>
              <a:rPr lang="fr-FR" dirty="0"/>
              <a:t>T3 = 10,20,30,40,50  </a:t>
            </a:r>
          </a:p>
          <a:p>
            <a:pPr marL="0" indent="0">
              <a:buNone/>
            </a:pPr>
            <a:r>
              <a:rPr lang="fr-FR" dirty="0"/>
              <a:t>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(type(T1))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(type(T2))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(type(T3))  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223098" y="3822547"/>
            <a:ext cx="287290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&lt;class 'tuple'&gt;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&lt;class 'tuple'&gt;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&lt;class 'tuple'&gt;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459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Empty Tuple</a:t>
            </a:r>
          </a:p>
          <a:p>
            <a:pPr marL="0" indent="0">
              <a:buNone/>
            </a:pPr>
            <a:r>
              <a:rPr lang="en-US" dirty="0"/>
              <a:t>T4 = ()</a:t>
            </a:r>
          </a:p>
          <a:p>
            <a:r>
              <a:rPr lang="en-US" dirty="0"/>
              <a:t>Creating a tuple with single element is slightly different. We will need to put comma after the element to declare the tuple.</a:t>
            </a:r>
          </a:p>
          <a:p>
            <a:pPr marL="0" indent="0">
              <a:buNone/>
            </a:pPr>
            <a:r>
              <a:rPr lang="en-US" dirty="0"/>
              <a:t>tup1 = ("</a:t>
            </a:r>
            <a:r>
              <a:rPr lang="en-US" dirty="0" err="1"/>
              <a:t>JavaTpoint</a:t>
            </a:r>
            <a:r>
              <a:rPr lang="en-US" dirty="0"/>
              <a:t>")  </a:t>
            </a:r>
          </a:p>
          <a:p>
            <a:pPr marL="0" indent="0">
              <a:buNone/>
            </a:pPr>
            <a:r>
              <a:rPr lang="en-US" dirty="0"/>
              <a:t>print(type(tup1))  </a:t>
            </a:r>
          </a:p>
          <a:p>
            <a:pPr marL="0" indent="0">
              <a:buNone/>
            </a:pPr>
            <a:r>
              <a:rPr lang="en-US" dirty="0"/>
              <a:t>#Creating a tuple with single element   </a:t>
            </a:r>
          </a:p>
          <a:p>
            <a:pPr marL="0" indent="0">
              <a:buNone/>
            </a:pPr>
            <a:r>
              <a:rPr lang="en-US" dirty="0"/>
              <a:t>tup2 = ("</a:t>
            </a:r>
            <a:r>
              <a:rPr lang="en-US" dirty="0" err="1"/>
              <a:t>JavaTpoint</a:t>
            </a:r>
            <a:r>
              <a:rPr lang="en-US" dirty="0"/>
              <a:t>",)  </a:t>
            </a:r>
          </a:p>
          <a:p>
            <a:pPr marL="0" indent="0">
              <a:buNone/>
            </a:pPr>
            <a:r>
              <a:rPr lang="en-US" dirty="0"/>
              <a:t>print(type(tup2)) 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622111" y="3709282"/>
            <a:ext cx="418736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&lt;class '</a:t>
            </a: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str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'&gt;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4800" dirty="0">
              <a:solidFill>
                <a:srgbClr val="FF0000"/>
              </a:solidFill>
              <a:latin typeface="Arial Unicode M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&lt;class 'tuple'&gt;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461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tuple1 = (10, 20, 30, 40, 50, 60)    </a:t>
            </a:r>
          </a:p>
          <a:p>
            <a:pPr marL="0" indent="0">
              <a:buNone/>
            </a:pPr>
            <a:r>
              <a:rPr lang="en-US" dirty="0"/>
              <a:t>print(tuple1)    </a:t>
            </a:r>
          </a:p>
          <a:p>
            <a:pPr marL="0" indent="0">
              <a:buNone/>
            </a:pPr>
            <a:r>
              <a:rPr lang="en-US" dirty="0"/>
              <a:t>count = 0    </a:t>
            </a:r>
          </a:p>
          <a:p>
            <a:pPr marL="0" indent="0">
              <a:buNone/>
            </a:pPr>
            <a:r>
              <a:rPr lang="en-US" b="1" dirty="0"/>
              <a:t>for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in tuple1:    </a:t>
            </a:r>
          </a:p>
          <a:p>
            <a:pPr marL="0" indent="0">
              <a:buNone/>
            </a:pPr>
            <a:r>
              <a:rPr lang="en-US" dirty="0"/>
              <a:t>    print("tuple1[%d] = %d"%(count, </a:t>
            </a:r>
            <a:r>
              <a:rPr lang="en-US" dirty="0" err="1"/>
              <a:t>i</a:t>
            </a:r>
            <a:r>
              <a:rPr lang="en-US" dirty="0"/>
              <a:t>))   </a:t>
            </a:r>
          </a:p>
          <a:p>
            <a:pPr marL="0" indent="0">
              <a:buNone/>
            </a:pPr>
            <a:r>
              <a:rPr lang="en-US" dirty="0"/>
              <a:t>    count = count+1  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831703" y="2357951"/>
            <a:ext cx="552106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(10, 20, 30, 40, 50, 60)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tuple1[0] = 10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tuple1[1] = 20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tuple1[2] = 30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tuple1[3] = 40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tuple1[4] = 50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tuple1[5] = 60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279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tuple1 = tuple(input("Enter the tuple elements ..."))  </a:t>
            </a:r>
          </a:p>
          <a:p>
            <a:pPr marL="0" indent="0">
              <a:buNone/>
            </a:pPr>
            <a:r>
              <a:rPr lang="en-US" dirty="0"/>
              <a:t>print(tuple1)    </a:t>
            </a:r>
          </a:p>
          <a:p>
            <a:pPr marL="0" indent="0">
              <a:buNone/>
            </a:pPr>
            <a:r>
              <a:rPr lang="en-US" dirty="0"/>
              <a:t>count = 0    </a:t>
            </a:r>
          </a:p>
          <a:p>
            <a:pPr marL="0" indent="0">
              <a:buNone/>
            </a:pPr>
            <a:r>
              <a:rPr lang="en-US" b="1" dirty="0"/>
              <a:t>for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in tuple1:    </a:t>
            </a:r>
          </a:p>
          <a:p>
            <a:pPr marL="0" indent="0">
              <a:buNone/>
            </a:pPr>
            <a:r>
              <a:rPr lang="en-US" dirty="0"/>
              <a:t>    print("tuple1[%d] = %s"%(count, </a:t>
            </a:r>
            <a:r>
              <a:rPr lang="en-US" dirty="0" err="1"/>
              <a:t>i</a:t>
            </a:r>
            <a:r>
              <a:rPr lang="en-US" dirty="0"/>
              <a:t>))   </a:t>
            </a:r>
          </a:p>
          <a:p>
            <a:pPr marL="0" indent="0">
              <a:buNone/>
            </a:pPr>
            <a:r>
              <a:rPr lang="en-US" dirty="0"/>
              <a:t>    count = count+1  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481959" y="2333685"/>
            <a:ext cx="50802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Enter the tuple elements ...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123456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('1', '2', '3', '4', '5', '6')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tuple1[0] = 1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tuple1[1] = 2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tuple1[2] = 3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tuple1[3] = 4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tuple1[4] = 5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tuple1[5] = 6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60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indexing and slicing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indexing and slicing in the tuple are similar to lists. The indexing in the tuple starts from 0 and goes to length(tuple) - 1.</a:t>
            </a:r>
          </a:p>
          <a:p>
            <a:r>
              <a:rPr lang="en-US" dirty="0"/>
              <a:t>The items in the tuple can be accessed by using the index [] operator. </a:t>
            </a:r>
          </a:p>
          <a:p>
            <a:r>
              <a:rPr lang="en-US" dirty="0"/>
              <a:t>Python also allows us to use the colon operator to access multiple items in the tuple.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443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806" t="17411" r="39424" b="19017"/>
          <a:stretch/>
        </p:blipFill>
        <p:spPr>
          <a:xfrm>
            <a:off x="418012" y="365125"/>
            <a:ext cx="10424160" cy="583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619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tuple = (1,2,3,4,5,6,7)  </a:t>
            </a:r>
          </a:p>
          <a:p>
            <a:pPr marL="0" indent="0">
              <a:buNone/>
            </a:pPr>
            <a:r>
              <a:rPr lang="en-US" dirty="0"/>
              <a:t>#element 1 to end  </a:t>
            </a:r>
          </a:p>
          <a:p>
            <a:pPr marL="0" indent="0">
              <a:buNone/>
            </a:pPr>
            <a:r>
              <a:rPr lang="en-US" dirty="0"/>
              <a:t>print(tuple[1:])  </a:t>
            </a:r>
          </a:p>
          <a:p>
            <a:pPr marL="0" indent="0">
              <a:buNone/>
            </a:pPr>
            <a:r>
              <a:rPr lang="en-US" dirty="0"/>
              <a:t>#element 0 to 3 element   </a:t>
            </a:r>
          </a:p>
          <a:p>
            <a:pPr marL="0" indent="0">
              <a:buNone/>
            </a:pPr>
            <a:r>
              <a:rPr lang="en-US" dirty="0"/>
              <a:t>print(tuple[:4])  </a:t>
            </a:r>
          </a:p>
          <a:p>
            <a:pPr marL="0" indent="0">
              <a:buNone/>
            </a:pPr>
            <a:r>
              <a:rPr lang="en-US" dirty="0"/>
              <a:t>#element 1 to 4 element  </a:t>
            </a:r>
          </a:p>
          <a:p>
            <a:pPr marL="0" indent="0">
              <a:buNone/>
            </a:pPr>
            <a:r>
              <a:rPr lang="en-US" dirty="0"/>
              <a:t>print(tuple[1:5])   </a:t>
            </a:r>
          </a:p>
          <a:p>
            <a:pPr marL="0" indent="0">
              <a:buNone/>
            </a:pPr>
            <a:r>
              <a:rPr lang="en-US" dirty="0"/>
              <a:t># element 0 to 6 and take step of 2  </a:t>
            </a:r>
          </a:p>
          <a:p>
            <a:r>
              <a:rPr lang="en-US" dirty="0"/>
              <a:t>print(tuple[0:6:2])  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883747" y="2567765"/>
            <a:ext cx="307488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(2, 3, 4, 5, 6, 7)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(1, 2, 3, 4)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(1, 2, 3, 4)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(1, 3, 5)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760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tuple1 = (1, 2, 3, 4, 5)  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(tuple1[-1])  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(tuple1[-4])  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(tuple1[-3:-1])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(tuple1[:-1])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(tuple1[-2:])  </a:t>
            </a:r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859420" y="2222773"/>
            <a:ext cx="2667718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5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2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(3, 4)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(1, 2, 3, 4)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(4, 5)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9171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Tuple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Unlike lists, the tuple items cannot be deleted by using the </a:t>
            </a:r>
            <a:r>
              <a:rPr lang="en-US" b="1" dirty="0"/>
              <a:t>del</a:t>
            </a:r>
            <a:r>
              <a:rPr lang="en-US" dirty="0"/>
              <a:t> keyword as tuples are immutable. </a:t>
            </a:r>
          </a:p>
          <a:p>
            <a:r>
              <a:rPr lang="en-US" dirty="0"/>
              <a:t>To delete an entire tuple, we can use the </a:t>
            </a:r>
            <a:r>
              <a:rPr lang="en-US" b="1" dirty="0"/>
              <a:t>del</a:t>
            </a:r>
            <a:r>
              <a:rPr lang="en-US" dirty="0"/>
              <a:t> keyword with the tuple name</a:t>
            </a:r>
          </a:p>
          <a:p>
            <a:pPr marL="0" indent="0">
              <a:buNone/>
            </a:pPr>
            <a:r>
              <a:rPr lang="fr-FR" dirty="0"/>
              <a:t>tuple1 = (1, 2, 3, 4, 5, 6)  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(tuple1)    </a:t>
            </a:r>
          </a:p>
          <a:p>
            <a:pPr marL="0" indent="0">
              <a:buNone/>
            </a:pPr>
            <a:r>
              <a:rPr lang="fr-FR" dirty="0" err="1"/>
              <a:t>del</a:t>
            </a:r>
            <a:r>
              <a:rPr lang="fr-FR" dirty="0"/>
              <a:t> tuple1[0]  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(tuple1)    </a:t>
            </a:r>
          </a:p>
          <a:p>
            <a:pPr marL="0" indent="0">
              <a:buNone/>
            </a:pPr>
            <a:r>
              <a:rPr lang="fr-FR" dirty="0" err="1"/>
              <a:t>del</a:t>
            </a:r>
            <a:r>
              <a:rPr lang="fr-FR" dirty="0"/>
              <a:t> tuple1    </a:t>
            </a:r>
          </a:p>
          <a:p>
            <a:pPr marL="0" indent="0">
              <a:buNone/>
            </a:pPr>
            <a:r>
              <a:rPr lang="fr-FR" dirty="0" err="1"/>
              <a:t>print</a:t>
            </a:r>
            <a:r>
              <a:rPr lang="fr-FR" dirty="0"/>
              <a:t>(tuple1)    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150454" y="3337975"/>
            <a:ext cx="747031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(1, 2, 3, 4, 5, 6)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Traceback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 (most recent call last):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File "tuple.py",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line 4, in &lt;module&gt; print(tuple1)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NameError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: name 'tuple1' is not defined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9807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308" t="14910" r="26976" b="5447"/>
          <a:stretch/>
        </p:blipFill>
        <p:spPr>
          <a:xfrm>
            <a:off x="0" y="0"/>
            <a:ext cx="12192000" cy="668818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7125" y="365125"/>
            <a:ext cx="18838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333333"/>
                </a:solidFill>
                <a:latin typeface="inter-regular"/>
              </a:rPr>
              <a:t> t = (1, 2, 3, 4, 5)</a:t>
            </a:r>
          </a:p>
          <a:p>
            <a:r>
              <a:rPr lang="fr-FR" dirty="0">
                <a:solidFill>
                  <a:srgbClr val="333333"/>
                </a:solidFill>
                <a:latin typeface="inter-regular"/>
              </a:rPr>
              <a:t>t1 = (6, 7, 8, 9)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173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2224" t="32588" r="27477" b="830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71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1566</Words>
  <Application>Microsoft Office PowerPoint</Application>
  <PresentationFormat>Widescreen</PresentationFormat>
  <Paragraphs>234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Arial Unicode MS</vt:lpstr>
      <vt:lpstr>Calibri</vt:lpstr>
      <vt:lpstr>Calibri Light</vt:lpstr>
      <vt:lpstr>Cambria</vt:lpstr>
      <vt:lpstr>inter-regular</vt:lpstr>
      <vt:lpstr>Symbol</vt:lpstr>
      <vt:lpstr>Times New Roman</vt:lpstr>
      <vt:lpstr>Wingdings</vt:lpstr>
      <vt:lpstr>Office Theme</vt:lpstr>
      <vt:lpstr>Unit-2</vt:lpstr>
      <vt:lpstr>VALUES AND DATA TYPES</vt:lpstr>
      <vt:lpstr>VALUES AND DATA TYPES</vt:lpstr>
      <vt:lpstr>NUMBERS</vt:lpstr>
      <vt:lpstr>PowerPoint Presentation</vt:lpstr>
      <vt:lpstr>SEQUENCE</vt:lpstr>
      <vt:lpstr>STRINGS</vt:lpstr>
      <vt:lpstr>STRINGS</vt:lpstr>
      <vt:lpstr>PowerPoint Presentation</vt:lpstr>
      <vt:lpstr>PowerPoint Presentation</vt:lpstr>
      <vt:lpstr>PowerPoint Presentation</vt:lpstr>
      <vt:lpstr>LISTS</vt:lpstr>
      <vt:lpstr>PowerPoint Presentation</vt:lpstr>
      <vt:lpstr>Characteristics of Lists </vt:lpstr>
      <vt:lpstr>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Updating List values </vt:lpstr>
      <vt:lpstr> </vt:lpstr>
      <vt:lpstr>TUPLES</vt:lpstr>
      <vt:lpstr>TUPLES</vt:lpstr>
      <vt:lpstr>PowerPoint Presentation</vt:lpstr>
      <vt:lpstr>PowerPoint Presentation</vt:lpstr>
      <vt:lpstr>PowerPoint Presentation</vt:lpstr>
      <vt:lpstr>PowerPoint Presentation</vt:lpstr>
      <vt:lpstr>Tuple indexing and slicing </vt:lpstr>
      <vt:lpstr>PowerPoint Presentation</vt:lpstr>
      <vt:lpstr>PowerPoint Presentation</vt:lpstr>
      <vt:lpstr>PowerPoint Presentation</vt:lpstr>
      <vt:lpstr>Deleting Tuple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PRABU KANNA GOVINDARAJAN</dc:creator>
  <cp:lastModifiedBy>PRABU KANNA GOVINDARAJAN</cp:lastModifiedBy>
  <cp:revision>1</cp:revision>
  <dcterms:created xsi:type="dcterms:W3CDTF">2025-09-15T05:07:10Z</dcterms:created>
  <dcterms:modified xsi:type="dcterms:W3CDTF">2025-09-15T05:07:10Z</dcterms:modified>
</cp:coreProperties>
</file>