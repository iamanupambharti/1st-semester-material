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509" r:id="rId2"/>
    <p:sldId id="510" r:id="rId3"/>
    <p:sldId id="511" r:id="rId4"/>
    <p:sldId id="512" r:id="rId5"/>
    <p:sldId id="513" r:id="rId6"/>
    <p:sldId id="514" r:id="rId7"/>
    <p:sldId id="515" r:id="rId8"/>
    <p:sldId id="516" r:id="rId9"/>
    <p:sldId id="517" r:id="rId10"/>
    <p:sldId id="518" r:id="rId11"/>
    <p:sldId id="519" r:id="rId12"/>
    <p:sldId id="520" r:id="rId13"/>
    <p:sldId id="521" r:id="rId14"/>
    <p:sldId id="522" r:id="rId15"/>
    <p:sldId id="523" r:id="rId16"/>
    <p:sldId id="524" r:id="rId17"/>
    <p:sldId id="525" r:id="rId18"/>
    <p:sldId id="526" r:id="rId19"/>
    <p:sldId id="527" r:id="rId20"/>
    <p:sldId id="528" r:id="rId21"/>
    <p:sldId id="529" r:id="rId22"/>
    <p:sldId id="530" r:id="rId23"/>
    <p:sldId id="531" r:id="rId24"/>
    <p:sldId id="532" r:id="rId25"/>
    <p:sldId id="533" r:id="rId26"/>
    <p:sldId id="534" r:id="rId27"/>
    <p:sldId id="535" r:id="rId28"/>
    <p:sldId id="536" r:id="rId29"/>
    <p:sldId id="53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A9C2A-1728-D011-234B-DEB4E18681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A08B234-BAEC-9609-A413-C23588FE6F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CC58CA-E925-12A5-5565-B5C469B8EB19}"/>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5" name="Footer Placeholder 4">
            <a:extLst>
              <a:ext uri="{FF2B5EF4-FFF2-40B4-BE49-F238E27FC236}">
                <a16:creationId xmlns:a16="http://schemas.microsoft.com/office/drawing/2014/main" id="{BBBCA2F9-9872-BE65-0D2D-785277AF5B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F8D508-7A98-6E16-43B1-BA6124EA555E}"/>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3634102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3EAAD-17F7-D2E3-1512-49A1970CE0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37352C-D1EF-F3DF-F348-9981D8325B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DFA274-4E64-4712-CE4B-D58443199C1F}"/>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5" name="Footer Placeholder 4">
            <a:extLst>
              <a:ext uri="{FF2B5EF4-FFF2-40B4-BE49-F238E27FC236}">
                <a16:creationId xmlns:a16="http://schemas.microsoft.com/office/drawing/2014/main" id="{97DAC315-6A0E-5C96-7089-848F7B5FC7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DD183D-7EF6-F8BE-72FE-6FF47B358452}"/>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399662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7AB79-F75F-5FFE-1753-631DAB2A27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B9D273-0DDF-500C-2666-BC8EBB7CD2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287C33-1394-5334-5E1F-D62F44EA709B}"/>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5" name="Footer Placeholder 4">
            <a:extLst>
              <a:ext uri="{FF2B5EF4-FFF2-40B4-BE49-F238E27FC236}">
                <a16:creationId xmlns:a16="http://schemas.microsoft.com/office/drawing/2014/main" id="{6758045A-DAC0-C8E9-E250-FE87B4F1B1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DEB61E-86CE-9DD8-1050-FC69F5685F58}"/>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2502011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D0BA-DA43-6742-14F4-3D952E88A8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EEC980-91C8-A087-A831-BEAFE3F39C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95CF10-041B-820D-9F36-99AE8B9511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49F75E6-13CB-4FB1-2A3B-7A86CABFCE0F}"/>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6" name="Footer Placeholder 5">
            <a:extLst>
              <a:ext uri="{FF2B5EF4-FFF2-40B4-BE49-F238E27FC236}">
                <a16:creationId xmlns:a16="http://schemas.microsoft.com/office/drawing/2014/main" id="{81F764F1-1CD8-8108-2AB4-F329F2B8FE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C8E727-435D-2B7F-338E-6CE50A9ADCCA}"/>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2235957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64D94-6387-2D62-82D3-52A259214A0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6E2121-A839-13D8-D5C6-BB396F4399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E9C813-756A-0ADC-F6C8-D69F59F5FE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1CE06B-A9B5-3052-0504-828D3C3633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0276C6-66BA-B905-6A32-D8612B4985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7DCE4D-7AB9-C131-FF53-B1D4A8247BF8}"/>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8" name="Footer Placeholder 7">
            <a:extLst>
              <a:ext uri="{FF2B5EF4-FFF2-40B4-BE49-F238E27FC236}">
                <a16:creationId xmlns:a16="http://schemas.microsoft.com/office/drawing/2014/main" id="{279CBA77-7F89-F79D-F454-20C6829C731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E1D297-6EDB-2928-079E-3B2F92F664C1}"/>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4158420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2F3A7-32C5-7415-60B2-E019C99DE2D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3D47FE-B695-2A41-BEE5-0F3567DD8B08}"/>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4" name="Footer Placeholder 3">
            <a:extLst>
              <a:ext uri="{FF2B5EF4-FFF2-40B4-BE49-F238E27FC236}">
                <a16:creationId xmlns:a16="http://schemas.microsoft.com/office/drawing/2014/main" id="{671F92E1-764A-578F-7460-7E69B8E30D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54CFAB-FC4D-3501-3459-7123C1ED78E7}"/>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2743076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66F2F3-9643-CB3D-CC7B-25E2DC195AAA}"/>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3" name="Footer Placeholder 2">
            <a:extLst>
              <a:ext uri="{FF2B5EF4-FFF2-40B4-BE49-F238E27FC236}">
                <a16:creationId xmlns:a16="http://schemas.microsoft.com/office/drawing/2014/main" id="{B93EA80F-78E1-E0D9-4EED-9B92AEF810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AD27B8-AE32-0612-7D2C-E2BCA28B0776}"/>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2186964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B5BBE-40E4-04BE-9C80-FD1B73474E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0F7EDE-B92E-643B-018E-696FC52517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79015C-2FD8-25E8-A345-69443032E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1D890F-D764-EE5D-562D-5FBD316B7A1D}"/>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6" name="Footer Placeholder 5">
            <a:extLst>
              <a:ext uri="{FF2B5EF4-FFF2-40B4-BE49-F238E27FC236}">
                <a16:creationId xmlns:a16="http://schemas.microsoft.com/office/drawing/2014/main" id="{3BDF00EC-0378-7108-BFD8-4B3E3017F3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5ECEA9-7864-D31B-4B4C-23A623EF707A}"/>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116624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FDDCA-15A1-6E8A-5983-68B7600DEC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0BFB34-F46A-C66E-898B-5FAB1B5C20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B6A2DC4-31AA-6CD1-6EA1-E57FA2D2FF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5625C-9F6B-74CB-E083-1C49213C195C}"/>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6" name="Footer Placeholder 5">
            <a:extLst>
              <a:ext uri="{FF2B5EF4-FFF2-40B4-BE49-F238E27FC236}">
                <a16:creationId xmlns:a16="http://schemas.microsoft.com/office/drawing/2014/main" id="{850F61AF-F417-ABFF-FC0F-D0613C74F6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4BA57B-01EE-E83D-8536-D541BB9EB47B}"/>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1694803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DF7BE-6359-C851-119B-ED1958C312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818C7F-7DF4-3DB9-A289-DF12F4304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48F1DD-4222-76D3-E97F-0C0B71AA3A2F}"/>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5" name="Footer Placeholder 4">
            <a:extLst>
              <a:ext uri="{FF2B5EF4-FFF2-40B4-BE49-F238E27FC236}">
                <a16:creationId xmlns:a16="http://schemas.microsoft.com/office/drawing/2014/main" id="{33726B59-E93B-DDC0-8194-AEB8C6E4B1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5B3B78-166A-A470-4C95-0E41A71E7991}"/>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928107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A57A90-9D75-FDE0-8C05-0177DFE2CA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D811F7B-F8F7-BAA3-E2FD-B5EB67CA94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B5F94E-6656-025A-51F4-B3E188B989D7}"/>
              </a:ext>
            </a:extLst>
          </p:cNvPr>
          <p:cNvSpPr>
            <a:spLocks noGrp="1"/>
          </p:cNvSpPr>
          <p:nvPr>
            <p:ph type="dt" sz="half" idx="10"/>
          </p:nvPr>
        </p:nvSpPr>
        <p:spPr/>
        <p:txBody>
          <a:bodyPr/>
          <a:lstStyle/>
          <a:p>
            <a:fld id="{77C8637D-5506-4544-9B3E-D7ED49D37AD0}" type="datetimeFigureOut">
              <a:rPr lang="en-IN" smtClean="0"/>
              <a:t>03-10-2025</a:t>
            </a:fld>
            <a:endParaRPr lang="en-IN"/>
          </a:p>
        </p:txBody>
      </p:sp>
      <p:sp>
        <p:nvSpPr>
          <p:cNvPr id="5" name="Footer Placeholder 4">
            <a:extLst>
              <a:ext uri="{FF2B5EF4-FFF2-40B4-BE49-F238E27FC236}">
                <a16:creationId xmlns:a16="http://schemas.microsoft.com/office/drawing/2014/main" id="{B77BD6A0-71B2-7109-36EA-CB77DE3726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C52844-9CCB-B909-4F6F-4868E495F9F8}"/>
              </a:ext>
            </a:extLst>
          </p:cNvPr>
          <p:cNvSpPr>
            <a:spLocks noGrp="1"/>
          </p:cNvSpPr>
          <p:nvPr>
            <p:ph type="sldNum" sz="quarter" idx="12"/>
          </p:nvPr>
        </p:nvSpPr>
        <p:spPr/>
        <p:txBody>
          <a:bodyPr/>
          <a:lstStyle/>
          <a:p>
            <a:fld id="{7C4A4648-CA98-4A48-84C6-05DE2D120F64}" type="slidenum">
              <a:rPr lang="en-IN" smtClean="0"/>
              <a:t>‹#›</a:t>
            </a:fld>
            <a:endParaRPr lang="en-IN"/>
          </a:p>
        </p:txBody>
      </p:sp>
    </p:spTree>
    <p:extLst>
      <p:ext uri="{BB962C8B-B14F-4D97-AF65-F5344CB8AC3E}">
        <p14:creationId xmlns:p14="http://schemas.microsoft.com/office/powerpoint/2010/main" val="1822393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A0BE87-BD10-18A8-233A-7E17FF7A93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ACD68F-68D7-5379-E2C0-BE23971E59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11C2C7-BD81-6C21-E140-FB3B93E608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8637D-5506-4544-9B3E-D7ED49D37AD0}" type="datetimeFigureOut">
              <a:rPr lang="en-IN" smtClean="0"/>
              <a:t>03-10-2025</a:t>
            </a:fld>
            <a:endParaRPr lang="en-IN"/>
          </a:p>
        </p:txBody>
      </p:sp>
      <p:sp>
        <p:nvSpPr>
          <p:cNvPr id="5" name="Footer Placeholder 4">
            <a:extLst>
              <a:ext uri="{FF2B5EF4-FFF2-40B4-BE49-F238E27FC236}">
                <a16:creationId xmlns:a16="http://schemas.microsoft.com/office/drawing/2014/main" id="{3415F6C0-72D1-370A-70EE-FE97483E89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7C31C63-CD54-ABCB-D4B7-AD8C066A42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4A4648-CA98-4A48-84C6-05DE2D120F64}" type="slidenum">
              <a:rPr lang="en-IN" smtClean="0"/>
              <a:t>‹#›</a:t>
            </a:fld>
            <a:endParaRPr lang="en-IN"/>
          </a:p>
        </p:txBody>
      </p:sp>
    </p:spTree>
    <p:extLst>
      <p:ext uri="{BB962C8B-B14F-4D97-AF65-F5344CB8AC3E}">
        <p14:creationId xmlns:p14="http://schemas.microsoft.com/office/powerpoint/2010/main" val="1553679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72928"/>
            <a:ext cx="10515600" cy="4351338"/>
          </a:xfrm>
        </p:spPr>
        <p:txBody>
          <a:bodyPr/>
          <a:lstStyle/>
          <a:p>
            <a:pPr marL="0" indent="0" algn="just">
              <a:buNone/>
            </a:pPr>
            <a:r>
              <a:rPr lang="en-US" dirty="0"/>
              <a:t>Boolean values and operators, conditional (if), alternative (if-else), chained conditional (if-</a:t>
            </a:r>
            <a:r>
              <a:rPr lang="en-US" dirty="0" err="1"/>
              <a:t>elif</a:t>
            </a:r>
            <a:r>
              <a:rPr lang="en-US" dirty="0"/>
              <a:t>-else); Iteration: state, while, for, break, continue, pass</a:t>
            </a:r>
          </a:p>
          <a:p>
            <a:pPr marL="0" indent="0" algn="just">
              <a:buNone/>
            </a:pPr>
            <a:endParaRPr lang="en-US" dirty="0"/>
          </a:p>
          <a:p>
            <a:pPr marL="0" indent="0" algn="just">
              <a:buNone/>
            </a:pPr>
            <a:endParaRPr lang="en-US" dirty="0"/>
          </a:p>
        </p:txBody>
      </p:sp>
      <p:sp>
        <p:nvSpPr>
          <p:cNvPr id="5" name="Title 4"/>
          <p:cNvSpPr>
            <a:spLocks noGrp="1"/>
          </p:cNvSpPr>
          <p:nvPr>
            <p:ph type="title"/>
          </p:nvPr>
        </p:nvSpPr>
        <p:spPr/>
        <p:txBody>
          <a:bodyPr/>
          <a:lstStyle/>
          <a:p>
            <a:r>
              <a:rPr lang="en-US" dirty="0"/>
              <a:t>Conditionals</a:t>
            </a:r>
            <a:br>
              <a:rPr lang="en-US" dirty="0"/>
            </a:br>
            <a:endParaRPr lang="en-US" dirty="0"/>
          </a:p>
        </p:txBody>
      </p:sp>
      <p:pic>
        <p:nvPicPr>
          <p:cNvPr id="1028" name="Picture 4" descr="python tutorial - Python If Else | Python If Else Statements - By Microsoft  Award MVP - learn python - python programming - Learn in 30sec | wikitech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6688" y="2708070"/>
            <a:ext cx="6295324" cy="3861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770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Boolean</a:t>
            </a:r>
          </a:p>
        </p:txBody>
      </p:sp>
      <p:sp>
        <p:nvSpPr>
          <p:cNvPr id="16" name="Rectangle 15"/>
          <p:cNvSpPr/>
          <p:nvPr/>
        </p:nvSpPr>
        <p:spPr>
          <a:xfrm>
            <a:off x="1000835" y="2054115"/>
            <a:ext cx="10163033" cy="1938992"/>
          </a:xfrm>
          <a:prstGeom prst="rect">
            <a:avLst/>
          </a:prstGeom>
        </p:spPr>
        <p:txBody>
          <a:bodyPr wrap="square">
            <a:spAutoFit/>
          </a:bodyPr>
          <a:lstStyle/>
          <a:p>
            <a:pPr marR="0" lvl="0">
              <a:lnSpc>
                <a:spcPct val="75000"/>
              </a:lnSpc>
              <a:spcBef>
                <a:spcPts val="0"/>
              </a:spcBef>
              <a:spcAft>
                <a:spcPts val="0"/>
              </a:spcAft>
              <a:tabLst>
                <a:tab pos="457200" algn="l"/>
              </a:tabLst>
            </a:pPr>
            <a:r>
              <a:rPr lang="en-US" sz="2400" dirty="0">
                <a:latin typeface="Cambria" panose="02040503050406030204" pitchFamily="18" charset="0"/>
                <a:ea typeface="Cambria" panose="02040503050406030204" pitchFamily="18" charset="0"/>
                <a:cs typeface="Cambria" panose="02040503050406030204" pitchFamily="18" charset="0"/>
              </a:rPr>
              <a:t>Boolean data type have two values. They are 0 and 1.</a:t>
            </a:r>
          </a:p>
          <a:p>
            <a:pPr marR="0" lvl="0">
              <a:lnSpc>
                <a:spcPct val="75000"/>
              </a:lnSpc>
              <a:spcBef>
                <a:spcPts val="0"/>
              </a:spcBef>
              <a:spcAft>
                <a:spcPts val="0"/>
              </a:spcAft>
              <a:tabLst>
                <a:tab pos="457200" algn="l"/>
              </a:tabLst>
            </a:pPr>
            <a:endParaRPr lang="en-US" sz="2400" dirty="0">
              <a:latin typeface="Times New Roman" panose="02020603050405020304" pitchFamily="18" charset="0"/>
              <a:ea typeface="Times New Roman" panose="02020603050405020304" pitchFamily="18" charset="0"/>
            </a:endParaRPr>
          </a:p>
          <a:p>
            <a:pPr>
              <a:lnSpc>
                <a:spcPts val="280"/>
              </a:lnSpc>
            </a:pPr>
            <a:r>
              <a:rPr lang="en-US" sz="4400" baseline="30000" dirty="0">
                <a:latin typeface="Wingdings" panose="05000000000000000000" pitchFamily="2" charset="2"/>
                <a:ea typeface="Wingdings" panose="05000000000000000000" pitchFamily="2" charset="2"/>
                <a:cs typeface="Wingdings" panose="05000000000000000000" pitchFamily="2" charset="2"/>
              </a:rPr>
              <a:t> </a:t>
            </a:r>
            <a:endParaRPr lang="en-US" sz="2400" dirty="0">
              <a:latin typeface="Times New Roman" panose="02020603050405020304" pitchFamily="18" charset="0"/>
              <a:ea typeface="Times New Roman" panose="02020603050405020304" pitchFamily="18" charset="0"/>
            </a:endParaRPr>
          </a:p>
          <a:p>
            <a:pPr marL="342900" marR="0" lvl="0" indent="-342900">
              <a:lnSpc>
                <a:spcPct val="75000"/>
              </a:lnSpc>
              <a:spcBef>
                <a:spcPts val="0"/>
              </a:spcBef>
              <a:spcAft>
                <a:spcPts val="0"/>
              </a:spcAft>
              <a:buFont typeface="Wingdings" panose="05000000000000000000" pitchFamily="2" charset="2"/>
              <a:buChar char=""/>
              <a:tabLst>
                <a:tab pos="457200" algn="l"/>
              </a:tabLst>
            </a:pPr>
            <a:r>
              <a:rPr lang="en-US" dirty="0">
                <a:latin typeface="Cambria" panose="02040503050406030204" pitchFamily="18" charset="0"/>
                <a:ea typeface="Cambria" panose="02040503050406030204" pitchFamily="18" charset="0"/>
                <a:cs typeface="Cambria" panose="02040503050406030204" pitchFamily="18" charset="0"/>
              </a:rPr>
              <a:t>0 represents False</a:t>
            </a:r>
          </a:p>
          <a:p>
            <a:pPr marR="0" lvl="0">
              <a:lnSpc>
                <a:spcPct val="75000"/>
              </a:lnSpc>
              <a:spcBef>
                <a:spcPts val="0"/>
              </a:spcBef>
              <a:spcAft>
                <a:spcPts val="0"/>
              </a:spcAft>
              <a:tabLst>
                <a:tab pos="457200" algn="l"/>
              </a:tabLst>
            </a:pPr>
            <a:endParaRPr lang="en-US" sz="2400" dirty="0">
              <a:latin typeface="Times New Roman" panose="02020603050405020304" pitchFamily="18" charset="0"/>
              <a:ea typeface="Times New Roman" panose="02020603050405020304" pitchFamily="18" charset="0"/>
            </a:endParaRPr>
          </a:p>
          <a:p>
            <a:pPr>
              <a:lnSpc>
                <a:spcPts val="250"/>
              </a:lnSpc>
            </a:pPr>
            <a:r>
              <a:rPr lang="en-US" sz="4000" baseline="30000" dirty="0">
                <a:latin typeface="Wingdings" panose="05000000000000000000" pitchFamily="2" charset="2"/>
                <a:ea typeface="Wingdings" panose="05000000000000000000" pitchFamily="2" charset="2"/>
                <a:cs typeface="Wingdings" panose="05000000000000000000" pitchFamily="2" charset="2"/>
              </a:rPr>
              <a:t> </a:t>
            </a:r>
            <a:endParaRPr lang="en-US" sz="2400" dirty="0">
              <a:latin typeface="Times New Roman" panose="02020603050405020304" pitchFamily="18" charset="0"/>
              <a:ea typeface="Times New Roman" panose="02020603050405020304" pitchFamily="18" charset="0"/>
            </a:endParaRPr>
          </a:p>
          <a:p>
            <a:pPr marL="342900" marR="0" lvl="0" indent="-342900">
              <a:lnSpc>
                <a:spcPct val="75000"/>
              </a:lnSpc>
              <a:spcBef>
                <a:spcPts val="0"/>
              </a:spcBef>
              <a:spcAft>
                <a:spcPts val="0"/>
              </a:spcAft>
              <a:buFont typeface="Wingdings" panose="05000000000000000000" pitchFamily="2" charset="2"/>
              <a:buChar char=""/>
              <a:tabLst>
                <a:tab pos="457200" algn="l"/>
              </a:tabLst>
            </a:pPr>
            <a:r>
              <a:rPr lang="en-US" dirty="0">
                <a:latin typeface="Cambria" panose="02040503050406030204" pitchFamily="18" charset="0"/>
                <a:ea typeface="Cambria" panose="02040503050406030204" pitchFamily="18" charset="0"/>
                <a:cs typeface="Cambria" panose="02040503050406030204" pitchFamily="18" charset="0"/>
              </a:rPr>
              <a:t>1 represents True</a:t>
            </a:r>
          </a:p>
          <a:p>
            <a:pPr marR="0" lvl="0">
              <a:lnSpc>
                <a:spcPct val="75000"/>
              </a:lnSpc>
              <a:spcBef>
                <a:spcPts val="0"/>
              </a:spcBef>
              <a:spcAft>
                <a:spcPts val="0"/>
              </a:spcAft>
              <a:tabLst>
                <a:tab pos="457200" algn="l"/>
              </a:tabLst>
            </a:pPr>
            <a:endParaRPr lang="en-US" sz="2400" dirty="0">
              <a:latin typeface="Times New Roman" panose="02020603050405020304" pitchFamily="18" charset="0"/>
              <a:ea typeface="Times New Roman" panose="02020603050405020304" pitchFamily="18" charset="0"/>
            </a:endParaRPr>
          </a:p>
          <a:p>
            <a:pPr>
              <a:lnSpc>
                <a:spcPts val="250"/>
              </a:lnSpc>
            </a:pPr>
            <a:r>
              <a:rPr lang="en-US" sz="4000" baseline="30000" dirty="0">
                <a:latin typeface="Wingdings" panose="05000000000000000000" pitchFamily="2" charset="2"/>
                <a:ea typeface="Wingdings" panose="05000000000000000000" pitchFamily="2" charset="2"/>
                <a:cs typeface="Wingdings" panose="05000000000000000000" pitchFamily="2" charset="2"/>
              </a:rPr>
              <a:t> </a:t>
            </a:r>
            <a:endParaRPr lang="en-US" sz="2400" dirty="0">
              <a:latin typeface="Times New Roman" panose="02020603050405020304" pitchFamily="18" charset="0"/>
              <a:ea typeface="Times New Roman" panose="02020603050405020304" pitchFamily="18" charset="0"/>
            </a:endParaRPr>
          </a:p>
          <a:p>
            <a:pPr marL="342900" marR="0" lvl="0" indent="-342900">
              <a:lnSpc>
                <a:spcPct val="75000"/>
              </a:lnSpc>
              <a:spcBef>
                <a:spcPts val="0"/>
              </a:spcBef>
              <a:spcAft>
                <a:spcPts val="0"/>
              </a:spcAft>
              <a:buFont typeface="Wingdings" panose="05000000000000000000" pitchFamily="2" charset="2"/>
              <a:buChar char=""/>
              <a:tabLst>
                <a:tab pos="457200" algn="l"/>
              </a:tabLst>
            </a:pPr>
            <a:r>
              <a:rPr lang="en-US" dirty="0">
                <a:latin typeface="Cambria" panose="02040503050406030204" pitchFamily="18" charset="0"/>
                <a:ea typeface="Cambria" panose="02040503050406030204" pitchFamily="18" charset="0"/>
                <a:cs typeface="Cambria" panose="02040503050406030204" pitchFamily="18" charset="0"/>
              </a:rPr>
              <a:t>True and False are keyword.</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99643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Boolean</a:t>
            </a:r>
            <a:endParaRPr lang="en-IN" dirty="0"/>
          </a:p>
        </p:txBody>
      </p:sp>
      <p:sp>
        <p:nvSpPr>
          <p:cNvPr id="8" name="Rectangle 7"/>
          <p:cNvSpPr/>
          <p:nvPr/>
        </p:nvSpPr>
        <p:spPr>
          <a:xfrm>
            <a:off x="1000835" y="1999613"/>
            <a:ext cx="7324299" cy="3728906"/>
          </a:xfrm>
          <a:prstGeom prst="rect">
            <a:avLst/>
          </a:prstGeom>
        </p:spPr>
        <p:txBody>
          <a:bodyPr wrap="square">
            <a:spAutoFit/>
          </a:bodyPr>
          <a:lstStyle/>
          <a:p>
            <a:pPr marL="63500" marR="0">
              <a:spcBef>
                <a:spcPts val="0"/>
              </a:spcBef>
              <a:spcAft>
                <a:spcPts val="0"/>
              </a:spcAft>
            </a:pPr>
            <a:r>
              <a:rPr lang="en-US" b="1" dirty="0">
                <a:latin typeface="Cambria" panose="02040503050406030204" pitchFamily="18" charset="0"/>
                <a:ea typeface="Cambria" panose="02040503050406030204" pitchFamily="18" charset="0"/>
                <a:cs typeface="Cambria" panose="02040503050406030204" pitchFamily="18" charset="0"/>
              </a:rPr>
              <a:t>Example:</a:t>
            </a:r>
            <a:endParaRPr lang="en-US" sz="1400" dirty="0">
              <a:latin typeface="Times New Roman" panose="02020603050405020304" pitchFamily="18" charset="0"/>
              <a:ea typeface="Times New Roman" panose="02020603050405020304" pitchFamily="18" charset="0"/>
            </a:endParaRPr>
          </a:p>
          <a:p>
            <a:pPr>
              <a:lnSpc>
                <a:spcPts val="270"/>
              </a:lnSpc>
            </a:pPr>
            <a:r>
              <a:rPr lang="en-US" sz="1600" dirty="0">
                <a:latin typeface="Times New Roman" panose="02020603050405020304" pitchFamily="18" charset="0"/>
                <a:ea typeface="Times New Roman" panose="02020603050405020304" pitchFamily="18" charset="0"/>
              </a:rPr>
              <a:t> </a:t>
            </a:r>
            <a:endParaRPr lang="en-US" sz="1400" dirty="0">
              <a:latin typeface="Times New Roman" panose="02020603050405020304" pitchFamily="18" charset="0"/>
              <a:ea typeface="Times New Roman" panose="02020603050405020304" pitchFamily="18" charset="0"/>
            </a:endParaRPr>
          </a:p>
          <a:p>
            <a:pPr marL="342900" marR="5867400" lvl="0" indent="-342900">
              <a:lnSpc>
                <a:spcPct val="95000"/>
              </a:lnSpc>
              <a:spcBef>
                <a:spcPts val="0"/>
              </a:spcBef>
              <a:spcAft>
                <a:spcPts val="0"/>
              </a:spcAft>
              <a:buFont typeface="Arial" panose="020B0604020202020204" pitchFamily="34" charset="0"/>
              <a:buChar char="&gt;&gt;&gt;"/>
              <a:tabLst>
                <a:tab pos="395605" algn="l"/>
              </a:tabLst>
            </a:pPr>
            <a:r>
              <a:rPr lang="en-US" dirty="0">
                <a:latin typeface="Cambria" panose="02040503050406030204" pitchFamily="18" charset="0"/>
                <a:ea typeface="Cambria" panose="02040503050406030204" pitchFamily="18" charset="0"/>
                <a:cs typeface="Cambria" panose="02040503050406030204" pitchFamily="18" charset="0"/>
              </a:rPr>
              <a:t>3==5 False</a:t>
            </a:r>
            <a:endParaRPr lang="en-US" sz="1400" dirty="0">
              <a:latin typeface="Times New Roman" panose="02020603050405020304" pitchFamily="18" charset="0"/>
              <a:ea typeface="Times New Roman" panose="02020603050405020304" pitchFamily="18" charset="0"/>
            </a:endParaRPr>
          </a:p>
          <a:p>
            <a:pPr>
              <a:lnSpc>
                <a:spcPts val="255"/>
              </a:lnSpc>
            </a:pPr>
            <a:r>
              <a:rPr lang="en-US" dirty="0">
                <a:latin typeface="Cambria" panose="02040503050406030204" pitchFamily="18" charset="0"/>
                <a:ea typeface="Cambria" panose="02040503050406030204" pitchFamily="18" charset="0"/>
                <a:cs typeface="Cambria" panose="02040503050406030204" pitchFamily="18" charset="0"/>
              </a:rPr>
              <a:t> </a:t>
            </a:r>
            <a:endParaRPr lang="en-US" sz="1400" dirty="0">
              <a:latin typeface="Times New Roman" panose="02020603050405020304" pitchFamily="18" charset="0"/>
              <a:ea typeface="Times New Roman" panose="02020603050405020304" pitchFamily="18" charset="0"/>
            </a:endParaRPr>
          </a:p>
          <a:p>
            <a:pPr marL="342900" marR="5867400" lvl="0" indent="-342900">
              <a:lnSpc>
                <a:spcPct val="95000"/>
              </a:lnSpc>
              <a:spcBef>
                <a:spcPts val="0"/>
              </a:spcBef>
              <a:spcAft>
                <a:spcPts val="0"/>
              </a:spcAft>
              <a:buFont typeface="Arial" panose="020B0604020202020204" pitchFamily="34" charset="0"/>
              <a:buChar char="&gt;&gt;&gt;"/>
              <a:tabLst>
                <a:tab pos="395605" algn="l"/>
              </a:tabLst>
            </a:pPr>
            <a:r>
              <a:rPr lang="en-US" dirty="0">
                <a:latin typeface="Cambria" panose="02040503050406030204" pitchFamily="18" charset="0"/>
                <a:ea typeface="Cambria" panose="02040503050406030204" pitchFamily="18" charset="0"/>
                <a:cs typeface="Cambria" panose="02040503050406030204" pitchFamily="18" charset="0"/>
              </a:rPr>
              <a:t>6==6 True</a:t>
            </a:r>
            <a:endParaRPr lang="en-US" sz="1400" dirty="0">
              <a:latin typeface="Times New Roman" panose="02020603050405020304" pitchFamily="18" charset="0"/>
              <a:ea typeface="Times New Roman" panose="02020603050405020304" pitchFamily="18" charset="0"/>
            </a:endParaRPr>
          </a:p>
          <a:p>
            <a:pPr>
              <a:lnSpc>
                <a:spcPts val="5"/>
              </a:lnSpc>
            </a:pPr>
            <a:r>
              <a:rPr lang="en-US" dirty="0">
                <a:latin typeface="Cambria" panose="02040503050406030204" pitchFamily="18" charset="0"/>
                <a:ea typeface="Cambria" panose="02040503050406030204" pitchFamily="18" charset="0"/>
                <a:cs typeface="Cambria" panose="02040503050406030204" pitchFamily="18" charset="0"/>
              </a:rPr>
              <a:t> </a:t>
            </a:r>
            <a:endParaRPr lang="en-US" sz="1400" dirty="0">
              <a:latin typeface="Times New Roman" panose="02020603050405020304" pitchFamily="18" charset="0"/>
              <a:ea typeface="Times New Roman" panose="02020603050405020304" pitchFamily="18" charset="0"/>
            </a:endParaRPr>
          </a:p>
          <a:p>
            <a:pPr marL="342900" marR="0" lvl="0" indent="-342900">
              <a:lnSpc>
                <a:spcPct val="99000"/>
              </a:lnSpc>
              <a:spcBef>
                <a:spcPts val="0"/>
              </a:spcBef>
              <a:spcAft>
                <a:spcPts val="0"/>
              </a:spcAft>
              <a:buFont typeface="Arial" panose="020B0604020202020204" pitchFamily="34" charset="0"/>
              <a:buChar char="&gt;&gt;&gt;"/>
              <a:tabLst>
                <a:tab pos="393700" algn="l"/>
              </a:tabLst>
            </a:pPr>
            <a:r>
              <a:rPr lang="en-US" dirty="0" err="1">
                <a:latin typeface="Cambria" panose="02040503050406030204" pitchFamily="18" charset="0"/>
                <a:ea typeface="Cambria" panose="02040503050406030204" pitchFamily="18" charset="0"/>
                <a:cs typeface="Cambria" panose="02040503050406030204" pitchFamily="18" charset="0"/>
              </a:rPr>
              <a:t>True+True</a:t>
            </a:r>
            <a:endParaRPr lang="en-US" sz="1400" dirty="0">
              <a:latin typeface="Times New Roman" panose="02020603050405020304" pitchFamily="18" charset="0"/>
              <a:ea typeface="Times New Roman" panose="02020603050405020304" pitchFamily="18" charset="0"/>
            </a:endParaRPr>
          </a:p>
          <a:p>
            <a:pPr>
              <a:lnSpc>
                <a:spcPts val="15"/>
              </a:lnSpc>
            </a:pPr>
            <a:r>
              <a:rPr lang="en-US" dirty="0">
                <a:latin typeface="Cambria" panose="02040503050406030204" pitchFamily="18" charset="0"/>
                <a:ea typeface="Cambria" panose="02040503050406030204" pitchFamily="18" charset="0"/>
                <a:cs typeface="Cambria" panose="02040503050406030204" pitchFamily="18" charset="0"/>
              </a:rPr>
              <a:t> </a:t>
            </a:r>
            <a:endParaRPr lang="en-US" sz="1400" dirty="0">
              <a:latin typeface="Times New Roman" panose="02020603050405020304" pitchFamily="18" charset="0"/>
              <a:ea typeface="Times New Roman" panose="02020603050405020304" pitchFamily="18" charset="0"/>
            </a:endParaRPr>
          </a:p>
          <a:p>
            <a:pPr marL="63500" marR="0">
              <a:spcBef>
                <a:spcPts val="0"/>
              </a:spcBef>
              <a:spcAft>
                <a:spcPts val="0"/>
              </a:spcAft>
            </a:pPr>
            <a:r>
              <a:rPr lang="en-US" dirty="0">
                <a:latin typeface="Cambria" panose="02040503050406030204" pitchFamily="18" charset="0"/>
                <a:ea typeface="Cambria" panose="02040503050406030204" pitchFamily="18" charset="0"/>
                <a:cs typeface="Cambria" panose="02040503050406030204" pitchFamily="18" charset="0"/>
              </a:rPr>
              <a:t>2</a:t>
            </a:r>
            <a:endParaRPr lang="en-US" sz="1400" dirty="0">
              <a:latin typeface="Times New Roman" panose="02020603050405020304" pitchFamily="18" charset="0"/>
              <a:ea typeface="Times New Roman" panose="02020603050405020304" pitchFamily="18" charset="0"/>
            </a:endParaRPr>
          </a:p>
          <a:p>
            <a:pPr marL="342900" marR="0" lvl="0" indent="-342900">
              <a:lnSpc>
                <a:spcPct val="99000"/>
              </a:lnSpc>
              <a:spcBef>
                <a:spcPts val="0"/>
              </a:spcBef>
              <a:spcAft>
                <a:spcPts val="0"/>
              </a:spcAft>
              <a:buFont typeface="Arial" panose="020B0604020202020204" pitchFamily="34" charset="0"/>
              <a:buChar char="&gt;&gt;&gt;"/>
              <a:tabLst>
                <a:tab pos="393700" algn="l"/>
              </a:tabLst>
            </a:pPr>
            <a:r>
              <a:rPr lang="en-US" dirty="0" err="1">
                <a:latin typeface="Cambria" panose="02040503050406030204" pitchFamily="18" charset="0"/>
                <a:ea typeface="Cambria" panose="02040503050406030204" pitchFamily="18" charset="0"/>
                <a:cs typeface="Cambria" panose="02040503050406030204" pitchFamily="18" charset="0"/>
              </a:rPr>
              <a:t>False+True</a:t>
            </a:r>
            <a:endParaRPr lang="en-US" sz="1400" dirty="0">
              <a:latin typeface="Times New Roman" panose="02020603050405020304" pitchFamily="18" charset="0"/>
              <a:ea typeface="Times New Roman" panose="02020603050405020304" pitchFamily="18" charset="0"/>
            </a:endParaRPr>
          </a:p>
          <a:p>
            <a:pPr marL="63500" marR="0">
              <a:lnSpc>
                <a:spcPct val="99000"/>
              </a:lnSpc>
              <a:spcBef>
                <a:spcPts val="0"/>
              </a:spcBef>
              <a:spcAft>
                <a:spcPts val="0"/>
              </a:spcAft>
            </a:pPr>
            <a:r>
              <a:rPr lang="en-US" dirty="0">
                <a:latin typeface="Cambria" panose="02040503050406030204" pitchFamily="18" charset="0"/>
                <a:ea typeface="Cambria" panose="02040503050406030204" pitchFamily="18" charset="0"/>
                <a:cs typeface="Cambria" panose="02040503050406030204" pitchFamily="18" charset="0"/>
              </a:rPr>
              <a:t>1</a:t>
            </a:r>
            <a:endParaRPr lang="en-US" sz="1400" dirty="0">
              <a:latin typeface="Times New Roman" panose="02020603050405020304" pitchFamily="18" charset="0"/>
              <a:ea typeface="Times New Roman" panose="02020603050405020304" pitchFamily="18" charset="0"/>
            </a:endParaRPr>
          </a:p>
          <a:p>
            <a:pPr>
              <a:lnSpc>
                <a:spcPts val="20"/>
              </a:lnSpc>
            </a:pPr>
            <a:r>
              <a:rPr lang="en-US" dirty="0">
                <a:latin typeface="Cambria" panose="02040503050406030204" pitchFamily="18" charset="0"/>
                <a:ea typeface="Cambria" panose="02040503050406030204" pitchFamily="18" charset="0"/>
                <a:cs typeface="Cambria" panose="02040503050406030204" pitchFamily="18" charset="0"/>
              </a:rPr>
              <a:t>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Arial" panose="020B0604020202020204" pitchFamily="34" charset="0"/>
              <a:buChar char="&gt;&gt;&gt;"/>
              <a:tabLst>
                <a:tab pos="393700" algn="l"/>
              </a:tabLst>
            </a:pPr>
            <a:r>
              <a:rPr lang="en-US" dirty="0">
                <a:latin typeface="Cambria" panose="02040503050406030204" pitchFamily="18" charset="0"/>
                <a:ea typeface="Cambria" panose="02040503050406030204" pitchFamily="18" charset="0"/>
                <a:cs typeface="Cambria" panose="02040503050406030204" pitchFamily="18" charset="0"/>
              </a:rPr>
              <a:t>False*True</a:t>
            </a:r>
            <a:endParaRPr lang="en-US" sz="1400" dirty="0">
              <a:latin typeface="Times New Roman" panose="02020603050405020304" pitchFamily="18" charset="0"/>
              <a:ea typeface="Times New Roman" panose="02020603050405020304" pitchFamily="18" charset="0"/>
            </a:endParaRPr>
          </a:p>
          <a:p>
            <a:pPr marL="63500" marR="0">
              <a:lnSpc>
                <a:spcPct val="99000"/>
              </a:lnSpc>
              <a:spcBef>
                <a:spcPts val="0"/>
              </a:spcBef>
              <a:spcAft>
                <a:spcPts val="0"/>
              </a:spcAft>
            </a:pPr>
            <a:r>
              <a:rPr lang="en-US" dirty="0">
                <a:latin typeface="Cambria" panose="02040503050406030204" pitchFamily="18" charset="0"/>
                <a:ea typeface="Cambria" panose="02040503050406030204" pitchFamily="18" charset="0"/>
                <a:cs typeface="Cambria" panose="02040503050406030204" pitchFamily="18" charset="0"/>
              </a:rPr>
              <a:t>0</a:t>
            </a:r>
          </a:p>
          <a:p>
            <a:pPr marL="63500" marR="0">
              <a:lnSpc>
                <a:spcPct val="99000"/>
              </a:lnSpc>
              <a:spcBef>
                <a:spcPts val="0"/>
              </a:spcBef>
              <a:spcAft>
                <a:spcPts val="0"/>
              </a:spcAft>
            </a:pPr>
            <a:endParaRPr lang="en-US" sz="1400" dirty="0">
              <a:effectLst/>
              <a:latin typeface="Cambria" panose="02040503050406030204" pitchFamily="18" charset="0"/>
              <a:ea typeface="Cambria" panose="02040503050406030204" pitchFamily="18" charset="0"/>
            </a:endParaRPr>
          </a:p>
          <a:p>
            <a:pPr marL="63500" marR="0">
              <a:lnSpc>
                <a:spcPct val="99000"/>
              </a:lnSpc>
              <a:spcBef>
                <a:spcPts val="0"/>
              </a:spcBef>
              <a:spcAft>
                <a:spcPts val="0"/>
              </a:spcAft>
            </a:pPr>
            <a:r>
              <a:rPr lang="en-US" sz="2400" b="1" dirty="0">
                <a:latin typeface="Cambria" panose="02040503050406030204" pitchFamily="18" charset="0"/>
                <a:ea typeface="Cambria" panose="02040503050406030204" pitchFamily="18" charset="0"/>
              </a:rPr>
              <a:t>Other Examples …….</a:t>
            </a:r>
            <a:endParaRPr lang="en-US" sz="24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60087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Operators and Types</a:t>
            </a:r>
          </a:p>
        </p:txBody>
      </p:sp>
      <p:sp>
        <p:nvSpPr>
          <p:cNvPr id="4" name="Rectangle 3"/>
          <p:cNvSpPr/>
          <p:nvPr/>
        </p:nvSpPr>
        <p:spPr>
          <a:xfrm>
            <a:off x="838200" y="2258333"/>
            <a:ext cx="10515600" cy="3568349"/>
          </a:xfrm>
          <a:prstGeom prst="rect">
            <a:avLst/>
          </a:prstGeom>
        </p:spPr>
        <p:txBody>
          <a:bodyPr wrap="square">
            <a:spAutoFit/>
          </a:bodyPr>
          <a:lstStyle/>
          <a:p>
            <a:r>
              <a:rPr lang="en-US" sz="2000" b="1" u="sng" dirty="0">
                <a:latin typeface="Cambria" panose="02040503050406030204" pitchFamily="18" charset="0"/>
                <a:ea typeface="Cambria" panose="02040503050406030204" pitchFamily="18" charset="0"/>
                <a:cs typeface="Cambria" panose="02040503050406030204" pitchFamily="18" charset="0"/>
              </a:rPr>
              <a:t>OPERATORS: (Discussed in Unit-2)</a:t>
            </a:r>
            <a:endParaRPr lang="en-US" sz="2000" dirty="0">
              <a:latin typeface="Times New Roman" panose="02020603050405020304" pitchFamily="18" charset="0"/>
              <a:ea typeface="Times New Roman" panose="02020603050405020304" pitchFamily="18" charset="0"/>
            </a:endParaRPr>
          </a:p>
          <a:p>
            <a:pPr marL="342900" marR="0" lvl="0" indent="-342900">
              <a:lnSpc>
                <a:spcPct val="75000"/>
              </a:lnSpc>
              <a:spcBef>
                <a:spcPts val="0"/>
              </a:spcBef>
              <a:spcAft>
                <a:spcPts val="0"/>
              </a:spcAft>
              <a:buFont typeface="Wingdings" panose="05000000000000000000" pitchFamily="2" charset="2"/>
              <a:buChar char=""/>
              <a:tabLst>
                <a:tab pos="457200" algn="l"/>
              </a:tabLst>
            </a:pPr>
            <a:r>
              <a:rPr lang="en-US" sz="2000" dirty="0">
                <a:latin typeface="Cambria" panose="02040503050406030204" pitchFamily="18" charset="0"/>
                <a:ea typeface="Cambria" panose="02040503050406030204" pitchFamily="18" charset="0"/>
                <a:cs typeface="Cambria" panose="02040503050406030204" pitchFamily="18" charset="0"/>
              </a:rPr>
              <a:t>Operators are the constructs which can manipulate the value of operands.</a:t>
            </a:r>
            <a:endParaRPr lang="en-US" sz="2000" dirty="0">
              <a:latin typeface="Times New Roman" panose="02020603050405020304" pitchFamily="18" charset="0"/>
              <a:ea typeface="Times New Roman" panose="02020603050405020304" pitchFamily="18" charset="0"/>
            </a:endParaRPr>
          </a:p>
          <a:p>
            <a:pPr>
              <a:lnSpc>
                <a:spcPts val="280"/>
              </a:lnSpc>
            </a:pPr>
            <a:r>
              <a:rPr lang="en-US" sz="2000" baseline="30000" dirty="0">
                <a:latin typeface="Wingdings" panose="05000000000000000000" pitchFamily="2" charset="2"/>
                <a:ea typeface="Wingdings" panose="05000000000000000000" pitchFamily="2" charset="2"/>
                <a:cs typeface="Wingdings" panose="05000000000000000000" pitchFamily="2" charset="2"/>
              </a:rPr>
              <a:t> </a:t>
            </a:r>
            <a:endParaRPr lang="en-US" sz="2000" dirty="0">
              <a:latin typeface="Times New Roman" panose="02020603050405020304" pitchFamily="18" charset="0"/>
              <a:ea typeface="Times New Roman" panose="02020603050405020304" pitchFamily="18" charset="0"/>
            </a:endParaRPr>
          </a:p>
          <a:p>
            <a:pPr marL="342900" marR="12700" lvl="0" indent="-342900">
              <a:lnSpc>
                <a:spcPct val="75000"/>
              </a:lnSpc>
              <a:spcBef>
                <a:spcPts val="0"/>
              </a:spcBef>
              <a:spcAft>
                <a:spcPts val="0"/>
              </a:spcAft>
              <a:buFont typeface="Wingdings" panose="05000000000000000000" pitchFamily="2" charset="2"/>
              <a:buChar char=""/>
              <a:tabLst>
                <a:tab pos="457200" algn="l"/>
              </a:tabLst>
            </a:pPr>
            <a:r>
              <a:rPr lang="en-US" sz="2000" dirty="0">
                <a:latin typeface="Cambria" panose="02040503050406030204" pitchFamily="18" charset="0"/>
                <a:ea typeface="Cambria" panose="02040503050406030204" pitchFamily="18" charset="0"/>
                <a:cs typeface="Cambria" panose="02040503050406030204" pitchFamily="18" charset="0"/>
              </a:rPr>
              <a:t>Consider the expression </a:t>
            </a:r>
            <a:r>
              <a:rPr lang="en-US" sz="2000" i="1" dirty="0">
                <a:latin typeface="Cambria" panose="02040503050406030204" pitchFamily="18" charset="0"/>
                <a:ea typeface="Cambria" panose="02040503050406030204" pitchFamily="18" charset="0"/>
                <a:cs typeface="Cambria" panose="02040503050406030204" pitchFamily="18" charset="0"/>
              </a:rPr>
              <a:t>4 + 5 = 9.</a:t>
            </a:r>
            <a:r>
              <a:rPr lang="en-US" sz="2000" dirty="0">
                <a:latin typeface="Cambria" panose="02040503050406030204" pitchFamily="18" charset="0"/>
                <a:ea typeface="Cambria" panose="02040503050406030204" pitchFamily="18" charset="0"/>
                <a:cs typeface="Cambria" panose="02040503050406030204" pitchFamily="18" charset="0"/>
              </a:rPr>
              <a:t> Here, 4 and 5 are called operands and + is called operator.</a:t>
            </a:r>
            <a:endParaRPr lang="en-US" sz="2000" dirty="0">
              <a:latin typeface="Times New Roman" panose="02020603050405020304" pitchFamily="18" charset="0"/>
              <a:ea typeface="Times New Roman" panose="02020603050405020304" pitchFamily="18" charset="0"/>
            </a:endParaRPr>
          </a:p>
          <a:p>
            <a:pPr>
              <a:lnSpc>
                <a:spcPts val="1650"/>
              </a:lnSpc>
            </a:pPr>
            <a:r>
              <a:rPr lang="en-US" sz="2000" dirty="0">
                <a:latin typeface="Times New Roman" panose="02020603050405020304" pitchFamily="18" charset="0"/>
                <a:ea typeface="Times New Roman" panose="02020603050405020304" pitchFamily="18" charset="0"/>
              </a:rPr>
              <a:t> </a:t>
            </a:r>
          </a:p>
          <a:p>
            <a:r>
              <a:rPr lang="en-US" sz="2000" b="1" u="sng" dirty="0">
                <a:latin typeface="Cambria" panose="02040503050406030204" pitchFamily="18" charset="0"/>
                <a:ea typeface="Cambria" panose="02040503050406030204" pitchFamily="18" charset="0"/>
                <a:cs typeface="Cambria" panose="02040503050406030204" pitchFamily="18" charset="0"/>
              </a:rPr>
              <a:t>Types of Operators:</a:t>
            </a:r>
            <a:endParaRPr lang="en-US" sz="2000" dirty="0">
              <a:latin typeface="Times New Roman" panose="02020603050405020304" pitchFamily="18" charset="0"/>
              <a:ea typeface="Times New Roman" panose="02020603050405020304" pitchFamily="18" charset="0"/>
            </a:endParaRPr>
          </a:p>
          <a:p>
            <a:pPr marR="0" lvl="0">
              <a:lnSpc>
                <a:spcPct val="99000"/>
              </a:lnSpc>
              <a:spcBef>
                <a:spcPts val="0"/>
              </a:spcBef>
              <a:spcAft>
                <a:spcPts val="0"/>
              </a:spcAft>
              <a:tabLst>
                <a:tab pos="457200" algn="l"/>
              </a:tabLst>
            </a:pPr>
            <a:r>
              <a:rPr lang="en-US" sz="2000" dirty="0">
                <a:latin typeface="Cambria" panose="02040503050406030204" pitchFamily="18" charset="0"/>
                <a:ea typeface="Cambria" panose="02040503050406030204" pitchFamily="18" charset="0"/>
                <a:cs typeface="Cambria" panose="02040503050406030204" pitchFamily="18" charset="0"/>
              </a:rPr>
              <a:t>Arithmetic Operators</a:t>
            </a:r>
            <a:endParaRPr lang="en-US" sz="2000" dirty="0">
              <a:latin typeface="Times New Roman" panose="02020603050405020304" pitchFamily="18" charset="0"/>
              <a:ea typeface="Times New Roman" panose="02020603050405020304" pitchFamily="18" charset="0"/>
            </a:endParaRPr>
          </a:p>
          <a:p>
            <a:pPr>
              <a:lnSpc>
                <a:spcPts val="20"/>
              </a:lnSpc>
            </a:pPr>
            <a:r>
              <a:rPr lang="en-US" sz="2000" dirty="0">
                <a:latin typeface="Cambria" panose="02040503050406030204" pitchFamily="18" charset="0"/>
                <a:ea typeface="Cambria" panose="02040503050406030204" pitchFamily="18" charset="0"/>
                <a:cs typeface="Cambria" panose="02040503050406030204" pitchFamily="18" charset="0"/>
              </a:rPr>
              <a:t> </a:t>
            </a:r>
            <a:endParaRPr lang="en-US" sz="2000" dirty="0">
              <a:latin typeface="Times New Roman" panose="02020603050405020304" pitchFamily="18" charset="0"/>
              <a:ea typeface="Times New Roman" panose="02020603050405020304" pitchFamily="18" charset="0"/>
            </a:endParaRPr>
          </a:p>
          <a:p>
            <a:pPr marR="0" lvl="0">
              <a:spcBef>
                <a:spcPts val="0"/>
              </a:spcBef>
              <a:spcAft>
                <a:spcPts val="0"/>
              </a:spcAft>
              <a:tabLst>
                <a:tab pos="457200" algn="l"/>
              </a:tabLst>
            </a:pPr>
            <a:r>
              <a:rPr lang="en-US" sz="2000" dirty="0">
                <a:latin typeface="Cambria" panose="02040503050406030204" pitchFamily="18" charset="0"/>
                <a:ea typeface="Cambria" panose="02040503050406030204" pitchFamily="18" charset="0"/>
                <a:cs typeface="Cambria" panose="02040503050406030204" pitchFamily="18" charset="0"/>
              </a:rPr>
              <a:t>Comparison (Relational) Operators</a:t>
            </a:r>
            <a:endParaRPr lang="en-US" sz="2000" dirty="0">
              <a:latin typeface="Times New Roman" panose="02020603050405020304" pitchFamily="18" charset="0"/>
              <a:ea typeface="Times New Roman" panose="02020603050405020304" pitchFamily="18" charset="0"/>
            </a:endParaRPr>
          </a:p>
          <a:p>
            <a:pPr marR="0" lvl="0">
              <a:lnSpc>
                <a:spcPct val="99000"/>
              </a:lnSpc>
              <a:spcBef>
                <a:spcPts val="0"/>
              </a:spcBef>
              <a:spcAft>
                <a:spcPts val="0"/>
              </a:spcAft>
              <a:tabLst>
                <a:tab pos="457200" algn="l"/>
              </a:tabLst>
            </a:pPr>
            <a:r>
              <a:rPr lang="en-US" sz="2000" dirty="0">
                <a:latin typeface="Cambria" panose="02040503050406030204" pitchFamily="18" charset="0"/>
                <a:ea typeface="Cambria" panose="02040503050406030204" pitchFamily="18" charset="0"/>
                <a:cs typeface="Cambria" panose="02040503050406030204" pitchFamily="18" charset="0"/>
              </a:rPr>
              <a:t>Assignment Operators</a:t>
            </a:r>
            <a:endParaRPr lang="en-US" sz="2000" dirty="0">
              <a:latin typeface="Times New Roman" panose="02020603050405020304" pitchFamily="18" charset="0"/>
              <a:ea typeface="Times New Roman" panose="02020603050405020304" pitchFamily="18" charset="0"/>
            </a:endParaRPr>
          </a:p>
          <a:p>
            <a:pPr marR="0" lvl="0">
              <a:lnSpc>
                <a:spcPct val="99000"/>
              </a:lnSpc>
              <a:spcBef>
                <a:spcPts val="0"/>
              </a:spcBef>
              <a:spcAft>
                <a:spcPts val="0"/>
              </a:spcAft>
              <a:tabLst>
                <a:tab pos="457200" algn="l"/>
              </a:tabLst>
            </a:pPr>
            <a:r>
              <a:rPr lang="en-US" sz="2000" dirty="0">
                <a:latin typeface="Cambria" panose="02040503050406030204" pitchFamily="18" charset="0"/>
                <a:ea typeface="Cambria" panose="02040503050406030204" pitchFamily="18" charset="0"/>
                <a:cs typeface="Cambria" panose="02040503050406030204" pitchFamily="18" charset="0"/>
              </a:rPr>
              <a:t>Logical Operators</a:t>
            </a:r>
            <a:endParaRPr lang="en-US" sz="2000" dirty="0">
              <a:latin typeface="Times New Roman" panose="02020603050405020304" pitchFamily="18" charset="0"/>
              <a:ea typeface="Times New Roman" panose="02020603050405020304" pitchFamily="18" charset="0"/>
            </a:endParaRPr>
          </a:p>
          <a:p>
            <a:pPr>
              <a:lnSpc>
                <a:spcPts val="15"/>
              </a:lnSpc>
            </a:pPr>
            <a:r>
              <a:rPr lang="en-US" sz="2000" dirty="0">
                <a:latin typeface="Cambria" panose="02040503050406030204" pitchFamily="18" charset="0"/>
                <a:ea typeface="Cambria" panose="02040503050406030204" pitchFamily="18" charset="0"/>
                <a:cs typeface="Cambria" panose="02040503050406030204" pitchFamily="18" charset="0"/>
              </a:rPr>
              <a:t> </a:t>
            </a:r>
            <a:endParaRPr lang="en-US" sz="2000" dirty="0">
              <a:latin typeface="Times New Roman" panose="02020603050405020304" pitchFamily="18" charset="0"/>
              <a:ea typeface="Times New Roman" panose="02020603050405020304" pitchFamily="18" charset="0"/>
            </a:endParaRPr>
          </a:p>
          <a:p>
            <a:pPr marR="0" lvl="0">
              <a:spcBef>
                <a:spcPts val="0"/>
              </a:spcBef>
              <a:spcAft>
                <a:spcPts val="0"/>
              </a:spcAft>
              <a:tabLst>
                <a:tab pos="457200" algn="l"/>
              </a:tabLst>
            </a:pPr>
            <a:r>
              <a:rPr lang="en-US" sz="2000" dirty="0">
                <a:latin typeface="Cambria" panose="02040503050406030204" pitchFamily="18" charset="0"/>
                <a:ea typeface="Cambria" panose="02040503050406030204" pitchFamily="18" charset="0"/>
                <a:cs typeface="Cambria" panose="02040503050406030204" pitchFamily="18" charset="0"/>
              </a:rPr>
              <a:t>Bitwise Operators</a:t>
            </a:r>
            <a:endParaRPr lang="en-US" sz="2000" dirty="0">
              <a:latin typeface="Times New Roman" panose="02020603050405020304" pitchFamily="18" charset="0"/>
              <a:ea typeface="Times New Roman" panose="02020603050405020304" pitchFamily="18" charset="0"/>
            </a:endParaRPr>
          </a:p>
          <a:p>
            <a:pPr marR="0" lvl="0">
              <a:lnSpc>
                <a:spcPct val="99000"/>
              </a:lnSpc>
              <a:spcBef>
                <a:spcPts val="0"/>
              </a:spcBef>
              <a:spcAft>
                <a:spcPts val="0"/>
              </a:spcAft>
              <a:tabLst>
                <a:tab pos="457200" algn="l"/>
              </a:tabLst>
            </a:pPr>
            <a:r>
              <a:rPr lang="en-US" sz="2000" dirty="0">
                <a:latin typeface="Cambria" panose="02040503050406030204" pitchFamily="18" charset="0"/>
                <a:ea typeface="Cambria" panose="02040503050406030204" pitchFamily="18" charset="0"/>
                <a:cs typeface="Cambria" panose="02040503050406030204" pitchFamily="18" charset="0"/>
              </a:rPr>
              <a:t>Membership Operators</a:t>
            </a:r>
            <a:endParaRPr lang="en-US" sz="2000" dirty="0">
              <a:latin typeface="Times New Roman" panose="02020603050405020304" pitchFamily="18" charset="0"/>
              <a:ea typeface="Times New Roman" panose="02020603050405020304" pitchFamily="18" charset="0"/>
            </a:endParaRPr>
          </a:p>
          <a:p>
            <a:pPr>
              <a:lnSpc>
                <a:spcPts val="20"/>
              </a:lnSpc>
            </a:pPr>
            <a:r>
              <a:rPr lang="en-US" sz="2000" dirty="0">
                <a:latin typeface="Cambria" panose="02040503050406030204" pitchFamily="18" charset="0"/>
                <a:ea typeface="Cambria" panose="02040503050406030204" pitchFamily="18" charset="0"/>
                <a:cs typeface="Cambria" panose="02040503050406030204" pitchFamily="18" charset="0"/>
              </a:rPr>
              <a:t> </a:t>
            </a:r>
            <a:endParaRPr lang="en-US" sz="2000" dirty="0">
              <a:latin typeface="Times New Roman" panose="02020603050405020304" pitchFamily="18" charset="0"/>
              <a:ea typeface="Times New Roman" panose="02020603050405020304" pitchFamily="18" charset="0"/>
            </a:endParaRPr>
          </a:p>
          <a:p>
            <a:pPr marR="0" lvl="0">
              <a:spcBef>
                <a:spcPts val="0"/>
              </a:spcBef>
              <a:spcAft>
                <a:spcPts val="0"/>
              </a:spcAft>
              <a:tabLst>
                <a:tab pos="457200" algn="l"/>
              </a:tabLst>
            </a:pPr>
            <a:r>
              <a:rPr lang="en-US" sz="2000" dirty="0">
                <a:latin typeface="Cambria" panose="02040503050406030204" pitchFamily="18" charset="0"/>
                <a:ea typeface="Cambria" panose="02040503050406030204" pitchFamily="18" charset="0"/>
                <a:cs typeface="Cambria" panose="02040503050406030204" pitchFamily="18" charset="0"/>
              </a:rPr>
              <a:t>Identity Operators</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97423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Conditionals</a:t>
            </a:r>
          </a:p>
        </p:txBody>
      </p:sp>
      <p:sp>
        <p:nvSpPr>
          <p:cNvPr id="4" name="Rectangle 3"/>
          <p:cNvSpPr/>
          <p:nvPr/>
        </p:nvSpPr>
        <p:spPr>
          <a:xfrm>
            <a:off x="838200" y="2345295"/>
            <a:ext cx="7952096" cy="1277273"/>
          </a:xfrm>
          <a:prstGeom prst="rect">
            <a:avLst/>
          </a:prstGeom>
        </p:spPr>
        <p:txBody>
          <a:bodyPr wrap="square">
            <a:spAutoFit/>
          </a:bodyPr>
          <a:lstStyle/>
          <a:p>
            <a:pPr marL="342900" marR="0" lvl="0" indent="-342900">
              <a:lnSpc>
                <a:spcPct val="75000"/>
              </a:lnSpc>
              <a:spcBef>
                <a:spcPts val="0"/>
              </a:spcBef>
              <a:spcAft>
                <a:spcPts val="0"/>
              </a:spcAft>
              <a:buFont typeface="Wingdings" panose="05000000000000000000" pitchFamily="2" charset="2"/>
              <a:buChar char=""/>
              <a:tabLst>
                <a:tab pos="520700" algn="l"/>
              </a:tabLst>
            </a:pPr>
            <a:r>
              <a:rPr lang="en-US" sz="2400" dirty="0">
                <a:latin typeface="Cambria" panose="02040503050406030204" pitchFamily="18" charset="0"/>
                <a:ea typeface="Cambria" panose="02040503050406030204" pitchFamily="18" charset="0"/>
                <a:cs typeface="Cambria" panose="02040503050406030204" pitchFamily="18" charset="0"/>
              </a:rPr>
              <a:t>Conditional if</a:t>
            </a:r>
            <a:endParaRPr lang="en-US" sz="2400" dirty="0">
              <a:latin typeface="Times New Roman" panose="02020603050405020304" pitchFamily="18" charset="0"/>
              <a:ea typeface="Times New Roman" panose="02020603050405020304" pitchFamily="18" charset="0"/>
            </a:endParaRPr>
          </a:p>
          <a:p>
            <a:pPr>
              <a:lnSpc>
                <a:spcPts val="250"/>
              </a:lnSpc>
            </a:pPr>
            <a:r>
              <a:rPr lang="en-US" sz="2400" baseline="30000" dirty="0">
                <a:latin typeface="Wingdings" panose="05000000000000000000" pitchFamily="2" charset="2"/>
                <a:ea typeface="Wingdings" panose="05000000000000000000" pitchFamily="2" charset="2"/>
                <a:cs typeface="Wingdings" panose="05000000000000000000" pitchFamily="2" charset="2"/>
              </a:rPr>
              <a:t> </a:t>
            </a:r>
            <a:endParaRPr lang="en-US" sz="2400" dirty="0">
              <a:latin typeface="Times New Roman" panose="02020603050405020304" pitchFamily="18" charset="0"/>
              <a:ea typeface="Times New Roman" panose="02020603050405020304" pitchFamily="18" charset="0"/>
            </a:endParaRPr>
          </a:p>
          <a:p>
            <a:pPr marL="342900" marR="0" lvl="0" indent="-342900">
              <a:lnSpc>
                <a:spcPct val="75000"/>
              </a:lnSpc>
              <a:spcBef>
                <a:spcPts val="0"/>
              </a:spcBef>
              <a:spcAft>
                <a:spcPts val="0"/>
              </a:spcAft>
              <a:buFont typeface="Wingdings" panose="05000000000000000000" pitchFamily="2" charset="2"/>
              <a:buChar char=""/>
              <a:tabLst>
                <a:tab pos="520700" algn="l"/>
              </a:tabLst>
            </a:pPr>
            <a:r>
              <a:rPr lang="en-US" sz="2400" dirty="0">
                <a:latin typeface="Cambria" panose="02040503050406030204" pitchFamily="18" charset="0"/>
                <a:ea typeface="Cambria" panose="02040503050406030204" pitchFamily="18" charset="0"/>
                <a:cs typeface="Cambria" panose="02040503050406030204" pitchFamily="18" charset="0"/>
              </a:rPr>
              <a:t>Alternative if… else</a:t>
            </a:r>
            <a:endParaRPr lang="en-US" sz="2400" dirty="0">
              <a:latin typeface="Times New Roman" panose="02020603050405020304" pitchFamily="18" charset="0"/>
              <a:ea typeface="Times New Roman" panose="02020603050405020304" pitchFamily="18" charset="0"/>
            </a:endParaRPr>
          </a:p>
          <a:p>
            <a:pPr>
              <a:lnSpc>
                <a:spcPts val="270"/>
              </a:lnSpc>
            </a:pPr>
            <a:r>
              <a:rPr lang="en-US" sz="2400" baseline="30000" dirty="0">
                <a:latin typeface="Wingdings" panose="05000000000000000000" pitchFamily="2" charset="2"/>
                <a:ea typeface="Wingdings" panose="05000000000000000000" pitchFamily="2" charset="2"/>
                <a:cs typeface="Wingdings" panose="05000000000000000000" pitchFamily="2" charset="2"/>
              </a:rPr>
              <a:t> </a:t>
            </a:r>
            <a:endParaRPr lang="en-US" sz="2400" dirty="0">
              <a:latin typeface="Times New Roman" panose="02020603050405020304" pitchFamily="18" charset="0"/>
              <a:ea typeface="Times New Roman" panose="02020603050405020304" pitchFamily="18" charset="0"/>
            </a:endParaRPr>
          </a:p>
          <a:p>
            <a:pPr marL="342900" marR="0" lvl="0" indent="-342900">
              <a:lnSpc>
                <a:spcPct val="75000"/>
              </a:lnSpc>
              <a:spcBef>
                <a:spcPts val="0"/>
              </a:spcBef>
              <a:spcAft>
                <a:spcPts val="0"/>
              </a:spcAft>
              <a:buFont typeface="Wingdings" panose="05000000000000000000" pitchFamily="2" charset="2"/>
              <a:buChar char=""/>
              <a:tabLst>
                <a:tab pos="520700" algn="l"/>
              </a:tabLst>
            </a:pPr>
            <a:r>
              <a:rPr lang="en-US" sz="2400" dirty="0">
                <a:latin typeface="Cambria" panose="02040503050406030204" pitchFamily="18" charset="0"/>
                <a:ea typeface="Cambria" panose="02040503050406030204" pitchFamily="18" charset="0"/>
                <a:cs typeface="Cambria" panose="02040503050406030204" pitchFamily="18" charset="0"/>
              </a:rPr>
              <a:t>Chained if…</a:t>
            </a:r>
            <a:r>
              <a:rPr lang="en-US" sz="2400" dirty="0" err="1">
                <a:latin typeface="Cambria" panose="02040503050406030204" pitchFamily="18" charset="0"/>
                <a:ea typeface="Cambria" panose="02040503050406030204" pitchFamily="18" charset="0"/>
                <a:cs typeface="Cambria" panose="02040503050406030204" pitchFamily="18" charset="0"/>
              </a:rPr>
              <a:t>elif</a:t>
            </a:r>
            <a:r>
              <a:rPr lang="en-US" sz="2400" dirty="0">
                <a:latin typeface="Cambria" panose="02040503050406030204" pitchFamily="18" charset="0"/>
                <a:ea typeface="Cambria" panose="02040503050406030204" pitchFamily="18" charset="0"/>
                <a:cs typeface="Cambria" panose="02040503050406030204" pitchFamily="18" charset="0"/>
              </a:rPr>
              <a:t>…else</a:t>
            </a:r>
            <a:endParaRPr lang="en-US" sz="2400" dirty="0">
              <a:latin typeface="Times New Roman" panose="02020603050405020304" pitchFamily="18" charset="0"/>
              <a:ea typeface="Cambria" panose="02040503050406030204" pitchFamily="18" charset="0"/>
            </a:endParaRPr>
          </a:p>
          <a:p>
            <a:pPr marL="342900" marR="0" lvl="0" indent="-342900">
              <a:lnSpc>
                <a:spcPct val="75000"/>
              </a:lnSpc>
              <a:spcBef>
                <a:spcPts val="0"/>
              </a:spcBef>
              <a:spcAft>
                <a:spcPts val="0"/>
              </a:spcAft>
              <a:buFont typeface="Wingdings" panose="05000000000000000000" pitchFamily="2" charset="2"/>
              <a:buChar char=""/>
              <a:tabLst>
                <a:tab pos="520700" algn="l"/>
              </a:tabLst>
            </a:pPr>
            <a:r>
              <a:rPr lang="en-US" sz="2400" dirty="0">
                <a:latin typeface="Cambria" panose="02040503050406030204" pitchFamily="18" charset="0"/>
                <a:ea typeface="Cambria" panose="02040503050406030204" pitchFamily="18" charset="0"/>
                <a:cs typeface="Cambria" panose="02040503050406030204" pitchFamily="18" charset="0"/>
              </a:rPr>
              <a:t>Nested if….else</a:t>
            </a:r>
            <a:endParaRPr lang="en-US" sz="2400" dirty="0"/>
          </a:p>
        </p:txBody>
      </p:sp>
      <p:pic>
        <p:nvPicPr>
          <p:cNvPr id="2050" name="Picture 2" descr="elif - &gt;&gt;&gt; Computer Scie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1320041"/>
            <a:ext cx="4085230" cy="5290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334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42900" marR="0" lvl="0" indent="-342900">
              <a:lnSpc>
                <a:spcPct val="75000"/>
              </a:lnSpc>
              <a:spcBef>
                <a:spcPts val="0"/>
              </a:spcBef>
              <a:spcAft>
                <a:spcPts val="0"/>
              </a:spcAft>
              <a:tabLst>
                <a:tab pos="520700" algn="l"/>
              </a:tabLst>
            </a:pPr>
            <a:r>
              <a:rPr lang="en-US" dirty="0">
                <a:latin typeface="Cambria" panose="02040503050406030204" pitchFamily="18" charset="0"/>
                <a:ea typeface="Cambria" panose="02040503050406030204" pitchFamily="18" charset="0"/>
                <a:cs typeface="Cambria" panose="02040503050406030204" pitchFamily="18" charset="0"/>
              </a:rPr>
              <a:t>Conditional if</a:t>
            </a:r>
            <a:endParaRPr lang="en-US" dirty="0">
              <a:latin typeface="Times New Roman" panose="02020603050405020304" pitchFamily="18" charset="0"/>
              <a:ea typeface="Times New Roman" panose="02020603050405020304" pitchFamily="18" charset="0"/>
            </a:endParaRPr>
          </a:p>
        </p:txBody>
      </p:sp>
      <p:sp>
        <p:nvSpPr>
          <p:cNvPr id="6" name="Rectangle 5"/>
          <p:cNvSpPr>
            <a:spLocks noChangeArrowheads="1"/>
          </p:cNvSpPr>
          <p:nvPr/>
        </p:nvSpPr>
        <p:spPr bwMode="auto">
          <a:xfrm>
            <a:off x="436728" y="1906771"/>
            <a:ext cx="95846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t>conditional (if) is used to test a condition, if the condition is true the statements </a:t>
            </a: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2000" dirty="0">
              <a:ea typeface="Cambria" panose="02040503050406030204" pitchFamily="18" charset="0"/>
              <a:cs typeface="Cambria" panose="020405030504060302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t>inside if will be executed.</a:t>
            </a: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en-US" sz="2000" b="1" i="0" u="sng" strike="noStrike" cap="none" normalizeH="0" baseline="0" dirty="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t>syntax:</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3076" name="Picture 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0840" y="4519045"/>
            <a:ext cx="2076450" cy="80803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rrowheads="1"/>
          </p:cNvSpPr>
          <p:nvPr/>
        </p:nvSpPr>
        <p:spPr bwMode="auto">
          <a:xfrm>
            <a:off x="436728" y="31048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p:cNvPicPr/>
          <p:nvPr/>
        </p:nvPicPr>
        <p:blipFill>
          <a:blip r:embed="rId3"/>
          <a:srcRect/>
          <a:stretch>
            <a:fillRect/>
          </a:stretch>
        </p:blipFill>
        <p:spPr bwMode="auto">
          <a:xfrm>
            <a:off x="7012995" y="2947444"/>
            <a:ext cx="3008408" cy="2955711"/>
          </a:xfrm>
          <a:prstGeom prst="rect">
            <a:avLst/>
          </a:prstGeom>
          <a:noFill/>
        </p:spPr>
      </p:pic>
    </p:spTree>
    <p:extLst>
      <p:ext uri="{BB962C8B-B14F-4D97-AF65-F5344CB8AC3E}">
        <p14:creationId xmlns:p14="http://schemas.microsoft.com/office/powerpoint/2010/main" val="3522632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cs typeface="Cambria" panose="02040503050406030204" pitchFamily="18" charset="0"/>
              </a:rPr>
              <a:t>Conditional if</a:t>
            </a:r>
            <a:endParaRPr lang="en-US" dirty="0"/>
          </a:p>
        </p:txBody>
      </p:sp>
      <p:sp>
        <p:nvSpPr>
          <p:cNvPr id="13" name="Rectangle 12"/>
          <p:cNvSpPr/>
          <p:nvPr/>
        </p:nvSpPr>
        <p:spPr>
          <a:xfrm>
            <a:off x="838199" y="2175261"/>
            <a:ext cx="10216487" cy="1200329"/>
          </a:xfrm>
          <a:prstGeom prst="rect">
            <a:avLst/>
          </a:prstGeom>
        </p:spPr>
        <p:txBody>
          <a:bodyPr wrap="square">
            <a:spAutoFit/>
          </a:bodyPr>
          <a:lstStyle/>
          <a:p>
            <a:pPr marR="0" lvl="0">
              <a:spcBef>
                <a:spcPts val="0"/>
              </a:spcBef>
              <a:spcAft>
                <a:spcPts val="0"/>
              </a:spcAft>
              <a:tabLst>
                <a:tab pos="533400" algn="l"/>
              </a:tabLst>
            </a:pPr>
            <a:r>
              <a:rPr lang="en-US" b="1" dirty="0">
                <a:latin typeface="Cambria" panose="02040503050406030204" pitchFamily="18" charset="0"/>
                <a:ea typeface="Cambria" panose="02040503050406030204" pitchFamily="18" charset="0"/>
                <a:cs typeface="Cambria" panose="02040503050406030204" pitchFamily="18" charset="0"/>
              </a:rPr>
              <a:t>Examples ….</a:t>
            </a:r>
          </a:p>
          <a:p>
            <a:pPr marR="0" lvl="0">
              <a:spcBef>
                <a:spcPts val="0"/>
              </a:spcBef>
              <a:spcAft>
                <a:spcPts val="0"/>
              </a:spcAft>
              <a:tabLst>
                <a:tab pos="533400" algn="l"/>
              </a:tabLst>
            </a:pPr>
            <a:endParaRPr lang="en-US" dirty="0">
              <a:latin typeface="Cambria" panose="02040503050406030204" pitchFamily="18" charset="0"/>
              <a:ea typeface="Cambria" panose="02040503050406030204" pitchFamily="18" charset="0"/>
              <a:cs typeface="Cambria" panose="020405030504060302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provide flat </a:t>
            </a:r>
            <a:r>
              <a:rPr lang="en-US" dirty="0" err="1">
                <a:latin typeface="Cambria" panose="02040503050406030204" pitchFamily="18" charset="0"/>
                <a:ea typeface="Cambria" panose="02040503050406030204" pitchFamily="18" charset="0"/>
                <a:cs typeface="Cambria" panose="02040503050406030204" pitchFamily="18" charset="0"/>
              </a:rPr>
              <a:t>rs</a:t>
            </a:r>
            <a:r>
              <a:rPr lang="en-US" dirty="0">
                <a:latin typeface="Cambria" panose="02040503050406030204" pitchFamily="18" charset="0"/>
                <a:ea typeface="Cambria" panose="02040503050406030204" pitchFamily="18" charset="0"/>
                <a:cs typeface="Cambria" panose="02040503050406030204" pitchFamily="18" charset="0"/>
              </a:rPr>
              <a:t> 500, if the purchase amount is greater than 2000.</a:t>
            </a:r>
            <a:endParaRPr lang="en-US" sz="1400" dirty="0">
              <a:latin typeface="Times New Roman" panose="02020603050405020304" pitchFamily="18" charset="0"/>
              <a:ea typeface="Cambria" panose="020405030504060302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provide bonus mark if the category is sports.</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56522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 - Else</a:t>
            </a:r>
          </a:p>
        </p:txBody>
      </p:sp>
      <p:sp>
        <p:nvSpPr>
          <p:cNvPr id="4" name="Rectangle 3"/>
          <p:cNvSpPr/>
          <p:nvPr/>
        </p:nvSpPr>
        <p:spPr>
          <a:xfrm>
            <a:off x="838200" y="2206502"/>
            <a:ext cx="10515600" cy="1155957"/>
          </a:xfrm>
          <a:prstGeom prst="rect">
            <a:avLst/>
          </a:prstGeom>
        </p:spPr>
        <p:txBody>
          <a:bodyPr wrap="square">
            <a:spAutoFit/>
          </a:bodyPr>
          <a:lstStyle/>
          <a:p>
            <a:pPr marL="76200" marR="88900" indent="457200" algn="just">
              <a:lnSpc>
                <a:spcPct val="96000"/>
              </a:lnSpc>
              <a:spcBef>
                <a:spcPts val="0"/>
              </a:spcBef>
              <a:spcAft>
                <a:spcPts val="0"/>
              </a:spcAft>
            </a:pPr>
            <a:r>
              <a:rPr lang="en-US" dirty="0">
                <a:latin typeface="Cambria" panose="02040503050406030204" pitchFamily="18" charset="0"/>
                <a:ea typeface="Cambria" panose="02040503050406030204" pitchFamily="18" charset="0"/>
                <a:cs typeface="Cambria" panose="02040503050406030204" pitchFamily="18" charset="0"/>
              </a:rPr>
              <a:t>In the alternative the condition must be true or false. In this </a:t>
            </a:r>
            <a:r>
              <a:rPr lang="en-US" b="1" dirty="0">
                <a:latin typeface="Cambria" panose="02040503050406030204" pitchFamily="18" charset="0"/>
                <a:ea typeface="Cambria" panose="02040503050406030204" pitchFamily="18" charset="0"/>
                <a:cs typeface="Cambria" panose="02040503050406030204" pitchFamily="18" charset="0"/>
              </a:rPr>
              <a:t>else</a:t>
            </a:r>
            <a:r>
              <a:rPr lang="en-US" dirty="0">
                <a:latin typeface="Cambria" panose="02040503050406030204" pitchFamily="18" charset="0"/>
                <a:ea typeface="Cambria" panose="02040503050406030204" pitchFamily="18" charset="0"/>
                <a:cs typeface="Cambria" panose="02040503050406030204" pitchFamily="18" charset="0"/>
              </a:rPr>
              <a:t> statement can be combined with </a:t>
            </a:r>
            <a:r>
              <a:rPr lang="en-US" b="1" dirty="0">
                <a:latin typeface="Cambria" panose="02040503050406030204" pitchFamily="18" charset="0"/>
                <a:ea typeface="Cambria" panose="02040503050406030204" pitchFamily="18" charset="0"/>
                <a:cs typeface="Cambria" panose="02040503050406030204" pitchFamily="18" charset="0"/>
              </a:rPr>
              <a:t>if</a:t>
            </a:r>
            <a:r>
              <a:rPr lang="en-US" dirty="0">
                <a:latin typeface="Cambria" panose="02040503050406030204" pitchFamily="18" charset="0"/>
                <a:ea typeface="Cambria" panose="02040503050406030204" pitchFamily="18" charset="0"/>
                <a:cs typeface="Cambria" panose="02040503050406030204" pitchFamily="18" charset="0"/>
              </a:rPr>
              <a:t> statement. The </a:t>
            </a:r>
            <a:r>
              <a:rPr lang="en-US" b="1" dirty="0">
                <a:latin typeface="Cambria" panose="02040503050406030204" pitchFamily="18" charset="0"/>
                <a:ea typeface="Cambria" panose="02040503050406030204" pitchFamily="18" charset="0"/>
                <a:cs typeface="Cambria" panose="02040503050406030204" pitchFamily="18" charset="0"/>
              </a:rPr>
              <a:t>else</a:t>
            </a:r>
            <a:r>
              <a:rPr lang="en-US" dirty="0">
                <a:latin typeface="Cambria" panose="02040503050406030204" pitchFamily="18" charset="0"/>
                <a:ea typeface="Cambria" panose="02040503050406030204" pitchFamily="18" charset="0"/>
                <a:cs typeface="Cambria" panose="02040503050406030204" pitchFamily="18" charset="0"/>
              </a:rPr>
              <a:t> statement contains the block of code that executes when the condition is false. If the condition is true statements inside the if get executed otherwise else part gets executed. The alternatives are called branches, because they are branches in the flow of execution.</a:t>
            </a:r>
            <a:endParaRPr lang="en-US" sz="1400" dirty="0">
              <a:effectLst/>
              <a:latin typeface="Times New Roman" panose="02020603050405020304" pitchFamily="18" charset="0"/>
              <a:ea typeface="Times New Roman" panose="02020603050405020304" pitchFamily="18" charset="0"/>
            </a:endParaRPr>
          </a:p>
        </p:txBody>
      </p:sp>
      <p:sp>
        <p:nvSpPr>
          <p:cNvPr id="5" name="Rectangle 2"/>
          <p:cNvSpPr>
            <a:spLocks noChangeArrowheads="1"/>
          </p:cNvSpPr>
          <p:nvPr/>
        </p:nvSpPr>
        <p:spPr bwMode="auto">
          <a:xfrm>
            <a:off x="2238232" y="372583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t>syntax:</a:t>
            </a: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121" name="Picture 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7420" y="4183039"/>
            <a:ext cx="2017712" cy="10541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2238232" y="418303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p:cNvPicPr/>
          <p:nvPr/>
        </p:nvPicPr>
        <p:blipFill>
          <a:blip r:embed="rId3"/>
          <a:srcRect/>
          <a:stretch>
            <a:fillRect/>
          </a:stretch>
        </p:blipFill>
        <p:spPr bwMode="auto">
          <a:xfrm>
            <a:off x="7464302" y="3362459"/>
            <a:ext cx="3459480" cy="3020367"/>
          </a:xfrm>
          <a:prstGeom prst="rect">
            <a:avLst/>
          </a:prstGeom>
          <a:noFill/>
        </p:spPr>
      </p:pic>
    </p:spTree>
    <p:extLst>
      <p:ext uri="{BB962C8B-B14F-4D97-AF65-F5344CB8AC3E}">
        <p14:creationId xmlns:p14="http://schemas.microsoft.com/office/powerpoint/2010/main" val="1628459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 - Else</a:t>
            </a:r>
          </a:p>
        </p:txBody>
      </p:sp>
      <p:sp>
        <p:nvSpPr>
          <p:cNvPr id="4" name="Rectangle 3"/>
          <p:cNvSpPr/>
          <p:nvPr/>
        </p:nvSpPr>
        <p:spPr>
          <a:xfrm>
            <a:off x="1014484" y="2389365"/>
            <a:ext cx="6096000" cy="2185214"/>
          </a:xfrm>
          <a:prstGeom prst="rect">
            <a:avLst/>
          </a:prstGeom>
        </p:spPr>
        <p:txBody>
          <a:bodyPr>
            <a:spAutoFit/>
          </a:bodyPr>
          <a:lstStyle/>
          <a:p>
            <a:pPr marR="0" lvl="0">
              <a:spcBef>
                <a:spcPts val="0"/>
              </a:spcBef>
              <a:spcAft>
                <a:spcPts val="0"/>
              </a:spcAft>
              <a:tabLst>
                <a:tab pos="533400" algn="l"/>
              </a:tabLst>
            </a:pPr>
            <a:r>
              <a:rPr lang="en-US" b="1" dirty="0">
                <a:latin typeface="Cambria" panose="02040503050406030204" pitchFamily="18" charset="0"/>
                <a:ea typeface="Cambria" panose="02040503050406030204" pitchFamily="18" charset="0"/>
                <a:cs typeface="Cambria" panose="02040503050406030204" pitchFamily="18" charset="0"/>
              </a:rPr>
              <a:t>Examples …….</a:t>
            </a:r>
          </a:p>
          <a:p>
            <a:pPr marR="0" lvl="0">
              <a:spcBef>
                <a:spcPts val="0"/>
              </a:spcBef>
              <a:spcAft>
                <a:spcPts val="0"/>
              </a:spcAft>
              <a:tabLst>
                <a:tab pos="533400" algn="l"/>
              </a:tabLst>
            </a:pPr>
            <a:endParaRPr lang="en-US" dirty="0">
              <a:latin typeface="Cambria" panose="02040503050406030204" pitchFamily="18" charset="0"/>
              <a:ea typeface="Cambria" panose="02040503050406030204" pitchFamily="18" charset="0"/>
              <a:cs typeface="Cambria" panose="020405030504060302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odd or even number</a:t>
            </a: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positive or negative number</a:t>
            </a: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Eligibility for Voting</a:t>
            </a: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Greatest or Smallest Number </a:t>
            </a:r>
          </a:p>
          <a:p>
            <a:pPr marL="342900" marR="0" lvl="0" indent="-342900">
              <a:spcBef>
                <a:spcPts val="0"/>
              </a:spcBef>
              <a:spcAft>
                <a:spcPts val="0"/>
              </a:spcAft>
              <a:buFont typeface="+mj-lt"/>
              <a:buAutoNum type="arabicPeriod"/>
              <a:tabLst>
                <a:tab pos="533400" algn="l"/>
              </a:tabLst>
            </a:pPr>
            <a:r>
              <a:rPr lang="en-US" sz="1400" dirty="0">
                <a:effectLst/>
                <a:latin typeface="Cambria" panose="02040503050406030204" pitchFamily="18" charset="0"/>
                <a:ea typeface="Cambria" panose="02040503050406030204" pitchFamily="18" charset="0"/>
              </a:rPr>
              <a:t>,…….</a:t>
            </a:r>
          </a:p>
          <a:p>
            <a:pPr marL="342900" marR="0" lvl="0" indent="-342900">
              <a:spcBef>
                <a:spcPts val="0"/>
              </a:spcBef>
              <a:spcAft>
                <a:spcPts val="0"/>
              </a:spcAft>
              <a:buFont typeface="+mj-lt"/>
              <a:buAutoNum type="arabicPeriod"/>
              <a:tabLst>
                <a:tab pos="533400" algn="l"/>
              </a:tabLst>
            </a:pPr>
            <a:r>
              <a:rPr lang="en-US" sz="1400" dirty="0">
                <a:latin typeface="Cambria" panose="02040503050406030204" pitchFamily="18" charset="0"/>
                <a:ea typeface="Cambria" panose="02040503050406030204" pitchFamily="18" charset="0"/>
              </a:rPr>
              <a:t>…….</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91188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Chained Conditionals</a:t>
            </a:r>
          </a:p>
        </p:txBody>
      </p:sp>
      <p:sp>
        <p:nvSpPr>
          <p:cNvPr id="4" name="Rectangle 3"/>
          <p:cNvSpPr/>
          <p:nvPr/>
        </p:nvSpPr>
        <p:spPr>
          <a:xfrm>
            <a:off x="838200" y="2204509"/>
            <a:ext cx="10515600" cy="3919406"/>
          </a:xfrm>
          <a:prstGeom prst="rect">
            <a:avLst/>
          </a:prstGeom>
        </p:spPr>
        <p:txBody>
          <a:bodyPr wrap="square">
            <a:spAutoFit/>
          </a:bodyPr>
          <a:lstStyle/>
          <a:p>
            <a:pPr marL="342900" marR="0" lvl="0" indent="-342900">
              <a:spcBef>
                <a:spcPts val="0"/>
              </a:spcBef>
              <a:spcAft>
                <a:spcPts val="0"/>
              </a:spcAft>
              <a:buFont typeface="Wingdings" panose="05000000000000000000" pitchFamily="2" charset="2"/>
              <a:buChar char="q"/>
              <a:tabLst>
                <a:tab pos="990600" algn="l"/>
              </a:tabLst>
            </a:pPr>
            <a:r>
              <a:rPr lang="en-US" dirty="0">
                <a:ea typeface="Cambria" panose="02040503050406030204" pitchFamily="18" charset="0"/>
                <a:cs typeface="Cambria" panose="02040503050406030204" pitchFamily="18" charset="0"/>
              </a:rPr>
              <a:t>The </a:t>
            </a:r>
            <a:r>
              <a:rPr lang="en-US" dirty="0" err="1">
                <a:ea typeface="Cambria" panose="02040503050406030204" pitchFamily="18" charset="0"/>
                <a:cs typeface="Cambria" panose="02040503050406030204" pitchFamily="18" charset="0"/>
              </a:rPr>
              <a:t>elif</a:t>
            </a:r>
            <a:r>
              <a:rPr lang="en-US" dirty="0">
                <a:ea typeface="Cambria" panose="02040503050406030204" pitchFamily="18" charset="0"/>
                <a:cs typeface="Cambria" panose="02040503050406030204" pitchFamily="18" charset="0"/>
              </a:rPr>
              <a:t> is short for else if.</a:t>
            </a:r>
          </a:p>
          <a:p>
            <a:pPr marR="0" lvl="0">
              <a:spcBef>
                <a:spcPts val="0"/>
              </a:spcBef>
              <a:spcAft>
                <a:spcPts val="0"/>
              </a:spcAft>
              <a:tabLst>
                <a:tab pos="990600" algn="l"/>
              </a:tabLst>
            </a:pPr>
            <a:r>
              <a:rPr lang="en-US" dirty="0">
                <a:ea typeface="Symbol" panose="05050102010706020507" pitchFamily="18" charset="2"/>
                <a:cs typeface="Symbol" panose="05050102010706020507" pitchFamily="18" charset="2"/>
              </a:rPr>
              <a:t> </a:t>
            </a:r>
            <a:endParaRPr lang="en-US" dirty="0">
              <a:ea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tabLst>
                <a:tab pos="990600" algn="l"/>
              </a:tabLst>
            </a:pPr>
            <a:r>
              <a:rPr lang="en-US" dirty="0">
                <a:ea typeface="Cambria" panose="02040503050406030204" pitchFamily="18" charset="0"/>
                <a:cs typeface="Cambria" panose="02040503050406030204" pitchFamily="18" charset="0"/>
              </a:rPr>
              <a:t>This is used to check more than one condition.</a:t>
            </a:r>
            <a:endParaRPr lang="en-US" dirty="0">
              <a:ea typeface="Times New Roman" panose="02020603050405020304" pitchFamily="18" charset="0"/>
            </a:endParaRPr>
          </a:p>
          <a:p>
            <a:pPr>
              <a:lnSpc>
                <a:spcPts val="1155"/>
              </a:lnSpc>
            </a:pPr>
            <a:endParaRPr lang="en-US" dirty="0">
              <a:ea typeface="Times New Roman" panose="02020603050405020304" pitchFamily="18" charset="0"/>
            </a:endParaRPr>
          </a:p>
          <a:p>
            <a:pPr marL="342900" marR="88900" lvl="0" indent="-342900">
              <a:lnSpc>
                <a:spcPct val="128000"/>
              </a:lnSpc>
              <a:spcBef>
                <a:spcPts val="0"/>
              </a:spcBef>
              <a:spcAft>
                <a:spcPts val="0"/>
              </a:spcAft>
              <a:buFont typeface="Wingdings" panose="05000000000000000000" pitchFamily="2" charset="2"/>
              <a:buChar char="q"/>
              <a:tabLst>
                <a:tab pos="990600" algn="l"/>
              </a:tabLst>
            </a:pPr>
            <a:r>
              <a:rPr lang="en-US" dirty="0">
                <a:ea typeface="Cambria" panose="02040503050406030204" pitchFamily="18" charset="0"/>
                <a:cs typeface="Cambria" panose="02040503050406030204" pitchFamily="18" charset="0"/>
              </a:rPr>
              <a:t>If the condition1 is False, it checks the condition2 of the </a:t>
            </a:r>
            <a:r>
              <a:rPr lang="en-US" dirty="0" err="1">
                <a:ea typeface="Cambria" panose="02040503050406030204" pitchFamily="18" charset="0"/>
                <a:cs typeface="Cambria" panose="02040503050406030204" pitchFamily="18" charset="0"/>
              </a:rPr>
              <a:t>elif</a:t>
            </a:r>
            <a:r>
              <a:rPr lang="en-US" dirty="0">
                <a:ea typeface="Cambria" panose="02040503050406030204" pitchFamily="18" charset="0"/>
                <a:cs typeface="Cambria" panose="02040503050406030204" pitchFamily="18" charset="0"/>
              </a:rPr>
              <a:t> block. If all the conditions are False, then the else part is executed.</a:t>
            </a:r>
          </a:p>
          <a:p>
            <a:pPr marR="88900" lvl="0">
              <a:lnSpc>
                <a:spcPct val="128000"/>
              </a:lnSpc>
              <a:spcBef>
                <a:spcPts val="0"/>
              </a:spcBef>
              <a:spcAft>
                <a:spcPts val="0"/>
              </a:spcAft>
              <a:tabLst>
                <a:tab pos="990600" algn="l"/>
              </a:tabLst>
            </a:pPr>
            <a:endParaRPr lang="en-US" dirty="0">
              <a:ea typeface="Cambria" panose="02040503050406030204" pitchFamily="18" charset="0"/>
              <a:cs typeface="Cambria" panose="02040503050406030204" pitchFamily="18" charset="0"/>
            </a:endParaRPr>
          </a:p>
          <a:p>
            <a:pPr marL="342900" marR="88900" lvl="0" indent="-342900">
              <a:lnSpc>
                <a:spcPct val="128000"/>
              </a:lnSpc>
              <a:spcBef>
                <a:spcPts val="0"/>
              </a:spcBef>
              <a:spcAft>
                <a:spcPts val="0"/>
              </a:spcAft>
              <a:buFont typeface="Wingdings" panose="05000000000000000000" pitchFamily="2" charset="2"/>
              <a:buChar char="q"/>
              <a:tabLst>
                <a:tab pos="990600" algn="l"/>
              </a:tabLst>
            </a:pPr>
            <a:r>
              <a:rPr lang="en-US" dirty="0">
                <a:ea typeface="Cambria" panose="02040503050406030204" pitchFamily="18" charset="0"/>
                <a:cs typeface="Cambria" panose="02040503050406030204" pitchFamily="18" charset="0"/>
              </a:rPr>
              <a:t>Among the several if...</a:t>
            </a:r>
            <a:r>
              <a:rPr lang="en-US" dirty="0" err="1">
                <a:ea typeface="Cambria" panose="02040503050406030204" pitchFamily="18" charset="0"/>
                <a:cs typeface="Cambria" panose="02040503050406030204" pitchFamily="18" charset="0"/>
              </a:rPr>
              <a:t>elif</a:t>
            </a:r>
            <a:r>
              <a:rPr lang="en-US" dirty="0">
                <a:ea typeface="Cambria" panose="02040503050406030204" pitchFamily="18" charset="0"/>
                <a:cs typeface="Cambria" panose="02040503050406030204" pitchFamily="18" charset="0"/>
              </a:rPr>
              <a:t>...else part, only one part is executed according to the condition.</a:t>
            </a:r>
            <a:r>
              <a:rPr lang="en-US" dirty="0">
                <a:ea typeface="Cambria" panose="02040503050406030204" pitchFamily="18" charset="0"/>
              </a:rPr>
              <a:t> </a:t>
            </a:r>
          </a:p>
          <a:p>
            <a:pPr marR="88900" lvl="0">
              <a:lnSpc>
                <a:spcPct val="128000"/>
              </a:lnSpc>
              <a:spcBef>
                <a:spcPts val="0"/>
              </a:spcBef>
              <a:spcAft>
                <a:spcPts val="0"/>
              </a:spcAft>
              <a:tabLst>
                <a:tab pos="990600" algn="l"/>
              </a:tabLst>
            </a:pPr>
            <a:endParaRPr lang="en-US" dirty="0">
              <a:ea typeface="Cambria" panose="02040503050406030204" pitchFamily="18" charset="0"/>
            </a:endParaRPr>
          </a:p>
          <a:p>
            <a:pPr marL="342900" marR="88900" lvl="0" indent="-342900">
              <a:lnSpc>
                <a:spcPct val="128000"/>
              </a:lnSpc>
              <a:spcBef>
                <a:spcPts val="0"/>
              </a:spcBef>
              <a:spcAft>
                <a:spcPts val="0"/>
              </a:spcAft>
              <a:buFont typeface="Wingdings" panose="05000000000000000000" pitchFamily="2" charset="2"/>
              <a:buChar char="q"/>
              <a:tabLst>
                <a:tab pos="990600" algn="l"/>
              </a:tabLst>
            </a:pPr>
            <a:r>
              <a:rPr lang="en-US" dirty="0"/>
              <a:t>The if block can	have only	one else block. But	it can have multiple </a:t>
            </a:r>
            <a:r>
              <a:rPr lang="en-US" dirty="0" err="1"/>
              <a:t>elif</a:t>
            </a:r>
            <a:r>
              <a:rPr lang="en-US" dirty="0"/>
              <a:t> blocks.</a:t>
            </a:r>
          </a:p>
          <a:p>
            <a:pPr marR="88900" lvl="0">
              <a:lnSpc>
                <a:spcPct val="128000"/>
              </a:lnSpc>
              <a:spcBef>
                <a:spcPts val="0"/>
              </a:spcBef>
              <a:spcAft>
                <a:spcPts val="0"/>
              </a:spcAft>
              <a:tabLst>
                <a:tab pos="990600" algn="l"/>
              </a:tabLst>
            </a:pPr>
            <a:endParaRPr lang="en-US" dirty="0"/>
          </a:p>
          <a:p>
            <a:pPr marL="342900" marR="88900" lvl="0" indent="-342900">
              <a:lnSpc>
                <a:spcPct val="130000"/>
              </a:lnSpc>
              <a:spcBef>
                <a:spcPts val="0"/>
              </a:spcBef>
              <a:spcAft>
                <a:spcPts val="0"/>
              </a:spcAft>
              <a:buFont typeface="Wingdings" panose="05000000000000000000" pitchFamily="2" charset="2"/>
              <a:buChar char="q"/>
              <a:tabLst>
                <a:tab pos="990600" algn="l"/>
              </a:tabLst>
            </a:pPr>
            <a:r>
              <a:rPr lang="en-US" dirty="0"/>
              <a:t>The way to express a computation like that is a chained conditional</a:t>
            </a:r>
            <a:endParaRPr lang="en-US" dirty="0">
              <a:ea typeface="Cambria" panose="02040503050406030204" pitchFamily="18" charset="0"/>
              <a:cs typeface="Cambria" panose="02040503050406030204" pitchFamily="18" charset="0"/>
            </a:endParaRPr>
          </a:p>
        </p:txBody>
      </p:sp>
    </p:spTree>
    <p:extLst>
      <p:ext uri="{BB962C8B-B14F-4D97-AF65-F5344CB8AC3E}">
        <p14:creationId xmlns:p14="http://schemas.microsoft.com/office/powerpoint/2010/main" val="4024076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Chained Conditionals</a:t>
            </a:r>
          </a:p>
        </p:txBody>
      </p:sp>
      <p:sp>
        <p:nvSpPr>
          <p:cNvPr id="4" name="Rectangle 2"/>
          <p:cNvSpPr>
            <a:spLocks noChangeArrowheads="1"/>
          </p:cNvSpPr>
          <p:nvPr/>
        </p:nvSpPr>
        <p:spPr bwMode="auto">
          <a:xfrm>
            <a:off x="838200" y="2197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t>syntax:</a:t>
            </a: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145" name="Picture 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583" y="2657663"/>
            <a:ext cx="2343150" cy="21367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838200" y="26544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p:cNvPicPr/>
          <p:nvPr/>
        </p:nvPicPr>
        <p:blipFill>
          <a:blip r:embed="rId3"/>
          <a:srcRect/>
          <a:stretch>
            <a:fillRect/>
          </a:stretch>
        </p:blipFill>
        <p:spPr bwMode="auto">
          <a:xfrm>
            <a:off x="5344226" y="2197290"/>
            <a:ext cx="5818505" cy="3898265"/>
          </a:xfrm>
          <a:prstGeom prst="rect">
            <a:avLst/>
          </a:prstGeom>
          <a:noFill/>
        </p:spPr>
      </p:pic>
    </p:spTree>
    <p:extLst>
      <p:ext uri="{BB962C8B-B14F-4D97-AF65-F5344CB8AC3E}">
        <p14:creationId xmlns:p14="http://schemas.microsoft.com/office/powerpoint/2010/main" val="887733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Chained Conditionals</a:t>
            </a:r>
          </a:p>
        </p:txBody>
      </p:sp>
      <p:sp>
        <p:nvSpPr>
          <p:cNvPr id="4" name="Rectangle 3"/>
          <p:cNvSpPr/>
          <p:nvPr/>
        </p:nvSpPr>
        <p:spPr>
          <a:xfrm>
            <a:off x="838200" y="2761911"/>
            <a:ext cx="6096000" cy="1751570"/>
          </a:xfrm>
          <a:prstGeom prst="rect">
            <a:avLst/>
          </a:prstGeom>
        </p:spPr>
        <p:txBody>
          <a:bodyPr>
            <a:spAutoFit/>
          </a:bodyPr>
          <a:lstStyle/>
          <a:p>
            <a:pPr marR="0" lvl="0">
              <a:spcBef>
                <a:spcPts val="0"/>
              </a:spcBef>
              <a:spcAft>
                <a:spcPts val="0"/>
              </a:spcAft>
              <a:tabLst>
                <a:tab pos="457200" algn="l"/>
              </a:tabLst>
            </a:pPr>
            <a:r>
              <a:rPr lang="en-US" b="1" dirty="0">
                <a:latin typeface="Cambria" panose="02040503050406030204" pitchFamily="18" charset="0"/>
                <a:ea typeface="Cambria" panose="02040503050406030204" pitchFamily="18" charset="0"/>
                <a:cs typeface="Cambria" panose="02040503050406030204" pitchFamily="18" charset="0"/>
              </a:rPr>
              <a:t>Examples ……</a:t>
            </a:r>
          </a:p>
          <a:p>
            <a:pPr marR="0" lvl="0">
              <a:spcBef>
                <a:spcPts val="0"/>
              </a:spcBef>
              <a:spcAft>
                <a:spcPts val="0"/>
              </a:spcAft>
              <a:tabLst>
                <a:tab pos="457200" algn="l"/>
              </a:tabLst>
            </a:pPr>
            <a:endParaRPr lang="en-US" dirty="0">
              <a:latin typeface="Cambria" panose="02040503050406030204" pitchFamily="18" charset="0"/>
              <a:ea typeface="Cambria" panose="02040503050406030204" pitchFamily="18" charset="0"/>
              <a:cs typeface="Cambria" panose="02040503050406030204" pitchFamily="18" charset="0"/>
            </a:endParaRPr>
          </a:p>
          <a:p>
            <a:pPr marL="342900" marR="0" lvl="0" indent="-342900">
              <a:spcBef>
                <a:spcPts val="0"/>
              </a:spcBef>
              <a:spcAft>
                <a:spcPts val="0"/>
              </a:spcAft>
              <a:buFont typeface="+mj-lt"/>
              <a:buAutoNum type="arabicPeriod"/>
              <a:tabLst>
                <a:tab pos="457200" algn="l"/>
              </a:tabLst>
            </a:pPr>
            <a:r>
              <a:rPr lang="en-US" dirty="0">
                <a:latin typeface="Cambria" panose="02040503050406030204" pitchFamily="18" charset="0"/>
                <a:ea typeface="Cambria" panose="02040503050406030204" pitchFamily="18" charset="0"/>
                <a:cs typeface="Cambria" panose="02040503050406030204" pitchFamily="18" charset="0"/>
              </a:rPr>
              <a:t>student mark system</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en-US" dirty="0">
                <a:latin typeface="Cambria" panose="02040503050406030204" pitchFamily="18" charset="0"/>
                <a:ea typeface="Cambria" panose="02040503050406030204" pitchFamily="18" charset="0"/>
                <a:cs typeface="Cambria" panose="02040503050406030204" pitchFamily="18" charset="0"/>
              </a:rPr>
              <a:t>traffic light system</a:t>
            </a:r>
            <a:endParaRPr lang="en-US" sz="1400" dirty="0">
              <a:latin typeface="Times New Roman" panose="02020603050405020304" pitchFamily="18" charset="0"/>
              <a:ea typeface="Times New Roman" panose="02020603050405020304" pitchFamily="18" charset="0"/>
            </a:endParaRPr>
          </a:p>
          <a:p>
            <a:pPr marL="342900" marR="0" lvl="0" indent="-342900">
              <a:lnSpc>
                <a:spcPct val="99000"/>
              </a:lnSpc>
              <a:spcBef>
                <a:spcPts val="0"/>
              </a:spcBef>
              <a:spcAft>
                <a:spcPts val="0"/>
              </a:spcAft>
              <a:buFont typeface="+mj-lt"/>
              <a:buAutoNum type="arabicPeriod"/>
              <a:tabLst>
                <a:tab pos="457200" algn="l"/>
              </a:tabLst>
            </a:pPr>
            <a:r>
              <a:rPr lang="en-US" dirty="0">
                <a:latin typeface="Cambria" panose="02040503050406030204" pitchFamily="18" charset="0"/>
                <a:ea typeface="Cambria" panose="02040503050406030204" pitchFamily="18" charset="0"/>
                <a:cs typeface="Cambria" panose="02040503050406030204" pitchFamily="18" charset="0"/>
              </a:rPr>
              <a:t>compare two numbers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en-US" dirty="0">
                <a:latin typeface="Cambria" panose="02040503050406030204" pitchFamily="18" charset="0"/>
                <a:ea typeface="Cambria" panose="02040503050406030204" pitchFamily="18" charset="0"/>
                <a:cs typeface="Cambria" panose="02040503050406030204" pitchFamily="18" charset="0"/>
              </a:rPr>
              <a:t>roots of quadratic equation</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4100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Conditionals</a:t>
            </a:r>
          </a:p>
        </p:txBody>
      </p:sp>
      <p:sp>
        <p:nvSpPr>
          <p:cNvPr id="4" name="Rectangle 3"/>
          <p:cNvSpPr/>
          <p:nvPr/>
        </p:nvSpPr>
        <p:spPr>
          <a:xfrm>
            <a:off x="838200" y="2102016"/>
            <a:ext cx="10407555" cy="1937518"/>
          </a:xfrm>
          <a:prstGeom prst="rect">
            <a:avLst/>
          </a:prstGeom>
        </p:spPr>
        <p:txBody>
          <a:bodyPr wrap="square">
            <a:spAutoFit/>
          </a:bodyPr>
          <a:lstStyle/>
          <a:p>
            <a:pPr marL="76200" marR="88900" indent="457200" algn="just">
              <a:lnSpc>
                <a:spcPct val="109000"/>
              </a:lnSpc>
              <a:spcBef>
                <a:spcPts val="0"/>
              </a:spcBef>
              <a:spcAft>
                <a:spcPts val="0"/>
              </a:spcAft>
            </a:pPr>
            <a:r>
              <a:rPr lang="en-US" dirty="0">
                <a:latin typeface="Cambria" panose="02040503050406030204" pitchFamily="18" charset="0"/>
                <a:ea typeface="Cambria" panose="02040503050406030204" pitchFamily="18" charset="0"/>
                <a:cs typeface="Cambria" panose="02040503050406030204" pitchFamily="18" charset="0"/>
              </a:rPr>
              <a:t>One conditional can also be nested within another. </a:t>
            </a:r>
            <a:r>
              <a:rPr lang="en-US" dirty="0">
                <a:solidFill>
                  <a:srgbClr val="252830"/>
                </a:solidFill>
                <a:latin typeface="Cambria" panose="02040503050406030204" pitchFamily="18" charset="0"/>
                <a:ea typeface="Cambria" panose="02040503050406030204" pitchFamily="18" charset="0"/>
                <a:cs typeface="Cambria" panose="02040503050406030204" pitchFamily="18" charset="0"/>
              </a:rPr>
              <a:t>Any number of condition can</a:t>
            </a:r>
            <a:r>
              <a:rPr lang="en-US" dirty="0">
                <a:latin typeface="Cambria" panose="02040503050406030204" pitchFamily="18" charset="0"/>
                <a:ea typeface="Cambria" panose="02040503050406030204" pitchFamily="18" charset="0"/>
                <a:cs typeface="Cambria" panose="02040503050406030204" pitchFamily="18" charset="0"/>
              </a:rPr>
              <a:t> </a:t>
            </a:r>
            <a:r>
              <a:rPr lang="en-US" dirty="0">
                <a:solidFill>
                  <a:srgbClr val="252830"/>
                </a:solidFill>
                <a:latin typeface="Cambria" panose="02040503050406030204" pitchFamily="18" charset="0"/>
                <a:ea typeface="Cambria" panose="02040503050406030204" pitchFamily="18" charset="0"/>
                <a:cs typeface="Cambria" panose="02040503050406030204" pitchFamily="18" charset="0"/>
              </a:rPr>
              <a:t>be nested inside one another. In this, if the condition is true it checks another if condition1. If both the conditions are true statement1 get executed otherwise statement2 get execute. if the condition is false statement3 gets executed.</a:t>
            </a:r>
            <a:endParaRPr lang="en-US" sz="1400" dirty="0">
              <a:latin typeface="Times New Roman" panose="02020603050405020304" pitchFamily="18" charset="0"/>
              <a:ea typeface="Cambria" panose="02040503050406030204" pitchFamily="18" charset="0"/>
            </a:endParaRPr>
          </a:p>
          <a:p>
            <a:pPr marL="76200" marR="88900" indent="457200" algn="just">
              <a:lnSpc>
                <a:spcPct val="109000"/>
              </a:lnSpc>
              <a:spcBef>
                <a:spcPts val="0"/>
              </a:spcBef>
              <a:spcAft>
                <a:spcPts val="0"/>
              </a:spcAft>
            </a:pPr>
            <a:endParaRPr lang="en-US" dirty="0">
              <a:solidFill>
                <a:srgbClr val="252830"/>
              </a:solidFill>
              <a:latin typeface="Cambria" panose="02040503050406030204" pitchFamily="18" charset="0"/>
              <a:ea typeface="Cambria" panose="02040503050406030204" pitchFamily="18" charset="0"/>
              <a:cs typeface="Cambria" panose="02040503050406030204" pitchFamily="18" charset="0"/>
            </a:endParaRPr>
          </a:p>
          <a:p>
            <a:pPr marL="76200" marR="88900" indent="457200" algn="just">
              <a:lnSpc>
                <a:spcPct val="109000"/>
              </a:lnSpc>
              <a:spcBef>
                <a:spcPts val="0"/>
              </a:spcBef>
              <a:spcAft>
                <a:spcPts val="0"/>
              </a:spcAft>
            </a:pPr>
            <a:r>
              <a:rPr lang="en-US" sz="2000" b="1" dirty="0">
                <a:solidFill>
                  <a:srgbClr val="252830"/>
                </a:solidFill>
                <a:latin typeface="Cambria" panose="02040503050406030204" pitchFamily="18" charset="0"/>
                <a:ea typeface="Cambria" panose="02040503050406030204" pitchFamily="18" charset="0"/>
                <a:cs typeface="Cambria" panose="02040503050406030204" pitchFamily="18" charset="0"/>
              </a:rPr>
              <a:t>Syntax:</a:t>
            </a:r>
            <a:endParaRPr lang="en-US" sz="2000" b="1" dirty="0">
              <a:solidFill>
                <a:srgbClr val="252830"/>
              </a:solidFill>
              <a:latin typeface="Times New Roman" panose="02020603050405020304" pitchFamily="18" charset="0"/>
              <a:ea typeface="Cambria" panose="02040503050406030204" pitchFamily="18" charset="0"/>
              <a:cs typeface="Cambria" panose="02040503050406030204" pitchFamily="18" charset="0"/>
            </a:endParaRPr>
          </a:p>
        </p:txBody>
      </p:sp>
      <p:pic>
        <p:nvPicPr>
          <p:cNvPr id="12" name="Picture 11"/>
          <p:cNvPicPr/>
          <p:nvPr/>
        </p:nvPicPr>
        <p:blipFill>
          <a:blip r:embed="rId2"/>
          <a:srcRect/>
          <a:stretch>
            <a:fillRect/>
          </a:stretch>
        </p:blipFill>
        <p:spPr bwMode="auto">
          <a:xfrm>
            <a:off x="3330479" y="3852780"/>
            <a:ext cx="2953385" cy="2477770"/>
          </a:xfrm>
          <a:prstGeom prst="rect">
            <a:avLst/>
          </a:prstGeom>
          <a:noFill/>
        </p:spPr>
      </p:pic>
      <p:pic>
        <p:nvPicPr>
          <p:cNvPr id="13" name="Picture 12"/>
          <p:cNvPicPr/>
          <p:nvPr/>
        </p:nvPicPr>
        <p:blipFill>
          <a:blip r:embed="rId3"/>
          <a:srcRect/>
          <a:stretch>
            <a:fillRect/>
          </a:stretch>
        </p:blipFill>
        <p:spPr bwMode="auto">
          <a:xfrm>
            <a:off x="6600732" y="3254699"/>
            <a:ext cx="4961890" cy="3404870"/>
          </a:xfrm>
          <a:prstGeom prst="rect">
            <a:avLst/>
          </a:prstGeom>
          <a:noFill/>
        </p:spPr>
      </p:pic>
    </p:spTree>
    <p:extLst>
      <p:ext uri="{BB962C8B-B14F-4D97-AF65-F5344CB8AC3E}">
        <p14:creationId xmlns:p14="http://schemas.microsoft.com/office/powerpoint/2010/main" val="589838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Conditionals</a:t>
            </a:r>
          </a:p>
        </p:txBody>
      </p:sp>
      <p:sp>
        <p:nvSpPr>
          <p:cNvPr id="4" name="Rectangle 3"/>
          <p:cNvSpPr/>
          <p:nvPr/>
        </p:nvSpPr>
        <p:spPr>
          <a:xfrm>
            <a:off x="838200" y="2554336"/>
            <a:ext cx="6096000" cy="1200329"/>
          </a:xfrm>
          <a:prstGeom prst="rect">
            <a:avLst/>
          </a:prstGeom>
        </p:spPr>
        <p:txBody>
          <a:bodyPr>
            <a:spAutoFit/>
          </a:bodyPr>
          <a:lstStyle/>
          <a:p>
            <a:pPr marL="228600" marR="0">
              <a:spcBef>
                <a:spcPts val="0"/>
              </a:spcBef>
              <a:spcAft>
                <a:spcPts val="0"/>
              </a:spcAft>
            </a:pPr>
            <a:r>
              <a:rPr lang="en-US" b="1" dirty="0">
                <a:latin typeface="Cambria" panose="02040503050406030204" pitchFamily="18" charset="0"/>
                <a:ea typeface="Cambria" panose="02040503050406030204" pitchFamily="18" charset="0"/>
                <a:cs typeface="Cambria" panose="02040503050406030204" pitchFamily="18" charset="0"/>
              </a:rPr>
              <a:t>Examples ….</a:t>
            </a:r>
          </a:p>
          <a:p>
            <a:pPr marL="228600" marR="0">
              <a:spcBef>
                <a:spcPts val="0"/>
              </a:spcBef>
              <a:spcAft>
                <a:spcPts val="0"/>
              </a:spcAft>
            </a:pPr>
            <a:endParaRPr lang="en-US" dirty="0">
              <a:latin typeface="Cambria" panose="02040503050406030204" pitchFamily="18" charset="0"/>
              <a:ea typeface="Cambria" panose="02040503050406030204" pitchFamily="18" charset="0"/>
              <a:cs typeface="Cambria" panose="02040503050406030204" pitchFamily="18" charset="0"/>
            </a:endParaRPr>
          </a:p>
          <a:p>
            <a:pPr marL="228600" marR="0">
              <a:spcBef>
                <a:spcPts val="0"/>
              </a:spcBef>
              <a:spcAft>
                <a:spcPts val="0"/>
              </a:spcAft>
            </a:pPr>
            <a:r>
              <a:rPr lang="en-US" dirty="0">
                <a:latin typeface="Cambria" panose="02040503050406030204" pitchFamily="18" charset="0"/>
                <a:ea typeface="Cambria" panose="02040503050406030204" pitchFamily="18" charset="0"/>
                <a:cs typeface="Cambria" panose="02040503050406030204" pitchFamily="18" charset="0"/>
              </a:rPr>
              <a:t>1. greatest of three numbers</a:t>
            </a:r>
          </a:p>
          <a:p>
            <a:pPr marL="228600" marR="0">
              <a:spcBef>
                <a:spcPts val="0"/>
              </a:spcBef>
              <a:spcAft>
                <a:spcPts val="0"/>
              </a:spcAft>
            </a:pPr>
            <a:r>
              <a:rPr lang="en-US" b="1" dirty="0">
                <a:latin typeface="Cambria" panose="02040503050406030204" pitchFamily="18" charset="0"/>
                <a:ea typeface="Cambria" panose="02040503050406030204" pitchFamily="18" charset="0"/>
                <a:cs typeface="Cambria" panose="02040503050406030204" pitchFamily="18" charset="0"/>
              </a:rPr>
              <a:t>2. </a:t>
            </a:r>
            <a:r>
              <a:rPr lang="en-US" dirty="0">
                <a:latin typeface="Cambria" panose="02040503050406030204" pitchFamily="18" charset="0"/>
                <a:ea typeface="Cambria" panose="02040503050406030204" pitchFamily="18" charset="0"/>
                <a:cs typeface="Cambria" panose="02040503050406030204" pitchFamily="18" charset="0"/>
              </a:rPr>
              <a:t>positive negative or zero</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90704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Iterations and Control Statements</a:t>
            </a:r>
          </a:p>
        </p:txBody>
      </p:sp>
      <p:sp>
        <p:nvSpPr>
          <p:cNvPr id="3" name="Content Placeholder 2"/>
          <p:cNvSpPr>
            <a:spLocks noGrp="1"/>
          </p:cNvSpPr>
          <p:nvPr>
            <p:ph idx="1"/>
          </p:nvPr>
        </p:nvSpPr>
        <p:spPr/>
        <p:txBody>
          <a:bodyPr/>
          <a:lstStyle/>
          <a:p>
            <a:r>
              <a:rPr lang="en-US" dirty="0"/>
              <a:t>State ?</a:t>
            </a:r>
          </a:p>
          <a:p>
            <a:pPr marL="0" indent="0">
              <a:buNone/>
            </a:pPr>
            <a:endParaRPr lang="en-US" dirty="0"/>
          </a:p>
          <a:p>
            <a:r>
              <a:rPr lang="en-US" dirty="0"/>
              <a:t>While</a:t>
            </a:r>
          </a:p>
          <a:p>
            <a:r>
              <a:rPr lang="en-US" dirty="0"/>
              <a:t>For</a:t>
            </a:r>
          </a:p>
          <a:p>
            <a:r>
              <a:rPr lang="en-US" dirty="0"/>
              <a:t>Break</a:t>
            </a:r>
          </a:p>
          <a:p>
            <a:r>
              <a:rPr lang="en-US" dirty="0"/>
              <a:t>Continue</a:t>
            </a:r>
          </a:p>
          <a:p>
            <a:r>
              <a:rPr lang="en-US" dirty="0"/>
              <a:t>Pass</a:t>
            </a:r>
          </a:p>
        </p:txBody>
      </p:sp>
    </p:spTree>
    <p:extLst>
      <p:ext uri="{BB962C8B-B14F-4D97-AF65-F5344CB8AC3E}">
        <p14:creationId xmlns:p14="http://schemas.microsoft.com/office/powerpoint/2010/main" val="2787258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a:t>
            </a:r>
          </a:p>
        </p:txBody>
      </p:sp>
      <p:sp>
        <p:nvSpPr>
          <p:cNvPr id="3" name="Content Placeholder 2"/>
          <p:cNvSpPr>
            <a:spLocks noGrp="1"/>
          </p:cNvSpPr>
          <p:nvPr>
            <p:ph idx="1"/>
          </p:nvPr>
        </p:nvSpPr>
        <p:spPr/>
        <p:txBody>
          <a:bodyPr/>
          <a:lstStyle/>
          <a:p>
            <a:pPr marL="0" indent="0" algn="just">
              <a:buNone/>
            </a:pPr>
            <a:r>
              <a:rPr lang="en-US" dirty="0"/>
              <a:t>Transition from one process to another process under specified condition with in a time is called state.</a:t>
            </a:r>
          </a:p>
          <a:p>
            <a:pPr marL="0" indent="0">
              <a:buNone/>
            </a:pPr>
            <a:endParaRPr lang="en-US" dirty="0"/>
          </a:p>
        </p:txBody>
      </p:sp>
      <p:pic>
        <p:nvPicPr>
          <p:cNvPr id="3074" name="Picture 2" descr="3 Programming Jokes Of The Week | Developers, Designers &amp; Freelancers -  FreelancingGi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3299" y="3175085"/>
            <a:ext cx="5336669" cy="3001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73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a:t>
            </a:r>
          </a:p>
        </p:txBody>
      </p:sp>
      <p:sp>
        <p:nvSpPr>
          <p:cNvPr id="4" name="Rectangle 3"/>
          <p:cNvSpPr/>
          <p:nvPr/>
        </p:nvSpPr>
        <p:spPr>
          <a:xfrm>
            <a:off x="871750" y="2057591"/>
            <a:ext cx="10257430" cy="3017429"/>
          </a:xfrm>
          <a:prstGeom prst="rect">
            <a:avLst/>
          </a:prstGeom>
        </p:spPr>
        <p:txBody>
          <a:bodyPr wrap="square">
            <a:spAutoFit/>
          </a:bodyPr>
          <a:lstStyle/>
          <a:p>
            <a:pPr marL="342900" marR="88900" lvl="0" indent="-342900" algn="just">
              <a:lnSpc>
                <a:spcPct val="97000"/>
              </a:lnSpc>
              <a:spcBef>
                <a:spcPts val="0"/>
              </a:spcBef>
              <a:spcAft>
                <a:spcPts val="0"/>
              </a:spcAft>
              <a:buFont typeface="Wingdings" panose="05000000000000000000" pitchFamily="2" charset="2"/>
              <a:buChar char="v"/>
              <a:tabLst>
                <a:tab pos="927100" algn="l"/>
              </a:tabLst>
            </a:pPr>
            <a:r>
              <a:rPr lang="en-US" dirty="0">
                <a:latin typeface="Cambria" panose="02040503050406030204" pitchFamily="18" charset="0"/>
                <a:ea typeface="Cambria" panose="02040503050406030204" pitchFamily="18" charset="0"/>
                <a:cs typeface="Cambria" panose="02040503050406030204" pitchFamily="18" charset="0"/>
              </a:rPr>
              <a:t>While loop statement in Python is used to repeatedly executes set of statement as long as a given condition is true.</a:t>
            </a:r>
          </a:p>
          <a:p>
            <a:pPr marL="342900" marR="88900" lvl="0" indent="-342900" algn="just">
              <a:lnSpc>
                <a:spcPct val="97000"/>
              </a:lnSpc>
              <a:spcBef>
                <a:spcPts val="0"/>
              </a:spcBef>
              <a:spcAft>
                <a:spcPts val="0"/>
              </a:spcAft>
              <a:buFont typeface="Wingdings" panose="05000000000000000000" pitchFamily="2" charset="2"/>
              <a:buChar char="v"/>
              <a:tabLst>
                <a:tab pos="927100" algn="l"/>
              </a:tabLst>
            </a:pPr>
            <a:endParaRPr lang="en-US" sz="1400" dirty="0">
              <a:latin typeface="Times New Roman" panose="02020603050405020304" pitchFamily="18" charset="0"/>
              <a:ea typeface="Times New Roman" panose="02020603050405020304" pitchFamily="18" charset="0"/>
            </a:endParaRPr>
          </a:p>
          <a:p>
            <a:pPr algn="just">
              <a:lnSpc>
                <a:spcPts val="225"/>
              </a:lnSpc>
            </a:pPr>
            <a:endParaRPr lang="en-US" sz="14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Wingdings" panose="05000000000000000000" pitchFamily="2" charset="2"/>
              <a:buChar char="v"/>
              <a:tabLst>
                <a:tab pos="927100" algn="l"/>
              </a:tabLst>
            </a:pPr>
            <a:r>
              <a:rPr lang="en-US" dirty="0">
                <a:latin typeface="Cambria" panose="02040503050406030204" pitchFamily="18" charset="0"/>
                <a:ea typeface="Cambria" panose="02040503050406030204" pitchFamily="18" charset="0"/>
                <a:cs typeface="Cambria" panose="02040503050406030204" pitchFamily="18" charset="0"/>
              </a:rPr>
              <a:t>In while loop, test expression is checked first. The body of the loop is</a:t>
            </a:r>
            <a:r>
              <a:rPr lang="en-US" sz="1400" dirty="0">
                <a:latin typeface="Times New Roman" panose="02020603050405020304" pitchFamily="18" charset="0"/>
                <a:ea typeface="Cambria" panose="02040503050406030204" pitchFamily="18" charset="0"/>
              </a:rPr>
              <a:t> </a:t>
            </a:r>
            <a:r>
              <a:rPr lang="en-US" dirty="0">
                <a:latin typeface="Cambria" panose="02040503050406030204" pitchFamily="18" charset="0"/>
                <a:ea typeface="Cambria" panose="02040503050406030204" pitchFamily="18" charset="0"/>
                <a:cs typeface="Cambria" panose="02040503050406030204" pitchFamily="18" charset="0"/>
              </a:rPr>
              <a:t>entered only if the </a:t>
            </a:r>
            <a:r>
              <a:rPr lang="en-US" dirty="0" err="1">
                <a:latin typeface="Cambria" panose="02040503050406030204" pitchFamily="18" charset="0"/>
                <a:ea typeface="Cambria" panose="02040503050406030204" pitchFamily="18" charset="0"/>
                <a:cs typeface="Cambria" panose="02040503050406030204" pitchFamily="18" charset="0"/>
              </a:rPr>
              <a:t>test_expression</a:t>
            </a:r>
            <a:r>
              <a:rPr lang="en-US" dirty="0">
                <a:latin typeface="Cambria" panose="02040503050406030204" pitchFamily="18" charset="0"/>
                <a:ea typeface="Cambria" panose="02040503050406030204" pitchFamily="18" charset="0"/>
                <a:cs typeface="Cambria" panose="02040503050406030204" pitchFamily="18" charset="0"/>
              </a:rPr>
              <a:t> is True. After one iteration, the test expression is checked again. This process continues until the </a:t>
            </a:r>
            <a:r>
              <a:rPr lang="en-US" dirty="0" err="1">
                <a:latin typeface="Cambria" panose="02040503050406030204" pitchFamily="18" charset="0"/>
                <a:ea typeface="Cambria" panose="02040503050406030204" pitchFamily="18" charset="0"/>
                <a:cs typeface="Cambria" panose="02040503050406030204" pitchFamily="18" charset="0"/>
              </a:rPr>
              <a:t>test_expression</a:t>
            </a:r>
            <a:r>
              <a:rPr lang="en-US" dirty="0">
                <a:latin typeface="Cambria" panose="02040503050406030204" pitchFamily="18" charset="0"/>
                <a:ea typeface="Cambria" panose="02040503050406030204" pitchFamily="18" charset="0"/>
                <a:cs typeface="Cambria" panose="02040503050406030204" pitchFamily="18" charset="0"/>
              </a:rPr>
              <a:t> evaluates to False.</a:t>
            </a:r>
          </a:p>
          <a:p>
            <a:pPr marR="0" lvl="0" algn="just">
              <a:spcBef>
                <a:spcPts val="0"/>
              </a:spcBef>
              <a:spcAft>
                <a:spcPts val="0"/>
              </a:spcAft>
              <a:tabLst>
                <a:tab pos="927100" algn="l"/>
              </a:tabLst>
            </a:pPr>
            <a:endParaRPr lang="en-US" sz="1400" dirty="0">
              <a:latin typeface="Times New Roman" panose="02020603050405020304" pitchFamily="18" charset="0"/>
              <a:ea typeface="Cambria" panose="02040503050406030204" pitchFamily="18" charset="0"/>
            </a:endParaRPr>
          </a:p>
          <a:p>
            <a:pPr marL="342900" marR="0" lvl="0" indent="-342900" algn="just">
              <a:spcBef>
                <a:spcPts val="0"/>
              </a:spcBef>
              <a:spcAft>
                <a:spcPts val="0"/>
              </a:spcAft>
              <a:buFont typeface="Wingdings" panose="05000000000000000000" pitchFamily="2" charset="2"/>
              <a:buChar char="v"/>
              <a:tabLst>
                <a:tab pos="927100" algn="l"/>
              </a:tabLst>
            </a:pPr>
            <a:r>
              <a:rPr lang="en-US" dirty="0">
                <a:latin typeface="Cambria" panose="02040503050406030204" pitchFamily="18" charset="0"/>
                <a:ea typeface="Cambria" panose="02040503050406030204" pitchFamily="18" charset="0"/>
                <a:cs typeface="Cambria" panose="02040503050406030204" pitchFamily="18" charset="0"/>
              </a:rPr>
              <a:t>In Python, the body of the while loop is determined through indentation.</a:t>
            </a:r>
          </a:p>
          <a:p>
            <a:pPr marR="0" lvl="0" algn="just">
              <a:spcBef>
                <a:spcPts val="0"/>
              </a:spcBef>
              <a:spcAft>
                <a:spcPts val="0"/>
              </a:spcAft>
              <a:tabLst>
                <a:tab pos="927100" algn="l"/>
              </a:tabLst>
            </a:pPr>
            <a:endParaRPr lang="en-US" sz="1400" dirty="0">
              <a:latin typeface="Times New Roman" panose="02020603050405020304" pitchFamily="18" charset="0"/>
              <a:ea typeface="Times New Roman" panose="02020603050405020304" pitchFamily="18" charset="0"/>
            </a:endParaRPr>
          </a:p>
          <a:p>
            <a:pPr algn="just">
              <a:lnSpc>
                <a:spcPts val="585"/>
              </a:lnSpc>
            </a:pPr>
            <a:endParaRPr lang="en-US" sz="1400" dirty="0">
              <a:latin typeface="Times New Roman" panose="02020603050405020304" pitchFamily="18" charset="0"/>
              <a:ea typeface="Times New Roman" panose="02020603050405020304" pitchFamily="18" charset="0"/>
            </a:endParaRPr>
          </a:p>
          <a:p>
            <a:pPr marL="342900" marR="88900" lvl="0" indent="-342900" algn="just">
              <a:lnSpc>
                <a:spcPct val="97000"/>
              </a:lnSpc>
              <a:spcBef>
                <a:spcPts val="0"/>
              </a:spcBef>
              <a:spcAft>
                <a:spcPts val="0"/>
              </a:spcAft>
              <a:buFont typeface="Wingdings" panose="05000000000000000000" pitchFamily="2" charset="2"/>
              <a:buChar char="v"/>
              <a:tabLst>
                <a:tab pos="927100" algn="l"/>
              </a:tabLst>
            </a:pPr>
            <a:r>
              <a:rPr lang="en-US" dirty="0">
                <a:latin typeface="Cambria" panose="02040503050406030204" pitchFamily="18" charset="0"/>
                <a:ea typeface="Cambria" panose="02040503050406030204" pitchFamily="18" charset="0"/>
                <a:cs typeface="Cambria" panose="02040503050406030204" pitchFamily="18" charset="0"/>
              </a:rPr>
              <a:t>The statements inside the while starts with indentation and the first </a:t>
            </a:r>
            <a:r>
              <a:rPr lang="en-US" dirty="0" err="1">
                <a:latin typeface="Cambria" panose="02040503050406030204" pitchFamily="18" charset="0"/>
                <a:ea typeface="Cambria" panose="02040503050406030204" pitchFamily="18" charset="0"/>
                <a:cs typeface="Cambria" panose="02040503050406030204" pitchFamily="18" charset="0"/>
              </a:rPr>
              <a:t>unindented</a:t>
            </a:r>
            <a:r>
              <a:rPr lang="en-US" dirty="0">
                <a:latin typeface="Cambria" panose="02040503050406030204" pitchFamily="18" charset="0"/>
                <a:ea typeface="Cambria" panose="02040503050406030204" pitchFamily="18" charset="0"/>
                <a:cs typeface="Cambria" panose="02040503050406030204" pitchFamily="18" charset="0"/>
              </a:rPr>
              <a:t> line marks the end.</a:t>
            </a:r>
            <a:endParaRPr lang="en-US" sz="1400" dirty="0">
              <a:effectLst/>
              <a:latin typeface="Times New Roman" panose="02020603050405020304" pitchFamily="18" charset="0"/>
              <a:ea typeface="Times New Roman" panose="02020603050405020304" pitchFamily="18" charset="0"/>
            </a:endParaRPr>
          </a:p>
        </p:txBody>
      </p:sp>
      <p:pic>
        <p:nvPicPr>
          <p:cNvPr id="5" name="Picture 4"/>
          <p:cNvPicPr/>
          <p:nvPr/>
        </p:nvPicPr>
        <p:blipFill>
          <a:blip r:embed="rId2"/>
          <a:srcRect/>
          <a:stretch>
            <a:fillRect/>
          </a:stretch>
        </p:blipFill>
        <p:spPr bwMode="auto">
          <a:xfrm>
            <a:off x="2606708" y="5075020"/>
            <a:ext cx="6787515" cy="1621155"/>
          </a:xfrm>
          <a:prstGeom prst="rect">
            <a:avLst/>
          </a:prstGeom>
          <a:noFill/>
        </p:spPr>
      </p:pic>
    </p:spTree>
    <p:extLst>
      <p:ext uri="{BB962C8B-B14F-4D97-AF65-F5344CB8AC3E}">
        <p14:creationId xmlns:p14="http://schemas.microsoft.com/office/powerpoint/2010/main" val="578158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a:t>
            </a:r>
          </a:p>
        </p:txBody>
      </p:sp>
      <p:pic>
        <p:nvPicPr>
          <p:cNvPr id="4" name="Picture 3"/>
          <p:cNvPicPr/>
          <p:nvPr/>
        </p:nvPicPr>
        <p:blipFill>
          <a:blip r:embed="rId2"/>
          <a:srcRect/>
          <a:stretch>
            <a:fillRect/>
          </a:stretch>
        </p:blipFill>
        <p:spPr bwMode="auto">
          <a:xfrm>
            <a:off x="3275462" y="1446662"/>
            <a:ext cx="4435523" cy="4981433"/>
          </a:xfrm>
          <a:prstGeom prst="rect">
            <a:avLst/>
          </a:prstGeom>
          <a:noFill/>
        </p:spPr>
      </p:pic>
    </p:spTree>
    <p:extLst>
      <p:ext uri="{BB962C8B-B14F-4D97-AF65-F5344CB8AC3E}">
        <p14:creationId xmlns:p14="http://schemas.microsoft.com/office/powerpoint/2010/main" val="1689855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a:t>
            </a:r>
          </a:p>
        </p:txBody>
      </p:sp>
      <p:sp>
        <p:nvSpPr>
          <p:cNvPr id="4" name="Rectangle 3"/>
          <p:cNvSpPr/>
          <p:nvPr/>
        </p:nvSpPr>
        <p:spPr>
          <a:xfrm>
            <a:off x="1000834" y="2482129"/>
            <a:ext cx="10352965" cy="2308324"/>
          </a:xfrm>
          <a:prstGeom prst="rect">
            <a:avLst/>
          </a:prstGeom>
        </p:spPr>
        <p:txBody>
          <a:bodyPr wrap="square">
            <a:spAutoFit/>
          </a:bodyPr>
          <a:lstStyle/>
          <a:p>
            <a:pPr marR="0" lvl="0">
              <a:spcBef>
                <a:spcPts val="0"/>
              </a:spcBef>
              <a:spcAft>
                <a:spcPts val="0"/>
              </a:spcAft>
              <a:tabLst>
                <a:tab pos="533400" algn="l"/>
              </a:tabLst>
            </a:pPr>
            <a:r>
              <a:rPr lang="en-US" b="1" dirty="0">
                <a:latin typeface="Cambria" panose="02040503050406030204" pitchFamily="18" charset="0"/>
                <a:ea typeface="Cambria" panose="02040503050406030204" pitchFamily="18" charset="0"/>
                <a:cs typeface="Cambria" panose="02040503050406030204" pitchFamily="18" charset="0"/>
              </a:rPr>
              <a:t>Examples …….</a:t>
            </a:r>
          </a:p>
          <a:p>
            <a:pPr marR="0" lvl="0">
              <a:spcBef>
                <a:spcPts val="0"/>
              </a:spcBef>
              <a:spcAft>
                <a:spcPts val="0"/>
              </a:spcAft>
              <a:tabLst>
                <a:tab pos="533400" algn="l"/>
              </a:tabLst>
            </a:pPr>
            <a:endParaRPr lang="en-US" dirty="0">
              <a:latin typeface="Cambria" panose="02040503050406030204" pitchFamily="18" charset="0"/>
              <a:ea typeface="Cambria" panose="02040503050406030204" pitchFamily="18" charset="0"/>
              <a:cs typeface="Cambria" panose="020405030504060302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find sum of n numbers: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find factorial of a number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find sum of digits of a number: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Reverse the given number: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find number is Armstrong number or not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check the number is palindrome or not</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22725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a:t>
            </a:r>
          </a:p>
        </p:txBody>
      </p:sp>
      <p:sp>
        <p:nvSpPr>
          <p:cNvPr id="4" name="Rectangle 3"/>
          <p:cNvSpPr/>
          <p:nvPr/>
        </p:nvSpPr>
        <p:spPr>
          <a:xfrm>
            <a:off x="838200" y="1925303"/>
            <a:ext cx="10393907" cy="1694438"/>
          </a:xfrm>
          <a:prstGeom prst="rect">
            <a:avLst/>
          </a:prstGeom>
        </p:spPr>
        <p:txBody>
          <a:bodyPr wrap="square">
            <a:spAutoFit/>
          </a:bodyPr>
          <a:lstStyle/>
          <a:p>
            <a:pPr marL="342900" marR="0" lvl="0" indent="-342900">
              <a:lnSpc>
                <a:spcPct val="75000"/>
              </a:lnSpc>
              <a:spcBef>
                <a:spcPts val="0"/>
              </a:spcBef>
              <a:spcAft>
                <a:spcPts val="0"/>
              </a:spcAft>
              <a:buFont typeface="Wingdings" panose="05000000000000000000" pitchFamily="2" charset="2"/>
              <a:buChar char=""/>
              <a:tabLst>
                <a:tab pos="533400" algn="l"/>
              </a:tabLst>
            </a:pPr>
            <a:r>
              <a:rPr lang="en-US" sz="2400" b="1" i="1" u="sng" dirty="0">
                <a:latin typeface="Cambria" panose="02040503050406030204" pitchFamily="18" charset="0"/>
                <a:ea typeface="Cambria" panose="02040503050406030204" pitchFamily="18" charset="0"/>
                <a:cs typeface="Cambria" panose="02040503050406030204" pitchFamily="18" charset="0"/>
              </a:rPr>
              <a:t>for in range:</a:t>
            </a:r>
            <a:endParaRPr lang="en-US" sz="2400" dirty="0">
              <a:latin typeface="Times New Roman" panose="02020603050405020304" pitchFamily="18" charset="0"/>
              <a:ea typeface="Times New Roman" panose="02020603050405020304" pitchFamily="18" charset="0"/>
            </a:endParaRPr>
          </a:p>
          <a:p>
            <a:pPr>
              <a:lnSpc>
                <a:spcPts val="485"/>
              </a:lnSpc>
            </a:pPr>
            <a:r>
              <a:rPr lang="en-US" sz="2400" baseline="30000" dirty="0">
                <a:solidFill>
                  <a:srgbClr val="252830"/>
                </a:solidFill>
                <a:latin typeface="Wingdings" panose="05000000000000000000" pitchFamily="2" charset="2"/>
                <a:ea typeface="Wingdings" panose="05000000000000000000" pitchFamily="2" charset="2"/>
                <a:cs typeface="Wingdings" panose="05000000000000000000" pitchFamily="2" charset="2"/>
              </a:rPr>
              <a:t> </a:t>
            </a:r>
            <a:endParaRPr lang="en-US" sz="2400" dirty="0">
              <a:latin typeface="Times New Roman" panose="02020603050405020304" pitchFamily="18" charset="0"/>
              <a:ea typeface="Times New Roman" panose="02020603050405020304" pitchFamily="18" charset="0"/>
            </a:endParaRPr>
          </a:p>
          <a:p>
            <a:pPr marL="742950" marR="1003300" lvl="1" indent="-285750" algn="just">
              <a:lnSpc>
                <a:spcPct val="75000"/>
              </a:lnSpc>
              <a:spcBef>
                <a:spcPts val="0"/>
              </a:spcBef>
              <a:spcAft>
                <a:spcPts val="0"/>
              </a:spcAft>
              <a:buFont typeface="Wingdings" panose="05000000000000000000" pitchFamily="2" charset="2"/>
              <a:buChar char=""/>
              <a:tabLst>
                <a:tab pos="989330" algn="l"/>
              </a:tabLst>
            </a:pPr>
            <a:r>
              <a:rPr lang="en-US" sz="2400" dirty="0">
                <a:solidFill>
                  <a:srgbClr val="252830"/>
                </a:solidFill>
                <a:latin typeface="Cambria" panose="02040503050406030204" pitchFamily="18" charset="0"/>
                <a:ea typeface="Cambria" panose="02040503050406030204" pitchFamily="18" charset="0"/>
                <a:cs typeface="Cambria" panose="02040503050406030204" pitchFamily="18" charset="0"/>
              </a:rPr>
              <a:t>We can generate a sequence of numbers using range() function. range(10) will generate numbers from 0 to 9 (10 numbers).</a:t>
            </a:r>
            <a:endParaRPr lang="en-US" sz="2400" dirty="0">
              <a:latin typeface="Times New Roman" panose="02020603050405020304" pitchFamily="18" charset="0"/>
              <a:ea typeface="Times New Roman" panose="02020603050405020304" pitchFamily="18" charset="0"/>
            </a:endParaRPr>
          </a:p>
          <a:p>
            <a:pPr>
              <a:lnSpc>
                <a:spcPts val="5"/>
              </a:lnSpc>
            </a:pPr>
            <a:r>
              <a:rPr lang="en-US" sz="2400" baseline="30000" dirty="0">
                <a:solidFill>
                  <a:srgbClr val="252830"/>
                </a:solidFill>
                <a:latin typeface="Wingdings" panose="05000000000000000000" pitchFamily="2" charset="2"/>
                <a:ea typeface="Wingdings" panose="05000000000000000000" pitchFamily="2" charset="2"/>
                <a:cs typeface="Wingdings" panose="05000000000000000000" pitchFamily="2" charset="2"/>
              </a:rPr>
              <a:t> </a:t>
            </a:r>
            <a:endParaRPr lang="en-US" sz="2400" dirty="0">
              <a:latin typeface="Times New Roman" panose="02020603050405020304" pitchFamily="18" charset="0"/>
              <a:ea typeface="Times New Roman" panose="02020603050405020304" pitchFamily="18" charset="0"/>
            </a:endParaRPr>
          </a:p>
          <a:p>
            <a:pPr marL="742950" marR="0" lvl="1" indent="-285750" algn="just">
              <a:lnSpc>
                <a:spcPct val="97000"/>
              </a:lnSpc>
              <a:spcBef>
                <a:spcPts val="0"/>
              </a:spcBef>
              <a:spcAft>
                <a:spcPts val="0"/>
              </a:spcAft>
              <a:buFont typeface="Wingdings" panose="05000000000000000000" pitchFamily="2" charset="2"/>
              <a:buChar char=""/>
              <a:tabLst>
                <a:tab pos="990600" algn="l"/>
              </a:tabLst>
            </a:pPr>
            <a:r>
              <a:rPr lang="en-US" sz="2400" dirty="0">
                <a:solidFill>
                  <a:srgbClr val="252830"/>
                </a:solidFill>
                <a:latin typeface="Cambria" panose="02040503050406030204" pitchFamily="18" charset="0"/>
                <a:ea typeface="Cambria" panose="02040503050406030204" pitchFamily="18" charset="0"/>
                <a:cs typeface="Cambria" panose="02040503050406030204" pitchFamily="18" charset="0"/>
              </a:rPr>
              <a:t>In range function have to define the start, stop and step size</a:t>
            </a:r>
            <a:endParaRPr lang="en-US" sz="2400" dirty="0">
              <a:latin typeface="Times New Roman" panose="02020603050405020304" pitchFamily="18" charset="0"/>
              <a:ea typeface="Times New Roman" panose="02020603050405020304" pitchFamily="18" charset="0"/>
            </a:endParaRPr>
          </a:p>
          <a:p>
            <a:pPr>
              <a:lnSpc>
                <a:spcPts val="280"/>
              </a:lnSpc>
            </a:pPr>
            <a:r>
              <a:rPr lang="en-US" sz="2400" baseline="30000" dirty="0">
                <a:solidFill>
                  <a:srgbClr val="252830"/>
                </a:solidFill>
                <a:latin typeface="Wingdings" panose="05000000000000000000" pitchFamily="2" charset="2"/>
                <a:ea typeface="Wingdings" panose="05000000000000000000" pitchFamily="2" charset="2"/>
                <a:cs typeface="Wingdings" panose="05000000000000000000" pitchFamily="2" charset="2"/>
              </a:rPr>
              <a:t> </a:t>
            </a:r>
            <a:endParaRPr lang="en-US" sz="2400" dirty="0">
              <a:latin typeface="Times New Roman" panose="02020603050405020304" pitchFamily="18" charset="0"/>
              <a:ea typeface="Times New Roman" panose="02020603050405020304" pitchFamily="18" charset="0"/>
            </a:endParaRPr>
          </a:p>
          <a:p>
            <a:pPr marL="990600" marR="0">
              <a:lnSpc>
                <a:spcPct val="84000"/>
              </a:lnSpc>
              <a:spcBef>
                <a:spcPts val="0"/>
              </a:spcBef>
              <a:spcAft>
                <a:spcPts val="0"/>
              </a:spcAft>
            </a:pPr>
            <a:r>
              <a:rPr lang="en-US" sz="2400" dirty="0">
                <a:solidFill>
                  <a:srgbClr val="252830"/>
                </a:solidFill>
                <a:latin typeface="Cambria" panose="02040503050406030204" pitchFamily="18" charset="0"/>
                <a:ea typeface="Cambria" panose="02040503050406030204" pitchFamily="18" charset="0"/>
                <a:cs typeface="Cambria" panose="02040503050406030204" pitchFamily="18" charset="0"/>
              </a:rPr>
              <a:t>as range(</a:t>
            </a:r>
            <a:r>
              <a:rPr lang="en-US" sz="2400" dirty="0" err="1">
                <a:solidFill>
                  <a:srgbClr val="252830"/>
                </a:solidFill>
                <a:latin typeface="Cambria" panose="02040503050406030204" pitchFamily="18" charset="0"/>
                <a:ea typeface="Cambria" panose="02040503050406030204" pitchFamily="18" charset="0"/>
                <a:cs typeface="Cambria" panose="02040503050406030204" pitchFamily="18" charset="0"/>
              </a:rPr>
              <a:t>start,stop,step</a:t>
            </a:r>
            <a:r>
              <a:rPr lang="en-US" sz="2400" dirty="0">
                <a:solidFill>
                  <a:srgbClr val="252830"/>
                </a:solidFill>
                <a:latin typeface="Cambria" panose="02040503050406030204" pitchFamily="18" charset="0"/>
                <a:ea typeface="Cambria" panose="02040503050406030204" pitchFamily="18" charset="0"/>
                <a:cs typeface="Cambria" panose="02040503050406030204" pitchFamily="18" charset="0"/>
              </a:rPr>
              <a:t> size). step size defaults to 1 if not provided.</a:t>
            </a:r>
            <a:endParaRPr lang="en-US" sz="2400" dirty="0">
              <a:effectLst/>
              <a:latin typeface="Times New Roman" panose="02020603050405020304" pitchFamily="18" charset="0"/>
              <a:ea typeface="Times New Roman" panose="02020603050405020304" pitchFamily="18" charset="0"/>
            </a:endParaRPr>
          </a:p>
        </p:txBody>
      </p:sp>
      <p:pic>
        <p:nvPicPr>
          <p:cNvPr id="5" name="Picture 4"/>
          <p:cNvPicPr/>
          <p:nvPr/>
        </p:nvPicPr>
        <p:blipFill>
          <a:blip r:embed="rId2"/>
          <a:srcRect/>
          <a:stretch>
            <a:fillRect/>
          </a:stretch>
        </p:blipFill>
        <p:spPr bwMode="auto">
          <a:xfrm>
            <a:off x="7519698" y="3854356"/>
            <a:ext cx="2475230" cy="2630170"/>
          </a:xfrm>
          <a:prstGeom prst="rect">
            <a:avLst/>
          </a:prstGeom>
          <a:noFill/>
        </p:spPr>
      </p:pic>
      <p:pic>
        <p:nvPicPr>
          <p:cNvPr id="6" name="Picture 5"/>
          <p:cNvPicPr/>
          <p:nvPr/>
        </p:nvPicPr>
        <p:blipFill>
          <a:blip r:embed="rId3"/>
          <a:srcRect/>
          <a:stretch>
            <a:fillRect/>
          </a:stretch>
        </p:blipFill>
        <p:spPr bwMode="auto">
          <a:xfrm>
            <a:off x="2775044" y="4218211"/>
            <a:ext cx="4267200" cy="951230"/>
          </a:xfrm>
          <a:prstGeom prst="rect">
            <a:avLst/>
          </a:prstGeom>
          <a:noFill/>
        </p:spPr>
      </p:pic>
    </p:spTree>
    <p:extLst>
      <p:ext uri="{BB962C8B-B14F-4D97-AF65-F5344CB8AC3E}">
        <p14:creationId xmlns:p14="http://schemas.microsoft.com/office/powerpoint/2010/main" val="255086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a:t>
            </a:r>
          </a:p>
        </p:txBody>
      </p:sp>
      <p:sp>
        <p:nvSpPr>
          <p:cNvPr id="4" name="Rectangle 3"/>
          <p:cNvSpPr/>
          <p:nvPr/>
        </p:nvSpPr>
        <p:spPr>
          <a:xfrm>
            <a:off x="946244" y="2447900"/>
            <a:ext cx="10407555" cy="1966244"/>
          </a:xfrm>
          <a:prstGeom prst="rect">
            <a:avLst/>
          </a:prstGeom>
        </p:spPr>
        <p:txBody>
          <a:bodyPr wrap="square">
            <a:spAutoFit/>
          </a:bodyPr>
          <a:lstStyle/>
          <a:p>
            <a:pPr marL="76200" marR="0">
              <a:spcBef>
                <a:spcPts val="0"/>
              </a:spcBef>
              <a:spcAft>
                <a:spcPts val="0"/>
              </a:spcAft>
            </a:pPr>
            <a:r>
              <a:rPr lang="en-US" sz="2400" b="1" i="1" u="sng" dirty="0">
                <a:latin typeface="Cambria" panose="02040503050406030204" pitchFamily="18" charset="0"/>
                <a:ea typeface="Cambria" panose="02040503050406030204" pitchFamily="18" charset="0"/>
                <a:cs typeface="Cambria" panose="02040503050406030204" pitchFamily="18" charset="0"/>
              </a:rPr>
              <a:t>For in sequence</a:t>
            </a:r>
            <a:endParaRPr lang="en-US" sz="2400" dirty="0">
              <a:latin typeface="Times New Roman" panose="02020603050405020304" pitchFamily="18" charset="0"/>
              <a:ea typeface="Times New Roman" panose="02020603050405020304" pitchFamily="18" charset="0"/>
            </a:endParaRPr>
          </a:p>
          <a:p>
            <a:pPr>
              <a:lnSpc>
                <a:spcPts val="490"/>
              </a:lnSpc>
            </a:pPr>
            <a:r>
              <a:rPr lang="en-US" sz="2400" dirty="0">
                <a:latin typeface="Times New Roman" panose="02020603050405020304" pitchFamily="18" charset="0"/>
                <a:ea typeface="Times New Roman" panose="02020603050405020304" pitchFamily="18" charset="0"/>
              </a:rPr>
              <a:t> </a:t>
            </a:r>
          </a:p>
          <a:p>
            <a:pPr marL="342900" marR="342900" lvl="0" indent="-342900" algn="just">
              <a:lnSpc>
                <a:spcPct val="80000"/>
              </a:lnSpc>
              <a:spcBef>
                <a:spcPts val="0"/>
              </a:spcBef>
              <a:spcAft>
                <a:spcPts val="0"/>
              </a:spcAft>
              <a:buFont typeface="Wingdings" panose="05000000000000000000" pitchFamily="2" charset="2"/>
              <a:buChar char=""/>
              <a:tabLst>
                <a:tab pos="533400" algn="l"/>
              </a:tabLst>
            </a:pPr>
            <a:r>
              <a:rPr lang="en-US" sz="2400" dirty="0">
                <a:solidFill>
                  <a:srgbClr val="252830"/>
                </a:solidFill>
                <a:latin typeface="Cambria" panose="02040503050406030204" pitchFamily="18" charset="0"/>
                <a:ea typeface="Cambria" panose="02040503050406030204" pitchFamily="18" charset="0"/>
                <a:cs typeface="Cambria" panose="02040503050406030204" pitchFamily="18" charset="0"/>
              </a:rPr>
              <a:t>The for loop in Python is used to iterate over a sequence </a:t>
            </a:r>
            <a:r>
              <a:rPr lang="en-US" sz="2400" dirty="0">
                <a:solidFill>
                  <a:srgbClr val="000000"/>
                </a:solidFill>
                <a:latin typeface="Cambria" panose="02040503050406030204" pitchFamily="18" charset="0"/>
                <a:ea typeface="Cambria" panose="02040503050406030204" pitchFamily="18" charset="0"/>
                <a:cs typeface="Cambria" panose="02040503050406030204" pitchFamily="18" charset="0"/>
              </a:rPr>
              <a:t>(list, tuple, string).</a:t>
            </a:r>
            <a:r>
              <a:rPr lang="en-US" sz="2400" dirty="0">
                <a:solidFill>
                  <a:srgbClr val="252830"/>
                </a:solidFill>
                <a:latin typeface="Cambria" panose="02040503050406030204" pitchFamily="18" charset="0"/>
                <a:ea typeface="Cambria" panose="02040503050406030204" pitchFamily="18" charset="0"/>
                <a:cs typeface="Cambria" panose="02040503050406030204" pitchFamily="18" charset="0"/>
              </a:rPr>
              <a:t> Iterating over a sequence is called traversal. Loop continues until we reach the last element in the sequence.</a:t>
            </a:r>
            <a:endParaRPr lang="en-US" sz="2400" dirty="0">
              <a:latin typeface="Times New Roman" panose="02020603050405020304" pitchFamily="18" charset="0"/>
              <a:ea typeface="Times New Roman" panose="02020603050405020304" pitchFamily="18" charset="0"/>
            </a:endParaRPr>
          </a:p>
          <a:p>
            <a:pPr>
              <a:lnSpc>
                <a:spcPts val="15"/>
              </a:lnSpc>
            </a:pPr>
            <a:r>
              <a:rPr lang="en-US" sz="2400" baseline="30000" dirty="0">
                <a:solidFill>
                  <a:srgbClr val="252830"/>
                </a:solidFill>
                <a:latin typeface="Wingdings" panose="05000000000000000000" pitchFamily="2" charset="2"/>
                <a:ea typeface="Wingdings" panose="05000000000000000000" pitchFamily="2" charset="2"/>
                <a:cs typeface="Wingdings" panose="05000000000000000000" pitchFamily="2" charset="2"/>
              </a:rPr>
              <a:t> </a:t>
            </a:r>
            <a:endParaRPr lang="en-US" sz="2400" dirty="0">
              <a:latin typeface="Times New Roman" panose="02020603050405020304" pitchFamily="18" charset="0"/>
              <a:ea typeface="Times New Roman" panose="02020603050405020304" pitchFamily="18" charset="0"/>
            </a:endParaRPr>
          </a:p>
          <a:p>
            <a:pPr marL="342900" marR="0" lvl="0" indent="-342900" algn="just">
              <a:lnSpc>
                <a:spcPct val="75000"/>
              </a:lnSpc>
              <a:spcBef>
                <a:spcPts val="0"/>
              </a:spcBef>
              <a:spcAft>
                <a:spcPts val="0"/>
              </a:spcAft>
              <a:buFont typeface="Wingdings" panose="05000000000000000000" pitchFamily="2" charset="2"/>
              <a:buChar char=""/>
              <a:tabLst>
                <a:tab pos="533400" algn="l"/>
              </a:tabLst>
            </a:pPr>
            <a:r>
              <a:rPr lang="en-US" sz="2400" dirty="0">
                <a:solidFill>
                  <a:srgbClr val="252830"/>
                </a:solidFill>
                <a:latin typeface="Cambria" panose="02040503050406030204" pitchFamily="18" charset="0"/>
                <a:ea typeface="Cambria" panose="02040503050406030204" pitchFamily="18" charset="0"/>
                <a:cs typeface="Cambria" panose="02040503050406030204" pitchFamily="18" charset="0"/>
              </a:rPr>
              <a:t>The body of for loop is separated from the rest of the code using indentation.</a:t>
            </a:r>
            <a:endParaRPr lang="en-US" sz="2400" dirty="0">
              <a:effectLst/>
              <a:latin typeface="Times New Roman" panose="02020603050405020304" pitchFamily="18" charset="0"/>
              <a:ea typeface="Times New Roman" panose="02020603050405020304" pitchFamily="18" charset="0"/>
            </a:endParaRPr>
          </a:p>
        </p:txBody>
      </p:sp>
      <p:pic>
        <p:nvPicPr>
          <p:cNvPr id="5" name="Picture 4"/>
          <p:cNvPicPr/>
          <p:nvPr/>
        </p:nvPicPr>
        <p:blipFill>
          <a:blip r:embed="rId2"/>
          <a:srcRect/>
          <a:stretch>
            <a:fillRect/>
          </a:stretch>
        </p:blipFill>
        <p:spPr bwMode="auto">
          <a:xfrm>
            <a:off x="4917168" y="4765908"/>
            <a:ext cx="2465705" cy="810895"/>
          </a:xfrm>
          <a:prstGeom prst="rect">
            <a:avLst/>
          </a:prstGeom>
          <a:noFill/>
        </p:spPr>
      </p:pic>
    </p:spTree>
    <p:extLst>
      <p:ext uri="{BB962C8B-B14F-4D97-AF65-F5344CB8AC3E}">
        <p14:creationId xmlns:p14="http://schemas.microsoft.com/office/powerpoint/2010/main" val="2599050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a:t>
            </a:r>
          </a:p>
        </p:txBody>
      </p:sp>
      <p:sp>
        <p:nvSpPr>
          <p:cNvPr id="4" name="Rectangle 3"/>
          <p:cNvSpPr/>
          <p:nvPr/>
        </p:nvSpPr>
        <p:spPr>
          <a:xfrm>
            <a:off x="838200" y="2338041"/>
            <a:ext cx="6096000" cy="2585323"/>
          </a:xfrm>
          <a:prstGeom prst="rect">
            <a:avLst/>
          </a:prstGeom>
        </p:spPr>
        <p:txBody>
          <a:bodyPr>
            <a:spAutoFit/>
          </a:bodyPr>
          <a:lstStyle/>
          <a:p>
            <a:pPr marR="0" lvl="0">
              <a:spcBef>
                <a:spcPts val="0"/>
              </a:spcBef>
              <a:spcAft>
                <a:spcPts val="0"/>
              </a:spcAft>
              <a:tabLst>
                <a:tab pos="533400" algn="l"/>
              </a:tabLst>
            </a:pPr>
            <a:r>
              <a:rPr lang="en-US" b="1" dirty="0">
                <a:latin typeface="Cambria" panose="02040503050406030204" pitchFamily="18" charset="0"/>
                <a:ea typeface="Cambria" panose="02040503050406030204" pitchFamily="18" charset="0"/>
                <a:cs typeface="Cambria" panose="02040503050406030204" pitchFamily="18" charset="0"/>
              </a:rPr>
              <a:t>Examples ……</a:t>
            </a:r>
          </a:p>
          <a:p>
            <a:pPr marR="0" lvl="0">
              <a:spcBef>
                <a:spcPts val="0"/>
              </a:spcBef>
              <a:spcAft>
                <a:spcPts val="0"/>
              </a:spcAft>
              <a:tabLst>
                <a:tab pos="533400" algn="l"/>
              </a:tabLst>
            </a:pPr>
            <a:endParaRPr lang="en-US" dirty="0">
              <a:latin typeface="Cambria" panose="02040503050406030204" pitchFamily="18" charset="0"/>
              <a:ea typeface="Cambria" panose="02040503050406030204" pitchFamily="18" charset="0"/>
              <a:cs typeface="Cambria" panose="020405030504060302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print </a:t>
            </a:r>
            <a:r>
              <a:rPr lang="en-US" dirty="0" err="1">
                <a:latin typeface="Cambria" panose="02040503050406030204" pitchFamily="18" charset="0"/>
                <a:ea typeface="Cambria" panose="02040503050406030204" pitchFamily="18" charset="0"/>
                <a:cs typeface="Cambria" panose="02040503050406030204" pitchFamily="18" charset="0"/>
              </a:rPr>
              <a:t>nos</a:t>
            </a:r>
            <a:r>
              <a:rPr lang="en-US" dirty="0">
                <a:latin typeface="Cambria" panose="02040503050406030204" pitchFamily="18" charset="0"/>
                <a:ea typeface="Cambria" panose="02040503050406030204" pitchFamily="18" charset="0"/>
                <a:cs typeface="Cambria" panose="02040503050406030204" pitchFamily="18" charset="0"/>
              </a:rPr>
              <a:t> divisible by 5 not by 10: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print </a:t>
            </a:r>
            <a:r>
              <a:rPr lang="en-US" dirty="0" err="1">
                <a:latin typeface="Cambria" panose="02040503050406030204" pitchFamily="18" charset="0"/>
                <a:ea typeface="Cambria" panose="02040503050406030204" pitchFamily="18" charset="0"/>
                <a:cs typeface="Cambria" panose="02040503050406030204" pitchFamily="18" charset="0"/>
              </a:rPr>
              <a:t>fibonacci</a:t>
            </a:r>
            <a:r>
              <a:rPr lang="en-US" dirty="0">
                <a:latin typeface="Cambria" panose="02040503050406030204" pitchFamily="18" charset="0"/>
                <a:ea typeface="Cambria" panose="02040503050406030204" pitchFamily="18" charset="0"/>
                <a:cs typeface="Cambria" panose="02040503050406030204" pitchFamily="18" charset="0"/>
              </a:rPr>
              <a:t> series.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find factors of a given number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check the given number is perfect number or not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check the no is prime or not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Print first n prime numbers </a:t>
            </a:r>
            <a:endParaRPr lang="en-US" sz="14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533400" algn="l"/>
              </a:tabLst>
            </a:pPr>
            <a:r>
              <a:rPr lang="en-US" dirty="0">
                <a:latin typeface="Cambria" panose="02040503050406030204" pitchFamily="18" charset="0"/>
                <a:ea typeface="Cambria" panose="02040503050406030204" pitchFamily="18" charset="0"/>
                <a:cs typeface="Cambria" panose="02040503050406030204" pitchFamily="18" charset="0"/>
              </a:rPr>
              <a:t>Program to print prime numbers in range</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40174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Control Structures</a:t>
            </a:r>
          </a:p>
        </p:txBody>
      </p:sp>
      <p:sp>
        <p:nvSpPr>
          <p:cNvPr id="3" name="Content Placeholder 2"/>
          <p:cNvSpPr>
            <a:spLocks noGrp="1"/>
          </p:cNvSpPr>
          <p:nvPr>
            <p:ph idx="1"/>
          </p:nvPr>
        </p:nvSpPr>
        <p:spPr/>
        <p:txBody>
          <a:bodyPr/>
          <a:lstStyle/>
          <a:p>
            <a:r>
              <a:rPr lang="en-US" dirty="0"/>
              <a:t>Break</a:t>
            </a:r>
          </a:p>
          <a:p>
            <a:r>
              <a:rPr lang="en-US" dirty="0"/>
              <a:t>Continue</a:t>
            </a:r>
          </a:p>
          <a:p>
            <a:r>
              <a:rPr lang="en-US" dirty="0"/>
              <a:t>Pass</a:t>
            </a:r>
          </a:p>
        </p:txBody>
      </p:sp>
    </p:spTree>
    <p:extLst>
      <p:ext uri="{BB962C8B-B14F-4D97-AF65-F5344CB8AC3E}">
        <p14:creationId xmlns:p14="http://schemas.microsoft.com/office/powerpoint/2010/main" val="2494010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a:t>
            </a:r>
          </a:p>
        </p:txBody>
      </p:sp>
      <p:sp>
        <p:nvSpPr>
          <p:cNvPr id="4" name="Rectangle 3"/>
          <p:cNvSpPr/>
          <p:nvPr/>
        </p:nvSpPr>
        <p:spPr>
          <a:xfrm>
            <a:off x="973539" y="2159602"/>
            <a:ext cx="10258567" cy="1620957"/>
          </a:xfrm>
          <a:prstGeom prst="rect">
            <a:avLst/>
          </a:prstGeom>
        </p:spPr>
        <p:txBody>
          <a:bodyPr wrap="square">
            <a:spAutoFit/>
          </a:bodyPr>
          <a:lstStyle/>
          <a:p>
            <a:pPr marL="342900" marR="0" lvl="0" indent="-342900" algn="just">
              <a:lnSpc>
                <a:spcPct val="76000"/>
              </a:lnSpc>
              <a:spcBef>
                <a:spcPts val="0"/>
              </a:spcBef>
              <a:spcAft>
                <a:spcPts val="0"/>
              </a:spcAft>
              <a:buFont typeface="Wingdings" panose="05000000000000000000" pitchFamily="2" charset="2"/>
              <a:buChar char=""/>
              <a:tabLst>
                <a:tab pos="533400" algn="l"/>
              </a:tabLst>
            </a:pPr>
            <a:r>
              <a:rPr lang="en-US" sz="2000" dirty="0">
                <a:solidFill>
                  <a:srgbClr val="252830"/>
                </a:solidFill>
                <a:latin typeface="Cambria" panose="02040503050406030204" pitchFamily="18" charset="0"/>
                <a:ea typeface="Cambria" panose="02040503050406030204" pitchFamily="18" charset="0"/>
                <a:cs typeface="Cambria" panose="02040503050406030204" pitchFamily="18" charset="0"/>
              </a:rPr>
              <a:t>Break statements can alter the flow of a loop.</a:t>
            </a:r>
            <a:endParaRPr lang="en-US" sz="2000" dirty="0">
              <a:latin typeface="Times New Roman" panose="02020603050405020304" pitchFamily="18" charset="0"/>
              <a:ea typeface="Times New Roman" panose="02020603050405020304" pitchFamily="18" charset="0"/>
            </a:endParaRPr>
          </a:p>
          <a:p>
            <a:pPr algn="just">
              <a:lnSpc>
                <a:spcPts val="520"/>
              </a:lnSpc>
            </a:pPr>
            <a:r>
              <a:rPr lang="en-US" sz="2000" baseline="30000" dirty="0">
                <a:latin typeface="Wingdings" panose="05000000000000000000" pitchFamily="2" charset="2"/>
                <a:ea typeface="Wingdings" panose="05000000000000000000" pitchFamily="2" charset="2"/>
                <a:cs typeface="Wingdings" panose="05000000000000000000" pitchFamily="2" charset="2"/>
              </a:rPr>
              <a:t> </a:t>
            </a:r>
            <a:endParaRPr lang="en-US" sz="2000" dirty="0">
              <a:latin typeface="Times New Roman" panose="02020603050405020304" pitchFamily="18" charset="0"/>
              <a:ea typeface="Times New Roman" panose="02020603050405020304" pitchFamily="18" charset="0"/>
            </a:endParaRPr>
          </a:p>
          <a:p>
            <a:pPr marL="342900" marR="0" lvl="0" indent="-342900" algn="just">
              <a:lnSpc>
                <a:spcPct val="75000"/>
              </a:lnSpc>
              <a:spcBef>
                <a:spcPts val="0"/>
              </a:spcBef>
              <a:spcAft>
                <a:spcPts val="0"/>
              </a:spcAft>
              <a:buFont typeface="Wingdings" panose="05000000000000000000" pitchFamily="2" charset="2"/>
              <a:buChar char=""/>
              <a:tabLst>
                <a:tab pos="533400" algn="l"/>
              </a:tabLst>
            </a:pPr>
            <a:r>
              <a:rPr lang="en-US" sz="2000" dirty="0">
                <a:latin typeface="Cambria" panose="02040503050406030204" pitchFamily="18" charset="0"/>
                <a:ea typeface="Cambria" panose="02040503050406030204" pitchFamily="18" charset="0"/>
                <a:cs typeface="Cambria" panose="02040503050406030204" pitchFamily="18" charset="0"/>
              </a:rPr>
              <a:t>It terminates the current loop and executes the remaining statement outside the loop.</a:t>
            </a:r>
            <a:endParaRPr lang="en-US" sz="2000" dirty="0">
              <a:latin typeface="Times New Roman" panose="02020603050405020304" pitchFamily="18" charset="0"/>
              <a:ea typeface="Times New Roman" panose="02020603050405020304" pitchFamily="18" charset="0"/>
            </a:endParaRPr>
          </a:p>
          <a:p>
            <a:pPr algn="just">
              <a:lnSpc>
                <a:spcPts val="490"/>
              </a:lnSpc>
            </a:pPr>
            <a:r>
              <a:rPr lang="en-US" sz="2000" baseline="30000" dirty="0">
                <a:latin typeface="Wingdings" panose="05000000000000000000" pitchFamily="2" charset="2"/>
                <a:ea typeface="Wingdings" panose="05000000000000000000" pitchFamily="2" charset="2"/>
                <a:cs typeface="Wingdings" panose="05000000000000000000" pitchFamily="2" charset="2"/>
              </a:rPr>
              <a:t> </a:t>
            </a:r>
            <a:endParaRPr lang="en-US" sz="2000" dirty="0">
              <a:latin typeface="Times New Roman" panose="02020603050405020304" pitchFamily="18" charset="0"/>
              <a:ea typeface="Times New Roman" panose="02020603050405020304" pitchFamily="18" charset="0"/>
            </a:endParaRPr>
          </a:p>
          <a:p>
            <a:pPr marL="342900" marR="101600" lvl="0" indent="-342900" algn="just">
              <a:lnSpc>
                <a:spcPct val="76000"/>
              </a:lnSpc>
              <a:spcBef>
                <a:spcPts val="0"/>
              </a:spcBef>
              <a:spcAft>
                <a:spcPts val="0"/>
              </a:spcAft>
              <a:buFont typeface="Wingdings" panose="05000000000000000000" pitchFamily="2" charset="2"/>
              <a:buChar char=""/>
              <a:tabLst>
                <a:tab pos="533400" algn="l"/>
              </a:tabLst>
            </a:pPr>
            <a:r>
              <a:rPr lang="en-US" sz="2000" dirty="0">
                <a:latin typeface="Cambria" panose="02040503050406030204" pitchFamily="18" charset="0"/>
                <a:ea typeface="Cambria" panose="02040503050406030204" pitchFamily="18" charset="0"/>
                <a:cs typeface="Cambria" panose="02040503050406030204" pitchFamily="18" charset="0"/>
              </a:rPr>
              <a:t>If the loop has else statement, that will also gets terminated and come out of the loop completely.</a:t>
            </a:r>
          </a:p>
          <a:p>
            <a:pPr marL="342900" marR="101600" lvl="0" indent="-342900" algn="just">
              <a:lnSpc>
                <a:spcPct val="76000"/>
              </a:lnSpc>
              <a:spcBef>
                <a:spcPts val="0"/>
              </a:spcBef>
              <a:spcAft>
                <a:spcPts val="0"/>
              </a:spcAft>
              <a:buFont typeface="Wingdings" panose="05000000000000000000" pitchFamily="2" charset="2"/>
              <a:buChar char=""/>
              <a:tabLst>
                <a:tab pos="533400" algn="l"/>
              </a:tabLst>
            </a:pPr>
            <a:endParaRPr lang="en-US" sz="2000" dirty="0">
              <a:effectLst/>
              <a:latin typeface="Cambria" panose="02040503050406030204" pitchFamily="18" charset="0"/>
              <a:ea typeface="Cambria" panose="02040503050406030204" pitchFamily="18" charset="0"/>
            </a:endParaRPr>
          </a:p>
          <a:p>
            <a:pPr marR="101600" lvl="0" algn="just">
              <a:lnSpc>
                <a:spcPct val="76000"/>
              </a:lnSpc>
              <a:spcBef>
                <a:spcPts val="0"/>
              </a:spcBef>
              <a:spcAft>
                <a:spcPts val="0"/>
              </a:spcAft>
              <a:tabLst>
                <a:tab pos="533400" algn="l"/>
              </a:tabLst>
            </a:pPr>
            <a:r>
              <a:rPr lang="en-US" sz="2000" dirty="0">
                <a:latin typeface="Cambria" panose="02040503050406030204" pitchFamily="18" charset="0"/>
                <a:ea typeface="Cambria" panose="02040503050406030204" pitchFamily="18" charset="0"/>
              </a:rPr>
              <a:t>Syntax:  break</a:t>
            </a:r>
            <a:endParaRPr lang="en-US" sz="2000" dirty="0">
              <a:effectLst/>
              <a:latin typeface="Times New Roman" panose="02020603050405020304" pitchFamily="18" charset="0"/>
              <a:ea typeface="Times New Roman" panose="02020603050405020304" pitchFamily="18" charset="0"/>
            </a:endParaRPr>
          </a:p>
        </p:txBody>
      </p:sp>
      <p:pic>
        <p:nvPicPr>
          <p:cNvPr id="5" name="Picture 4"/>
          <p:cNvPicPr/>
          <p:nvPr/>
        </p:nvPicPr>
        <p:blipFill>
          <a:blip r:embed="rId2"/>
          <a:srcRect/>
          <a:stretch>
            <a:fillRect/>
          </a:stretch>
        </p:blipFill>
        <p:spPr bwMode="auto">
          <a:xfrm>
            <a:off x="2584194" y="3780559"/>
            <a:ext cx="3011170" cy="2173605"/>
          </a:xfrm>
          <a:prstGeom prst="rect">
            <a:avLst/>
          </a:prstGeom>
          <a:noFill/>
        </p:spPr>
      </p:pic>
      <p:pic>
        <p:nvPicPr>
          <p:cNvPr id="6" name="Picture 5"/>
          <p:cNvPicPr/>
          <p:nvPr/>
        </p:nvPicPr>
        <p:blipFill>
          <a:blip r:embed="rId3"/>
          <a:srcRect/>
          <a:stretch>
            <a:fillRect/>
          </a:stretch>
        </p:blipFill>
        <p:spPr bwMode="auto">
          <a:xfrm>
            <a:off x="7206019" y="3392587"/>
            <a:ext cx="2759710" cy="3157220"/>
          </a:xfrm>
          <a:prstGeom prst="rect">
            <a:avLst/>
          </a:prstGeom>
          <a:noFill/>
        </p:spPr>
      </p:pic>
    </p:spTree>
    <p:extLst>
      <p:ext uri="{BB962C8B-B14F-4D97-AF65-F5344CB8AC3E}">
        <p14:creationId xmlns:p14="http://schemas.microsoft.com/office/powerpoint/2010/main" val="330373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a:t>
            </a:r>
          </a:p>
        </p:txBody>
      </p:sp>
      <p:sp>
        <p:nvSpPr>
          <p:cNvPr id="3" name="Content Placeholder 2"/>
          <p:cNvSpPr>
            <a:spLocks noGrp="1"/>
          </p:cNvSpPr>
          <p:nvPr>
            <p:ph idx="1"/>
          </p:nvPr>
        </p:nvSpPr>
        <p:spPr/>
        <p:txBody>
          <a:bodyPr/>
          <a:lstStyle/>
          <a:p>
            <a:r>
              <a:rPr lang="en-US" dirty="0"/>
              <a:t>Examples ………</a:t>
            </a:r>
          </a:p>
        </p:txBody>
      </p:sp>
    </p:spTree>
    <p:extLst>
      <p:ext uri="{BB962C8B-B14F-4D97-AF65-F5344CB8AC3E}">
        <p14:creationId xmlns:p14="http://schemas.microsoft.com/office/powerpoint/2010/main" val="1618009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a:t>
            </a:r>
          </a:p>
        </p:txBody>
      </p:sp>
      <p:sp>
        <p:nvSpPr>
          <p:cNvPr id="4" name="Rectangle 3"/>
          <p:cNvSpPr/>
          <p:nvPr/>
        </p:nvSpPr>
        <p:spPr>
          <a:xfrm>
            <a:off x="838200" y="2221486"/>
            <a:ext cx="10352964" cy="945452"/>
          </a:xfrm>
          <a:prstGeom prst="rect">
            <a:avLst/>
          </a:prstGeom>
        </p:spPr>
        <p:txBody>
          <a:bodyPr wrap="square">
            <a:spAutoFit/>
          </a:bodyPr>
          <a:lstStyle/>
          <a:p>
            <a:pPr marL="76200" marR="88900" indent="457200">
              <a:lnSpc>
                <a:spcPct val="99000"/>
              </a:lnSpc>
              <a:spcBef>
                <a:spcPts val="0"/>
              </a:spcBef>
              <a:spcAft>
                <a:spcPts val="0"/>
              </a:spcAft>
            </a:pPr>
            <a:r>
              <a:rPr lang="en-US" dirty="0">
                <a:latin typeface="Cambria" panose="02040503050406030204" pitchFamily="18" charset="0"/>
                <a:ea typeface="Cambria" panose="02040503050406030204" pitchFamily="18" charset="0"/>
                <a:cs typeface="Cambria" panose="02040503050406030204" pitchFamily="18" charset="0"/>
              </a:rPr>
              <a:t>It terminates the current iteration and transfer the control to the next iteration in the loop.</a:t>
            </a:r>
          </a:p>
          <a:p>
            <a:pPr marL="76200" marR="88900" indent="457200">
              <a:lnSpc>
                <a:spcPct val="99000"/>
              </a:lnSpc>
              <a:spcBef>
                <a:spcPts val="0"/>
              </a:spcBef>
              <a:spcAft>
                <a:spcPts val="0"/>
              </a:spcAft>
            </a:pPr>
            <a:endParaRPr lang="en-US" sz="1400" dirty="0">
              <a:effectLst/>
              <a:latin typeface="Cambria" panose="02040503050406030204" pitchFamily="18" charset="0"/>
              <a:ea typeface="Cambria" panose="02040503050406030204" pitchFamily="18" charset="0"/>
            </a:endParaRPr>
          </a:p>
          <a:p>
            <a:pPr marL="76200" marR="88900" indent="457200">
              <a:lnSpc>
                <a:spcPct val="99000"/>
              </a:lnSpc>
              <a:spcBef>
                <a:spcPts val="0"/>
              </a:spcBef>
              <a:spcAft>
                <a:spcPts val="0"/>
              </a:spcAft>
            </a:pPr>
            <a:r>
              <a:rPr lang="en-US" sz="2400" dirty="0">
                <a:latin typeface="Cambria" panose="02040503050406030204" pitchFamily="18" charset="0"/>
                <a:ea typeface="Cambria" panose="02040503050406030204" pitchFamily="18" charset="0"/>
              </a:rPr>
              <a:t>Syntax: continue</a:t>
            </a:r>
            <a:endParaRPr lang="en-US" sz="2400" dirty="0">
              <a:effectLst/>
              <a:latin typeface="Times New Roman" panose="02020603050405020304" pitchFamily="18" charset="0"/>
              <a:ea typeface="Times New Roman" panose="02020603050405020304" pitchFamily="18" charset="0"/>
            </a:endParaRPr>
          </a:p>
        </p:txBody>
      </p:sp>
      <p:pic>
        <p:nvPicPr>
          <p:cNvPr id="6" name="Picture 5"/>
          <p:cNvPicPr/>
          <p:nvPr/>
        </p:nvPicPr>
        <p:blipFill>
          <a:blip r:embed="rId2"/>
          <a:srcRect/>
          <a:stretch>
            <a:fillRect/>
          </a:stretch>
        </p:blipFill>
        <p:spPr bwMode="auto">
          <a:xfrm>
            <a:off x="1878292" y="3697736"/>
            <a:ext cx="4136390" cy="1633855"/>
          </a:xfrm>
          <a:prstGeom prst="rect">
            <a:avLst/>
          </a:prstGeom>
          <a:noFill/>
        </p:spPr>
      </p:pic>
      <p:pic>
        <p:nvPicPr>
          <p:cNvPr id="7" name="Picture 6"/>
          <p:cNvPicPr/>
          <p:nvPr/>
        </p:nvPicPr>
        <p:blipFill>
          <a:blip r:embed="rId3"/>
          <a:srcRect/>
          <a:stretch>
            <a:fillRect/>
          </a:stretch>
        </p:blipFill>
        <p:spPr bwMode="auto">
          <a:xfrm>
            <a:off x="7365000" y="2761644"/>
            <a:ext cx="3221355" cy="3715385"/>
          </a:xfrm>
          <a:prstGeom prst="rect">
            <a:avLst/>
          </a:prstGeom>
          <a:noFill/>
        </p:spPr>
      </p:pic>
    </p:spTree>
    <p:extLst>
      <p:ext uri="{BB962C8B-B14F-4D97-AF65-F5344CB8AC3E}">
        <p14:creationId xmlns:p14="http://schemas.microsoft.com/office/powerpoint/2010/main" val="2627256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a:t>
            </a:r>
          </a:p>
        </p:txBody>
      </p:sp>
      <p:sp>
        <p:nvSpPr>
          <p:cNvPr id="3" name="Content Placeholder 2"/>
          <p:cNvSpPr>
            <a:spLocks noGrp="1"/>
          </p:cNvSpPr>
          <p:nvPr>
            <p:ph idx="1"/>
          </p:nvPr>
        </p:nvSpPr>
        <p:spPr/>
        <p:txBody>
          <a:bodyPr/>
          <a:lstStyle/>
          <a:p>
            <a:r>
              <a:rPr lang="en-US" dirty="0"/>
              <a:t>Examples ……</a:t>
            </a:r>
          </a:p>
        </p:txBody>
      </p:sp>
    </p:spTree>
    <p:extLst>
      <p:ext uri="{BB962C8B-B14F-4D97-AF65-F5344CB8AC3E}">
        <p14:creationId xmlns:p14="http://schemas.microsoft.com/office/powerpoint/2010/main" val="1456969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a:t>
            </a:r>
          </a:p>
        </p:txBody>
      </p:sp>
      <p:sp>
        <p:nvSpPr>
          <p:cNvPr id="4" name="Rectangle 3"/>
          <p:cNvSpPr/>
          <p:nvPr/>
        </p:nvSpPr>
        <p:spPr>
          <a:xfrm>
            <a:off x="946244" y="2154671"/>
            <a:ext cx="10012907" cy="2377574"/>
          </a:xfrm>
          <a:prstGeom prst="rect">
            <a:avLst/>
          </a:prstGeom>
        </p:spPr>
        <p:txBody>
          <a:bodyPr wrap="square">
            <a:spAutoFit/>
          </a:bodyPr>
          <a:lstStyle/>
          <a:p>
            <a:pPr marL="342900" marR="88900" lvl="0" indent="-342900">
              <a:lnSpc>
                <a:spcPct val="75000"/>
              </a:lnSpc>
              <a:spcBef>
                <a:spcPts val="0"/>
              </a:spcBef>
              <a:spcAft>
                <a:spcPts val="0"/>
              </a:spcAft>
              <a:buFont typeface="Wingdings" panose="05000000000000000000" pitchFamily="2" charset="2"/>
              <a:buChar char=""/>
              <a:tabLst>
                <a:tab pos="419100" algn="l"/>
              </a:tabLst>
            </a:pPr>
            <a:r>
              <a:rPr lang="en-US" dirty="0">
                <a:latin typeface="Cambria" panose="02040503050406030204" pitchFamily="18" charset="0"/>
                <a:ea typeface="Cambria" panose="02040503050406030204" pitchFamily="18" charset="0"/>
                <a:cs typeface="Cambria" panose="02040503050406030204" pitchFamily="18" charset="0"/>
              </a:rPr>
              <a:t>It is used when a statement is required syntactically but you don’t want any code to execute.</a:t>
            </a:r>
          </a:p>
          <a:p>
            <a:pPr marL="342900" marR="88900" lvl="0" indent="-342900">
              <a:lnSpc>
                <a:spcPct val="75000"/>
              </a:lnSpc>
              <a:spcBef>
                <a:spcPts val="0"/>
              </a:spcBef>
              <a:spcAft>
                <a:spcPts val="0"/>
              </a:spcAft>
              <a:buFont typeface="Wingdings" panose="05000000000000000000" pitchFamily="2" charset="2"/>
              <a:buChar char=""/>
              <a:tabLst>
                <a:tab pos="419100" algn="l"/>
              </a:tabLst>
            </a:pPr>
            <a:endParaRPr lang="en-US" dirty="0">
              <a:latin typeface="Cambria" panose="02040503050406030204" pitchFamily="18" charset="0"/>
              <a:ea typeface="Cambria" panose="02040503050406030204" pitchFamily="18" charset="0"/>
              <a:cs typeface="Cambria" panose="02040503050406030204" pitchFamily="18" charset="0"/>
            </a:endParaRPr>
          </a:p>
          <a:p>
            <a:pPr marL="342900" marR="88900" lvl="0" indent="-342900">
              <a:lnSpc>
                <a:spcPct val="75000"/>
              </a:lnSpc>
              <a:spcBef>
                <a:spcPts val="0"/>
              </a:spcBef>
              <a:spcAft>
                <a:spcPts val="0"/>
              </a:spcAft>
              <a:buFont typeface="Wingdings" panose="05000000000000000000" pitchFamily="2" charset="2"/>
              <a:buChar char=""/>
              <a:tabLst>
                <a:tab pos="419100" algn="l"/>
              </a:tabLst>
            </a:pPr>
            <a:r>
              <a:rPr lang="en-US" dirty="0">
                <a:latin typeface="Cambria" panose="02040503050406030204" pitchFamily="18" charset="0"/>
                <a:ea typeface="Cambria" panose="02040503050406030204" pitchFamily="18" charset="0"/>
                <a:cs typeface="Cambria" panose="02040503050406030204" pitchFamily="18" charset="0"/>
              </a:rPr>
              <a:t>It is a null statement, nothing happens when it is executed.</a:t>
            </a:r>
          </a:p>
          <a:p>
            <a:pPr marL="342900" marR="88900" lvl="0" indent="-342900">
              <a:lnSpc>
                <a:spcPct val="75000"/>
              </a:lnSpc>
              <a:spcBef>
                <a:spcPts val="0"/>
              </a:spcBef>
              <a:spcAft>
                <a:spcPts val="0"/>
              </a:spcAft>
              <a:buFont typeface="Wingdings" panose="05000000000000000000" pitchFamily="2" charset="2"/>
              <a:buChar char=""/>
              <a:tabLst>
                <a:tab pos="419100" algn="l"/>
              </a:tabLst>
            </a:pPr>
            <a:endParaRPr lang="en-US" dirty="0">
              <a:effectLst/>
              <a:latin typeface="Cambria" panose="02040503050406030204" pitchFamily="18" charset="0"/>
              <a:ea typeface="Cambria" panose="02040503050406030204" pitchFamily="18" charset="0"/>
            </a:endParaRPr>
          </a:p>
          <a:p>
            <a:pPr marR="88900" lvl="0">
              <a:lnSpc>
                <a:spcPct val="75000"/>
              </a:lnSpc>
              <a:spcBef>
                <a:spcPts val="0"/>
              </a:spcBef>
              <a:spcAft>
                <a:spcPts val="0"/>
              </a:spcAft>
              <a:tabLst>
                <a:tab pos="419100" algn="l"/>
              </a:tabLst>
            </a:pPr>
            <a:r>
              <a:rPr lang="en-US" dirty="0">
                <a:latin typeface="Cambria" panose="02040503050406030204" pitchFamily="18" charset="0"/>
                <a:ea typeface="Cambria" panose="02040503050406030204" pitchFamily="18" charset="0"/>
              </a:rPr>
              <a:t>Syntax: pass</a:t>
            </a:r>
          </a:p>
          <a:p>
            <a:pPr marR="88900" lvl="0">
              <a:lnSpc>
                <a:spcPct val="75000"/>
              </a:lnSpc>
              <a:spcBef>
                <a:spcPts val="0"/>
              </a:spcBef>
              <a:spcAft>
                <a:spcPts val="0"/>
              </a:spcAft>
              <a:tabLst>
                <a:tab pos="419100" algn="l"/>
              </a:tabLst>
            </a:pPr>
            <a:endParaRPr lang="en-US" dirty="0">
              <a:effectLst/>
              <a:latin typeface="Cambria" panose="02040503050406030204" pitchFamily="18" charset="0"/>
              <a:ea typeface="Cambria" panose="02040503050406030204" pitchFamily="18" charset="0"/>
            </a:endParaRPr>
          </a:p>
          <a:p>
            <a:pPr marR="88900" lvl="0">
              <a:lnSpc>
                <a:spcPct val="75000"/>
              </a:lnSpc>
              <a:spcBef>
                <a:spcPts val="0"/>
              </a:spcBef>
              <a:spcAft>
                <a:spcPts val="0"/>
              </a:spcAft>
              <a:tabLst>
                <a:tab pos="419100" algn="l"/>
              </a:tabLst>
            </a:pPr>
            <a:endParaRPr lang="en-US" dirty="0">
              <a:latin typeface="Cambria" panose="02040503050406030204" pitchFamily="18" charset="0"/>
              <a:ea typeface="Cambria" panose="02040503050406030204" pitchFamily="18" charset="0"/>
            </a:endParaRPr>
          </a:p>
          <a:p>
            <a:pPr marR="88900" lvl="0">
              <a:lnSpc>
                <a:spcPct val="75000"/>
              </a:lnSpc>
              <a:spcBef>
                <a:spcPts val="0"/>
              </a:spcBef>
              <a:spcAft>
                <a:spcPts val="0"/>
              </a:spcAft>
              <a:tabLst>
                <a:tab pos="419100" algn="l"/>
              </a:tabLst>
            </a:pPr>
            <a:endParaRPr lang="en-US" dirty="0">
              <a:effectLst/>
              <a:latin typeface="Cambria" panose="02040503050406030204" pitchFamily="18" charset="0"/>
              <a:ea typeface="Cambria" panose="02040503050406030204" pitchFamily="18" charset="0"/>
            </a:endParaRPr>
          </a:p>
          <a:p>
            <a:pPr marR="88900" lvl="0">
              <a:lnSpc>
                <a:spcPct val="75000"/>
              </a:lnSpc>
              <a:spcBef>
                <a:spcPts val="0"/>
              </a:spcBef>
              <a:spcAft>
                <a:spcPts val="0"/>
              </a:spcAft>
              <a:tabLst>
                <a:tab pos="419100" algn="l"/>
              </a:tabLst>
            </a:pPr>
            <a:endParaRPr lang="en-US" dirty="0">
              <a:latin typeface="Cambria" panose="02040503050406030204" pitchFamily="18" charset="0"/>
              <a:ea typeface="Cambria" panose="02040503050406030204" pitchFamily="18" charset="0"/>
            </a:endParaRPr>
          </a:p>
          <a:p>
            <a:pPr marR="88900" lvl="0">
              <a:lnSpc>
                <a:spcPct val="75000"/>
              </a:lnSpc>
              <a:spcBef>
                <a:spcPts val="0"/>
              </a:spcBef>
              <a:spcAft>
                <a:spcPts val="0"/>
              </a:spcAft>
              <a:tabLst>
                <a:tab pos="419100" algn="l"/>
              </a:tabLst>
            </a:pPr>
            <a:endParaRPr lang="en-US" dirty="0">
              <a:effectLst/>
              <a:latin typeface="Cambria" panose="02040503050406030204" pitchFamily="18" charset="0"/>
              <a:ea typeface="Cambria" panose="02040503050406030204" pitchFamily="18" charset="0"/>
            </a:endParaRPr>
          </a:p>
          <a:p>
            <a:pPr marR="88900" lvl="0">
              <a:lnSpc>
                <a:spcPct val="75000"/>
              </a:lnSpc>
              <a:spcBef>
                <a:spcPts val="0"/>
              </a:spcBef>
              <a:spcAft>
                <a:spcPts val="0"/>
              </a:spcAft>
              <a:tabLst>
                <a:tab pos="419100" algn="l"/>
              </a:tabLst>
            </a:pPr>
            <a:r>
              <a:rPr lang="en-US" b="1" dirty="0">
                <a:latin typeface="Cambria" panose="02040503050406030204" pitchFamily="18" charset="0"/>
                <a:ea typeface="Cambria" panose="02040503050406030204" pitchFamily="18" charset="0"/>
              </a:rPr>
              <a:t>Examples ……</a:t>
            </a:r>
            <a:endParaRPr lang="en-US"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38071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Break and Continue </a:t>
            </a:r>
          </a:p>
        </p:txBody>
      </p:sp>
      <p:graphicFrame>
        <p:nvGraphicFramePr>
          <p:cNvPr id="4" name="Table 3"/>
          <p:cNvGraphicFramePr>
            <a:graphicFrameLocks noGrp="1"/>
          </p:cNvGraphicFramePr>
          <p:nvPr/>
        </p:nvGraphicFramePr>
        <p:xfrm>
          <a:off x="1506654" y="1826201"/>
          <a:ext cx="8619984" cy="4438120"/>
        </p:xfrm>
        <a:graphic>
          <a:graphicData uri="http://schemas.openxmlformats.org/drawingml/2006/table">
            <a:tbl>
              <a:tblPr firstRow="1" firstCol="1" bandRow="1">
                <a:tableStyleId>{5C22544A-7EE6-4342-B048-85BDC9FD1C3A}</a:tableStyleId>
              </a:tblPr>
              <a:tblGrid>
                <a:gridCol w="607504">
                  <a:extLst>
                    <a:ext uri="{9D8B030D-6E8A-4147-A177-3AD203B41FA5}">
                      <a16:colId xmlns:a16="http://schemas.microsoft.com/office/drawing/2014/main" val="289748682"/>
                    </a:ext>
                  </a:extLst>
                </a:gridCol>
                <a:gridCol w="1017979">
                  <a:extLst>
                    <a:ext uri="{9D8B030D-6E8A-4147-A177-3AD203B41FA5}">
                      <a16:colId xmlns:a16="http://schemas.microsoft.com/office/drawing/2014/main" val="1368907775"/>
                    </a:ext>
                  </a:extLst>
                </a:gridCol>
                <a:gridCol w="870208">
                  <a:extLst>
                    <a:ext uri="{9D8B030D-6E8A-4147-A177-3AD203B41FA5}">
                      <a16:colId xmlns:a16="http://schemas.microsoft.com/office/drawing/2014/main" val="1509615945"/>
                    </a:ext>
                  </a:extLst>
                </a:gridCol>
                <a:gridCol w="1674740">
                  <a:extLst>
                    <a:ext uri="{9D8B030D-6E8A-4147-A177-3AD203B41FA5}">
                      <a16:colId xmlns:a16="http://schemas.microsoft.com/office/drawing/2014/main" val="766372452"/>
                    </a:ext>
                  </a:extLst>
                </a:gridCol>
                <a:gridCol w="131352">
                  <a:extLst>
                    <a:ext uri="{9D8B030D-6E8A-4147-A177-3AD203B41FA5}">
                      <a16:colId xmlns:a16="http://schemas.microsoft.com/office/drawing/2014/main" val="472516287"/>
                    </a:ext>
                  </a:extLst>
                </a:gridCol>
                <a:gridCol w="82095">
                  <a:extLst>
                    <a:ext uri="{9D8B030D-6E8A-4147-A177-3AD203B41FA5}">
                      <a16:colId xmlns:a16="http://schemas.microsoft.com/office/drawing/2014/main" val="2583720839"/>
                    </a:ext>
                  </a:extLst>
                </a:gridCol>
                <a:gridCol w="919465">
                  <a:extLst>
                    <a:ext uri="{9D8B030D-6E8A-4147-A177-3AD203B41FA5}">
                      <a16:colId xmlns:a16="http://schemas.microsoft.com/office/drawing/2014/main" val="3319617840"/>
                    </a:ext>
                  </a:extLst>
                </a:gridCol>
                <a:gridCol w="3316641">
                  <a:extLst>
                    <a:ext uri="{9D8B030D-6E8A-4147-A177-3AD203B41FA5}">
                      <a16:colId xmlns:a16="http://schemas.microsoft.com/office/drawing/2014/main" val="463781057"/>
                    </a:ext>
                  </a:extLst>
                </a:gridCol>
              </a:tblGrid>
              <a:tr h="210416">
                <a:tc gridSpan="5">
                  <a:txBody>
                    <a:bodyPr/>
                    <a:lstStyle/>
                    <a:p>
                      <a:pPr marL="0" marR="0">
                        <a:lnSpc>
                          <a:spcPts val="1365"/>
                        </a:lnSpc>
                        <a:spcBef>
                          <a:spcPts val="0"/>
                        </a:spcBef>
                        <a:spcAft>
                          <a:spcPts val="0"/>
                        </a:spcAft>
                      </a:pPr>
                      <a:r>
                        <a:rPr lang="en-US" sz="1400">
                          <a:solidFill>
                            <a:schemeClr val="tx1"/>
                          </a:solidFill>
                          <a:effectLst/>
                        </a:rPr>
                        <a:t>break</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15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lnSpc>
                          <a:spcPts val="1365"/>
                        </a:lnSpc>
                        <a:spcBef>
                          <a:spcPts val="0"/>
                        </a:spcBef>
                        <a:spcAft>
                          <a:spcPts val="0"/>
                        </a:spcAft>
                      </a:pPr>
                      <a:r>
                        <a:rPr lang="en-US" sz="1400">
                          <a:solidFill>
                            <a:schemeClr val="tx1"/>
                          </a:solidFill>
                          <a:effectLst/>
                        </a:rPr>
                        <a:t>continue</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821381688"/>
                  </a:ext>
                </a:extLst>
              </a:tr>
              <a:tr h="53704">
                <a:tc>
                  <a:txBody>
                    <a:bodyPr/>
                    <a:lstStyle/>
                    <a:p>
                      <a:pPr marL="0" marR="0">
                        <a:spcBef>
                          <a:spcPts val="0"/>
                        </a:spcBef>
                        <a:spcAft>
                          <a:spcPts val="0"/>
                        </a:spcAft>
                      </a:pPr>
                      <a:r>
                        <a:rPr lang="en-US" sz="3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3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3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3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3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3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3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3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extLst>
                  <a:ext uri="{0D108BD9-81ED-4DB2-BD59-A6C34878D82A}">
                    <a16:rowId xmlns:a16="http://schemas.microsoft.com/office/drawing/2014/main" val="3488346028"/>
                  </a:ext>
                </a:extLst>
              </a:tr>
              <a:tr h="238685">
                <a:tc gridSpan="5">
                  <a:txBody>
                    <a:bodyPr/>
                    <a:lstStyle/>
                    <a:p>
                      <a:pPr marL="0" marR="0">
                        <a:lnSpc>
                          <a:spcPts val="1570"/>
                        </a:lnSpc>
                        <a:spcBef>
                          <a:spcPts val="0"/>
                        </a:spcBef>
                        <a:spcAft>
                          <a:spcPts val="0"/>
                        </a:spcAft>
                      </a:pPr>
                      <a:r>
                        <a:rPr lang="en-US" sz="1400">
                          <a:solidFill>
                            <a:schemeClr val="tx1"/>
                          </a:solidFill>
                          <a:effectLst/>
                        </a:rPr>
                        <a:t>It  terminates  the  current  loop  and</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lnSpc>
                          <a:spcPts val="1570"/>
                        </a:lnSpc>
                        <a:spcBef>
                          <a:spcPts val="0"/>
                        </a:spcBef>
                        <a:spcAft>
                          <a:spcPts val="0"/>
                        </a:spcAft>
                      </a:pPr>
                      <a:r>
                        <a:rPr lang="en-US" sz="1400">
                          <a:solidFill>
                            <a:schemeClr val="tx1"/>
                          </a:solidFill>
                          <a:effectLst/>
                        </a:rPr>
                        <a:t>It terminates the current iteration and</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806986719"/>
                  </a:ext>
                </a:extLst>
              </a:tr>
              <a:tr h="282692">
                <a:tc gridSpan="5">
                  <a:txBody>
                    <a:bodyPr/>
                    <a:lstStyle/>
                    <a:p>
                      <a:pPr marL="0" marR="0">
                        <a:spcBef>
                          <a:spcPts val="0"/>
                        </a:spcBef>
                        <a:spcAft>
                          <a:spcPts val="0"/>
                        </a:spcAft>
                      </a:pPr>
                      <a:r>
                        <a:rPr lang="en-US" sz="1400">
                          <a:solidFill>
                            <a:schemeClr val="tx1"/>
                          </a:solidFill>
                          <a:effectLst/>
                        </a:rPr>
                        <a:t>executes the remaining statement outside</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1400">
                          <a:solidFill>
                            <a:schemeClr val="tx1"/>
                          </a:solidFill>
                          <a:effectLst/>
                        </a:rPr>
                        <a:t>transfer the control to the next iteration in</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821445855"/>
                  </a:ext>
                </a:extLst>
              </a:tr>
              <a:tr h="282692">
                <a:tc gridSpan="5">
                  <a:txBody>
                    <a:bodyPr/>
                    <a:lstStyle/>
                    <a:p>
                      <a:pPr marL="0" marR="0">
                        <a:spcBef>
                          <a:spcPts val="0"/>
                        </a:spcBef>
                        <a:spcAft>
                          <a:spcPts val="0"/>
                        </a:spcAft>
                      </a:pPr>
                      <a:r>
                        <a:rPr lang="en-US" sz="1400">
                          <a:solidFill>
                            <a:schemeClr val="tx1"/>
                          </a:solidFill>
                          <a:effectLst/>
                        </a:rPr>
                        <a:t>the loop.</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1400">
                          <a:solidFill>
                            <a:schemeClr val="tx1"/>
                          </a:solidFill>
                          <a:effectLst/>
                        </a:rPr>
                        <a:t>the loop.</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3407130897"/>
                  </a:ext>
                </a:extLst>
              </a:tr>
              <a:tr h="37295">
                <a:tc gridSpan="2">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465279777"/>
                  </a:ext>
                </a:extLst>
              </a:tr>
              <a:tr h="238685">
                <a:tc gridSpan="5">
                  <a:txBody>
                    <a:bodyPr/>
                    <a:lstStyle/>
                    <a:p>
                      <a:pPr marL="0" marR="0">
                        <a:lnSpc>
                          <a:spcPts val="1570"/>
                        </a:lnSpc>
                        <a:spcBef>
                          <a:spcPts val="0"/>
                        </a:spcBef>
                        <a:spcAft>
                          <a:spcPts val="0"/>
                        </a:spcAft>
                      </a:pPr>
                      <a:r>
                        <a:rPr lang="en-US" sz="1400">
                          <a:solidFill>
                            <a:schemeClr val="tx1"/>
                          </a:solidFill>
                          <a:effectLst/>
                        </a:rPr>
                        <a:t>syntax:</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lnSpc>
                          <a:spcPts val="1570"/>
                        </a:lnSpc>
                        <a:spcBef>
                          <a:spcPts val="0"/>
                        </a:spcBef>
                        <a:spcAft>
                          <a:spcPts val="0"/>
                        </a:spcAft>
                      </a:pPr>
                      <a:r>
                        <a:rPr lang="en-US" sz="1400">
                          <a:solidFill>
                            <a:schemeClr val="tx1"/>
                          </a:solidFill>
                          <a:effectLst/>
                        </a:rPr>
                        <a:t>syntax:</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789749672"/>
                  </a:ext>
                </a:extLst>
              </a:tr>
              <a:tr h="282692">
                <a:tc gridSpan="5">
                  <a:txBody>
                    <a:bodyPr/>
                    <a:lstStyle/>
                    <a:p>
                      <a:pPr marL="0" marR="0">
                        <a:spcBef>
                          <a:spcPts val="0"/>
                        </a:spcBef>
                        <a:spcAft>
                          <a:spcPts val="0"/>
                        </a:spcAft>
                      </a:pPr>
                      <a:r>
                        <a:rPr lang="en-US" sz="1400">
                          <a:solidFill>
                            <a:schemeClr val="tx1"/>
                          </a:solidFill>
                          <a:effectLst/>
                        </a:rPr>
                        <a:t>break</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1400">
                          <a:solidFill>
                            <a:schemeClr val="tx1"/>
                          </a:solidFill>
                          <a:effectLst/>
                        </a:rPr>
                        <a:t>continue</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148213195"/>
                  </a:ext>
                </a:extLst>
              </a:tr>
              <a:tr h="41770">
                <a:tc gridSpan="2">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254075902"/>
                  </a:ext>
                </a:extLst>
              </a:tr>
              <a:tr h="238685">
                <a:tc gridSpan="5">
                  <a:txBody>
                    <a:bodyPr/>
                    <a:lstStyle/>
                    <a:p>
                      <a:pPr marL="0" marR="0">
                        <a:lnSpc>
                          <a:spcPts val="1570"/>
                        </a:lnSpc>
                        <a:spcBef>
                          <a:spcPts val="0"/>
                        </a:spcBef>
                        <a:spcAft>
                          <a:spcPts val="0"/>
                        </a:spcAft>
                      </a:pPr>
                      <a:r>
                        <a:rPr lang="en-US" sz="1400">
                          <a:solidFill>
                            <a:schemeClr val="tx1"/>
                          </a:solidFill>
                          <a:effectLst/>
                        </a:rPr>
                        <a:t>for i in "welcome":</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lnSpc>
                          <a:spcPts val="1570"/>
                        </a:lnSpc>
                        <a:spcBef>
                          <a:spcPts val="0"/>
                        </a:spcBef>
                        <a:spcAft>
                          <a:spcPts val="0"/>
                        </a:spcAft>
                      </a:pPr>
                      <a:r>
                        <a:rPr lang="en-US" sz="1400">
                          <a:solidFill>
                            <a:schemeClr val="tx1"/>
                          </a:solidFill>
                          <a:effectLst/>
                        </a:rPr>
                        <a:t>for i in "welcome":</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475026756"/>
                  </a:ext>
                </a:extLst>
              </a:tr>
              <a:tr h="278963">
                <a:tc gridSpan="5">
                  <a:txBody>
                    <a:bodyPr/>
                    <a:lstStyle/>
                    <a:p>
                      <a:pPr marL="0" marR="2273300" algn="ctr">
                        <a:spcBef>
                          <a:spcPts val="0"/>
                        </a:spcBef>
                        <a:spcAft>
                          <a:spcPts val="0"/>
                        </a:spcAft>
                      </a:pPr>
                      <a:r>
                        <a:rPr lang="en-US" sz="1400">
                          <a:solidFill>
                            <a:schemeClr val="tx1"/>
                          </a:solidFill>
                          <a:effectLst/>
                        </a:rPr>
                        <a:t>if(i=="c"):</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152400" marR="0">
                        <a:spcBef>
                          <a:spcPts val="0"/>
                        </a:spcBef>
                        <a:spcAft>
                          <a:spcPts val="0"/>
                        </a:spcAft>
                      </a:pPr>
                      <a:r>
                        <a:rPr lang="en-US" sz="1400">
                          <a:solidFill>
                            <a:schemeClr val="tx1"/>
                          </a:solidFill>
                          <a:effectLst/>
                        </a:rPr>
                        <a:t>if(i=="c"):</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3403048416"/>
                  </a:ext>
                </a:extLst>
              </a:tr>
              <a:tr h="282692">
                <a:tc gridSpan="5">
                  <a:txBody>
                    <a:bodyPr/>
                    <a:lstStyle/>
                    <a:p>
                      <a:pPr marL="0" marR="2260600" algn="ctr">
                        <a:spcBef>
                          <a:spcPts val="0"/>
                        </a:spcBef>
                        <a:spcAft>
                          <a:spcPts val="0"/>
                        </a:spcAft>
                      </a:pPr>
                      <a:r>
                        <a:rPr lang="en-US" sz="1400">
                          <a:solidFill>
                            <a:schemeClr val="tx1"/>
                          </a:solidFill>
                          <a:effectLst/>
                        </a:rPr>
                        <a:t>break</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304800" marR="0">
                        <a:spcBef>
                          <a:spcPts val="0"/>
                        </a:spcBef>
                        <a:spcAft>
                          <a:spcPts val="0"/>
                        </a:spcAft>
                      </a:pPr>
                      <a:r>
                        <a:rPr lang="en-US" sz="1400">
                          <a:solidFill>
                            <a:schemeClr val="tx1"/>
                          </a:solidFill>
                          <a:effectLst/>
                        </a:rPr>
                        <a:t>continue</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3648544752"/>
                  </a:ext>
                </a:extLst>
              </a:tr>
              <a:tr h="282692">
                <a:tc gridSpan="5">
                  <a:txBody>
                    <a:bodyPr/>
                    <a:lstStyle/>
                    <a:p>
                      <a:pPr marL="152400" marR="0">
                        <a:spcBef>
                          <a:spcPts val="0"/>
                        </a:spcBef>
                        <a:spcAft>
                          <a:spcPts val="0"/>
                        </a:spcAft>
                      </a:pPr>
                      <a:r>
                        <a:rPr lang="en-US" sz="1400">
                          <a:solidFill>
                            <a:schemeClr val="tx1"/>
                          </a:solidFill>
                          <a:effectLst/>
                        </a:rPr>
                        <a:t>print(i)</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152400" marR="0">
                        <a:spcBef>
                          <a:spcPts val="0"/>
                        </a:spcBef>
                        <a:spcAft>
                          <a:spcPts val="0"/>
                        </a:spcAft>
                      </a:pPr>
                      <a:r>
                        <a:rPr lang="en-US" sz="1400">
                          <a:solidFill>
                            <a:schemeClr val="tx1"/>
                          </a:solidFill>
                          <a:effectLst/>
                        </a:rPr>
                        <a:t>print(i)</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637889559"/>
                  </a:ext>
                </a:extLst>
              </a:tr>
              <a:tr h="37295">
                <a:tc gridSpan="2">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3105495422"/>
                  </a:ext>
                </a:extLst>
              </a:tr>
              <a:tr h="238685">
                <a:tc gridSpan="5">
                  <a:txBody>
                    <a:bodyPr/>
                    <a:lstStyle/>
                    <a:p>
                      <a:pPr marL="0" marR="0">
                        <a:lnSpc>
                          <a:spcPts val="1570"/>
                        </a:lnSpc>
                        <a:spcBef>
                          <a:spcPts val="0"/>
                        </a:spcBef>
                        <a:spcAft>
                          <a:spcPts val="0"/>
                        </a:spcAft>
                      </a:pPr>
                      <a:r>
                        <a:rPr lang="en-US" sz="1400">
                          <a:solidFill>
                            <a:schemeClr val="tx1"/>
                          </a:solidFill>
                          <a:effectLst/>
                        </a:rPr>
                        <a:t>w</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lnSpc>
                          <a:spcPts val="1570"/>
                        </a:lnSpc>
                        <a:spcBef>
                          <a:spcPts val="0"/>
                        </a:spcBef>
                        <a:spcAft>
                          <a:spcPts val="0"/>
                        </a:spcAft>
                      </a:pPr>
                      <a:r>
                        <a:rPr lang="en-US" sz="1400">
                          <a:solidFill>
                            <a:schemeClr val="tx1"/>
                          </a:solidFill>
                          <a:effectLst/>
                        </a:rPr>
                        <a:t>w</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2236100712"/>
                  </a:ext>
                </a:extLst>
              </a:tr>
              <a:tr h="282692">
                <a:tc gridSpan="5">
                  <a:txBody>
                    <a:bodyPr/>
                    <a:lstStyle/>
                    <a:p>
                      <a:pPr marL="0" marR="0">
                        <a:spcBef>
                          <a:spcPts val="0"/>
                        </a:spcBef>
                        <a:spcAft>
                          <a:spcPts val="0"/>
                        </a:spcAft>
                      </a:pPr>
                      <a:r>
                        <a:rPr lang="en-US" sz="1400">
                          <a:solidFill>
                            <a:schemeClr val="tx1"/>
                          </a:solidFill>
                          <a:effectLst/>
                        </a:rPr>
                        <a:t>e</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1400">
                          <a:solidFill>
                            <a:schemeClr val="tx1"/>
                          </a:solidFill>
                          <a:effectLst/>
                        </a:rPr>
                        <a:t>e</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925195715"/>
                  </a:ext>
                </a:extLst>
              </a:tr>
              <a:tr h="282692">
                <a:tc gridSpan="5">
                  <a:txBody>
                    <a:bodyPr/>
                    <a:lstStyle/>
                    <a:p>
                      <a:pPr marL="0" marR="0">
                        <a:spcBef>
                          <a:spcPts val="0"/>
                        </a:spcBef>
                        <a:spcAft>
                          <a:spcPts val="0"/>
                        </a:spcAft>
                      </a:pPr>
                      <a:r>
                        <a:rPr lang="en-US" sz="1400">
                          <a:solidFill>
                            <a:schemeClr val="tx1"/>
                          </a:solidFill>
                          <a:effectLst/>
                        </a:rPr>
                        <a:t>l</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1400">
                          <a:solidFill>
                            <a:schemeClr val="tx1"/>
                          </a:solidFill>
                          <a:effectLst/>
                        </a:rPr>
                        <a:t>l</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2834810007"/>
                  </a:ext>
                </a:extLst>
              </a:tr>
              <a:tr h="278963">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1400">
                          <a:solidFill>
                            <a:schemeClr val="tx1"/>
                          </a:solidFill>
                          <a:effectLst/>
                        </a:rPr>
                        <a:t>o</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3597553932"/>
                  </a:ext>
                </a:extLst>
              </a:tr>
              <a:tr h="283438">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1400">
                          <a:solidFill>
                            <a:schemeClr val="tx1"/>
                          </a:solidFill>
                          <a:effectLst/>
                        </a:rPr>
                        <a:t>m</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028890089"/>
                  </a:ext>
                </a:extLst>
              </a:tr>
              <a:tr h="282692">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a:txBody>
                    <a:bodyPr/>
                    <a:lstStyle/>
                    <a:p>
                      <a:pPr marL="0" marR="0">
                        <a:spcBef>
                          <a:spcPts val="0"/>
                        </a:spcBef>
                        <a:spcAft>
                          <a:spcPts val="0"/>
                        </a:spcAft>
                      </a:pPr>
                      <a:r>
                        <a:rPr lang="en-US" sz="1200">
                          <a:solidFill>
                            <a:schemeClr val="tx1"/>
                          </a:solidFill>
                          <a:effectLst/>
                        </a:rPr>
                        <a:t> </a:t>
                      </a:r>
                      <a:endParaRPr lang="en-US" sz="110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gridSpan="2">
                  <a:txBody>
                    <a:bodyPr/>
                    <a:lstStyle/>
                    <a:p>
                      <a:pPr marL="0" marR="0">
                        <a:spcBef>
                          <a:spcPts val="0"/>
                        </a:spcBef>
                        <a:spcAft>
                          <a:spcPts val="0"/>
                        </a:spcAft>
                      </a:pPr>
                      <a:r>
                        <a:rPr lang="en-US" sz="1400" dirty="0">
                          <a:solidFill>
                            <a:schemeClr val="tx1"/>
                          </a:solidFill>
                          <a:effectLst/>
                        </a:rPr>
                        <a:t>e</a:t>
                      </a:r>
                      <a:endParaRPr lang="en-US" sz="1100" dirty="0">
                        <a:solidFill>
                          <a:schemeClr val="tx1"/>
                        </a:solidFill>
                        <a:effectLst/>
                        <a:latin typeface="Times New Roman" panose="02020603050405020304" pitchFamily="18" charset="0"/>
                        <a:ea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2560894082"/>
                  </a:ext>
                </a:extLst>
              </a:tr>
            </a:tbl>
          </a:graphicData>
        </a:graphic>
      </p:graphicFrame>
    </p:spTree>
    <p:extLst>
      <p:ext uri="{BB962C8B-B14F-4D97-AF65-F5344CB8AC3E}">
        <p14:creationId xmlns:p14="http://schemas.microsoft.com/office/powerpoint/2010/main" val="30873533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1171</Words>
  <Application>Microsoft Office PowerPoint</Application>
  <PresentationFormat>Widescreen</PresentationFormat>
  <Paragraphs>277</Paragraphs>
  <Slides>29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Cambria</vt:lpstr>
      <vt:lpstr>Symbol</vt:lpstr>
      <vt:lpstr>Times New Roman</vt:lpstr>
      <vt:lpstr>Wingdings</vt:lpstr>
      <vt:lpstr>Office Theme</vt:lpstr>
      <vt:lpstr>Conditionals </vt:lpstr>
      <vt:lpstr>Boolean</vt:lpstr>
      <vt:lpstr>Boolean</vt:lpstr>
      <vt:lpstr>Operators and Types</vt:lpstr>
      <vt:lpstr>Conditionals</vt:lpstr>
      <vt:lpstr>Conditional if</vt:lpstr>
      <vt:lpstr>Conditional if</vt:lpstr>
      <vt:lpstr>If - Else</vt:lpstr>
      <vt:lpstr>If - Else</vt:lpstr>
      <vt:lpstr>Chained Conditionals</vt:lpstr>
      <vt:lpstr>Chained Conditionals</vt:lpstr>
      <vt:lpstr>Chained Conditionals</vt:lpstr>
      <vt:lpstr>Nested Conditionals</vt:lpstr>
      <vt:lpstr>Nested Conditionals</vt:lpstr>
      <vt:lpstr>Iterations and Control Statements</vt:lpstr>
      <vt:lpstr>State</vt:lpstr>
      <vt:lpstr>While</vt:lpstr>
      <vt:lpstr>While</vt:lpstr>
      <vt:lpstr>While</vt:lpstr>
      <vt:lpstr>For</vt:lpstr>
      <vt:lpstr>For</vt:lpstr>
      <vt:lpstr>For</vt:lpstr>
      <vt:lpstr>Loop Control Structures</vt:lpstr>
      <vt:lpstr>Break</vt:lpstr>
      <vt:lpstr>Break</vt:lpstr>
      <vt:lpstr>Continue</vt:lpstr>
      <vt:lpstr>Continue</vt:lpstr>
      <vt:lpstr>Pass</vt:lpstr>
      <vt:lpstr>Difference: Break and Continue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PRABU KANNA GOVINDARAJAN</dc:creator>
  <cp:lastModifiedBy>PRABU KANNA GOVINDARAJAN</cp:lastModifiedBy>
  <cp:revision>2</cp:revision>
  <dcterms:created xsi:type="dcterms:W3CDTF">2025-10-03T05:09:04Z</dcterms:created>
  <dcterms:modified xsi:type="dcterms:W3CDTF">2025-10-03T05:10:29Z</dcterms:modified>
</cp:coreProperties>
</file>