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70" r:id="rId9"/>
    <p:sldId id="263" r:id="rId10"/>
    <p:sldId id="264" r:id="rId11"/>
    <p:sldId id="265" r:id="rId12"/>
    <p:sldId id="266" r:id="rId13"/>
    <p:sldId id="269" r:id="rId14"/>
    <p:sldId id="267" r:id="rId15"/>
    <p:sldId id="268" r:id="rId16"/>
    <p:sldId id="271" r:id="rId17"/>
    <p:sldId id="272" r:id="rId18"/>
    <p:sldId id="273" r:id="rId19"/>
    <p:sldId id="274" r:id="rId20"/>
    <p:sldId id="275" r:id="rId21"/>
    <p:sldId id="276" r:id="rId22"/>
    <p:sldId id="277" r:id="rId23"/>
    <p:sldId id="300" r:id="rId24"/>
    <p:sldId id="278" r:id="rId25"/>
    <p:sldId id="283" r:id="rId26"/>
    <p:sldId id="279" r:id="rId27"/>
    <p:sldId id="280" r:id="rId28"/>
    <p:sldId id="284" r:id="rId29"/>
    <p:sldId id="286" r:id="rId30"/>
    <p:sldId id="282" r:id="rId31"/>
    <p:sldId id="285" r:id="rId32"/>
    <p:sldId id="287" r:id="rId33"/>
    <p:sldId id="301" r:id="rId34"/>
    <p:sldId id="302" r:id="rId35"/>
    <p:sldId id="303" r:id="rId36"/>
    <p:sldId id="288" r:id="rId37"/>
    <p:sldId id="304" r:id="rId38"/>
    <p:sldId id="289" r:id="rId39"/>
    <p:sldId id="290" r:id="rId40"/>
    <p:sldId id="291" r:id="rId41"/>
    <p:sldId id="292" r:id="rId42"/>
    <p:sldId id="293" r:id="rId43"/>
    <p:sldId id="294" r:id="rId44"/>
    <p:sldId id="295" r:id="rId45"/>
    <p:sldId id="296" r:id="rId46"/>
    <p:sldId id="297" r:id="rId47"/>
    <p:sldId id="298" r:id="rId48"/>
    <p:sldId id="299" r:id="rId49"/>
  </p:sldIdLst>
  <p:sldSz cx="12619038" cy="8229600"/>
  <p:notesSz cx="6858000" cy="9144000"/>
  <p:defaultTextStyle>
    <a:defPPr>
      <a:defRPr lang="en-US"/>
    </a:defPPr>
    <a:lvl1pPr marL="0" algn="l" defTabSz="1118220" rtl="0" eaLnBrk="1" latinLnBrk="0" hangingPunct="1">
      <a:defRPr sz="2200" kern="1200">
        <a:solidFill>
          <a:schemeClr val="tx1"/>
        </a:solidFill>
        <a:latin typeface="+mn-lt"/>
        <a:ea typeface="+mn-ea"/>
        <a:cs typeface="+mn-cs"/>
      </a:defRPr>
    </a:lvl1pPr>
    <a:lvl2pPr marL="559110" algn="l" defTabSz="1118220" rtl="0" eaLnBrk="1" latinLnBrk="0" hangingPunct="1">
      <a:defRPr sz="2200" kern="1200">
        <a:solidFill>
          <a:schemeClr val="tx1"/>
        </a:solidFill>
        <a:latin typeface="+mn-lt"/>
        <a:ea typeface="+mn-ea"/>
        <a:cs typeface="+mn-cs"/>
      </a:defRPr>
    </a:lvl2pPr>
    <a:lvl3pPr marL="1118220" algn="l" defTabSz="1118220" rtl="0" eaLnBrk="1" latinLnBrk="0" hangingPunct="1">
      <a:defRPr sz="2200" kern="1200">
        <a:solidFill>
          <a:schemeClr val="tx1"/>
        </a:solidFill>
        <a:latin typeface="+mn-lt"/>
        <a:ea typeface="+mn-ea"/>
        <a:cs typeface="+mn-cs"/>
      </a:defRPr>
    </a:lvl3pPr>
    <a:lvl4pPr marL="1677330" algn="l" defTabSz="1118220" rtl="0" eaLnBrk="1" latinLnBrk="0" hangingPunct="1">
      <a:defRPr sz="2200" kern="1200">
        <a:solidFill>
          <a:schemeClr val="tx1"/>
        </a:solidFill>
        <a:latin typeface="+mn-lt"/>
        <a:ea typeface="+mn-ea"/>
        <a:cs typeface="+mn-cs"/>
      </a:defRPr>
    </a:lvl4pPr>
    <a:lvl5pPr marL="2236440" algn="l" defTabSz="1118220" rtl="0" eaLnBrk="1" latinLnBrk="0" hangingPunct="1">
      <a:defRPr sz="2200" kern="1200">
        <a:solidFill>
          <a:schemeClr val="tx1"/>
        </a:solidFill>
        <a:latin typeface="+mn-lt"/>
        <a:ea typeface="+mn-ea"/>
        <a:cs typeface="+mn-cs"/>
      </a:defRPr>
    </a:lvl5pPr>
    <a:lvl6pPr marL="2795549" algn="l" defTabSz="1118220" rtl="0" eaLnBrk="1" latinLnBrk="0" hangingPunct="1">
      <a:defRPr sz="2200" kern="1200">
        <a:solidFill>
          <a:schemeClr val="tx1"/>
        </a:solidFill>
        <a:latin typeface="+mn-lt"/>
        <a:ea typeface="+mn-ea"/>
        <a:cs typeface="+mn-cs"/>
      </a:defRPr>
    </a:lvl6pPr>
    <a:lvl7pPr marL="3354659" algn="l" defTabSz="1118220" rtl="0" eaLnBrk="1" latinLnBrk="0" hangingPunct="1">
      <a:defRPr sz="2200" kern="1200">
        <a:solidFill>
          <a:schemeClr val="tx1"/>
        </a:solidFill>
        <a:latin typeface="+mn-lt"/>
        <a:ea typeface="+mn-ea"/>
        <a:cs typeface="+mn-cs"/>
      </a:defRPr>
    </a:lvl7pPr>
    <a:lvl8pPr marL="3913769" algn="l" defTabSz="1118220" rtl="0" eaLnBrk="1" latinLnBrk="0" hangingPunct="1">
      <a:defRPr sz="2200" kern="1200">
        <a:solidFill>
          <a:schemeClr val="tx1"/>
        </a:solidFill>
        <a:latin typeface="+mn-lt"/>
        <a:ea typeface="+mn-ea"/>
        <a:cs typeface="+mn-cs"/>
      </a:defRPr>
    </a:lvl8pPr>
    <a:lvl9pPr marL="4472879" algn="l" defTabSz="1118220" rtl="0" eaLnBrk="1" latinLnBrk="0" hangingPunct="1">
      <a:defRPr sz="22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4" d="100"/>
          <a:sy n="54" d="100"/>
        </p:scale>
        <p:origin x="-1158" y="-84"/>
      </p:cViewPr>
      <p:guideLst>
        <p:guide orient="horz" pos="2592"/>
        <p:guide pos="397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1D4B8A4-39EA-432C-A712-B19973DA0B0E}" type="datetimeFigureOut">
              <a:rPr lang="en-US" smtClean="0"/>
              <a:t>11/25/2024</a:t>
            </a:fld>
            <a:endParaRPr lang="en-US"/>
          </a:p>
        </p:txBody>
      </p:sp>
      <p:sp>
        <p:nvSpPr>
          <p:cNvPr id="4" name="Slide Image Placeholder 3"/>
          <p:cNvSpPr>
            <a:spLocks noGrp="1" noRot="1" noChangeAspect="1"/>
          </p:cNvSpPr>
          <p:nvPr>
            <p:ph type="sldImg" idx="2"/>
          </p:nvPr>
        </p:nvSpPr>
        <p:spPr>
          <a:xfrm>
            <a:off x="800100" y="685800"/>
            <a:ext cx="52578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A5BB866-D2FB-46D9-99A1-F753AFABB02F}" type="slidenum">
              <a:rPr lang="en-US" smtClean="0"/>
              <a:t>‹#›</a:t>
            </a:fld>
            <a:endParaRPr lang="en-US"/>
          </a:p>
        </p:txBody>
      </p:sp>
    </p:spTree>
    <p:extLst>
      <p:ext uri="{BB962C8B-B14F-4D97-AF65-F5344CB8AC3E}">
        <p14:creationId xmlns:p14="http://schemas.microsoft.com/office/powerpoint/2010/main" val="677369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103dd86e1b8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103dd86e1b8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103dd86e1b8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103dd86e1b8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105558e0b8c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105558e0b8c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105558e0a21_1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105558e0a21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5558e0a21_1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5558e0a21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105558e0a21_1_34:notes"/>
          <p:cNvSpPr>
            <a:spLocks noGrp="1" noRot="1" noChangeAspect="1"/>
          </p:cNvSpPr>
          <p:nvPr>
            <p:ph type="sldImg" idx="2"/>
          </p:nvPr>
        </p:nvSpPr>
        <p:spPr>
          <a:xfrm>
            <a:off x="800100" y="685800"/>
            <a:ext cx="52578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105558e0a21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105558e0a21_1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105558e0a21_1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105558e0a21_1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105558e0a21_1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105558e0b8c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105558e0b8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105558e0b8c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105558e0b8c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105558e0b8c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105558e0b8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105558e0b8c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105558e0b8c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105558e0b8c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105558e0b8c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105558e0b8c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105558e0b8c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105558e0b8c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105558e0b8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105558e0b8c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105558e0b8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105558e0b8c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105558e0b8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46428" y="2556512"/>
            <a:ext cx="10726182" cy="1764029"/>
          </a:xfrm>
        </p:spPr>
        <p:txBody>
          <a:bodyPr/>
          <a:lstStyle/>
          <a:p>
            <a:r>
              <a:rPr lang="en-US" smtClean="0"/>
              <a:t>Click to edit Master title style</a:t>
            </a:r>
            <a:endParaRPr lang="en-US"/>
          </a:p>
        </p:txBody>
      </p:sp>
      <p:sp>
        <p:nvSpPr>
          <p:cNvPr id="3" name="Subtitle 2"/>
          <p:cNvSpPr>
            <a:spLocks noGrp="1"/>
          </p:cNvSpPr>
          <p:nvPr>
            <p:ph type="subTitle" idx="1"/>
          </p:nvPr>
        </p:nvSpPr>
        <p:spPr>
          <a:xfrm>
            <a:off x="1892857" y="4663440"/>
            <a:ext cx="8833327" cy="2103120"/>
          </a:xfrm>
        </p:spPr>
        <p:txBody>
          <a:bodyPr/>
          <a:lstStyle>
            <a:lvl1pPr marL="0" indent="0" algn="ctr">
              <a:buNone/>
              <a:defRPr>
                <a:solidFill>
                  <a:schemeClr val="tx1">
                    <a:tint val="75000"/>
                  </a:schemeClr>
                </a:solidFill>
              </a:defRPr>
            </a:lvl1pPr>
            <a:lvl2pPr marL="559110" indent="0" algn="ctr">
              <a:buNone/>
              <a:defRPr>
                <a:solidFill>
                  <a:schemeClr val="tx1">
                    <a:tint val="75000"/>
                  </a:schemeClr>
                </a:solidFill>
              </a:defRPr>
            </a:lvl2pPr>
            <a:lvl3pPr marL="1118220" indent="0" algn="ctr">
              <a:buNone/>
              <a:defRPr>
                <a:solidFill>
                  <a:schemeClr val="tx1">
                    <a:tint val="75000"/>
                  </a:schemeClr>
                </a:solidFill>
              </a:defRPr>
            </a:lvl3pPr>
            <a:lvl4pPr marL="1677330" indent="0" algn="ctr">
              <a:buNone/>
              <a:defRPr>
                <a:solidFill>
                  <a:schemeClr val="tx1">
                    <a:tint val="75000"/>
                  </a:schemeClr>
                </a:solidFill>
              </a:defRPr>
            </a:lvl4pPr>
            <a:lvl5pPr marL="2236440" indent="0" algn="ctr">
              <a:buNone/>
              <a:defRPr>
                <a:solidFill>
                  <a:schemeClr val="tx1">
                    <a:tint val="75000"/>
                  </a:schemeClr>
                </a:solidFill>
              </a:defRPr>
            </a:lvl5pPr>
            <a:lvl6pPr marL="2795549" indent="0" algn="ctr">
              <a:buNone/>
              <a:defRPr>
                <a:solidFill>
                  <a:schemeClr val="tx1">
                    <a:tint val="75000"/>
                  </a:schemeClr>
                </a:solidFill>
              </a:defRPr>
            </a:lvl6pPr>
            <a:lvl7pPr marL="3354659" indent="0" algn="ctr">
              <a:buNone/>
              <a:defRPr>
                <a:solidFill>
                  <a:schemeClr val="tx1">
                    <a:tint val="75000"/>
                  </a:schemeClr>
                </a:solidFill>
              </a:defRPr>
            </a:lvl7pPr>
            <a:lvl8pPr marL="3913769" indent="0" algn="ctr">
              <a:buNone/>
              <a:defRPr>
                <a:solidFill>
                  <a:schemeClr val="tx1">
                    <a:tint val="75000"/>
                  </a:schemeClr>
                </a:solidFill>
              </a:defRPr>
            </a:lvl8pPr>
            <a:lvl9pPr marL="4472879"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EE063C1-4871-4FC0-B441-6BBFAA00335C}" type="datetimeFigureOut">
              <a:rPr lang="en-US" smtClean="0"/>
              <a:pPr/>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1A3DFA-74A6-45A2-AA72-91600C498CF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E063C1-4871-4FC0-B441-6BBFAA00335C}" type="datetimeFigureOut">
              <a:rPr lang="en-US" smtClean="0"/>
              <a:pPr/>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1A3DFA-74A6-45A2-AA72-91600C498CF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6817" y="5288280"/>
            <a:ext cx="10726182" cy="1634490"/>
          </a:xfrm>
        </p:spPr>
        <p:txBody>
          <a:bodyPr anchor="t"/>
          <a:lstStyle>
            <a:lvl1pPr algn="l">
              <a:defRPr sz="4900" b="1" cap="all"/>
            </a:lvl1pPr>
          </a:lstStyle>
          <a:p>
            <a:r>
              <a:rPr lang="en-US" smtClean="0"/>
              <a:t>Click to edit Master title style</a:t>
            </a:r>
            <a:endParaRPr lang="en-US"/>
          </a:p>
        </p:txBody>
      </p:sp>
      <p:sp>
        <p:nvSpPr>
          <p:cNvPr id="3" name="Text Placeholder 2"/>
          <p:cNvSpPr>
            <a:spLocks noGrp="1"/>
          </p:cNvSpPr>
          <p:nvPr>
            <p:ph type="body" idx="1"/>
          </p:nvPr>
        </p:nvSpPr>
        <p:spPr>
          <a:xfrm>
            <a:off x="996817" y="3488056"/>
            <a:ext cx="10726182" cy="1800224"/>
          </a:xfrm>
        </p:spPr>
        <p:txBody>
          <a:bodyPr anchor="b"/>
          <a:lstStyle>
            <a:lvl1pPr marL="0" indent="0">
              <a:buNone/>
              <a:defRPr sz="2400">
                <a:solidFill>
                  <a:schemeClr val="tx1">
                    <a:tint val="75000"/>
                  </a:schemeClr>
                </a:solidFill>
              </a:defRPr>
            </a:lvl1pPr>
            <a:lvl2pPr marL="559110" indent="0">
              <a:buNone/>
              <a:defRPr sz="2200">
                <a:solidFill>
                  <a:schemeClr val="tx1">
                    <a:tint val="75000"/>
                  </a:schemeClr>
                </a:solidFill>
              </a:defRPr>
            </a:lvl2pPr>
            <a:lvl3pPr marL="1118220" indent="0">
              <a:buNone/>
              <a:defRPr sz="2000">
                <a:solidFill>
                  <a:schemeClr val="tx1">
                    <a:tint val="75000"/>
                  </a:schemeClr>
                </a:solidFill>
              </a:defRPr>
            </a:lvl3pPr>
            <a:lvl4pPr marL="1677330" indent="0">
              <a:buNone/>
              <a:defRPr sz="1700">
                <a:solidFill>
                  <a:schemeClr val="tx1">
                    <a:tint val="75000"/>
                  </a:schemeClr>
                </a:solidFill>
              </a:defRPr>
            </a:lvl4pPr>
            <a:lvl5pPr marL="2236440" indent="0">
              <a:buNone/>
              <a:defRPr sz="1700">
                <a:solidFill>
                  <a:schemeClr val="tx1">
                    <a:tint val="75000"/>
                  </a:schemeClr>
                </a:solidFill>
              </a:defRPr>
            </a:lvl5pPr>
            <a:lvl6pPr marL="2795549" indent="0">
              <a:buNone/>
              <a:defRPr sz="1700">
                <a:solidFill>
                  <a:schemeClr val="tx1">
                    <a:tint val="75000"/>
                  </a:schemeClr>
                </a:solidFill>
              </a:defRPr>
            </a:lvl6pPr>
            <a:lvl7pPr marL="3354659" indent="0">
              <a:buNone/>
              <a:defRPr sz="1700">
                <a:solidFill>
                  <a:schemeClr val="tx1">
                    <a:tint val="75000"/>
                  </a:schemeClr>
                </a:solidFill>
              </a:defRPr>
            </a:lvl7pPr>
            <a:lvl8pPr marL="3913769" indent="0">
              <a:buNone/>
              <a:defRPr sz="1700">
                <a:solidFill>
                  <a:schemeClr val="tx1">
                    <a:tint val="75000"/>
                  </a:schemeClr>
                </a:solidFill>
              </a:defRPr>
            </a:lvl8pPr>
            <a:lvl9pPr marL="4472879" indent="0">
              <a:buNone/>
              <a:defRPr sz="1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EE063C1-4871-4FC0-B441-6BBFAA00335C}" type="datetimeFigureOut">
              <a:rPr lang="en-US" smtClean="0"/>
              <a:pPr/>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1A3DFA-74A6-45A2-AA72-91600C498CF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69752" y="1946911"/>
            <a:ext cx="7731351" cy="5503545"/>
          </a:xfrm>
        </p:spPr>
        <p:txBody>
          <a:bodyPr/>
          <a:lstStyle>
            <a:lvl1pPr>
              <a:defRPr sz="3400"/>
            </a:lvl1pPr>
            <a:lvl2pPr>
              <a:defRPr sz="2900"/>
            </a:lvl2pPr>
            <a:lvl3pPr>
              <a:defRPr sz="240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8811419" y="1946911"/>
            <a:ext cx="7733542" cy="5503545"/>
          </a:xfrm>
        </p:spPr>
        <p:txBody>
          <a:bodyPr/>
          <a:lstStyle>
            <a:lvl1pPr>
              <a:defRPr sz="3400"/>
            </a:lvl1pPr>
            <a:lvl2pPr>
              <a:defRPr sz="2900"/>
            </a:lvl2pPr>
            <a:lvl3pPr>
              <a:defRPr sz="240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EE063C1-4871-4FC0-B441-6BBFAA00335C}" type="datetimeFigureOut">
              <a:rPr lang="en-US" smtClean="0"/>
              <a:pPr/>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1A3DFA-74A6-45A2-AA72-91600C498CF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952" y="329565"/>
            <a:ext cx="11357134" cy="13716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30952" y="1842137"/>
            <a:ext cx="5575600" cy="767714"/>
          </a:xfrm>
        </p:spPr>
        <p:txBody>
          <a:bodyPr anchor="b"/>
          <a:lstStyle>
            <a:lvl1pPr marL="0" indent="0">
              <a:buNone/>
              <a:defRPr sz="2900" b="1"/>
            </a:lvl1pPr>
            <a:lvl2pPr marL="559110" indent="0">
              <a:buNone/>
              <a:defRPr sz="2400" b="1"/>
            </a:lvl2pPr>
            <a:lvl3pPr marL="1118220" indent="0">
              <a:buNone/>
              <a:defRPr sz="2200" b="1"/>
            </a:lvl3pPr>
            <a:lvl4pPr marL="1677330" indent="0">
              <a:buNone/>
              <a:defRPr sz="2000" b="1"/>
            </a:lvl4pPr>
            <a:lvl5pPr marL="2236440" indent="0">
              <a:buNone/>
              <a:defRPr sz="2000" b="1"/>
            </a:lvl5pPr>
            <a:lvl6pPr marL="2795549" indent="0">
              <a:buNone/>
              <a:defRPr sz="2000" b="1"/>
            </a:lvl6pPr>
            <a:lvl7pPr marL="3354659" indent="0">
              <a:buNone/>
              <a:defRPr sz="2000" b="1"/>
            </a:lvl7pPr>
            <a:lvl8pPr marL="3913769" indent="0">
              <a:buNone/>
              <a:defRPr sz="2000" b="1"/>
            </a:lvl8pPr>
            <a:lvl9pPr marL="4472879" indent="0">
              <a:buNone/>
              <a:defRPr sz="2000" b="1"/>
            </a:lvl9pPr>
          </a:lstStyle>
          <a:p>
            <a:pPr lvl="0"/>
            <a:r>
              <a:rPr lang="en-US" smtClean="0"/>
              <a:t>Click to edit Master text styles</a:t>
            </a:r>
          </a:p>
        </p:txBody>
      </p:sp>
      <p:sp>
        <p:nvSpPr>
          <p:cNvPr id="4" name="Content Placeholder 3"/>
          <p:cNvSpPr>
            <a:spLocks noGrp="1"/>
          </p:cNvSpPr>
          <p:nvPr>
            <p:ph sz="half" idx="2"/>
          </p:nvPr>
        </p:nvSpPr>
        <p:spPr>
          <a:xfrm>
            <a:off x="630952" y="2609850"/>
            <a:ext cx="5575600" cy="4741546"/>
          </a:xfrm>
        </p:spPr>
        <p:txBody>
          <a:bodyPr/>
          <a:lstStyle>
            <a:lvl1pPr>
              <a:defRPr sz="2900"/>
            </a:lvl1pPr>
            <a:lvl2pPr>
              <a:defRPr sz="24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410297" y="1842137"/>
            <a:ext cx="5577790" cy="767714"/>
          </a:xfrm>
        </p:spPr>
        <p:txBody>
          <a:bodyPr anchor="b"/>
          <a:lstStyle>
            <a:lvl1pPr marL="0" indent="0">
              <a:buNone/>
              <a:defRPr sz="2900" b="1"/>
            </a:lvl1pPr>
            <a:lvl2pPr marL="559110" indent="0">
              <a:buNone/>
              <a:defRPr sz="2400" b="1"/>
            </a:lvl2pPr>
            <a:lvl3pPr marL="1118220" indent="0">
              <a:buNone/>
              <a:defRPr sz="2200" b="1"/>
            </a:lvl3pPr>
            <a:lvl4pPr marL="1677330" indent="0">
              <a:buNone/>
              <a:defRPr sz="2000" b="1"/>
            </a:lvl4pPr>
            <a:lvl5pPr marL="2236440" indent="0">
              <a:buNone/>
              <a:defRPr sz="2000" b="1"/>
            </a:lvl5pPr>
            <a:lvl6pPr marL="2795549" indent="0">
              <a:buNone/>
              <a:defRPr sz="2000" b="1"/>
            </a:lvl6pPr>
            <a:lvl7pPr marL="3354659" indent="0">
              <a:buNone/>
              <a:defRPr sz="2000" b="1"/>
            </a:lvl7pPr>
            <a:lvl8pPr marL="3913769" indent="0">
              <a:buNone/>
              <a:defRPr sz="2000" b="1"/>
            </a:lvl8pPr>
            <a:lvl9pPr marL="4472879" indent="0">
              <a:buNone/>
              <a:defRPr sz="2000" b="1"/>
            </a:lvl9pPr>
          </a:lstStyle>
          <a:p>
            <a:pPr lvl="0"/>
            <a:r>
              <a:rPr lang="en-US" smtClean="0"/>
              <a:t>Click to edit Master text styles</a:t>
            </a:r>
          </a:p>
        </p:txBody>
      </p:sp>
      <p:sp>
        <p:nvSpPr>
          <p:cNvPr id="6" name="Content Placeholder 5"/>
          <p:cNvSpPr>
            <a:spLocks noGrp="1"/>
          </p:cNvSpPr>
          <p:nvPr>
            <p:ph sz="quarter" idx="4"/>
          </p:nvPr>
        </p:nvSpPr>
        <p:spPr>
          <a:xfrm>
            <a:off x="6410297" y="2609850"/>
            <a:ext cx="5577790" cy="4741546"/>
          </a:xfrm>
        </p:spPr>
        <p:txBody>
          <a:bodyPr/>
          <a:lstStyle>
            <a:lvl1pPr>
              <a:defRPr sz="2900"/>
            </a:lvl1pPr>
            <a:lvl2pPr>
              <a:defRPr sz="24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EE063C1-4871-4FC0-B441-6BBFAA00335C}" type="datetimeFigureOut">
              <a:rPr lang="en-US" smtClean="0"/>
              <a:pPr/>
              <a:t>11/25/2024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1A3DFA-74A6-45A2-AA72-91600C498CF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EE063C1-4871-4FC0-B441-6BBFAA00335C}" type="datetimeFigureOut">
              <a:rPr lang="en-US" smtClean="0"/>
              <a:pPr/>
              <a:t>11/25/2024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1A3DFA-74A6-45A2-AA72-91600C498CF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E063C1-4871-4FC0-B441-6BBFAA00335C}" type="datetimeFigureOut">
              <a:rPr lang="en-US" smtClean="0"/>
              <a:pPr/>
              <a:t>11/25/2024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1A3DFA-74A6-45A2-AA72-91600C498CF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53" y="327660"/>
            <a:ext cx="4151577" cy="1394460"/>
          </a:xfrm>
        </p:spPr>
        <p:txBody>
          <a:bodyPr anchor="b"/>
          <a:lstStyle>
            <a:lvl1pPr algn="l">
              <a:defRPr sz="2400" b="1"/>
            </a:lvl1pPr>
          </a:lstStyle>
          <a:p>
            <a:r>
              <a:rPr lang="en-US" smtClean="0"/>
              <a:t>Click to edit Master title style</a:t>
            </a:r>
            <a:endParaRPr lang="en-US"/>
          </a:p>
        </p:txBody>
      </p:sp>
      <p:sp>
        <p:nvSpPr>
          <p:cNvPr id="3" name="Content Placeholder 2"/>
          <p:cNvSpPr>
            <a:spLocks noGrp="1"/>
          </p:cNvSpPr>
          <p:nvPr>
            <p:ph idx="1"/>
          </p:nvPr>
        </p:nvSpPr>
        <p:spPr>
          <a:xfrm>
            <a:off x="4933694" y="327661"/>
            <a:ext cx="7054393" cy="7023735"/>
          </a:xfrm>
        </p:spPr>
        <p:txBody>
          <a:bodyPr/>
          <a:lstStyle>
            <a:lvl1pPr>
              <a:defRPr sz="3900"/>
            </a:lvl1pPr>
            <a:lvl2pPr>
              <a:defRPr sz="3400"/>
            </a:lvl2pPr>
            <a:lvl3pPr>
              <a:defRPr sz="2900"/>
            </a:lvl3pPr>
            <a:lvl4pPr>
              <a:defRPr sz="2400"/>
            </a:lvl4pPr>
            <a:lvl5pPr>
              <a:defRPr sz="2400"/>
            </a:lvl5pPr>
            <a:lvl6pPr>
              <a:defRPr sz="2400"/>
            </a:lvl6pPr>
            <a:lvl7pPr>
              <a:defRPr sz="2400"/>
            </a:lvl7pPr>
            <a:lvl8pPr>
              <a:defRPr sz="2400"/>
            </a:lvl8pPr>
            <a:lvl9pPr>
              <a:defRPr sz="2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953" y="1722121"/>
            <a:ext cx="4151577" cy="5629276"/>
          </a:xfrm>
        </p:spPr>
        <p:txBody>
          <a:bodyPr/>
          <a:lstStyle>
            <a:lvl1pPr marL="0" indent="0">
              <a:buNone/>
              <a:defRPr sz="1700"/>
            </a:lvl1pPr>
            <a:lvl2pPr marL="559110" indent="0">
              <a:buNone/>
              <a:defRPr sz="1500"/>
            </a:lvl2pPr>
            <a:lvl3pPr marL="1118220" indent="0">
              <a:buNone/>
              <a:defRPr sz="1200"/>
            </a:lvl3pPr>
            <a:lvl4pPr marL="1677330" indent="0">
              <a:buNone/>
              <a:defRPr sz="1100"/>
            </a:lvl4pPr>
            <a:lvl5pPr marL="2236440" indent="0">
              <a:buNone/>
              <a:defRPr sz="1100"/>
            </a:lvl5pPr>
            <a:lvl6pPr marL="2795549" indent="0">
              <a:buNone/>
              <a:defRPr sz="1100"/>
            </a:lvl6pPr>
            <a:lvl7pPr marL="3354659" indent="0">
              <a:buNone/>
              <a:defRPr sz="1100"/>
            </a:lvl7pPr>
            <a:lvl8pPr marL="3913769" indent="0">
              <a:buNone/>
              <a:defRPr sz="1100"/>
            </a:lvl8pPr>
            <a:lvl9pPr marL="4472879" indent="0">
              <a:buNone/>
              <a:defRPr sz="11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E063C1-4871-4FC0-B441-6BBFAA00335C}" type="datetimeFigureOut">
              <a:rPr lang="en-US" smtClean="0"/>
              <a:pPr/>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1A3DFA-74A6-45A2-AA72-91600C498CF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73421" y="5760720"/>
            <a:ext cx="7571423" cy="680086"/>
          </a:xfrm>
        </p:spPr>
        <p:txBody>
          <a:bodyPr anchor="b"/>
          <a:lstStyle>
            <a:lvl1pPr algn="l">
              <a:defRPr sz="2400" b="1"/>
            </a:lvl1pPr>
          </a:lstStyle>
          <a:p>
            <a:r>
              <a:rPr lang="en-US" smtClean="0"/>
              <a:t>Click to edit Master title style</a:t>
            </a:r>
            <a:endParaRPr lang="en-US"/>
          </a:p>
        </p:txBody>
      </p:sp>
      <p:sp>
        <p:nvSpPr>
          <p:cNvPr id="3" name="Picture Placeholder 2"/>
          <p:cNvSpPr>
            <a:spLocks noGrp="1"/>
          </p:cNvSpPr>
          <p:nvPr>
            <p:ph type="pic" idx="1"/>
          </p:nvPr>
        </p:nvSpPr>
        <p:spPr>
          <a:xfrm>
            <a:off x="2473421" y="735331"/>
            <a:ext cx="7571423" cy="4937760"/>
          </a:xfrm>
        </p:spPr>
        <p:txBody>
          <a:bodyPr/>
          <a:lstStyle>
            <a:lvl1pPr marL="0" indent="0">
              <a:buNone/>
              <a:defRPr sz="3900"/>
            </a:lvl1pPr>
            <a:lvl2pPr marL="559110" indent="0">
              <a:buNone/>
              <a:defRPr sz="3400"/>
            </a:lvl2pPr>
            <a:lvl3pPr marL="1118220" indent="0">
              <a:buNone/>
              <a:defRPr sz="2900"/>
            </a:lvl3pPr>
            <a:lvl4pPr marL="1677330" indent="0">
              <a:buNone/>
              <a:defRPr sz="2400"/>
            </a:lvl4pPr>
            <a:lvl5pPr marL="2236440" indent="0">
              <a:buNone/>
              <a:defRPr sz="2400"/>
            </a:lvl5pPr>
            <a:lvl6pPr marL="2795549" indent="0">
              <a:buNone/>
              <a:defRPr sz="2400"/>
            </a:lvl6pPr>
            <a:lvl7pPr marL="3354659" indent="0">
              <a:buNone/>
              <a:defRPr sz="2400"/>
            </a:lvl7pPr>
            <a:lvl8pPr marL="3913769" indent="0">
              <a:buNone/>
              <a:defRPr sz="2400"/>
            </a:lvl8pPr>
            <a:lvl9pPr marL="4472879" indent="0">
              <a:buNone/>
              <a:defRPr sz="2400"/>
            </a:lvl9pPr>
          </a:lstStyle>
          <a:p>
            <a:endParaRPr lang="en-US"/>
          </a:p>
        </p:txBody>
      </p:sp>
      <p:sp>
        <p:nvSpPr>
          <p:cNvPr id="4" name="Text Placeholder 3"/>
          <p:cNvSpPr>
            <a:spLocks noGrp="1"/>
          </p:cNvSpPr>
          <p:nvPr>
            <p:ph type="body" sz="half" idx="2"/>
          </p:nvPr>
        </p:nvSpPr>
        <p:spPr>
          <a:xfrm>
            <a:off x="2473421" y="6440805"/>
            <a:ext cx="7571423" cy="965834"/>
          </a:xfrm>
        </p:spPr>
        <p:txBody>
          <a:bodyPr/>
          <a:lstStyle>
            <a:lvl1pPr marL="0" indent="0">
              <a:buNone/>
              <a:defRPr sz="1700"/>
            </a:lvl1pPr>
            <a:lvl2pPr marL="559110" indent="0">
              <a:buNone/>
              <a:defRPr sz="1500"/>
            </a:lvl2pPr>
            <a:lvl3pPr marL="1118220" indent="0">
              <a:buNone/>
              <a:defRPr sz="1200"/>
            </a:lvl3pPr>
            <a:lvl4pPr marL="1677330" indent="0">
              <a:buNone/>
              <a:defRPr sz="1100"/>
            </a:lvl4pPr>
            <a:lvl5pPr marL="2236440" indent="0">
              <a:buNone/>
              <a:defRPr sz="1100"/>
            </a:lvl5pPr>
            <a:lvl6pPr marL="2795549" indent="0">
              <a:buNone/>
              <a:defRPr sz="1100"/>
            </a:lvl6pPr>
            <a:lvl7pPr marL="3354659" indent="0">
              <a:buNone/>
              <a:defRPr sz="1100"/>
            </a:lvl7pPr>
            <a:lvl8pPr marL="3913769" indent="0">
              <a:buNone/>
              <a:defRPr sz="1100"/>
            </a:lvl8pPr>
            <a:lvl9pPr marL="4472879" indent="0">
              <a:buNone/>
              <a:defRPr sz="11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E063C1-4871-4FC0-B441-6BBFAA00335C}" type="datetimeFigureOut">
              <a:rPr lang="en-US" smtClean="0"/>
              <a:pPr/>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1A3DFA-74A6-45A2-AA72-91600C498CF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E063C1-4871-4FC0-B441-6BBFAA00335C}" type="datetimeFigureOut">
              <a:rPr lang="en-US" smtClean="0"/>
              <a:pPr/>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1A3DFA-74A6-45A2-AA72-91600C498CF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627801" y="333376"/>
            <a:ext cx="3917160" cy="711708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69750" y="333376"/>
            <a:ext cx="11547734" cy="711708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E063C1-4871-4FC0-B441-6BBFAA00335C}" type="datetimeFigureOut">
              <a:rPr lang="en-US" smtClean="0"/>
              <a:pPr/>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1A3DFA-74A6-45A2-AA72-91600C498CFF}"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0" name="Google Shape;20;p4"/>
          <p:cNvSpPr txBox="1">
            <a:spLocks noGrp="1"/>
          </p:cNvSpPr>
          <p:nvPr>
            <p:ph type="body" idx="1"/>
          </p:nvPr>
        </p:nvSpPr>
        <p:spPr>
          <a:xfrm>
            <a:off x="430157" y="1843960"/>
            <a:ext cx="11758724" cy="5466240"/>
          </a:xfrm>
          <a:prstGeom prst="rect">
            <a:avLst/>
          </a:prstGeom>
        </p:spPr>
        <p:txBody>
          <a:bodyPr spcFirstLastPara="1" wrap="square" lIns="133407" tIns="133407" rIns="133407" bIns="133407" anchor="t" anchorCtr="0">
            <a:normAutofit/>
          </a:bodyPr>
          <a:lstStyle>
            <a:lvl1pPr marL="667146" lvl="0" indent="-500360">
              <a:spcBef>
                <a:spcPts val="0"/>
              </a:spcBef>
              <a:spcAft>
                <a:spcPts val="0"/>
              </a:spcAft>
              <a:buSzPts val="1800"/>
              <a:buChar char="●"/>
              <a:defRPr/>
            </a:lvl1pPr>
            <a:lvl2pPr marL="1334292" lvl="1" indent="-463296">
              <a:spcBef>
                <a:spcPts val="0"/>
              </a:spcBef>
              <a:spcAft>
                <a:spcPts val="0"/>
              </a:spcAft>
              <a:buSzPts val="1400"/>
              <a:buChar char="○"/>
              <a:defRPr/>
            </a:lvl2pPr>
            <a:lvl3pPr marL="2001439" lvl="2" indent="-463296">
              <a:spcBef>
                <a:spcPts val="0"/>
              </a:spcBef>
              <a:spcAft>
                <a:spcPts val="0"/>
              </a:spcAft>
              <a:buSzPts val="1400"/>
              <a:buChar char="■"/>
              <a:defRPr/>
            </a:lvl3pPr>
            <a:lvl4pPr marL="2668585" lvl="3" indent="-463296">
              <a:spcBef>
                <a:spcPts val="0"/>
              </a:spcBef>
              <a:spcAft>
                <a:spcPts val="0"/>
              </a:spcAft>
              <a:buSzPts val="1400"/>
              <a:buChar char="●"/>
              <a:defRPr/>
            </a:lvl4pPr>
            <a:lvl5pPr marL="3335731" lvl="4" indent="-463296">
              <a:spcBef>
                <a:spcPts val="0"/>
              </a:spcBef>
              <a:spcAft>
                <a:spcPts val="0"/>
              </a:spcAft>
              <a:buSzPts val="1400"/>
              <a:buChar char="○"/>
              <a:defRPr/>
            </a:lvl5pPr>
            <a:lvl6pPr marL="4002877" lvl="5" indent="-463296">
              <a:spcBef>
                <a:spcPts val="0"/>
              </a:spcBef>
              <a:spcAft>
                <a:spcPts val="0"/>
              </a:spcAft>
              <a:buSzPts val="1400"/>
              <a:buChar char="■"/>
              <a:defRPr/>
            </a:lvl6pPr>
            <a:lvl7pPr marL="4670024" lvl="6" indent="-463296">
              <a:spcBef>
                <a:spcPts val="0"/>
              </a:spcBef>
              <a:spcAft>
                <a:spcPts val="0"/>
              </a:spcAft>
              <a:buSzPts val="1400"/>
              <a:buChar char="●"/>
              <a:defRPr/>
            </a:lvl7pPr>
            <a:lvl8pPr marL="5337170" lvl="7" indent="-463296">
              <a:spcBef>
                <a:spcPts val="0"/>
              </a:spcBef>
              <a:spcAft>
                <a:spcPts val="0"/>
              </a:spcAft>
              <a:buSzPts val="1400"/>
              <a:buChar char="○"/>
              <a:defRPr/>
            </a:lvl8pPr>
            <a:lvl9pPr marL="6004316" lvl="8" indent="-463296">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11727534" y="7502014"/>
            <a:ext cx="757225" cy="629760"/>
          </a:xfrm>
          <a:prstGeom prst="rect">
            <a:avLst/>
          </a:prstGeom>
        </p:spPr>
        <p:txBody>
          <a:bodyPr spcFirstLastPara="1" wrap="square" lIns="133407" tIns="133407" rIns="133407" bIns="133407"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4" name="Google Shape;24;p5"/>
          <p:cNvSpPr txBox="1">
            <a:spLocks noGrp="1"/>
          </p:cNvSpPr>
          <p:nvPr>
            <p:ph type="body" idx="1"/>
          </p:nvPr>
        </p:nvSpPr>
        <p:spPr>
          <a:xfrm>
            <a:off x="430157" y="1843960"/>
            <a:ext cx="5520001" cy="5466240"/>
          </a:xfrm>
          <a:prstGeom prst="rect">
            <a:avLst/>
          </a:prstGeom>
        </p:spPr>
        <p:txBody>
          <a:bodyPr spcFirstLastPara="1" wrap="square" lIns="133407" tIns="133407" rIns="133407" bIns="133407" anchor="t" anchorCtr="0">
            <a:normAutofit/>
          </a:bodyPr>
          <a:lstStyle>
            <a:lvl1pPr marL="667146" lvl="0" indent="-463296">
              <a:spcBef>
                <a:spcPts val="0"/>
              </a:spcBef>
              <a:spcAft>
                <a:spcPts val="0"/>
              </a:spcAft>
              <a:buSzPts val="1400"/>
              <a:buChar char="●"/>
              <a:defRPr sz="2000"/>
            </a:lvl1pPr>
            <a:lvl2pPr marL="1334292" lvl="1" indent="-444764">
              <a:spcBef>
                <a:spcPts val="0"/>
              </a:spcBef>
              <a:spcAft>
                <a:spcPts val="0"/>
              </a:spcAft>
              <a:buSzPts val="1200"/>
              <a:buChar char="○"/>
              <a:defRPr sz="1800"/>
            </a:lvl2pPr>
            <a:lvl3pPr marL="2001439" lvl="2" indent="-444764">
              <a:spcBef>
                <a:spcPts val="0"/>
              </a:spcBef>
              <a:spcAft>
                <a:spcPts val="0"/>
              </a:spcAft>
              <a:buSzPts val="1200"/>
              <a:buChar char="■"/>
              <a:defRPr sz="1800"/>
            </a:lvl3pPr>
            <a:lvl4pPr marL="2668585" lvl="3" indent="-444764">
              <a:spcBef>
                <a:spcPts val="0"/>
              </a:spcBef>
              <a:spcAft>
                <a:spcPts val="0"/>
              </a:spcAft>
              <a:buSzPts val="1200"/>
              <a:buChar char="●"/>
              <a:defRPr sz="1800"/>
            </a:lvl4pPr>
            <a:lvl5pPr marL="3335731" lvl="4" indent="-444764">
              <a:spcBef>
                <a:spcPts val="0"/>
              </a:spcBef>
              <a:spcAft>
                <a:spcPts val="0"/>
              </a:spcAft>
              <a:buSzPts val="1200"/>
              <a:buChar char="○"/>
              <a:defRPr sz="1800"/>
            </a:lvl5pPr>
            <a:lvl6pPr marL="4002877" lvl="5" indent="-444764">
              <a:spcBef>
                <a:spcPts val="0"/>
              </a:spcBef>
              <a:spcAft>
                <a:spcPts val="0"/>
              </a:spcAft>
              <a:buSzPts val="1200"/>
              <a:buChar char="■"/>
              <a:defRPr sz="1800"/>
            </a:lvl6pPr>
            <a:lvl7pPr marL="4670024" lvl="6" indent="-444764">
              <a:spcBef>
                <a:spcPts val="0"/>
              </a:spcBef>
              <a:spcAft>
                <a:spcPts val="0"/>
              </a:spcAft>
              <a:buSzPts val="1200"/>
              <a:buChar char="●"/>
              <a:defRPr sz="1800"/>
            </a:lvl7pPr>
            <a:lvl8pPr marL="5337170" lvl="7" indent="-444764">
              <a:spcBef>
                <a:spcPts val="0"/>
              </a:spcBef>
              <a:spcAft>
                <a:spcPts val="0"/>
              </a:spcAft>
              <a:buSzPts val="1200"/>
              <a:buChar char="○"/>
              <a:defRPr sz="1800"/>
            </a:lvl8pPr>
            <a:lvl9pPr marL="6004316" lvl="8" indent="-444764">
              <a:spcBef>
                <a:spcPts val="0"/>
              </a:spcBef>
              <a:spcAft>
                <a:spcPts val="0"/>
              </a:spcAft>
              <a:buSzPts val="1200"/>
              <a:buChar char="■"/>
              <a:defRPr sz="1800"/>
            </a:lvl9pPr>
          </a:lstStyle>
          <a:p>
            <a:endParaRPr/>
          </a:p>
        </p:txBody>
      </p:sp>
      <p:sp>
        <p:nvSpPr>
          <p:cNvPr id="25" name="Google Shape;25;p5"/>
          <p:cNvSpPr txBox="1">
            <a:spLocks noGrp="1"/>
          </p:cNvSpPr>
          <p:nvPr>
            <p:ph type="body" idx="2"/>
          </p:nvPr>
        </p:nvSpPr>
        <p:spPr>
          <a:xfrm>
            <a:off x="6668880" y="1843960"/>
            <a:ext cx="5520001" cy="5466240"/>
          </a:xfrm>
          <a:prstGeom prst="rect">
            <a:avLst/>
          </a:prstGeom>
        </p:spPr>
        <p:txBody>
          <a:bodyPr spcFirstLastPara="1" wrap="square" lIns="133407" tIns="133407" rIns="133407" bIns="133407" anchor="t" anchorCtr="0">
            <a:normAutofit/>
          </a:bodyPr>
          <a:lstStyle>
            <a:lvl1pPr marL="667146" lvl="0" indent="-463296">
              <a:spcBef>
                <a:spcPts val="0"/>
              </a:spcBef>
              <a:spcAft>
                <a:spcPts val="0"/>
              </a:spcAft>
              <a:buSzPts val="1400"/>
              <a:buChar char="●"/>
              <a:defRPr sz="2000"/>
            </a:lvl1pPr>
            <a:lvl2pPr marL="1334292" lvl="1" indent="-444764">
              <a:spcBef>
                <a:spcPts val="0"/>
              </a:spcBef>
              <a:spcAft>
                <a:spcPts val="0"/>
              </a:spcAft>
              <a:buSzPts val="1200"/>
              <a:buChar char="○"/>
              <a:defRPr sz="1800"/>
            </a:lvl2pPr>
            <a:lvl3pPr marL="2001439" lvl="2" indent="-444764">
              <a:spcBef>
                <a:spcPts val="0"/>
              </a:spcBef>
              <a:spcAft>
                <a:spcPts val="0"/>
              </a:spcAft>
              <a:buSzPts val="1200"/>
              <a:buChar char="■"/>
              <a:defRPr sz="1800"/>
            </a:lvl3pPr>
            <a:lvl4pPr marL="2668585" lvl="3" indent="-444764">
              <a:spcBef>
                <a:spcPts val="0"/>
              </a:spcBef>
              <a:spcAft>
                <a:spcPts val="0"/>
              </a:spcAft>
              <a:buSzPts val="1200"/>
              <a:buChar char="●"/>
              <a:defRPr sz="1800"/>
            </a:lvl4pPr>
            <a:lvl5pPr marL="3335731" lvl="4" indent="-444764">
              <a:spcBef>
                <a:spcPts val="0"/>
              </a:spcBef>
              <a:spcAft>
                <a:spcPts val="0"/>
              </a:spcAft>
              <a:buSzPts val="1200"/>
              <a:buChar char="○"/>
              <a:defRPr sz="1800"/>
            </a:lvl5pPr>
            <a:lvl6pPr marL="4002877" lvl="5" indent="-444764">
              <a:spcBef>
                <a:spcPts val="0"/>
              </a:spcBef>
              <a:spcAft>
                <a:spcPts val="0"/>
              </a:spcAft>
              <a:buSzPts val="1200"/>
              <a:buChar char="■"/>
              <a:defRPr sz="1800"/>
            </a:lvl6pPr>
            <a:lvl7pPr marL="4670024" lvl="6" indent="-444764">
              <a:spcBef>
                <a:spcPts val="0"/>
              </a:spcBef>
              <a:spcAft>
                <a:spcPts val="0"/>
              </a:spcAft>
              <a:buSzPts val="1200"/>
              <a:buChar char="●"/>
              <a:defRPr sz="1800"/>
            </a:lvl7pPr>
            <a:lvl8pPr marL="5337170" lvl="7" indent="-444764">
              <a:spcBef>
                <a:spcPts val="0"/>
              </a:spcBef>
              <a:spcAft>
                <a:spcPts val="0"/>
              </a:spcAft>
              <a:buSzPts val="1200"/>
              <a:buChar char="○"/>
              <a:defRPr sz="1800"/>
            </a:lvl8pPr>
            <a:lvl9pPr marL="6004316" lvl="8" indent="-444764">
              <a:spcBef>
                <a:spcPts val="0"/>
              </a:spcBef>
              <a:spcAft>
                <a:spcPts val="0"/>
              </a:spcAft>
              <a:buSzPts val="1200"/>
              <a:buChar char="■"/>
              <a:defRPr sz="1800"/>
            </a:lvl9pPr>
          </a:lstStyle>
          <a:p>
            <a:endParaRPr/>
          </a:p>
        </p:txBody>
      </p:sp>
      <p:sp>
        <p:nvSpPr>
          <p:cNvPr id="26" name="Google Shape;26;p5"/>
          <p:cNvSpPr txBox="1">
            <a:spLocks noGrp="1"/>
          </p:cNvSpPr>
          <p:nvPr>
            <p:ph type="sldNum" idx="12"/>
          </p:nvPr>
        </p:nvSpPr>
        <p:spPr>
          <a:xfrm>
            <a:off x="11727534" y="7502014"/>
            <a:ext cx="757225" cy="629760"/>
          </a:xfrm>
          <a:prstGeom prst="rect">
            <a:avLst/>
          </a:prstGeom>
        </p:spPr>
        <p:txBody>
          <a:bodyPr spcFirstLastPara="1" wrap="square" lIns="133407" tIns="133407" rIns="133407" bIns="133407"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0952" y="329565"/>
            <a:ext cx="11357134" cy="1371600"/>
          </a:xfrm>
          <a:prstGeom prst="rect">
            <a:avLst/>
          </a:prstGeom>
        </p:spPr>
        <p:txBody>
          <a:bodyPr vert="horz" lIns="111822" tIns="55911" rIns="111822" bIns="55911"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30952" y="1920241"/>
            <a:ext cx="11357134" cy="5431155"/>
          </a:xfrm>
          <a:prstGeom prst="rect">
            <a:avLst/>
          </a:prstGeom>
        </p:spPr>
        <p:txBody>
          <a:bodyPr vert="horz" lIns="111822" tIns="55911" rIns="111822" bIns="5591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30952" y="7627621"/>
            <a:ext cx="2944442" cy="438150"/>
          </a:xfrm>
          <a:prstGeom prst="rect">
            <a:avLst/>
          </a:prstGeom>
        </p:spPr>
        <p:txBody>
          <a:bodyPr vert="horz" lIns="111822" tIns="55911" rIns="111822" bIns="55911" rtlCol="0" anchor="ctr"/>
          <a:lstStyle>
            <a:lvl1pPr algn="l">
              <a:defRPr sz="1500">
                <a:solidFill>
                  <a:schemeClr val="tx1">
                    <a:tint val="75000"/>
                  </a:schemeClr>
                </a:solidFill>
              </a:defRPr>
            </a:lvl1pPr>
          </a:lstStyle>
          <a:p>
            <a:fld id="{7EE063C1-4871-4FC0-B441-6BBFAA00335C}" type="datetimeFigureOut">
              <a:rPr lang="en-US" smtClean="0"/>
              <a:pPr/>
              <a:t>11/25/2024</a:t>
            </a:fld>
            <a:endParaRPr lang="en-US"/>
          </a:p>
        </p:txBody>
      </p:sp>
      <p:sp>
        <p:nvSpPr>
          <p:cNvPr id="5" name="Footer Placeholder 4"/>
          <p:cNvSpPr>
            <a:spLocks noGrp="1"/>
          </p:cNvSpPr>
          <p:nvPr>
            <p:ph type="ftr" sz="quarter" idx="3"/>
          </p:nvPr>
        </p:nvSpPr>
        <p:spPr>
          <a:xfrm>
            <a:off x="4311506" y="7627621"/>
            <a:ext cx="3996029" cy="438150"/>
          </a:xfrm>
          <a:prstGeom prst="rect">
            <a:avLst/>
          </a:prstGeom>
        </p:spPr>
        <p:txBody>
          <a:bodyPr vert="horz" lIns="111822" tIns="55911" rIns="111822" bIns="55911" rtlCol="0" anchor="ctr"/>
          <a:lstStyle>
            <a:lvl1pPr algn="ctr">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043644" y="7627621"/>
            <a:ext cx="2944442" cy="438150"/>
          </a:xfrm>
          <a:prstGeom prst="rect">
            <a:avLst/>
          </a:prstGeom>
        </p:spPr>
        <p:txBody>
          <a:bodyPr vert="horz" lIns="111822" tIns="55911" rIns="111822" bIns="55911" rtlCol="0" anchor="ctr"/>
          <a:lstStyle>
            <a:lvl1pPr algn="r">
              <a:defRPr sz="1500">
                <a:solidFill>
                  <a:schemeClr val="tx1">
                    <a:tint val="75000"/>
                  </a:schemeClr>
                </a:solidFill>
              </a:defRPr>
            </a:lvl1pPr>
          </a:lstStyle>
          <a:p>
            <a:fld id="{CB1A3DFA-74A6-45A2-AA72-91600C498CF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1118220" rtl="0" eaLnBrk="1" latinLnBrk="0" hangingPunct="1">
        <a:spcBef>
          <a:spcPct val="0"/>
        </a:spcBef>
        <a:buNone/>
        <a:defRPr sz="5400" kern="1200">
          <a:solidFill>
            <a:schemeClr val="tx1"/>
          </a:solidFill>
          <a:latin typeface="+mj-lt"/>
          <a:ea typeface="+mj-ea"/>
          <a:cs typeface="+mj-cs"/>
        </a:defRPr>
      </a:lvl1pPr>
    </p:titleStyle>
    <p:bodyStyle>
      <a:lvl1pPr marL="419332" indent="-419332" algn="l" defTabSz="1118220" rtl="0" eaLnBrk="1" latinLnBrk="0" hangingPunct="1">
        <a:spcBef>
          <a:spcPct val="20000"/>
        </a:spcBef>
        <a:buFont typeface="Arial" pitchFamily="34" charset="0"/>
        <a:buChar char="•"/>
        <a:defRPr sz="3900" kern="1200">
          <a:solidFill>
            <a:schemeClr val="tx1"/>
          </a:solidFill>
          <a:latin typeface="+mn-lt"/>
          <a:ea typeface="+mn-ea"/>
          <a:cs typeface="+mn-cs"/>
        </a:defRPr>
      </a:lvl1pPr>
      <a:lvl2pPr marL="908554" indent="-349444" algn="l" defTabSz="1118220" rtl="0" eaLnBrk="1" latinLnBrk="0" hangingPunct="1">
        <a:spcBef>
          <a:spcPct val="20000"/>
        </a:spcBef>
        <a:buFont typeface="Arial" pitchFamily="34" charset="0"/>
        <a:buChar char="–"/>
        <a:defRPr sz="3400" kern="1200">
          <a:solidFill>
            <a:schemeClr val="tx1"/>
          </a:solidFill>
          <a:latin typeface="+mn-lt"/>
          <a:ea typeface="+mn-ea"/>
          <a:cs typeface="+mn-cs"/>
        </a:defRPr>
      </a:lvl2pPr>
      <a:lvl3pPr marL="1397775" indent="-279555" algn="l" defTabSz="1118220" rtl="0" eaLnBrk="1" latinLnBrk="0" hangingPunct="1">
        <a:spcBef>
          <a:spcPct val="20000"/>
        </a:spcBef>
        <a:buFont typeface="Arial" pitchFamily="34" charset="0"/>
        <a:buChar char="•"/>
        <a:defRPr sz="2900" kern="1200">
          <a:solidFill>
            <a:schemeClr val="tx1"/>
          </a:solidFill>
          <a:latin typeface="+mn-lt"/>
          <a:ea typeface="+mn-ea"/>
          <a:cs typeface="+mn-cs"/>
        </a:defRPr>
      </a:lvl3pPr>
      <a:lvl4pPr marL="1956885" indent="-279555" algn="l" defTabSz="1118220" rtl="0" eaLnBrk="1" latinLnBrk="0" hangingPunct="1">
        <a:spcBef>
          <a:spcPct val="20000"/>
        </a:spcBef>
        <a:buFont typeface="Arial" pitchFamily="34" charset="0"/>
        <a:buChar char="–"/>
        <a:defRPr sz="2400" kern="1200">
          <a:solidFill>
            <a:schemeClr val="tx1"/>
          </a:solidFill>
          <a:latin typeface="+mn-lt"/>
          <a:ea typeface="+mn-ea"/>
          <a:cs typeface="+mn-cs"/>
        </a:defRPr>
      </a:lvl4pPr>
      <a:lvl5pPr marL="2515994" indent="-279555" algn="l" defTabSz="1118220" rtl="0" eaLnBrk="1" latinLnBrk="0" hangingPunct="1">
        <a:spcBef>
          <a:spcPct val="20000"/>
        </a:spcBef>
        <a:buFont typeface="Arial" pitchFamily="34" charset="0"/>
        <a:buChar char="»"/>
        <a:defRPr sz="2400" kern="1200">
          <a:solidFill>
            <a:schemeClr val="tx1"/>
          </a:solidFill>
          <a:latin typeface="+mn-lt"/>
          <a:ea typeface="+mn-ea"/>
          <a:cs typeface="+mn-cs"/>
        </a:defRPr>
      </a:lvl5pPr>
      <a:lvl6pPr marL="3075104" indent="-279555" algn="l" defTabSz="1118220"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634214" indent="-279555" algn="l" defTabSz="1118220"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93324" indent="-279555" algn="l" defTabSz="1118220"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752434" indent="-279555" algn="l" defTabSz="1118220"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118220" rtl="0" eaLnBrk="1" latinLnBrk="0" hangingPunct="1">
        <a:defRPr sz="2200" kern="1200">
          <a:solidFill>
            <a:schemeClr val="tx1"/>
          </a:solidFill>
          <a:latin typeface="+mn-lt"/>
          <a:ea typeface="+mn-ea"/>
          <a:cs typeface="+mn-cs"/>
        </a:defRPr>
      </a:lvl1pPr>
      <a:lvl2pPr marL="559110" algn="l" defTabSz="1118220" rtl="0" eaLnBrk="1" latinLnBrk="0" hangingPunct="1">
        <a:defRPr sz="2200" kern="1200">
          <a:solidFill>
            <a:schemeClr val="tx1"/>
          </a:solidFill>
          <a:latin typeface="+mn-lt"/>
          <a:ea typeface="+mn-ea"/>
          <a:cs typeface="+mn-cs"/>
        </a:defRPr>
      </a:lvl2pPr>
      <a:lvl3pPr marL="1118220" algn="l" defTabSz="1118220" rtl="0" eaLnBrk="1" latinLnBrk="0" hangingPunct="1">
        <a:defRPr sz="2200" kern="1200">
          <a:solidFill>
            <a:schemeClr val="tx1"/>
          </a:solidFill>
          <a:latin typeface="+mn-lt"/>
          <a:ea typeface="+mn-ea"/>
          <a:cs typeface="+mn-cs"/>
        </a:defRPr>
      </a:lvl3pPr>
      <a:lvl4pPr marL="1677330" algn="l" defTabSz="1118220" rtl="0" eaLnBrk="1" latinLnBrk="0" hangingPunct="1">
        <a:defRPr sz="2200" kern="1200">
          <a:solidFill>
            <a:schemeClr val="tx1"/>
          </a:solidFill>
          <a:latin typeface="+mn-lt"/>
          <a:ea typeface="+mn-ea"/>
          <a:cs typeface="+mn-cs"/>
        </a:defRPr>
      </a:lvl4pPr>
      <a:lvl5pPr marL="2236440" algn="l" defTabSz="1118220" rtl="0" eaLnBrk="1" latinLnBrk="0" hangingPunct="1">
        <a:defRPr sz="2200" kern="1200">
          <a:solidFill>
            <a:schemeClr val="tx1"/>
          </a:solidFill>
          <a:latin typeface="+mn-lt"/>
          <a:ea typeface="+mn-ea"/>
          <a:cs typeface="+mn-cs"/>
        </a:defRPr>
      </a:lvl5pPr>
      <a:lvl6pPr marL="2795549" algn="l" defTabSz="1118220" rtl="0" eaLnBrk="1" latinLnBrk="0" hangingPunct="1">
        <a:defRPr sz="2200" kern="1200">
          <a:solidFill>
            <a:schemeClr val="tx1"/>
          </a:solidFill>
          <a:latin typeface="+mn-lt"/>
          <a:ea typeface="+mn-ea"/>
          <a:cs typeface="+mn-cs"/>
        </a:defRPr>
      </a:lvl6pPr>
      <a:lvl7pPr marL="3354659" algn="l" defTabSz="1118220" rtl="0" eaLnBrk="1" latinLnBrk="0" hangingPunct="1">
        <a:defRPr sz="2200" kern="1200">
          <a:solidFill>
            <a:schemeClr val="tx1"/>
          </a:solidFill>
          <a:latin typeface="+mn-lt"/>
          <a:ea typeface="+mn-ea"/>
          <a:cs typeface="+mn-cs"/>
        </a:defRPr>
      </a:lvl7pPr>
      <a:lvl8pPr marL="3913769" algn="l" defTabSz="1118220" rtl="0" eaLnBrk="1" latinLnBrk="0" hangingPunct="1">
        <a:defRPr sz="2200" kern="1200">
          <a:solidFill>
            <a:schemeClr val="tx1"/>
          </a:solidFill>
          <a:latin typeface="+mn-lt"/>
          <a:ea typeface="+mn-ea"/>
          <a:cs typeface="+mn-cs"/>
        </a:defRPr>
      </a:lvl8pPr>
      <a:lvl9pPr marL="4472879" algn="l" defTabSz="1118220"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8" Type="http://schemas.openxmlformats.org/officeDocument/2006/relationships/hyperlink" Target="https://www.w3schools.com/python/ref_list_index.asp" TargetMode="External"/><Relationship Id="rId13" Type="http://schemas.openxmlformats.org/officeDocument/2006/relationships/hyperlink" Target="https://www.w3schools.com/python/ref_list_sort.asp" TargetMode="External"/><Relationship Id="rId3" Type="http://schemas.openxmlformats.org/officeDocument/2006/relationships/hyperlink" Target="https://www.w3schools.com/python/ref_list_append.asp" TargetMode="External"/><Relationship Id="rId7" Type="http://schemas.openxmlformats.org/officeDocument/2006/relationships/hyperlink" Target="https://www.w3schools.com/python/ref_list_extend.asp" TargetMode="External"/><Relationship Id="rId12" Type="http://schemas.openxmlformats.org/officeDocument/2006/relationships/hyperlink" Target="https://www.w3schools.com/python/ref_list_reverse.asp"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hyperlink" Target="https://www.w3schools.com/python/ref_list_count.asp" TargetMode="External"/><Relationship Id="rId11" Type="http://schemas.openxmlformats.org/officeDocument/2006/relationships/hyperlink" Target="https://www.w3schools.com/python/ref_list_remove.asp" TargetMode="External"/><Relationship Id="rId5" Type="http://schemas.openxmlformats.org/officeDocument/2006/relationships/hyperlink" Target="https://www.w3schools.com/python/ref_list_copy.asp" TargetMode="External"/><Relationship Id="rId10" Type="http://schemas.openxmlformats.org/officeDocument/2006/relationships/hyperlink" Target="https://www.w3schools.com/python/ref_list_pop.asp" TargetMode="External"/><Relationship Id="rId4" Type="http://schemas.openxmlformats.org/officeDocument/2006/relationships/hyperlink" Target="https://www.w3schools.com/python/ref_list_clear.asp" TargetMode="External"/><Relationship Id="rId9" Type="http://schemas.openxmlformats.org/officeDocument/2006/relationships/hyperlink" Target="https://www.w3schools.com/python/ref_list_insert.asp" TargetMode="Externa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hyperlink" Target="https://www.w3schools.com/python/ref_tuple_count.asp"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hyperlink" Target="https://www.w3schools.com/python/ref_tuple_index.asp" TargetMode="External"/></Relationships>
</file>

<file path=ppt/slides/_rels/slide40.xml.rels><?xml version="1.0" encoding="UTF-8" standalone="yes"?>
<Relationships xmlns="http://schemas.openxmlformats.org/package/2006/relationships"><Relationship Id="rId8" Type="http://schemas.openxmlformats.org/officeDocument/2006/relationships/hyperlink" Target="https://www.w3schools.com/python/ref_set_discard.asp" TargetMode="External"/><Relationship Id="rId3" Type="http://schemas.openxmlformats.org/officeDocument/2006/relationships/hyperlink" Target="https://www.w3schools.com/python/ref_set_add.asp" TargetMode="External"/><Relationship Id="rId7" Type="http://schemas.openxmlformats.org/officeDocument/2006/relationships/hyperlink" Target="https://www.w3schools.com/python/ref_set_difference_update.asp"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hyperlink" Target="https://www.w3schools.com/python/ref_set_difference.asp" TargetMode="External"/><Relationship Id="rId11" Type="http://schemas.openxmlformats.org/officeDocument/2006/relationships/hyperlink" Target="https://www.w3schools.com/python/ref_set_isdisjoint.asp" TargetMode="External"/><Relationship Id="rId5" Type="http://schemas.openxmlformats.org/officeDocument/2006/relationships/hyperlink" Target="https://www.w3schools.com/python/ref_set_copy.asp" TargetMode="External"/><Relationship Id="rId10" Type="http://schemas.openxmlformats.org/officeDocument/2006/relationships/hyperlink" Target="https://www.w3schools.com/python/ref_set_intersection_update.asp" TargetMode="External"/><Relationship Id="rId4" Type="http://schemas.openxmlformats.org/officeDocument/2006/relationships/hyperlink" Target="https://www.w3schools.com/python/ref_set_clear.asp" TargetMode="External"/><Relationship Id="rId9" Type="http://schemas.openxmlformats.org/officeDocument/2006/relationships/hyperlink" Target="https://www.w3schools.com/python/ref_set_intersection.asp"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www.w3schools.com/python/ref_set_symmetric_difference_update.asp" TargetMode="External"/><Relationship Id="rId3" Type="http://schemas.openxmlformats.org/officeDocument/2006/relationships/hyperlink" Target="https://www.w3schools.com/python/ref_set_issubset.asp" TargetMode="External"/><Relationship Id="rId7" Type="http://schemas.openxmlformats.org/officeDocument/2006/relationships/hyperlink" Target="https://www.w3schools.com/python/ref_set_symmetric_difference.asp"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hyperlink" Target="https://www.w3schools.com/python/ref_set_remove.asp" TargetMode="External"/><Relationship Id="rId5" Type="http://schemas.openxmlformats.org/officeDocument/2006/relationships/hyperlink" Target="https://www.w3schools.com/python/ref_set_pop.asp" TargetMode="External"/><Relationship Id="rId10" Type="http://schemas.openxmlformats.org/officeDocument/2006/relationships/hyperlink" Target="https://www.w3schools.com/python/ref_set_update.asp" TargetMode="External"/><Relationship Id="rId4" Type="http://schemas.openxmlformats.org/officeDocument/2006/relationships/hyperlink" Target="https://www.w3schools.com/python/ref_set_issuperset.asp" TargetMode="External"/><Relationship Id="rId9" Type="http://schemas.openxmlformats.org/officeDocument/2006/relationships/hyperlink" Target="https://www.w3schools.com/python/ref_set_union.asp" TargetMode="External"/></Relationships>
</file>

<file path=ppt/slides/_rels/slide42.xml.rels><?xml version="1.0" encoding="UTF-8" standalone="yes"?>
<Relationships xmlns="http://schemas.openxmlformats.org/package/2006/relationships"><Relationship Id="rId8" Type="http://schemas.openxmlformats.org/officeDocument/2006/relationships/hyperlink" Target="https://www.w3schools.com/python/ref_dictionary_keys.asp" TargetMode="External"/><Relationship Id="rId13" Type="http://schemas.openxmlformats.org/officeDocument/2006/relationships/hyperlink" Target="https://www.w3schools.com/python/ref_dictionary_values.asp" TargetMode="External"/><Relationship Id="rId3" Type="http://schemas.openxmlformats.org/officeDocument/2006/relationships/hyperlink" Target="https://www.w3schools.com/python/ref_dictionary_clear.asp" TargetMode="External"/><Relationship Id="rId7" Type="http://schemas.openxmlformats.org/officeDocument/2006/relationships/hyperlink" Target="https://www.w3schools.com/python/ref_dictionary_items.asp" TargetMode="External"/><Relationship Id="rId12" Type="http://schemas.openxmlformats.org/officeDocument/2006/relationships/hyperlink" Target="https://www.w3schools.com/python/ref_dictionary_update.asp"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hyperlink" Target="https://www.w3schools.com/python/ref_dictionary_get.asp" TargetMode="External"/><Relationship Id="rId11" Type="http://schemas.openxmlformats.org/officeDocument/2006/relationships/hyperlink" Target="https://www.w3schools.com/python/ref_dictionary_setdefault.asp" TargetMode="External"/><Relationship Id="rId5" Type="http://schemas.openxmlformats.org/officeDocument/2006/relationships/hyperlink" Target="https://www.w3schools.com/python/ref_dictionary_fromkeys.asp" TargetMode="External"/><Relationship Id="rId10" Type="http://schemas.openxmlformats.org/officeDocument/2006/relationships/hyperlink" Target="https://www.w3schools.com/python/ref_dictionary_popitem.asp" TargetMode="External"/><Relationship Id="rId4" Type="http://schemas.openxmlformats.org/officeDocument/2006/relationships/hyperlink" Target="https://www.w3schools.com/python/ref_dictionary_copy.asp" TargetMode="External"/><Relationship Id="rId9" Type="http://schemas.openxmlformats.org/officeDocument/2006/relationships/hyperlink" Target="https://www.w3schools.com/python/ref_dictionary_pop.asp" TargetMode="External"/></Relationships>
</file>

<file path=ppt/slides/_rels/slide43.xml.rels><?xml version="1.0" encoding="UTF-8" standalone="yes"?>
<Relationships xmlns="http://schemas.openxmlformats.org/package/2006/relationships"><Relationship Id="rId8" Type="http://schemas.openxmlformats.org/officeDocument/2006/relationships/hyperlink" Target="https://www.w3schools.com/python/ref_string_isupper.asp" TargetMode="External"/><Relationship Id="rId3" Type="http://schemas.openxmlformats.org/officeDocument/2006/relationships/hyperlink" Target="https://www.w3schools.com/python/ref_string_capitalize.asp" TargetMode="External"/><Relationship Id="rId7" Type="http://schemas.openxmlformats.org/officeDocument/2006/relationships/hyperlink" Target="https://www.w3schools.com/python/ref_string_islower.asp"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hyperlink" Target="https://www.w3schools.com/python/ref_string_count.asp" TargetMode="External"/><Relationship Id="rId11" Type="http://schemas.openxmlformats.org/officeDocument/2006/relationships/hyperlink" Target="https://www.w3schools.com/python/ref_string_find.asp" TargetMode="External"/><Relationship Id="rId5" Type="http://schemas.openxmlformats.org/officeDocument/2006/relationships/hyperlink" Target="https://www.w3schools.com/python/ref_string_center.asp" TargetMode="External"/><Relationship Id="rId10" Type="http://schemas.openxmlformats.org/officeDocument/2006/relationships/hyperlink" Target="https://www.w3schools.com/python/ref_string_expandtabs.asp" TargetMode="External"/><Relationship Id="rId4" Type="http://schemas.openxmlformats.org/officeDocument/2006/relationships/hyperlink" Target="https://www.w3schools.com/python/ref_string_casefold.asp" TargetMode="External"/><Relationship Id="rId9" Type="http://schemas.openxmlformats.org/officeDocument/2006/relationships/hyperlink" Target="https://www.w3schools.com/python/ref_string_endswith.asp" TargetMode="External"/></Relationships>
</file>

<file path=ppt/slides/_rels/slide44.xml.rels><?xml version="1.0" encoding="UTF-8" standalone="yes"?>
<Relationships xmlns="http://schemas.openxmlformats.org/package/2006/relationships"><Relationship Id="rId8" Type="http://schemas.openxmlformats.org/officeDocument/2006/relationships/hyperlink" Target="https://www.w3schools.com/python/ref_string_replace.asp" TargetMode="External"/><Relationship Id="rId3" Type="http://schemas.openxmlformats.org/officeDocument/2006/relationships/hyperlink" Target="https://www.w3schools.com/python/ref_string_format.asp" TargetMode="External"/><Relationship Id="rId7" Type="http://schemas.openxmlformats.org/officeDocument/2006/relationships/hyperlink" Target="https://www.w3schools.com/python/ref_string_title.asp" TargetMode="Externa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hyperlink" Target="https://www.w3schools.com/python/ref_string_upper.asp" TargetMode="External"/><Relationship Id="rId5" Type="http://schemas.openxmlformats.org/officeDocument/2006/relationships/hyperlink" Target="https://www.w3schools.com/python/ref_string_lower.asp" TargetMode="External"/><Relationship Id="rId4" Type="http://schemas.openxmlformats.org/officeDocument/2006/relationships/hyperlink" Target="https://www.w3schools.com/python/ref_string_join.asp" TargetMode="External"/><Relationship Id="rId9" Type="http://schemas.openxmlformats.org/officeDocument/2006/relationships/hyperlink" Target="https://www.w3schools.com/python/ref_string_split.asp" TargetMode="Externa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Array Techniques</a:t>
            </a:r>
            <a:endParaRPr lang="en-US" dirty="0"/>
          </a:p>
        </p:txBody>
      </p:sp>
      <p:sp>
        <p:nvSpPr>
          <p:cNvPr id="3" name="Subtitle 2"/>
          <p:cNvSpPr>
            <a:spLocks noGrp="1"/>
          </p:cNvSpPr>
          <p:nvPr>
            <p:ph type="subTitle" idx="1"/>
          </p:nvPr>
        </p:nvSpPr>
        <p:spPr/>
        <p:txBody>
          <a:bodyPr/>
          <a:lstStyle/>
          <a:p>
            <a:r>
              <a:rPr lang="en-US" dirty="0"/>
              <a:t>Introduction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a:t>
            </a:r>
            <a:endParaRPr lang="en-US" dirty="0"/>
          </a:p>
        </p:txBody>
      </p:sp>
      <p:sp>
        <p:nvSpPr>
          <p:cNvPr id="3" name="Content Placeholder 2"/>
          <p:cNvSpPr>
            <a:spLocks noGrp="1"/>
          </p:cNvSpPr>
          <p:nvPr>
            <p:ph idx="1"/>
          </p:nvPr>
        </p:nvSpPr>
        <p:spPr>
          <a:xfrm>
            <a:off x="630952" y="1524001"/>
            <a:ext cx="11357134" cy="5827396"/>
          </a:xfrm>
        </p:spPr>
        <p:txBody>
          <a:bodyPr>
            <a:normAutofit lnSpcReduction="10000"/>
          </a:bodyPr>
          <a:lstStyle/>
          <a:p>
            <a:pPr algn="just"/>
            <a:r>
              <a:rPr lang="en-US" dirty="0">
                <a:latin typeface="Times" pitchFamily="18" charset="0"/>
              </a:rPr>
              <a:t>Array is a container which can hold a fix number of items and these items should be of the same type. Most of the data structures make use of arrays to implement their algorithms. Following are the important terms to understand the concept of Array.</a:t>
            </a:r>
          </a:p>
          <a:p>
            <a:r>
              <a:rPr lang="en-US" b="1" dirty="0">
                <a:latin typeface="Times" pitchFamily="18" charset="0"/>
              </a:rPr>
              <a:t>Element</a:t>
            </a:r>
            <a:r>
              <a:rPr lang="en-US" dirty="0">
                <a:latin typeface="Times" pitchFamily="18" charset="0"/>
              </a:rPr>
              <a:t> − Each item stored in an array is called an element.</a:t>
            </a:r>
          </a:p>
          <a:p>
            <a:r>
              <a:rPr lang="en-US" b="1" dirty="0">
                <a:latin typeface="Times" pitchFamily="18" charset="0"/>
              </a:rPr>
              <a:t>Index</a:t>
            </a:r>
            <a:r>
              <a:rPr lang="en-US" dirty="0">
                <a:latin typeface="Times" pitchFamily="18" charset="0"/>
              </a:rPr>
              <a:t> − Each location of an element in an array has a numerical index, which is used to identify the element.</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Array Representation</a:t>
            </a:r>
            <a:br>
              <a:rPr lang="en-US" dirty="0"/>
            </a:br>
            <a:endParaRPr lang="en-US" dirty="0"/>
          </a:p>
        </p:txBody>
      </p:sp>
      <p:pic>
        <p:nvPicPr>
          <p:cNvPr id="1027" name="Picture 3"/>
          <p:cNvPicPr>
            <a:picLocks noGrp="1" noChangeAspect="1" noChangeArrowheads="1"/>
          </p:cNvPicPr>
          <p:nvPr>
            <p:ph idx="1"/>
          </p:nvPr>
        </p:nvPicPr>
        <p:blipFill>
          <a:blip r:embed="rId2"/>
          <a:srcRect/>
          <a:stretch>
            <a:fillRect/>
          </a:stretch>
        </p:blipFill>
        <p:spPr bwMode="auto">
          <a:xfrm>
            <a:off x="975519" y="1143000"/>
            <a:ext cx="10972800" cy="4038600"/>
          </a:xfrm>
          <a:prstGeom prst="rect">
            <a:avLst/>
          </a:prstGeom>
          <a:noFill/>
          <a:ln w="9525">
            <a:noFill/>
            <a:miter lim="800000"/>
            <a:headEnd/>
            <a:tailEnd/>
          </a:ln>
          <a:effectLst/>
        </p:spPr>
      </p:pic>
      <p:sp>
        <p:nvSpPr>
          <p:cNvPr id="7" name="Rectangle 6"/>
          <p:cNvSpPr/>
          <p:nvPr/>
        </p:nvSpPr>
        <p:spPr>
          <a:xfrm>
            <a:off x="594519" y="5410200"/>
            <a:ext cx="11506200" cy="1446550"/>
          </a:xfrm>
          <a:prstGeom prst="rect">
            <a:avLst/>
          </a:prstGeom>
        </p:spPr>
        <p:txBody>
          <a:bodyPr wrap="square">
            <a:spAutoFit/>
          </a:bodyPr>
          <a:lstStyle/>
          <a:p>
            <a:r>
              <a:rPr lang="en-US" dirty="0"/>
              <a:t>As per the above illustration, following are the important points to be considered.</a:t>
            </a:r>
          </a:p>
          <a:p>
            <a:r>
              <a:rPr lang="en-US" dirty="0"/>
              <a:t>Index starts with 0.</a:t>
            </a:r>
          </a:p>
          <a:p>
            <a:r>
              <a:rPr lang="en-US" dirty="0"/>
              <a:t>Array length is 10 which means it can store 10 elements.</a:t>
            </a:r>
          </a:p>
          <a:p>
            <a:r>
              <a:rPr lang="en-US" dirty="0"/>
              <a:t>Each element can be accessed via its index. For example, we can fetch an element at index 6 as 9.</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Basic Operations</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en-US" dirty="0"/>
              <a:t>Following are the basic operations supported by an array.</a:t>
            </a:r>
          </a:p>
          <a:p>
            <a:pPr algn="just"/>
            <a:r>
              <a:rPr lang="en-US" b="1" dirty="0"/>
              <a:t>Traverse</a:t>
            </a:r>
            <a:r>
              <a:rPr lang="en-US" dirty="0"/>
              <a:t> − print all the array elements one by one.</a:t>
            </a:r>
          </a:p>
          <a:p>
            <a:pPr algn="just"/>
            <a:r>
              <a:rPr lang="en-US" b="1" dirty="0"/>
              <a:t>Insertion</a:t>
            </a:r>
            <a:r>
              <a:rPr lang="en-US" dirty="0"/>
              <a:t> − Adds an element at the given index.</a:t>
            </a:r>
          </a:p>
          <a:p>
            <a:pPr algn="just"/>
            <a:r>
              <a:rPr lang="en-US" b="1" dirty="0"/>
              <a:t>Deletion</a:t>
            </a:r>
            <a:r>
              <a:rPr lang="en-US" dirty="0"/>
              <a:t> − Deletes an element at the given index.</a:t>
            </a:r>
          </a:p>
          <a:p>
            <a:pPr algn="just"/>
            <a:r>
              <a:rPr lang="en-US" b="1" dirty="0"/>
              <a:t>Search</a:t>
            </a:r>
            <a:r>
              <a:rPr lang="en-US" dirty="0"/>
              <a:t> − Searches an element using the given index or by the value.</a:t>
            </a:r>
          </a:p>
          <a:p>
            <a:pPr algn="just"/>
            <a:r>
              <a:rPr lang="en-US" b="1" dirty="0"/>
              <a:t>Update</a:t>
            </a:r>
            <a:r>
              <a:rPr lang="en-US" dirty="0"/>
              <a:t> − Updates an element at the given index.</a:t>
            </a:r>
          </a:p>
          <a:p>
            <a:pPr algn="just"/>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Array is created in Python by importing array module to the python program.</a:t>
            </a:r>
          </a:p>
        </p:txBody>
      </p:sp>
      <p:sp>
        <p:nvSpPr>
          <p:cNvPr id="3" name="Content Placeholder 2"/>
          <p:cNvSpPr>
            <a:spLocks noGrp="1"/>
          </p:cNvSpPr>
          <p:nvPr>
            <p:ph idx="1"/>
          </p:nvPr>
        </p:nvSpPr>
        <p:spPr/>
        <p:txBody>
          <a:bodyPr/>
          <a:lstStyle/>
          <a:p>
            <a:pPr>
              <a:buNone/>
            </a:pPr>
            <a:endParaRPr lang="en-US" dirty="0"/>
          </a:p>
          <a:p>
            <a:pPr>
              <a:buNone/>
            </a:pPr>
            <a:r>
              <a:rPr lang="en-US" dirty="0" smtClean="0"/>
              <a:t>from </a:t>
            </a:r>
            <a:r>
              <a:rPr lang="en-US" dirty="0"/>
              <a:t>array import * </a:t>
            </a:r>
            <a:endParaRPr lang="en-US" dirty="0" smtClean="0"/>
          </a:p>
          <a:p>
            <a:pPr>
              <a:buNone/>
            </a:pPr>
            <a:r>
              <a:rPr lang="en-US" dirty="0" err="1" smtClean="0"/>
              <a:t>arrayName</a:t>
            </a:r>
            <a:r>
              <a:rPr lang="en-US" dirty="0" smtClean="0"/>
              <a:t> </a:t>
            </a:r>
            <a:r>
              <a:rPr lang="en-US" dirty="0"/>
              <a:t>= array(</a:t>
            </a:r>
            <a:r>
              <a:rPr lang="en-US" dirty="0" err="1"/>
              <a:t>typecode</a:t>
            </a:r>
            <a:r>
              <a:rPr lang="en-US" dirty="0"/>
              <a:t>, [</a:t>
            </a:r>
            <a:r>
              <a:rPr lang="en-US" dirty="0" err="1"/>
              <a:t>Initializers</a:t>
            </a:r>
            <a:r>
              <a:rPr lang="en-US" dirty="0"/>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951" y="329565"/>
            <a:ext cx="11469767" cy="1371600"/>
          </a:xfrm>
        </p:spPr>
        <p:txBody>
          <a:bodyPr>
            <a:noAutofit/>
          </a:bodyPr>
          <a:lstStyle/>
          <a:p>
            <a:r>
              <a:rPr lang="en-US" sz="3200" dirty="0" err="1"/>
              <a:t>Typecode</a:t>
            </a:r>
            <a:r>
              <a:rPr lang="en-US" sz="3200" dirty="0"/>
              <a:t> are the codes that are used to define the type of value the array will hold. Some common </a:t>
            </a:r>
            <a:r>
              <a:rPr lang="en-US" sz="3200" dirty="0" err="1"/>
              <a:t>typecodes</a:t>
            </a:r>
            <a:r>
              <a:rPr lang="en-US" sz="3200" dirty="0"/>
              <a:t> used are:</a:t>
            </a:r>
          </a:p>
        </p:txBody>
      </p:sp>
      <p:graphicFrame>
        <p:nvGraphicFramePr>
          <p:cNvPr id="4" name="Content Placeholder 3"/>
          <p:cNvGraphicFramePr>
            <a:graphicFrameLocks noGrp="1"/>
          </p:cNvGraphicFramePr>
          <p:nvPr>
            <p:ph idx="1"/>
          </p:nvPr>
        </p:nvGraphicFramePr>
        <p:xfrm>
          <a:off x="630238" y="1600203"/>
          <a:ext cx="11358562" cy="6331340"/>
        </p:xfrm>
        <a:graphic>
          <a:graphicData uri="http://schemas.openxmlformats.org/drawingml/2006/table">
            <a:tbl>
              <a:tblPr firstRow="1" bandRow="1">
                <a:tableStyleId>{5C22544A-7EE6-4342-B048-85BDC9FD1C3A}</a:tableStyleId>
              </a:tblPr>
              <a:tblGrid>
                <a:gridCol w="3088481"/>
                <a:gridCol w="8270081"/>
              </a:tblGrid>
              <a:tr h="516914">
                <a:tc>
                  <a:txBody>
                    <a:bodyPr/>
                    <a:lstStyle/>
                    <a:p>
                      <a:pPr algn="ctr" fontAlgn="t"/>
                      <a:r>
                        <a:rPr lang="en-US" sz="2400" b="1" dirty="0" err="1">
                          <a:latin typeface="Timis"/>
                        </a:rPr>
                        <a:t>Typecode</a:t>
                      </a:r>
                      <a:endParaRPr lang="en-US" sz="2400" b="1" dirty="0">
                        <a:latin typeface="Timis"/>
                      </a:endParaRPr>
                    </a:p>
                  </a:txBody>
                  <a:tcPr marL="76200" marR="76200" marT="76200" marB="76200"/>
                </a:tc>
                <a:tc>
                  <a:txBody>
                    <a:bodyPr/>
                    <a:lstStyle/>
                    <a:p>
                      <a:pPr algn="ctr" fontAlgn="t"/>
                      <a:r>
                        <a:rPr lang="en-US" sz="2400" b="1">
                          <a:latin typeface="Timis"/>
                        </a:rPr>
                        <a:t>Value</a:t>
                      </a:r>
                    </a:p>
                  </a:txBody>
                  <a:tcPr marL="76200" marR="76200" marT="76200" marB="76200"/>
                </a:tc>
              </a:tr>
              <a:tr h="881795">
                <a:tc>
                  <a:txBody>
                    <a:bodyPr/>
                    <a:lstStyle/>
                    <a:p>
                      <a:pPr algn="ctr" fontAlgn="t"/>
                      <a:r>
                        <a:rPr lang="en-US" sz="2400" b="1" dirty="0">
                          <a:latin typeface="Timis"/>
                        </a:rPr>
                        <a:t>b</a:t>
                      </a:r>
                    </a:p>
                  </a:txBody>
                  <a:tcPr marL="76200" marR="76200" marT="76200" marB="76200"/>
                </a:tc>
                <a:tc>
                  <a:txBody>
                    <a:bodyPr/>
                    <a:lstStyle/>
                    <a:p>
                      <a:pPr algn="l" fontAlgn="t"/>
                      <a:r>
                        <a:rPr lang="en-US" sz="2400" b="1" dirty="0">
                          <a:latin typeface="Timis"/>
                        </a:rPr>
                        <a:t>Represents signed integer of size 1 </a:t>
                      </a:r>
                      <a:r>
                        <a:rPr lang="en-US" sz="2400" b="1" dirty="0" smtClean="0">
                          <a:latin typeface="Timis"/>
                        </a:rPr>
                        <a:t>byte (-128-</a:t>
                      </a:r>
                      <a:r>
                        <a:rPr lang="en-US" sz="2400" b="1" baseline="0" dirty="0" smtClean="0">
                          <a:latin typeface="Timis"/>
                        </a:rPr>
                        <a:t> to +</a:t>
                      </a:r>
                      <a:r>
                        <a:rPr lang="en-US" sz="2400" b="1" dirty="0" smtClean="0">
                          <a:latin typeface="Timis"/>
                        </a:rPr>
                        <a:t>127)</a:t>
                      </a:r>
                      <a:endParaRPr lang="en-US" sz="2400" b="1" dirty="0">
                        <a:latin typeface="Timis"/>
                      </a:endParaRPr>
                    </a:p>
                  </a:txBody>
                  <a:tcPr marL="76200" marR="76200" marT="76200" marB="76200"/>
                </a:tc>
              </a:tr>
              <a:tr h="881795">
                <a:tc>
                  <a:txBody>
                    <a:bodyPr/>
                    <a:lstStyle/>
                    <a:p>
                      <a:pPr algn="ctr" fontAlgn="t"/>
                      <a:r>
                        <a:rPr lang="en-US" sz="2400" b="1" dirty="0">
                          <a:latin typeface="Timis"/>
                        </a:rPr>
                        <a:t>B</a:t>
                      </a:r>
                    </a:p>
                  </a:txBody>
                  <a:tcPr marL="76200" marR="76200" marT="76200" marB="76200"/>
                </a:tc>
                <a:tc>
                  <a:txBody>
                    <a:bodyPr/>
                    <a:lstStyle/>
                    <a:p>
                      <a:pPr algn="l" fontAlgn="t"/>
                      <a:r>
                        <a:rPr lang="en-US" sz="2400" b="1" dirty="0">
                          <a:latin typeface="Timis"/>
                        </a:rPr>
                        <a:t>Represents unsigned integer of size 1 </a:t>
                      </a:r>
                      <a:r>
                        <a:rPr lang="en-US" sz="2400" b="1" dirty="0" smtClean="0">
                          <a:latin typeface="Timis"/>
                        </a:rPr>
                        <a:t>byte(0-255)</a:t>
                      </a:r>
                      <a:endParaRPr lang="en-US" sz="2400" b="1" dirty="0">
                        <a:latin typeface="Timis"/>
                      </a:endParaRPr>
                    </a:p>
                  </a:txBody>
                  <a:tcPr marL="76200" marR="76200" marT="76200" marB="76200"/>
                </a:tc>
              </a:tr>
              <a:tr h="516914">
                <a:tc>
                  <a:txBody>
                    <a:bodyPr/>
                    <a:lstStyle/>
                    <a:p>
                      <a:pPr algn="ctr" fontAlgn="t"/>
                      <a:r>
                        <a:rPr lang="en-US" sz="2400" b="1" dirty="0">
                          <a:latin typeface="Timis"/>
                        </a:rPr>
                        <a:t>c</a:t>
                      </a:r>
                    </a:p>
                  </a:txBody>
                  <a:tcPr marL="76200" marR="76200" marT="76200" marB="76200"/>
                </a:tc>
                <a:tc>
                  <a:txBody>
                    <a:bodyPr/>
                    <a:lstStyle/>
                    <a:p>
                      <a:pPr algn="l" fontAlgn="t"/>
                      <a:r>
                        <a:rPr lang="en-US" sz="2400" b="1" dirty="0">
                          <a:latin typeface="Timis"/>
                        </a:rPr>
                        <a:t>Represents character of size 1 </a:t>
                      </a:r>
                      <a:r>
                        <a:rPr lang="en-US" sz="2400" b="1" dirty="0" smtClean="0">
                          <a:latin typeface="Timis"/>
                        </a:rPr>
                        <a:t>byte (0-127)</a:t>
                      </a:r>
                      <a:endParaRPr lang="en-US" sz="2400" b="1" dirty="0">
                        <a:latin typeface="Timis"/>
                      </a:endParaRPr>
                    </a:p>
                  </a:txBody>
                  <a:tcPr marL="76200" marR="76200" marT="76200" marB="76200"/>
                </a:tc>
              </a:tr>
              <a:tr h="881795">
                <a:tc>
                  <a:txBody>
                    <a:bodyPr/>
                    <a:lstStyle/>
                    <a:p>
                      <a:pPr algn="ctr" fontAlgn="t"/>
                      <a:r>
                        <a:rPr lang="en-US" sz="2400" b="1" dirty="0" err="1">
                          <a:latin typeface="Timis"/>
                        </a:rPr>
                        <a:t>i</a:t>
                      </a:r>
                      <a:endParaRPr lang="en-US" sz="2400" b="1" dirty="0">
                        <a:latin typeface="Timis"/>
                      </a:endParaRPr>
                    </a:p>
                  </a:txBody>
                  <a:tcPr marL="76200" marR="76200" marT="76200" marB="76200"/>
                </a:tc>
                <a:tc>
                  <a:txBody>
                    <a:bodyPr/>
                    <a:lstStyle/>
                    <a:p>
                      <a:pPr algn="l" fontAlgn="t"/>
                      <a:r>
                        <a:rPr lang="en-US" sz="2400" b="1" dirty="0">
                          <a:latin typeface="Timis"/>
                        </a:rPr>
                        <a:t>Represents signed integer of size </a:t>
                      </a:r>
                      <a:r>
                        <a:rPr lang="en-US" sz="2400" b="1" dirty="0" smtClean="0">
                          <a:latin typeface="Timis"/>
                        </a:rPr>
                        <a:t>4 bytes </a:t>
                      </a:r>
                      <a:r>
                        <a:rPr lang="en-US" sz="2400" b="1" kern="1200" dirty="0" smtClean="0">
                          <a:solidFill>
                            <a:schemeClr val="dk1"/>
                          </a:solidFill>
                          <a:latin typeface="Timis"/>
                          <a:ea typeface="+mn-ea"/>
                          <a:cs typeface="+mn-cs"/>
                        </a:rPr>
                        <a:t>–(2,147,483,648 to 2,147,483,647)</a:t>
                      </a:r>
                      <a:endParaRPr lang="en-US" sz="2400" b="1" kern="1200" dirty="0">
                        <a:solidFill>
                          <a:schemeClr val="dk1"/>
                        </a:solidFill>
                        <a:latin typeface="Timis"/>
                        <a:ea typeface="+mn-ea"/>
                        <a:cs typeface="+mn-cs"/>
                      </a:endParaRPr>
                    </a:p>
                  </a:txBody>
                  <a:tcPr marL="76200" marR="76200" marT="76200" marB="76200"/>
                </a:tc>
              </a:tr>
              <a:tr h="881795">
                <a:tc>
                  <a:txBody>
                    <a:bodyPr/>
                    <a:lstStyle/>
                    <a:p>
                      <a:pPr algn="ctr" fontAlgn="t"/>
                      <a:r>
                        <a:rPr lang="en-US" sz="2400" b="1">
                          <a:latin typeface="Timis"/>
                        </a:rPr>
                        <a:t>I</a:t>
                      </a:r>
                    </a:p>
                  </a:txBody>
                  <a:tcPr marL="76200" marR="76200" marT="76200" marB="76200"/>
                </a:tc>
                <a:tc>
                  <a:txBody>
                    <a:bodyPr/>
                    <a:lstStyle/>
                    <a:p>
                      <a:pPr algn="l" fontAlgn="t"/>
                      <a:r>
                        <a:rPr lang="en-US" sz="2400" b="1" dirty="0">
                          <a:latin typeface="Timis"/>
                        </a:rPr>
                        <a:t>Represents unsigned integer of size </a:t>
                      </a:r>
                      <a:r>
                        <a:rPr lang="en-US" sz="2400" b="1" dirty="0" smtClean="0">
                          <a:latin typeface="Timis"/>
                        </a:rPr>
                        <a:t>4 </a:t>
                      </a:r>
                      <a:r>
                        <a:rPr lang="en-US" sz="2400" b="1" dirty="0">
                          <a:latin typeface="Timis"/>
                        </a:rPr>
                        <a:t>bytes</a:t>
                      </a:r>
                    </a:p>
                  </a:txBody>
                  <a:tcPr marL="76200" marR="76200" marT="76200" marB="76200"/>
                </a:tc>
              </a:tr>
              <a:tr h="881795">
                <a:tc>
                  <a:txBody>
                    <a:bodyPr/>
                    <a:lstStyle/>
                    <a:p>
                      <a:pPr algn="ctr" fontAlgn="t"/>
                      <a:r>
                        <a:rPr lang="en-US" sz="2400" b="1" dirty="0">
                          <a:latin typeface="Timis"/>
                        </a:rPr>
                        <a:t>f</a:t>
                      </a:r>
                    </a:p>
                  </a:txBody>
                  <a:tcPr marL="76200" marR="76200" marT="76200" marB="76200"/>
                </a:tc>
                <a:tc>
                  <a:txBody>
                    <a:bodyPr/>
                    <a:lstStyle/>
                    <a:p>
                      <a:pPr algn="l" fontAlgn="t"/>
                      <a:r>
                        <a:rPr lang="en-US" sz="2400" b="1" dirty="0">
                          <a:latin typeface="Timis"/>
                        </a:rPr>
                        <a:t>Represents </a:t>
                      </a:r>
                      <a:r>
                        <a:rPr lang="en-US" sz="2400" b="1" dirty="0" smtClean="0">
                          <a:latin typeface="Timis"/>
                        </a:rPr>
                        <a:t>floating </a:t>
                      </a:r>
                      <a:r>
                        <a:rPr lang="en-US" sz="2400" b="1" dirty="0">
                          <a:latin typeface="Timis"/>
                        </a:rPr>
                        <a:t>point of size 4 </a:t>
                      </a:r>
                      <a:r>
                        <a:rPr lang="en-US" sz="2400" b="1" dirty="0" smtClean="0">
                          <a:latin typeface="Timis"/>
                        </a:rPr>
                        <a:t>bytes</a:t>
                      </a:r>
                    </a:p>
                    <a:p>
                      <a:pPr algn="l" fontAlgn="t"/>
                      <a:endParaRPr lang="en-US" sz="2400" b="1" dirty="0">
                        <a:latin typeface="Timis"/>
                      </a:endParaRPr>
                    </a:p>
                  </a:txBody>
                  <a:tcPr marL="76200" marR="76200" marT="76200" marB="76200"/>
                </a:tc>
              </a:tr>
              <a:tr h="881795">
                <a:tc>
                  <a:txBody>
                    <a:bodyPr/>
                    <a:lstStyle/>
                    <a:p>
                      <a:pPr algn="ctr" fontAlgn="t"/>
                      <a:r>
                        <a:rPr lang="en-US" sz="2400" b="1" dirty="0">
                          <a:latin typeface="Timis"/>
                        </a:rPr>
                        <a:t>d</a:t>
                      </a:r>
                    </a:p>
                  </a:txBody>
                  <a:tcPr marL="76200" marR="76200" marT="76200" marB="76200"/>
                </a:tc>
                <a:tc>
                  <a:txBody>
                    <a:bodyPr/>
                    <a:lstStyle/>
                    <a:p>
                      <a:pPr algn="l" fontAlgn="t"/>
                      <a:r>
                        <a:rPr lang="en-US" sz="2400" b="1" dirty="0">
                          <a:latin typeface="Timis"/>
                        </a:rPr>
                        <a:t>Represents floating point of size 8 bytes</a:t>
                      </a:r>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a:t>from array import </a:t>
            </a:r>
            <a:r>
              <a:rPr lang="en-US" dirty="0" smtClean="0"/>
              <a:t>*</a:t>
            </a:r>
          </a:p>
          <a:p>
            <a:r>
              <a:rPr lang="en-US" dirty="0" smtClean="0"/>
              <a:t> </a:t>
            </a:r>
            <a:r>
              <a:rPr lang="en-US" dirty="0"/>
              <a:t>array1 = array('</a:t>
            </a:r>
            <a:r>
              <a:rPr lang="en-US" dirty="0" err="1"/>
              <a:t>i</a:t>
            </a:r>
            <a:r>
              <a:rPr lang="en-US" dirty="0"/>
              <a:t>', [10,20,30,40,50]) </a:t>
            </a:r>
            <a:endParaRPr lang="en-US" dirty="0" smtClean="0"/>
          </a:p>
          <a:p>
            <a:r>
              <a:rPr lang="en-US" dirty="0" smtClean="0"/>
              <a:t>for </a:t>
            </a:r>
            <a:r>
              <a:rPr lang="en-US" dirty="0"/>
              <a:t>x in array1: </a:t>
            </a:r>
            <a:endParaRPr lang="en-US" dirty="0" smtClean="0"/>
          </a:p>
          <a:p>
            <a:r>
              <a:rPr lang="en-US" dirty="0" smtClean="0"/>
              <a:t>print(x</a:t>
            </a:r>
            <a:r>
              <a:rPr lang="en-US" dirty="0"/>
              <a: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Finding the length of an array</a:t>
            </a:r>
            <a:br>
              <a:rPr lang="en-US" dirty="0"/>
            </a:br>
            <a:endParaRPr lang="en-US" dirty="0"/>
          </a:p>
        </p:txBody>
      </p:sp>
      <p:sp>
        <p:nvSpPr>
          <p:cNvPr id="3" name="Content Placeholder 2"/>
          <p:cNvSpPr>
            <a:spLocks noGrp="1"/>
          </p:cNvSpPr>
          <p:nvPr>
            <p:ph idx="1"/>
          </p:nvPr>
        </p:nvSpPr>
        <p:spPr/>
        <p:txBody>
          <a:bodyPr/>
          <a:lstStyle/>
          <a:p>
            <a:r>
              <a:rPr lang="en-US" dirty="0"/>
              <a:t>The length of an array is defined as the number of elements present in an array. It returns an integer value that is equal to the total number of the elements present in that array.</a:t>
            </a:r>
          </a:p>
          <a:p>
            <a:r>
              <a:rPr lang="en-US" b="1" dirty="0"/>
              <a:t>Syntax</a:t>
            </a:r>
            <a:endParaRPr lang="en-US" dirty="0"/>
          </a:p>
          <a:p>
            <a:r>
              <a:rPr lang="en-US" dirty="0" err="1"/>
              <a:t>len</a:t>
            </a:r>
            <a:r>
              <a:rPr lang="en-US" dirty="0"/>
              <a:t>(</a:t>
            </a:r>
            <a:r>
              <a:rPr lang="en-US" dirty="0" err="1"/>
              <a:t>array_name</a:t>
            </a:r>
            <a:r>
              <a:rPr lang="en-US" dirty="0"/>
              <a:t>)  </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Accessing Array Element</a:t>
            </a:r>
            <a:br>
              <a:rPr lang="en-US" dirty="0"/>
            </a:br>
            <a:endParaRPr lang="en-US" dirty="0"/>
          </a:p>
        </p:txBody>
      </p:sp>
      <p:sp>
        <p:nvSpPr>
          <p:cNvPr id="3" name="Content Placeholder 2"/>
          <p:cNvSpPr>
            <a:spLocks noGrp="1"/>
          </p:cNvSpPr>
          <p:nvPr>
            <p:ph idx="1"/>
          </p:nvPr>
        </p:nvSpPr>
        <p:spPr/>
        <p:txBody>
          <a:bodyPr/>
          <a:lstStyle/>
          <a:p>
            <a:pPr>
              <a:buNone/>
            </a:pPr>
            <a:r>
              <a:rPr lang="en-US" dirty="0"/>
              <a:t>from array import * </a:t>
            </a:r>
            <a:endParaRPr lang="en-US" dirty="0" smtClean="0"/>
          </a:p>
          <a:p>
            <a:pPr>
              <a:buNone/>
            </a:pPr>
            <a:r>
              <a:rPr lang="en-US" dirty="0" smtClean="0"/>
              <a:t>array1 </a:t>
            </a:r>
            <a:r>
              <a:rPr lang="en-US" dirty="0"/>
              <a:t>= array('</a:t>
            </a:r>
            <a:r>
              <a:rPr lang="en-US" dirty="0" err="1"/>
              <a:t>i</a:t>
            </a:r>
            <a:r>
              <a:rPr lang="en-US" dirty="0"/>
              <a:t>', [10,20,30,40,50</a:t>
            </a:r>
            <a:r>
              <a:rPr lang="en-US" dirty="0" smtClean="0"/>
              <a:t>])</a:t>
            </a:r>
          </a:p>
          <a:p>
            <a:pPr>
              <a:buNone/>
            </a:pPr>
            <a:r>
              <a:rPr lang="en-US" dirty="0" smtClean="0"/>
              <a:t> </a:t>
            </a:r>
            <a:r>
              <a:rPr lang="en-US" dirty="0"/>
              <a:t>print (array1[0]) </a:t>
            </a:r>
            <a:endParaRPr lang="en-US" dirty="0" smtClean="0"/>
          </a:p>
          <a:p>
            <a:pPr>
              <a:buNone/>
            </a:pPr>
            <a:r>
              <a:rPr lang="en-US" dirty="0" smtClean="0"/>
              <a:t>print </a:t>
            </a:r>
            <a:r>
              <a:rPr lang="en-US" dirty="0"/>
              <a:t>(array1[2])</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Insertion Operation</a:t>
            </a:r>
            <a:br>
              <a:rPr lang="en-US" dirty="0"/>
            </a:br>
            <a:endParaRPr lang="en-US" dirty="0"/>
          </a:p>
        </p:txBody>
      </p:sp>
      <p:sp>
        <p:nvSpPr>
          <p:cNvPr id="3" name="Content Placeholder 2"/>
          <p:cNvSpPr>
            <a:spLocks noGrp="1"/>
          </p:cNvSpPr>
          <p:nvPr>
            <p:ph idx="1"/>
          </p:nvPr>
        </p:nvSpPr>
        <p:spPr/>
        <p:txBody>
          <a:bodyPr/>
          <a:lstStyle/>
          <a:p>
            <a:pPr algn="just"/>
            <a:r>
              <a:rPr lang="en-US" dirty="0"/>
              <a:t>Insert operation is to insert one or more data elements into an array. Based on the requirement, a new element can be added at the beginning, end, or any given index of array.</a:t>
            </a:r>
          </a:p>
          <a:p>
            <a:pPr algn="just"/>
            <a:r>
              <a:rPr lang="en-US" dirty="0"/>
              <a:t>Here,  </a:t>
            </a:r>
            <a:r>
              <a:rPr lang="en-US" dirty="0" smtClean="0"/>
              <a:t>example of add </a:t>
            </a:r>
            <a:r>
              <a:rPr lang="en-US" dirty="0"/>
              <a:t>a data element at the middle of the array using the python in-built insert() method.</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Insertion Operation</a:t>
            </a:r>
            <a:br>
              <a:rPr lang="en-US" dirty="0"/>
            </a:br>
            <a:endParaRPr lang="en-US" dirty="0"/>
          </a:p>
        </p:txBody>
      </p:sp>
      <p:sp>
        <p:nvSpPr>
          <p:cNvPr id="3" name="Content Placeholder 2"/>
          <p:cNvSpPr>
            <a:spLocks noGrp="1"/>
          </p:cNvSpPr>
          <p:nvPr>
            <p:ph idx="1"/>
          </p:nvPr>
        </p:nvSpPr>
        <p:spPr/>
        <p:txBody>
          <a:bodyPr/>
          <a:lstStyle/>
          <a:p>
            <a:pPr>
              <a:buNone/>
            </a:pPr>
            <a:r>
              <a:rPr lang="en-US" dirty="0">
                <a:solidFill>
                  <a:srgbClr val="002060"/>
                </a:solidFill>
              </a:rPr>
              <a:t>from array import * </a:t>
            </a:r>
            <a:endParaRPr lang="en-US" dirty="0" smtClean="0">
              <a:solidFill>
                <a:srgbClr val="002060"/>
              </a:solidFill>
            </a:endParaRPr>
          </a:p>
          <a:p>
            <a:pPr>
              <a:buNone/>
            </a:pPr>
            <a:r>
              <a:rPr lang="en-US" dirty="0" smtClean="0">
                <a:solidFill>
                  <a:srgbClr val="002060"/>
                </a:solidFill>
              </a:rPr>
              <a:t>array1 </a:t>
            </a:r>
            <a:r>
              <a:rPr lang="en-US" dirty="0">
                <a:solidFill>
                  <a:srgbClr val="002060"/>
                </a:solidFill>
              </a:rPr>
              <a:t>= array('</a:t>
            </a:r>
            <a:r>
              <a:rPr lang="en-US" dirty="0" err="1">
                <a:solidFill>
                  <a:srgbClr val="002060"/>
                </a:solidFill>
              </a:rPr>
              <a:t>i</a:t>
            </a:r>
            <a:r>
              <a:rPr lang="en-US" dirty="0">
                <a:solidFill>
                  <a:srgbClr val="002060"/>
                </a:solidFill>
              </a:rPr>
              <a:t>', [10,20,30,40,50]) </a:t>
            </a:r>
            <a:endParaRPr lang="en-US" dirty="0" smtClean="0">
              <a:solidFill>
                <a:srgbClr val="002060"/>
              </a:solidFill>
            </a:endParaRPr>
          </a:p>
          <a:p>
            <a:pPr>
              <a:buNone/>
            </a:pPr>
            <a:r>
              <a:rPr lang="en-US" dirty="0" smtClean="0">
                <a:solidFill>
                  <a:srgbClr val="002060"/>
                </a:solidFill>
              </a:rPr>
              <a:t>array1.insert(1,60</a:t>
            </a:r>
            <a:r>
              <a:rPr lang="en-US" dirty="0">
                <a:solidFill>
                  <a:srgbClr val="002060"/>
                </a:solidFill>
              </a:rPr>
              <a:t>) </a:t>
            </a:r>
            <a:endParaRPr lang="en-US" dirty="0" smtClean="0">
              <a:solidFill>
                <a:srgbClr val="002060"/>
              </a:solidFill>
            </a:endParaRPr>
          </a:p>
          <a:p>
            <a:pPr>
              <a:buNone/>
            </a:pPr>
            <a:r>
              <a:rPr lang="en-US" dirty="0" smtClean="0">
                <a:solidFill>
                  <a:srgbClr val="002060"/>
                </a:solidFill>
              </a:rPr>
              <a:t>for </a:t>
            </a:r>
            <a:r>
              <a:rPr lang="en-US" dirty="0">
                <a:solidFill>
                  <a:srgbClr val="002060"/>
                </a:solidFill>
              </a:rPr>
              <a:t>x in array1: </a:t>
            </a:r>
            <a:endParaRPr lang="en-US" dirty="0" smtClean="0">
              <a:solidFill>
                <a:srgbClr val="002060"/>
              </a:solidFill>
            </a:endParaRPr>
          </a:p>
          <a:p>
            <a:pPr>
              <a:buNone/>
            </a:pPr>
            <a:r>
              <a:rPr lang="en-US" dirty="0" smtClean="0">
                <a:solidFill>
                  <a:srgbClr val="002060"/>
                </a:solidFill>
              </a:rPr>
              <a:t>print(x)</a:t>
            </a:r>
          </a:p>
          <a:p>
            <a:pPr>
              <a:buNone/>
            </a:pPr>
            <a:endParaRPr lang="en-US" dirty="0">
              <a:solidFill>
                <a:srgbClr val="002060"/>
              </a:solidFill>
            </a:endParaRPr>
          </a:p>
          <a:p>
            <a:pPr>
              <a:buNone/>
            </a:pPr>
            <a:r>
              <a:rPr lang="en-US" dirty="0">
                <a:solidFill>
                  <a:srgbClr val="002060"/>
                </a:solidFill>
              </a:rPr>
              <a:t>array1.append(100)</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Deletion Operation</a:t>
            </a:r>
            <a:br>
              <a:rPr lang="en-US" dirty="0"/>
            </a:br>
            <a:endParaRPr lang="en-US" dirty="0"/>
          </a:p>
        </p:txBody>
      </p:sp>
      <p:sp>
        <p:nvSpPr>
          <p:cNvPr id="3" name="Content Placeholder 2"/>
          <p:cNvSpPr>
            <a:spLocks noGrp="1"/>
          </p:cNvSpPr>
          <p:nvPr>
            <p:ph idx="1"/>
          </p:nvPr>
        </p:nvSpPr>
        <p:spPr>
          <a:xfrm>
            <a:off x="630952" y="1295401"/>
            <a:ext cx="11357134" cy="6055996"/>
          </a:xfrm>
        </p:spPr>
        <p:txBody>
          <a:bodyPr>
            <a:normAutofit lnSpcReduction="10000"/>
          </a:bodyPr>
          <a:lstStyle/>
          <a:p>
            <a:r>
              <a:rPr lang="en-US" dirty="0" smtClean="0"/>
              <a:t>Deletion </a:t>
            </a:r>
            <a:r>
              <a:rPr lang="en-US" dirty="0"/>
              <a:t>refers to removing an existing element from the array and re-organizing all elements of an array.</a:t>
            </a:r>
          </a:p>
          <a:p>
            <a:r>
              <a:rPr lang="en-US" dirty="0"/>
              <a:t>Here, we remove a data element at the middle of the array using the python in-built remove() method.</a:t>
            </a:r>
          </a:p>
          <a:p>
            <a:pPr>
              <a:buNone/>
            </a:pPr>
            <a:r>
              <a:rPr lang="en-US" dirty="0">
                <a:solidFill>
                  <a:srgbClr val="002060"/>
                </a:solidFill>
              </a:rPr>
              <a:t>from array import * </a:t>
            </a:r>
            <a:endParaRPr lang="en-US" dirty="0" smtClean="0">
              <a:solidFill>
                <a:srgbClr val="002060"/>
              </a:solidFill>
            </a:endParaRPr>
          </a:p>
          <a:p>
            <a:pPr>
              <a:buNone/>
            </a:pPr>
            <a:r>
              <a:rPr lang="en-US" dirty="0" smtClean="0">
                <a:solidFill>
                  <a:srgbClr val="002060"/>
                </a:solidFill>
              </a:rPr>
              <a:t>array1 </a:t>
            </a:r>
            <a:r>
              <a:rPr lang="en-US" dirty="0">
                <a:solidFill>
                  <a:srgbClr val="002060"/>
                </a:solidFill>
              </a:rPr>
              <a:t>= array('</a:t>
            </a:r>
            <a:r>
              <a:rPr lang="en-US" dirty="0" err="1">
                <a:solidFill>
                  <a:srgbClr val="002060"/>
                </a:solidFill>
              </a:rPr>
              <a:t>i</a:t>
            </a:r>
            <a:r>
              <a:rPr lang="en-US" dirty="0">
                <a:solidFill>
                  <a:srgbClr val="002060"/>
                </a:solidFill>
              </a:rPr>
              <a:t>', [10,20,30,40,50]) </a:t>
            </a:r>
            <a:endParaRPr lang="en-US" dirty="0" smtClean="0">
              <a:solidFill>
                <a:srgbClr val="002060"/>
              </a:solidFill>
            </a:endParaRPr>
          </a:p>
          <a:p>
            <a:pPr>
              <a:buNone/>
            </a:pPr>
            <a:r>
              <a:rPr lang="en-US" dirty="0" smtClean="0">
                <a:solidFill>
                  <a:srgbClr val="002060"/>
                </a:solidFill>
              </a:rPr>
              <a:t>array1.remove(40)</a:t>
            </a:r>
          </a:p>
          <a:p>
            <a:pPr>
              <a:buNone/>
            </a:pPr>
            <a:r>
              <a:rPr lang="en-US" dirty="0" smtClean="0">
                <a:solidFill>
                  <a:srgbClr val="002060"/>
                </a:solidFill>
              </a:rPr>
              <a:t>for </a:t>
            </a:r>
            <a:r>
              <a:rPr lang="en-US" dirty="0">
                <a:solidFill>
                  <a:srgbClr val="002060"/>
                </a:solidFill>
              </a:rPr>
              <a:t>x in array1</a:t>
            </a:r>
            <a:r>
              <a:rPr lang="en-US" dirty="0" smtClean="0">
                <a:solidFill>
                  <a:srgbClr val="002060"/>
                </a:solidFill>
              </a:rPr>
              <a:t>:</a:t>
            </a:r>
          </a:p>
          <a:p>
            <a:pPr>
              <a:buNone/>
            </a:pPr>
            <a:r>
              <a:rPr lang="en-US" dirty="0" smtClean="0">
                <a:solidFill>
                  <a:srgbClr val="002060"/>
                </a:solidFill>
              </a:rPr>
              <a:t> </a:t>
            </a:r>
            <a:r>
              <a:rPr lang="en-US" dirty="0">
                <a:solidFill>
                  <a:srgbClr val="002060"/>
                </a:solidFill>
              </a:rPr>
              <a:t>print(x)</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Del function </a:t>
            </a:r>
            <a:endParaRPr lang="en-US" dirty="0"/>
          </a:p>
        </p:txBody>
      </p:sp>
      <p:sp>
        <p:nvSpPr>
          <p:cNvPr id="3" name="Content Placeholder 2"/>
          <p:cNvSpPr>
            <a:spLocks noGrp="1"/>
          </p:cNvSpPr>
          <p:nvPr>
            <p:ph idx="1"/>
          </p:nvPr>
        </p:nvSpPr>
        <p:spPr/>
        <p:txBody>
          <a:bodyPr/>
          <a:lstStyle/>
          <a:p>
            <a:r>
              <a:rPr lang="en-US" dirty="0"/>
              <a:t>import array as </a:t>
            </a:r>
            <a:r>
              <a:rPr lang="en-US" dirty="0" err="1"/>
              <a:t>arr</a:t>
            </a:r>
            <a:r>
              <a:rPr lang="en-US" dirty="0"/>
              <a:t>  </a:t>
            </a:r>
          </a:p>
          <a:p>
            <a:r>
              <a:rPr lang="en-US" dirty="0"/>
              <a:t>number = </a:t>
            </a:r>
            <a:r>
              <a:rPr lang="en-US" dirty="0" err="1"/>
              <a:t>arr.array</a:t>
            </a:r>
            <a:r>
              <a:rPr lang="en-US" dirty="0"/>
              <a:t>('</a:t>
            </a:r>
            <a:r>
              <a:rPr lang="en-US" dirty="0" err="1"/>
              <a:t>i</a:t>
            </a:r>
            <a:r>
              <a:rPr lang="en-US" dirty="0"/>
              <a:t>', [10, 20, 30, 30, 40])  </a:t>
            </a:r>
          </a:p>
          <a:p>
            <a:r>
              <a:rPr lang="en-US" dirty="0"/>
              <a:t>del number[2]      </a:t>
            </a:r>
            <a:r>
              <a:rPr lang="en-US" dirty="0" smtClean="0"/>
              <a:t> </a:t>
            </a:r>
            <a:r>
              <a:rPr lang="en-US" dirty="0"/>
              <a:t>  # removing third element  </a:t>
            </a:r>
          </a:p>
          <a:p>
            <a:r>
              <a:rPr lang="en-US" dirty="0"/>
              <a:t>print(number) </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Search Operation</a:t>
            </a:r>
            <a:br>
              <a:rPr lang="en-US" dirty="0"/>
            </a:br>
            <a:endParaRPr lang="en-US" dirty="0"/>
          </a:p>
        </p:txBody>
      </p:sp>
      <p:sp>
        <p:nvSpPr>
          <p:cNvPr id="3" name="Content Placeholder 2"/>
          <p:cNvSpPr>
            <a:spLocks noGrp="1"/>
          </p:cNvSpPr>
          <p:nvPr>
            <p:ph idx="1"/>
          </p:nvPr>
        </p:nvSpPr>
        <p:spPr/>
        <p:txBody>
          <a:bodyPr/>
          <a:lstStyle/>
          <a:p>
            <a:r>
              <a:rPr lang="en-US" dirty="0"/>
              <a:t>You can perform a search for an array element based on its value or its index.</a:t>
            </a:r>
          </a:p>
          <a:p>
            <a:r>
              <a:rPr lang="en-US" dirty="0"/>
              <a:t>Here, we search a data element using the python in-built index() method</a:t>
            </a:r>
            <a:r>
              <a:rPr lang="en-US" dirty="0" smtClean="0"/>
              <a:t>.</a:t>
            </a:r>
          </a:p>
          <a:p>
            <a:pPr>
              <a:buNone/>
            </a:pPr>
            <a:r>
              <a:rPr lang="en-US" dirty="0">
                <a:solidFill>
                  <a:srgbClr val="002060"/>
                </a:solidFill>
              </a:rPr>
              <a:t>from array import * </a:t>
            </a:r>
            <a:endParaRPr lang="en-US" dirty="0" smtClean="0">
              <a:solidFill>
                <a:srgbClr val="002060"/>
              </a:solidFill>
            </a:endParaRPr>
          </a:p>
          <a:p>
            <a:pPr>
              <a:buNone/>
            </a:pPr>
            <a:r>
              <a:rPr lang="en-US" dirty="0" smtClean="0">
                <a:solidFill>
                  <a:srgbClr val="002060"/>
                </a:solidFill>
              </a:rPr>
              <a:t>array1 </a:t>
            </a:r>
            <a:r>
              <a:rPr lang="en-US" dirty="0">
                <a:solidFill>
                  <a:srgbClr val="002060"/>
                </a:solidFill>
              </a:rPr>
              <a:t>= array('</a:t>
            </a:r>
            <a:r>
              <a:rPr lang="en-US" dirty="0" err="1">
                <a:solidFill>
                  <a:srgbClr val="002060"/>
                </a:solidFill>
              </a:rPr>
              <a:t>i</a:t>
            </a:r>
            <a:r>
              <a:rPr lang="en-US" dirty="0">
                <a:solidFill>
                  <a:srgbClr val="002060"/>
                </a:solidFill>
              </a:rPr>
              <a:t>', [10,20,30,40,50</a:t>
            </a:r>
            <a:r>
              <a:rPr lang="en-US" dirty="0" smtClean="0">
                <a:solidFill>
                  <a:srgbClr val="002060"/>
                </a:solidFill>
              </a:rPr>
              <a:t>])</a:t>
            </a:r>
          </a:p>
          <a:p>
            <a:pPr>
              <a:buNone/>
            </a:pPr>
            <a:r>
              <a:rPr lang="en-US" dirty="0" smtClean="0">
                <a:solidFill>
                  <a:srgbClr val="002060"/>
                </a:solidFill>
              </a:rPr>
              <a:t>print </a:t>
            </a:r>
            <a:r>
              <a:rPr lang="en-US" dirty="0">
                <a:solidFill>
                  <a:srgbClr val="002060"/>
                </a:solidFill>
              </a:rPr>
              <a:t>(array1.index(40))</a:t>
            </a:r>
            <a:endParaRPr lang="en-US" dirty="0" smtClean="0">
              <a:solidFill>
                <a:srgbClr val="002060"/>
              </a:solidFill>
            </a:endParaRP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Update Operation</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Update operation refers to updating an existing element from the array at a given index.</a:t>
            </a:r>
          </a:p>
          <a:p>
            <a:r>
              <a:rPr lang="en-US" dirty="0"/>
              <a:t>Here, we simply reassign a new value to the desired index we want to update.</a:t>
            </a:r>
          </a:p>
          <a:p>
            <a:pPr>
              <a:buNone/>
            </a:pPr>
            <a:r>
              <a:rPr lang="en-US" dirty="0">
                <a:solidFill>
                  <a:srgbClr val="002060"/>
                </a:solidFill>
              </a:rPr>
              <a:t>from array import * </a:t>
            </a:r>
            <a:endParaRPr lang="en-US" dirty="0" smtClean="0">
              <a:solidFill>
                <a:srgbClr val="002060"/>
              </a:solidFill>
            </a:endParaRPr>
          </a:p>
          <a:p>
            <a:pPr>
              <a:buNone/>
            </a:pPr>
            <a:r>
              <a:rPr lang="en-US" dirty="0" smtClean="0">
                <a:solidFill>
                  <a:srgbClr val="002060"/>
                </a:solidFill>
              </a:rPr>
              <a:t>array1 </a:t>
            </a:r>
            <a:r>
              <a:rPr lang="en-US" dirty="0">
                <a:solidFill>
                  <a:srgbClr val="002060"/>
                </a:solidFill>
              </a:rPr>
              <a:t>= array('</a:t>
            </a:r>
            <a:r>
              <a:rPr lang="en-US" dirty="0" err="1">
                <a:solidFill>
                  <a:srgbClr val="002060"/>
                </a:solidFill>
              </a:rPr>
              <a:t>i</a:t>
            </a:r>
            <a:r>
              <a:rPr lang="en-US" dirty="0">
                <a:solidFill>
                  <a:srgbClr val="002060"/>
                </a:solidFill>
              </a:rPr>
              <a:t>', [10,20,30,40,50]) </a:t>
            </a:r>
            <a:endParaRPr lang="en-US" dirty="0" smtClean="0">
              <a:solidFill>
                <a:srgbClr val="002060"/>
              </a:solidFill>
            </a:endParaRPr>
          </a:p>
          <a:p>
            <a:pPr>
              <a:buNone/>
            </a:pPr>
            <a:r>
              <a:rPr lang="en-US" dirty="0" smtClean="0">
                <a:solidFill>
                  <a:srgbClr val="002060"/>
                </a:solidFill>
              </a:rPr>
              <a:t>array1[2</a:t>
            </a:r>
            <a:r>
              <a:rPr lang="en-US" dirty="0">
                <a:solidFill>
                  <a:srgbClr val="002060"/>
                </a:solidFill>
              </a:rPr>
              <a:t>] = 80 </a:t>
            </a:r>
            <a:endParaRPr lang="en-US" dirty="0" smtClean="0">
              <a:solidFill>
                <a:srgbClr val="002060"/>
              </a:solidFill>
            </a:endParaRPr>
          </a:p>
          <a:p>
            <a:pPr>
              <a:buNone/>
            </a:pPr>
            <a:r>
              <a:rPr lang="en-US" dirty="0" smtClean="0">
                <a:solidFill>
                  <a:srgbClr val="002060"/>
                </a:solidFill>
              </a:rPr>
              <a:t>for </a:t>
            </a:r>
            <a:r>
              <a:rPr lang="en-US" dirty="0">
                <a:solidFill>
                  <a:srgbClr val="002060"/>
                </a:solidFill>
              </a:rPr>
              <a:t>x in array1: </a:t>
            </a:r>
            <a:endParaRPr lang="en-US" dirty="0" smtClean="0">
              <a:solidFill>
                <a:srgbClr val="002060"/>
              </a:solidFill>
            </a:endParaRPr>
          </a:p>
          <a:p>
            <a:pPr>
              <a:buNone/>
            </a:pPr>
            <a:r>
              <a:rPr lang="en-US" dirty="0" smtClean="0">
                <a:solidFill>
                  <a:srgbClr val="002060"/>
                </a:solidFill>
              </a:rPr>
              <a:t>print(x</a:t>
            </a:r>
            <a:r>
              <a:rPr lang="en-US" dirty="0">
                <a:solidFill>
                  <a:srgbClr val="002060"/>
                </a:solidFill>
              </a:rPr>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to change or add elements</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a:t>import</a:t>
            </a:r>
            <a:r>
              <a:rPr lang="en-US" dirty="0"/>
              <a:t> array as </a:t>
            </a:r>
            <a:r>
              <a:rPr lang="en-US" dirty="0" err="1"/>
              <a:t>arr</a:t>
            </a:r>
            <a:r>
              <a:rPr lang="en-US" dirty="0"/>
              <a:t>  </a:t>
            </a:r>
          </a:p>
          <a:p>
            <a:pPr>
              <a:buNone/>
            </a:pPr>
            <a:r>
              <a:rPr lang="en-US" dirty="0"/>
              <a:t>numbers = </a:t>
            </a:r>
            <a:r>
              <a:rPr lang="en-US" dirty="0" err="1"/>
              <a:t>arr.array</a:t>
            </a:r>
            <a:r>
              <a:rPr lang="en-US" dirty="0"/>
              <a:t>('</a:t>
            </a:r>
            <a:r>
              <a:rPr lang="en-US" dirty="0" err="1"/>
              <a:t>i</a:t>
            </a:r>
            <a:r>
              <a:rPr lang="en-US" dirty="0"/>
              <a:t>', [1, 2, 3, 5, 7, 10])  </a:t>
            </a:r>
          </a:p>
          <a:p>
            <a:pPr>
              <a:buNone/>
            </a:pPr>
            <a:r>
              <a:rPr lang="en-US" dirty="0"/>
              <a:t>   </a:t>
            </a:r>
          </a:p>
          <a:p>
            <a:pPr>
              <a:buNone/>
            </a:pPr>
            <a:r>
              <a:rPr lang="en-US" dirty="0"/>
              <a:t># changing first element  </a:t>
            </a:r>
          </a:p>
          <a:p>
            <a:pPr>
              <a:buNone/>
            </a:pPr>
            <a:r>
              <a:rPr lang="en-US" dirty="0"/>
              <a:t>numbers[0] = 0     </a:t>
            </a:r>
          </a:p>
          <a:p>
            <a:pPr>
              <a:buNone/>
            </a:pPr>
            <a:r>
              <a:rPr lang="en-US" dirty="0"/>
              <a:t>print(numbers)    # Output: array('</a:t>
            </a:r>
            <a:r>
              <a:rPr lang="en-US" dirty="0" err="1"/>
              <a:t>i</a:t>
            </a:r>
            <a:r>
              <a:rPr lang="en-US" dirty="0"/>
              <a:t>', [0, 2, 3, 5, 7, 10])  </a:t>
            </a:r>
          </a:p>
          <a:p>
            <a:pPr>
              <a:buNone/>
            </a:pPr>
            <a:r>
              <a:rPr lang="en-US" dirty="0"/>
              <a:t>   </a:t>
            </a:r>
          </a:p>
          <a:p>
            <a:pPr>
              <a:buNone/>
            </a:pPr>
            <a:r>
              <a:rPr lang="en-US" dirty="0"/>
              <a:t># changing 3rd to 5th element  </a:t>
            </a:r>
          </a:p>
          <a:p>
            <a:pPr>
              <a:buNone/>
            </a:pPr>
            <a:r>
              <a:rPr lang="en-US" dirty="0"/>
              <a:t>numbers[2:5] = </a:t>
            </a:r>
            <a:r>
              <a:rPr lang="en-US" dirty="0" err="1"/>
              <a:t>arr.array</a:t>
            </a:r>
            <a:r>
              <a:rPr lang="en-US" dirty="0"/>
              <a:t>('</a:t>
            </a:r>
            <a:r>
              <a:rPr lang="en-US" dirty="0" err="1"/>
              <a:t>i</a:t>
            </a:r>
            <a:r>
              <a:rPr lang="en-US" dirty="0"/>
              <a:t>', [4, 6, 8])    </a:t>
            </a:r>
          </a:p>
          <a:p>
            <a:pPr>
              <a:buNone/>
            </a:pPr>
            <a:r>
              <a:rPr lang="en-US" dirty="0"/>
              <a:t>print(numbers)    # Output: array('</a:t>
            </a:r>
            <a:r>
              <a:rPr lang="en-US" dirty="0" err="1"/>
              <a:t>i</a:t>
            </a:r>
            <a:r>
              <a:rPr lang="en-US" dirty="0"/>
              <a:t>', [0, 2, 4, 6, 8, 10])  </a:t>
            </a: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Array Order Reversal</a:t>
            </a:r>
            <a:br>
              <a:rPr lang="en-US" dirty="0" smtClean="0"/>
            </a:br>
            <a:r>
              <a:rPr lang="en-US" dirty="0" smtClean="0"/>
              <a:t> Method reverse()</a:t>
            </a:r>
            <a:br>
              <a:rPr lang="en-US" dirty="0" smtClean="0"/>
            </a:br>
            <a:endParaRPr lang="en-US" dirty="0"/>
          </a:p>
        </p:txBody>
      </p:sp>
      <p:sp>
        <p:nvSpPr>
          <p:cNvPr id="3" name="Content Placeholder 2"/>
          <p:cNvSpPr>
            <a:spLocks noGrp="1"/>
          </p:cNvSpPr>
          <p:nvPr>
            <p:ph idx="1"/>
          </p:nvPr>
        </p:nvSpPr>
        <p:spPr>
          <a:xfrm>
            <a:off x="630952" y="1920241"/>
            <a:ext cx="11357134" cy="5242559"/>
          </a:xfrm>
        </p:spPr>
        <p:txBody>
          <a:bodyPr>
            <a:normAutofit/>
          </a:bodyPr>
          <a:lstStyle/>
          <a:p>
            <a:pPr fontAlgn="base">
              <a:buNone/>
            </a:pPr>
            <a:r>
              <a:rPr lang="en-US" dirty="0" smtClean="0">
                <a:solidFill>
                  <a:srgbClr val="002060"/>
                </a:solidFill>
              </a:rPr>
              <a:t>import array</a:t>
            </a:r>
          </a:p>
          <a:p>
            <a:pPr fontAlgn="base">
              <a:buNone/>
            </a:pPr>
            <a:r>
              <a:rPr lang="en-US" dirty="0" smtClean="0">
                <a:solidFill>
                  <a:srgbClr val="002060"/>
                </a:solidFill>
              </a:rPr>
              <a:t>#The original array</a:t>
            </a:r>
          </a:p>
          <a:p>
            <a:pPr fontAlgn="base">
              <a:buNone/>
            </a:pPr>
            <a:r>
              <a:rPr lang="en-US" dirty="0" err="1" smtClean="0">
                <a:solidFill>
                  <a:srgbClr val="002060"/>
                </a:solidFill>
              </a:rPr>
              <a:t>new_arr</a:t>
            </a:r>
            <a:r>
              <a:rPr lang="en-US" dirty="0" smtClean="0">
                <a:solidFill>
                  <a:srgbClr val="002060"/>
                </a:solidFill>
              </a:rPr>
              <a:t>= </a:t>
            </a:r>
            <a:r>
              <a:rPr lang="en-US" dirty="0" err="1" smtClean="0">
                <a:solidFill>
                  <a:srgbClr val="002060"/>
                </a:solidFill>
              </a:rPr>
              <a:t>array.array</a:t>
            </a:r>
            <a:r>
              <a:rPr lang="en-US" dirty="0" smtClean="0">
                <a:solidFill>
                  <a:srgbClr val="002060"/>
                </a:solidFill>
              </a:rPr>
              <a:t>('</a:t>
            </a:r>
            <a:r>
              <a:rPr lang="en-US" dirty="0" err="1" smtClean="0">
                <a:solidFill>
                  <a:srgbClr val="002060"/>
                </a:solidFill>
              </a:rPr>
              <a:t>i</a:t>
            </a:r>
            <a:r>
              <a:rPr lang="en-US" dirty="0" smtClean="0">
                <a:solidFill>
                  <a:srgbClr val="002060"/>
                </a:solidFill>
              </a:rPr>
              <a:t>',[2,4,6,8,10,12])</a:t>
            </a:r>
          </a:p>
          <a:p>
            <a:pPr fontAlgn="base">
              <a:buNone/>
            </a:pPr>
            <a:r>
              <a:rPr lang="en-US" dirty="0" smtClean="0">
                <a:solidFill>
                  <a:srgbClr val="002060"/>
                </a:solidFill>
              </a:rPr>
              <a:t>print("Original Array is :",</a:t>
            </a:r>
            <a:r>
              <a:rPr lang="en-US" dirty="0" err="1" smtClean="0">
                <a:solidFill>
                  <a:srgbClr val="002060"/>
                </a:solidFill>
              </a:rPr>
              <a:t>new_arr</a:t>
            </a:r>
            <a:r>
              <a:rPr lang="en-US" dirty="0" smtClean="0">
                <a:solidFill>
                  <a:srgbClr val="002060"/>
                </a:solidFill>
              </a:rPr>
              <a:t>)</a:t>
            </a:r>
          </a:p>
          <a:p>
            <a:pPr fontAlgn="base">
              <a:buNone/>
            </a:pPr>
            <a:r>
              <a:rPr lang="en-US" dirty="0" smtClean="0">
                <a:solidFill>
                  <a:srgbClr val="002060"/>
                </a:solidFill>
              </a:rPr>
              <a:t>#reversing using reverse()</a:t>
            </a:r>
          </a:p>
          <a:p>
            <a:pPr fontAlgn="base">
              <a:buNone/>
            </a:pPr>
            <a:r>
              <a:rPr lang="en-US" dirty="0" err="1" smtClean="0">
                <a:solidFill>
                  <a:srgbClr val="002060"/>
                </a:solidFill>
              </a:rPr>
              <a:t>new_arr.reverse</a:t>
            </a:r>
            <a:r>
              <a:rPr lang="en-US" dirty="0" smtClean="0">
                <a:solidFill>
                  <a:srgbClr val="002060"/>
                </a:solidFill>
              </a:rPr>
              <a:t>()</a:t>
            </a:r>
          </a:p>
          <a:p>
            <a:pPr fontAlgn="base">
              <a:buNone/>
            </a:pPr>
            <a:r>
              <a:rPr lang="en-US" dirty="0" smtClean="0">
                <a:solidFill>
                  <a:srgbClr val="002060"/>
                </a:solidFill>
              </a:rPr>
              <a:t>print("Reversed Array:",</a:t>
            </a:r>
            <a:r>
              <a:rPr lang="en-US" dirty="0" err="1" smtClean="0">
                <a:solidFill>
                  <a:srgbClr val="002060"/>
                </a:solidFill>
              </a:rPr>
              <a:t>new_arr</a:t>
            </a:r>
            <a:r>
              <a:rPr lang="en-US" dirty="0" smtClean="0">
                <a:solidFill>
                  <a:srgbClr val="002060"/>
                </a:solidFill>
              </a:rPr>
              <a: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Using reversed() Method</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fontAlgn="base">
              <a:buNone/>
            </a:pPr>
            <a:r>
              <a:rPr lang="en-US" dirty="0" smtClean="0">
                <a:solidFill>
                  <a:srgbClr val="002060"/>
                </a:solidFill>
              </a:rPr>
              <a:t>import array</a:t>
            </a:r>
          </a:p>
          <a:p>
            <a:pPr fontAlgn="base">
              <a:buNone/>
            </a:pPr>
            <a:r>
              <a:rPr lang="en-US" dirty="0" smtClean="0">
                <a:solidFill>
                  <a:srgbClr val="002060"/>
                </a:solidFill>
              </a:rPr>
              <a:t> </a:t>
            </a:r>
          </a:p>
          <a:p>
            <a:pPr fontAlgn="base">
              <a:buNone/>
            </a:pPr>
            <a:r>
              <a:rPr lang="en-US" dirty="0" smtClean="0">
                <a:solidFill>
                  <a:srgbClr val="002060"/>
                </a:solidFill>
              </a:rPr>
              <a:t>#The original array</a:t>
            </a:r>
          </a:p>
          <a:p>
            <a:pPr fontAlgn="base">
              <a:buNone/>
            </a:pPr>
            <a:r>
              <a:rPr lang="en-US" dirty="0" err="1" smtClean="0">
                <a:solidFill>
                  <a:srgbClr val="002060"/>
                </a:solidFill>
              </a:rPr>
              <a:t>new_arr</a:t>
            </a:r>
            <a:r>
              <a:rPr lang="en-US" dirty="0" smtClean="0">
                <a:solidFill>
                  <a:srgbClr val="002060"/>
                </a:solidFill>
              </a:rPr>
              <a:t>=</a:t>
            </a:r>
            <a:r>
              <a:rPr lang="en-US" dirty="0" err="1" smtClean="0">
                <a:solidFill>
                  <a:srgbClr val="002060"/>
                </a:solidFill>
              </a:rPr>
              <a:t>array.array</a:t>
            </a:r>
            <a:r>
              <a:rPr lang="en-US" dirty="0" smtClean="0">
                <a:solidFill>
                  <a:srgbClr val="002060"/>
                </a:solidFill>
              </a:rPr>
              <a:t>('</a:t>
            </a:r>
            <a:r>
              <a:rPr lang="en-US" dirty="0" err="1" smtClean="0">
                <a:solidFill>
                  <a:srgbClr val="002060"/>
                </a:solidFill>
              </a:rPr>
              <a:t>i</a:t>
            </a:r>
            <a:r>
              <a:rPr lang="en-US" dirty="0" smtClean="0">
                <a:solidFill>
                  <a:srgbClr val="002060"/>
                </a:solidFill>
              </a:rPr>
              <a:t>',[10,20,30,40])</a:t>
            </a:r>
          </a:p>
          <a:p>
            <a:pPr fontAlgn="base">
              <a:buNone/>
            </a:pPr>
            <a:r>
              <a:rPr lang="en-US" dirty="0" smtClean="0">
                <a:solidFill>
                  <a:srgbClr val="002060"/>
                </a:solidFill>
              </a:rPr>
              <a:t>print("Original Array is :",</a:t>
            </a:r>
            <a:r>
              <a:rPr lang="en-US" dirty="0" err="1" smtClean="0">
                <a:solidFill>
                  <a:srgbClr val="002060"/>
                </a:solidFill>
              </a:rPr>
              <a:t>new_arr</a:t>
            </a:r>
            <a:r>
              <a:rPr lang="en-US" dirty="0" smtClean="0">
                <a:solidFill>
                  <a:srgbClr val="002060"/>
                </a:solidFill>
              </a:rPr>
              <a:t>)</a:t>
            </a:r>
          </a:p>
          <a:p>
            <a:pPr fontAlgn="base">
              <a:buNone/>
            </a:pPr>
            <a:r>
              <a:rPr lang="en-US" dirty="0" smtClean="0">
                <a:solidFill>
                  <a:srgbClr val="002060"/>
                </a:solidFill>
              </a:rPr>
              <a:t> </a:t>
            </a:r>
          </a:p>
          <a:p>
            <a:pPr fontAlgn="base">
              <a:buNone/>
            </a:pPr>
            <a:r>
              <a:rPr lang="en-US" dirty="0" smtClean="0">
                <a:solidFill>
                  <a:srgbClr val="002060"/>
                </a:solidFill>
              </a:rPr>
              <a:t>#reversing using reversed()</a:t>
            </a:r>
          </a:p>
          <a:p>
            <a:pPr fontAlgn="base">
              <a:buNone/>
            </a:pPr>
            <a:r>
              <a:rPr lang="en-US" dirty="0" err="1" smtClean="0">
                <a:solidFill>
                  <a:srgbClr val="002060"/>
                </a:solidFill>
              </a:rPr>
              <a:t>res_arr</a:t>
            </a:r>
            <a:r>
              <a:rPr lang="en-US" dirty="0" smtClean="0">
                <a:solidFill>
                  <a:srgbClr val="002060"/>
                </a:solidFill>
              </a:rPr>
              <a:t>=</a:t>
            </a:r>
            <a:r>
              <a:rPr lang="en-US" dirty="0" err="1" smtClean="0">
                <a:solidFill>
                  <a:srgbClr val="002060"/>
                </a:solidFill>
              </a:rPr>
              <a:t>array.array</a:t>
            </a:r>
            <a:r>
              <a:rPr lang="en-US" dirty="0" smtClean="0">
                <a:solidFill>
                  <a:srgbClr val="002060"/>
                </a:solidFill>
              </a:rPr>
              <a:t>('</a:t>
            </a:r>
            <a:r>
              <a:rPr lang="en-US" dirty="0" err="1" smtClean="0">
                <a:solidFill>
                  <a:srgbClr val="002060"/>
                </a:solidFill>
              </a:rPr>
              <a:t>i',reversed</a:t>
            </a:r>
            <a:r>
              <a:rPr lang="en-US" dirty="0" smtClean="0">
                <a:solidFill>
                  <a:srgbClr val="002060"/>
                </a:solidFill>
              </a:rPr>
              <a:t>(</a:t>
            </a:r>
            <a:r>
              <a:rPr lang="en-US" dirty="0" err="1" smtClean="0">
                <a:solidFill>
                  <a:srgbClr val="002060"/>
                </a:solidFill>
              </a:rPr>
              <a:t>new_arr</a:t>
            </a:r>
            <a:r>
              <a:rPr lang="en-US" dirty="0" smtClean="0">
                <a:solidFill>
                  <a:srgbClr val="002060"/>
                </a:solidFill>
              </a:rPr>
              <a:t>))</a:t>
            </a:r>
          </a:p>
          <a:p>
            <a:pPr fontAlgn="base">
              <a:buNone/>
            </a:pPr>
            <a:r>
              <a:rPr lang="en-US" dirty="0" smtClean="0">
                <a:solidFill>
                  <a:srgbClr val="002060"/>
                </a:solidFill>
              </a:rPr>
              <a:t>print("Resultant Reversed Array:",</a:t>
            </a:r>
            <a:r>
              <a:rPr lang="en-US" dirty="0" err="1" smtClean="0">
                <a:solidFill>
                  <a:srgbClr val="002060"/>
                </a:solidFill>
              </a:rPr>
              <a:t>res_arr</a:t>
            </a:r>
            <a:r>
              <a:rPr lang="en-US" dirty="0" smtClean="0">
                <a:solidFill>
                  <a:srgbClr val="002060"/>
                </a:solidFill>
              </a:rPr>
              <a:t>)</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Reversing a </a:t>
            </a:r>
            <a:r>
              <a:rPr lang="en-US" dirty="0" err="1" smtClean="0"/>
              <a:t>NumPy</a:t>
            </a:r>
            <a:r>
              <a:rPr lang="en-US" dirty="0" smtClean="0"/>
              <a:t> Array in Python</a:t>
            </a:r>
            <a:br>
              <a:rPr lang="en-US" dirty="0" smtClean="0"/>
            </a:br>
            <a:endParaRPr lang="en-US" dirty="0"/>
          </a:p>
        </p:txBody>
      </p:sp>
      <p:sp>
        <p:nvSpPr>
          <p:cNvPr id="3" name="Content Placeholder 2"/>
          <p:cNvSpPr>
            <a:spLocks noGrp="1"/>
          </p:cNvSpPr>
          <p:nvPr>
            <p:ph idx="1"/>
          </p:nvPr>
        </p:nvSpPr>
        <p:spPr>
          <a:xfrm>
            <a:off x="630952" y="1600199"/>
            <a:ext cx="11357134" cy="5751197"/>
          </a:xfrm>
        </p:spPr>
        <p:txBody>
          <a:bodyPr>
            <a:normAutofit fontScale="77500" lnSpcReduction="20000"/>
          </a:bodyPr>
          <a:lstStyle/>
          <a:p>
            <a:r>
              <a:rPr lang="en-US" dirty="0" smtClean="0"/>
              <a:t>The </a:t>
            </a:r>
            <a:r>
              <a:rPr lang="en-US" dirty="0" err="1" smtClean="0"/>
              <a:t>Numpy</a:t>
            </a:r>
            <a:r>
              <a:rPr lang="en-US" dirty="0" smtClean="0"/>
              <a:t> module allows us to use </a:t>
            </a:r>
            <a:r>
              <a:rPr lang="en-US" b="1" dirty="0" smtClean="0"/>
              <a:t>array </a:t>
            </a:r>
            <a:r>
              <a:rPr lang="en-US" dirty="0" smtClean="0"/>
              <a:t>data structures in Python which are really </a:t>
            </a:r>
            <a:r>
              <a:rPr lang="en-US" b="1" dirty="0" smtClean="0"/>
              <a:t>fast </a:t>
            </a:r>
            <a:r>
              <a:rPr lang="en-US" dirty="0" smtClean="0"/>
              <a:t>and only allow same data type arrays.</a:t>
            </a:r>
          </a:p>
          <a:p>
            <a:r>
              <a:rPr lang="en-US" dirty="0" smtClean="0"/>
              <a:t>1. Using flip() Method</a:t>
            </a:r>
          </a:p>
          <a:p>
            <a:pPr fontAlgn="base">
              <a:buNone/>
            </a:pPr>
            <a:r>
              <a:rPr lang="en-US" dirty="0" smtClean="0">
                <a:solidFill>
                  <a:srgbClr val="002060"/>
                </a:solidFill>
              </a:rPr>
              <a:t>import </a:t>
            </a:r>
            <a:r>
              <a:rPr lang="en-US" dirty="0" err="1" smtClean="0">
                <a:solidFill>
                  <a:srgbClr val="002060"/>
                </a:solidFill>
              </a:rPr>
              <a:t>numpy</a:t>
            </a:r>
            <a:r>
              <a:rPr lang="en-US" dirty="0" smtClean="0">
                <a:solidFill>
                  <a:srgbClr val="002060"/>
                </a:solidFill>
              </a:rPr>
              <a:t> as </a:t>
            </a:r>
            <a:r>
              <a:rPr lang="en-US" dirty="0" err="1" smtClean="0">
                <a:solidFill>
                  <a:srgbClr val="002060"/>
                </a:solidFill>
              </a:rPr>
              <a:t>np</a:t>
            </a:r>
            <a:endParaRPr lang="en-US" dirty="0" smtClean="0">
              <a:solidFill>
                <a:srgbClr val="002060"/>
              </a:solidFill>
            </a:endParaRPr>
          </a:p>
          <a:p>
            <a:pPr fontAlgn="base">
              <a:buNone/>
            </a:pPr>
            <a:r>
              <a:rPr lang="en-US" dirty="0" smtClean="0">
                <a:solidFill>
                  <a:srgbClr val="002060"/>
                </a:solidFill>
              </a:rPr>
              <a:t>#The original </a:t>
            </a:r>
            <a:r>
              <a:rPr lang="en-US" dirty="0" err="1" smtClean="0">
                <a:solidFill>
                  <a:srgbClr val="002060"/>
                </a:solidFill>
              </a:rPr>
              <a:t>NumPy</a:t>
            </a:r>
            <a:r>
              <a:rPr lang="en-US" dirty="0" smtClean="0">
                <a:solidFill>
                  <a:srgbClr val="002060"/>
                </a:solidFill>
              </a:rPr>
              <a:t> array</a:t>
            </a:r>
          </a:p>
          <a:p>
            <a:pPr fontAlgn="base">
              <a:buNone/>
            </a:pPr>
            <a:r>
              <a:rPr lang="en-US" dirty="0" err="1" smtClean="0">
                <a:solidFill>
                  <a:srgbClr val="002060"/>
                </a:solidFill>
              </a:rPr>
              <a:t>new_arr</a:t>
            </a:r>
            <a:r>
              <a:rPr lang="en-US" dirty="0" smtClean="0">
                <a:solidFill>
                  <a:srgbClr val="002060"/>
                </a:solidFill>
              </a:rPr>
              <a:t>=</a:t>
            </a:r>
            <a:r>
              <a:rPr lang="en-US" dirty="0" err="1" smtClean="0">
                <a:solidFill>
                  <a:srgbClr val="002060"/>
                </a:solidFill>
              </a:rPr>
              <a:t>np.array</a:t>
            </a:r>
            <a:r>
              <a:rPr lang="en-US" dirty="0" smtClean="0">
                <a:solidFill>
                  <a:srgbClr val="002060"/>
                </a:solidFill>
              </a:rPr>
              <a:t>(['</a:t>
            </a:r>
            <a:r>
              <a:rPr lang="en-US" dirty="0" err="1" smtClean="0">
                <a:solidFill>
                  <a:srgbClr val="002060"/>
                </a:solidFill>
              </a:rPr>
              <a:t>A','s','k','P','y','t','h','o','n</a:t>
            </a:r>
            <a:r>
              <a:rPr lang="en-US" dirty="0" smtClean="0">
                <a:solidFill>
                  <a:srgbClr val="002060"/>
                </a:solidFill>
              </a:rPr>
              <a:t>'])</a:t>
            </a:r>
          </a:p>
          <a:p>
            <a:pPr fontAlgn="base">
              <a:buNone/>
            </a:pPr>
            <a:r>
              <a:rPr lang="en-US" dirty="0" smtClean="0">
                <a:solidFill>
                  <a:srgbClr val="002060"/>
                </a:solidFill>
              </a:rPr>
              <a:t>print("Original Array is :",</a:t>
            </a:r>
            <a:r>
              <a:rPr lang="en-US" dirty="0" err="1" smtClean="0">
                <a:solidFill>
                  <a:srgbClr val="002060"/>
                </a:solidFill>
              </a:rPr>
              <a:t>new_arr</a:t>
            </a:r>
            <a:r>
              <a:rPr lang="en-US" dirty="0" smtClean="0">
                <a:solidFill>
                  <a:srgbClr val="002060"/>
                </a:solidFill>
              </a:rPr>
              <a:t>)</a:t>
            </a:r>
          </a:p>
          <a:p>
            <a:pPr fontAlgn="base">
              <a:buNone/>
            </a:pPr>
            <a:r>
              <a:rPr lang="en-US" dirty="0" smtClean="0">
                <a:solidFill>
                  <a:srgbClr val="002060"/>
                </a:solidFill>
              </a:rPr>
              <a:t> </a:t>
            </a:r>
          </a:p>
          <a:p>
            <a:pPr fontAlgn="base">
              <a:buNone/>
            </a:pPr>
            <a:r>
              <a:rPr lang="en-US" dirty="0" smtClean="0">
                <a:solidFill>
                  <a:srgbClr val="002060"/>
                </a:solidFill>
              </a:rPr>
              <a:t>#reversing using flip() Method</a:t>
            </a:r>
          </a:p>
          <a:p>
            <a:pPr fontAlgn="base">
              <a:buNone/>
            </a:pPr>
            <a:r>
              <a:rPr lang="en-US" dirty="0" err="1" smtClean="0">
                <a:solidFill>
                  <a:srgbClr val="002060"/>
                </a:solidFill>
              </a:rPr>
              <a:t>res_arr</a:t>
            </a:r>
            <a:r>
              <a:rPr lang="en-US" dirty="0" smtClean="0">
                <a:solidFill>
                  <a:srgbClr val="002060"/>
                </a:solidFill>
              </a:rPr>
              <a:t>=</a:t>
            </a:r>
            <a:r>
              <a:rPr lang="en-US" dirty="0" err="1" smtClean="0">
                <a:solidFill>
                  <a:srgbClr val="002060"/>
                </a:solidFill>
              </a:rPr>
              <a:t>np.flip</a:t>
            </a:r>
            <a:r>
              <a:rPr lang="en-US" dirty="0" smtClean="0">
                <a:solidFill>
                  <a:srgbClr val="002060"/>
                </a:solidFill>
              </a:rPr>
              <a:t>(</a:t>
            </a:r>
            <a:r>
              <a:rPr lang="en-US" dirty="0" err="1" smtClean="0">
                <a:solidFill>
                  <a:srgbClr val="002060"/>
                </a:solidFill>
              </a:rPr>
              <a:t>new_arr</a:t>
            </a:r>
            <a:r>
              <a:rPr lang="en-US" dirty="0" smtClean="0">
                <a:solidFill>
                  <a:srgbClr val="002060"/>
                </a:solidFill>
              </a:rPr>
              <a:t>)</a:t>
            </a:r>
          </a:p>
          <a:p>
            <a:pPr fontAlgn="base">
              <a:buNone/>
            </a:pPr>
            <a:r>
              <a:rPr lang="en-US" dirty="0" smtClean="0">
                <a:solidFill>
                  <a:srgbClr val="002060"/>
                </a:solidFill>
              </a:rPr>
              <a:t>print("Resultant Reversed Array:",</a:t>
            </a:r>
            <a:r>
              <a:rPr lang="en-US" dirty="0" err="1" smtClean="0">
                <a:solidFill>
                  <a:srgbClr val="002060"/>
                </a:solidFill>
              </a:rPr>
              <a:t>res_arr</a:t>
            </a:r>
            <a:r>
              <a:rPr lang="en-US" dirty="0" smtClean="0">
                <a:solidFill>
                  <a:srgbClr val="002060"/>
                </a:solidFill>
              </a:rPr>
              <a:t>)</a:t>
            </a: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Using </a:t>
            </a:r>
            <a:r>
              <a:rPr lang="en-US" dirty="0" err="1" smtClean="0"/>
              <a:t>flipud</a:t>
            </a:r>
            <a:r>
              <a:rPr lang="en-US" dirty="0" smtClean="0"/>
              <a:t>() Method</a:t>
            </a:r>
            <a:br>
              <a:rPr lang="en-US" dirty="0" smtClean="0"/>
            </a:br>
            <a:endParaRPr lang="en-US" dirty="0"/>
          </a:p>
        </p:txBody>
      </p:sp>
      <p:sp>
        <p:nvSpPr>
          <p:cNvPr id="3" name="Content Placeholder 2"/>
          <p:cNvSpPr>
            <a:spLocks noGrp="1"/>
          </p:cNvSpPr>
          <p:nvPr>
            <p:ph idx="1"/>
          </p:nvPr>
        </p:nvSpPr>
        <p:spPr>
          <a:xfrm>
            <a:off x="630952" y="1295401"/>
            <a:ext cx="11357134" cy="6055996"/>
          </a:xfrm>
        </p:spPr>
        <p:txBody>
          <a:bodyPr>
            <a:normAutofit fontScale="85000" lnSpcReduction="20000"/>
          </a:bodyPr>
          <a:lstStyle/>
          <a:p>
            <a:r>
              <a:rPr lang="en-US" dirty="0" smtClean="0"/>
              <a:t>The </a:t>
            </a:r>
            <a:r>
              <a:rPr lang="en-US" dirty="0" err="1" smtClean="0"/>
              <a:t>flipud</a:t>
            </a:r>
            <a:r>
              <a:rPr lang="en-US" dirty="0" smtClean="0"/>
              <a:t>() method is yet another method in the </a:t>
            </a:r>
            <a:r>
              <a:rPr lang="en-US" b="1" dirty="0" err="1" smtClean="0"/>
              <a:t>NumPy</a:t>
            </a:r>
            <a:r>
              <a:rPr lang="en-US" b="1" dirty="0" smtClean="0"/>
              <a:t> </a:t>
            </a:r>
            <a:r>
              <a:rPr lang="en-US" dirty="0" smtClean="0"/>
              <a:t>module which flips an array up/down. It can also be used to reverse a </a:t>
            </a:r>
            <a:r>
              <a:rPr lang="en-US" dirty="0" err="1" smtClean="0"/>
              <a:t>NumPy</a:t>
            </a:r>
            <a:r>
              <a:rPr lang="en-US" dirty="0" smtClean="0"/>
              <a:t> array in Python. Let us see how we can use it in a small example.</a:t>
            </a:r>
          </a:p>
          <a:p>
            <a:pPr fontAlgn="base">
              <a:buNone/>
            </a:pPr>
            <a:r>
              <a:rPr lang="en-US" dirty="0" smtClean="0">
                <a:solidFill>
                  <a:srgbClr val="002060"/>
                </a:solidFill>
              </a:rPr>
              <a:t>import </a:t>
            </a:r>
            <a:r>
              <a:rPr lang="en-US" dirty="0" err="1" smtClean="0">
                <a:solidFill>
                  <a:srgbClr val="002060"/>
                </a:solidFill>
              </a:rPr>
              <a:t>numpy</a:t>
            </a:r>
            <a:r>
              <a:rPr lang="en-US" dirty="0" smtClean="0">
                <a:solidFill>
                  <a:srgbClr val="002060"/>
                </a:solidFill>
              </a:rPr>
              <a:t> as </a:t>
            </a:r>
            <a:r>
              <a:rPr lang="en-US" dirty="0" err="1" smtClean="0">
                <a:solidFill>
                  <a:srgbClr val="002060"/>
                </a:solidFill>
              </a:rPr>
              <a:t>np</a:t>
            </a:r>
            <a:endParaRPr lang="en-US" dirty="0" smtClean="0">
              <a:solidFill>
                <a:srgbClr val="002060"/>
              </a:solidFill>
            </a:endParaRPr>
          </a:p>
          <a:p>
            <a:pPr fontAlgn="base">
              <a:buNone/>
            </a:pPr>
            <a:r>
              <a:rPr lang="en-US" dirty="0" smtClean="0">
                <a:solidFill>
                  <a:srgbClr val="002060"/>
                </a:solidFill>
              </a:rPr>
              <a:t>#The original </a:t>
            </a:r>
            <a:r>
              <a:rPr lang="en-US" dirty="0" err="1" smtClean="0">
                <a:solidFill>
                  <a:srgbClr val="002060"/>
                </a:solidFill>
              </a:rPr>
              <a:t>NumPy</a:t>
            </a:r>
            <a:r>
              <a:rPr lang="en-US" dirty="0" smtClean="0">
                <a:solidFill>
                  <a:srgbClr val="002060"/>
                </a:solidFill>
              </a:rPr>
              <a:t> array</a:t>
            </a:r>
          </a:p>
          <a:p>
            <a:pPr fontAlgn="base">
              <a:buNone/>
            </a:pPr>
            <a:r>
              <a:rPr lang="en-US" dirty="0" err="1" smtClean="0">
                <a:solidFill>
                  <a:srgbClr val="002060"/>
                </a:solidFill>
              </a:rPr>
              <a:t>new_arr</a:t>
            </a:r>
            <a:r>
              <a:rPr lang="en-US" dirty="0" smtClean="0">
                <a:solidFill>
                  <a:srgbClr val="002060"/>
                </a:solidFill>
              </a:rPr>
              <a:t>=</a:t>
            </a:r>
            <a:r>
              <a:rPr lang="en-US" dirty="0" err="1" smtClean="0">
                <a:solidFill>
                  <a:srgbClr val="002060"/>
                </a:solidFill>
              </a:rPr>
              <a:t>np.array</a:t>
            </a:r>
            <a:r>
              <a:rPr lang="en-US" dirty="0" smtClean="0">
                <a:solidFill>
                  <a:srgbClr val="002060"/>
                </a:solidFill>
              </a:rPr>
              <a:t>(['</a:t>
            </a:r>
            <a:r>
              <a:rPr lang="en-US" dirty="0" err="1" smtClean="0">
                <a:solidFill>
                  <a:srgbClr val="002060"/>
                </a:solidFill>
              </a:rPr>
              <a:t>A','s','k','P','y','t','h','o','n</a:t>
            </a:r>
            <a:r>
              <a:rPr lang="en-US" dirty="0" smtClean="0">
                <a:solidFill>
                  <a:srgbClr val="002060"/>
                </a:solidFill>
              </a:rPr>
              <a:t>'])</a:t>
            </a:r>
          </a:p>
          <a:p>
            <a:pPr fontAlgn="base">
              <a:buNone/>
            </a:pPr>
            <a:r>
              <a:rPr lang="en-US" dirty="0" smtClean="0">
                <a:solidFill>
                  <a:srgbClr val="002060"/>
                </a:solidFill>
              </a:rPr>
              <a:t>print("Original Array is :",</a:t>
            </a:r>
            <a:r>
              <a:rPr lang="en-US" dirty="0" err="1" smtClean="0">
                <a:solidFill>
                  <a:srgbClr val="002060"/>
                </a:solidFill>
              </a:rPr>
              <a:t>new_arr</a:t>
            </a:r>
            <a:r>
              <a:rPr lang="en-US" dirty="0" smtClean="0">
                <a:solidFill>
                  <a:srgbClr val="002060"/>
                </a:solidFill>
              </a:rPr>
              <a:t>)</a:t>
            </a:r>
          </a:p>
          <a:p>
            <a:pPr fontAlgn="base">
              <a:buNone/>
            </a:pPr>
            <a:r>
              <a:rPr lang="en-US" dirty="0" smtClean="0">
                <a:solidFill>
                  <a:srgbClr val="002060"/>
                </a:solidFill>
              </a:rPr>
              <a:t> </a:t>
            </a:r>
          </a:p>
          <a:p>
            <a:pPr fontAlgn="base">
              <a:buNone/>
            </a:pPr>
            <a:r>
              <a:rPr lang="en-US" dirty="0" smtClean="0">
                <a:solidFill>
                  <a:srgbClr val="002060"/>
                </a:solidFill>
              </a:rPr>
              <a:t>#reversing using </a:t>
            </a:r>
            <a:r>
              <a:rPr lang="en-US" dirty="0" err="1" smtClean="0">
                <a:solidFill>
                  <a:srgbClr val="002060"/>
                </a:solidFill>
              </a:rPr>
              <a:t>flipud</a:t>
            </a:r>
            <a:r>
              <a:rPr lang="en-US" dirty="0" smtClean="0">
                <a:solidFill>
                  <a:srgbClr val="002060"/>
                </a:solidFill>
              </a:rPr>
              <a:t>() Method</a:t>
            </a:r>
          </a:p>
          <a:p>
            <a:pPr fontAlgn="base">
              <a:buNone/>
            </a:pPr>
            <a:r>
              <a:rPr lang="en-US" dirty="0" err="1" smtClean="0">
                <a:solidFill>
                  <a:srgbClr val="002060"/>
                </a:solidFill>
              </a:rPr>
              <a:t>res_arr</a:t>
            </a:r>
            <a:r>
              <a:rPr lang="en-US" dirty="0" smtClean="0">
                <a:solidFill>
                  <a:srgbClr val="002060"/>
                </a:solidFill>
              </a:rPr>
              <a:t>=</a:t>
            </a:r>
            <a:r>
              <a:rPr lang="en-US" dirty="0" err="1" smtClean="0">
                <a:solidFill>
                  <a:srgbClr val="002060"/>
                </a:solidFill>
              </a:rPr>
              <a:t>np.flipud</a:t>
            </a:r>
            <a:r>
              <a:rPr lang="en-US" dirty="0" smtClean="0">
                <a:solidFill>
                  <a:srgbClr val="002060"/>
                </a:solidFill>
              </a:rPr>
              <a:t>(</a:t>
            </a:r>
            <a:r>
              <a:rPr lang="en-US" dirty="0" err="1" smtClean="0">
                <a:solidFill>
                  <a:srgbClr val="002060"/>
                </a:solidFill>
              </a:rPr>
              <a:t>new_arr</a:t>
            </a:r>
            <a:r>
              <a:rPr lang="en-US" dirty="0" smtClean="0">
                <a:solidFill>
                  <a:srgbClr val="002060"/>
                </a:solidFill>
              </a:rPr>
              <a:t>)</a:t>
            </a:r>
          </a:p>
          <a:p>
            <a:pPr fontAlgn="base">
              <a:buNone/>
            </a:pPr>
            <a:r>
              <a:rPr lang="en-US" dirty="0" smtClean="0">
                <a:solidFill>
                  <a:srgbClr val="002060"/>
                </a:solidFill>
              </a:rPr>
              <a:t>print("Resultant Reversed Array:",</a:t>
            </a:r>
            <a:r>
              <a:rPr lang="en-US" dirty="0" err="1" smtClean="0">
                <a:solidFill>
                  <a:srgbClr val="002060"/>
                </a:solidFill>
              </a:rPr>
              <a:t>res_arr</a:t>
            </a:r>
            <a:r>
              <a:rPr lang="en-US" dirty="0" smtClean="0">
                <a:solidFill>
                  <a:srgbClr val="002060"/>
                </a:solidFill>
              </a:rPr>
              <a:t>)</a:t>
            </a:r>
          </a:p>
          <a:p>
            <a:pPr>
              <a:buNone/>
            </a:pPr>
            <a:endParaRPr lang="en-US" dirty="0">
              <a:solidFill>
                <a:srgbClr val="002060"/>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Using Simple Slicing</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As we did earlier with lists, we can reverse an array in Python built with </a:t>
            </a:r>
            <a:r>
              <a:rPr lang="en-US" dirty="0" err="1" smtClean="0"/>
              <a:t>Numpy</a:t>
            </a:r>
            <a:r>
              <a:rPr lang="en-US" dirty="0" smtClean="0"/>
              <a:t> using </a:t>
            </a:r>
            <a:r>
              <a:rPr lang="en-US" b="1" dirty="0" smtClean="0"/>
              <a:t>slicing</a:t>
            </a:r>
            <a:r>
              <a:rPr lang="en-US" dirty="0" smtClean="0"/>
              <a:t>. We create a new </a:t>
            </a:r>
            <a:r>
              <a:rPr lang="en-US" b="1" dirty="0" err="1" smtClean="0"/>
              <a:t>NumPy</a:t>
            </a:r>
            <a:r>
              <a:rPr lang="en-US" b="1" dirty="0" smtClean="0"/>
              <a:t> </a:t>
            </a:r>
            <a:r>
              <a:rPr lang="en-US" dirty="0" smtClean="0"/>
              <a:t>array object which holds items in a reversed order.</a:t>
            </a:r>
          </a:p>
          <a:p>
            <a:pPr fontAlgn="base">
              <a:buNone/>
            </a:pPr>
            <a:r>
              <a:rPr lang="en-US" dirty="0" smtClean="0">
                <a:solidFill>
                  <a:srgbClr val="002060"/>
                </a:solidFill>
              </a:rPr>
              <a:t>import </a:t>
            </a:r>
            <a:r>
              <a:rPr lang="en-US" dirty="0" err="1" smtClean="0">
                <a:solidFill>
                  <a:srgbClr val="002060"/>
                </a:solidFill>
              </a:rPr>
              <a:t>numpy</a:t>
            </a:r>
            <a:r>
              <a:rPr lang="en-US" dirty="0" smtClean="0">
                <a:solidFill>
                  <a:srgbClr val="002060"/>
                </a:solidFill>
              </a:rPr>
              <a:t> as </a:t>
            </a:r>
            <a:r>
              <a:rPr lang="en-US" dirty="0" err="1" smtClean="0">
                <a:solidFill>
                  <a:srgbClr val="002060"/>
                </a:solidFill>
              </a:rPr>
              <a:t>np</a:t>
            </a:r>
            <a:endParaRPr lang="en-US" dirty="0" smtClean="0">
              <a:solidFill>
                <a:srgbClr val="002060"/>
              </a:solidFill>
            </a:endParaRPr>
          </a:p>
          <a:p>
            <a:pPr fontAlgn="base">
              <a:buNone/>
            </a:pPr>
            <a:r>
              <a:rPr lang="en-US" dirty="0" smtClean="0">
                <a:solidFill>
                  <a:srgbClr val="002060"/>
                </a:solidFill>
              </a:rPr>
              <a:t>#The original </a:t>
            </a:r>
            <a:r>
              <a:rPr lang="en-US" dirty="0" err="1" smtClean="0">
                <a:solidFill>
                  <a:srgbClr val="002060"/>
                </a:solidFill>
              </a:rPr>
              <a:t>NumPy</a:t>
            </a:r>
            <a:r>
              <a:rPr lang="en-US" dirty="0" smtClean="0">
                <a:solidFill>
                  <a:srgbClr val="002060"/>
                </a:solidFill>
              </a:rPr>
              <a:t> array</a:t>
            </a:r>
          </a:p>
          <a:p>
            <a:pPr fontAlgn="base">
              <a:buNone/>
            </a:pPr>
            <a:r>
              <a:rPr lang="en-US" dirty="0" err="1" smtClean="0">
                <a:solidFill>
                  <a:srgbClr val="002060"/>
                </a:solidFill>
              </a:rPr>
              <a:t>new_arr</a:t>
            </a:r>
            <a:r>
              <a:rPr lang="en-US" dirty="0" smtClean="0">
                <a:solidFill>
                  <a:srgbClr val="002060"/>
                </a:solidFill>
              </a:rPr>
              <a:t>=</a:t>
            </a:r>
            <a:r>
              <a:rPr lang="en-US" dirty="0" err="1" smtClean="0">
                <a:solidFill>
                  <a:srgbClr val="002060"/>
                </a:solidFill>
              </a:rPr>
              <a:t>np.array</a:t>
            </a:r>
            <a:r>
              <a:rPr lang="en-US" dirty="0" smtClean="0">
                <a:solidFill>
                  <a:srgbClr val="002060"/>
                </a:solidFill>
              </a:rPr>
              <a:t>([1,3,5,7,9])</a:t>
            </a:r>
          </a:p>
          <a:p>
            <a:pPr fontAlgn="base">
              <a:buNone/>
            </a:pPr>
            <a:r>
              <a:rPr lang="en-US" dirty="0" smtClean="0">
                <a:solidFill>
                  <a:srgbClr val="002060"/>
                </a:solidFill>
              </a:rPr>
              <a:t>print("Original Array is :",</a:t>
            </a:r>
            <a:r>
              <a:rPr lang="en-US" dirty="0" err="1" smtClean="0">
                <a:solidFill>
                  <a:srgbClr val="002060"/>
                </a:solidFill>
              </a:rPr>
              <a:t>new_arr</a:t>
            </a:r>
            <a:r>
              <a:rPr lang="en-US" dirty="0" smtClean="0">
                <a:solidFill>
                  <a:srgbClr val="002060"/>
                </a:solidFill>
              </a:rPr>
              <a:t>)</a:t>
            </a:r>
          </a:p>
          <a:p>
            <a:pPr fontAlgn="base">
              <a:buNone/>
            </a:pPr>
            <a:r>
              <a:rPr lang="en-US" dirty="0" smtClean="0">
                <a:solidFill>
                  <a:srgbClr val="002060"/>
                </a:solidFill>
              </a:rPr>
              <a:t> </a:t>
            </a:r>
          </a:p>
          <a:p>
            <a:pPr fontAlgn="base">
              <a:buNone/>
            </a:pPr>
            <a:r>
              <a:rPr lang="en-US" dirty="0" smtClean="0">
                <a:solidFill>
                  <a:srgbClr val="002060"/>
                </a:solidFill>
              </a:rPr>
              <a:t>#reversing using array slicing</a:t>
            </a:r>
          </a:p>
          <a:p>
            <a:pPr fontAlgn="base">
              <a:buNone/>
            </a:pPr>
            <a:r>
              <a:rPr lang="en-US" dirty="0" err="1" smtClean="0">
                <a:solidFill>
                  <a:srgbClr val="002060"/>
                </a:solidFill>
              </a:rPr>
              <a:t>res_arr</a:t>
            </a:r>
            <a:r>
              <a:rPr lang="en-US" dirty="0" smtClean="0">
                <a:solidFill>
                  <a:srgbClr val="002060"/>
                </a:solidFill>
              </a:rPr>
              <a:t>=</a:t>
            </a:r>
            <a:r>
              <a:rPr lang="en-US" dirty="0" err="1" smtClean="0">
                <a:solidFill>
                  <a:srgbClr val="002060"/>
                </a:solidFill>
              </a:rPr>
              <a:t>new_arr</a:t>
            </a:r>
            <a:r>
              <a:rPr lang="en-US" dirty="0" smtClean="0">
                <a:solidFill>
                  <a:srgbClr val="002060"/>
                </a:solidFill>
              </a:rPr>
              <a:t>[::-1]</a:t>
            </a:r>
          </a:p>
          <a:p>
            <a:pPr fontAlgn="base">
              <a:buNone/>
            </a:pPr>
            <a:r>
              <a:rPr lang="en-US" dirty="0" smtClean="0">
                <a:solidFill>
                  <a:srgbClr val="002060"/>
                </a:solidFill>
              </a:rPr>
              <a:t>print("Resultant Reversed Array:",</a:t>
            </a:r>
            <a:r>
              <a:rPr lang="en-US" dirty="0" err="1" smtClean="0">
                <a:solidFill>
                  <a:srgbClr val="002060"/>
                </a:solidFill>
              </a:rPr>
              <a:t>res_arr</a:t>
            </a:r>
            <a:r>
              <a:rPr lang="en-US" dirty="0" smtClean="0">
                <a:solidFill>
                  <a:srgbClr val="002060"/>
                </a:solidFill>
              </a:rPr>
              <a:t>)</a:t>
            </a:r>
          </a:p>
          <a:p>
            <a:pPr>
              <a:buNone/>
            </a:pP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 Counting</a:t>
            </a:r>
            <a:endParaRPr lang="en-US" dirty="0"/>
          </a:p>
        </p:txBody>
      </p:sp>
      <p:sp>
        <p:nvSpPr>
          <p:cNvPr id="3" name="Content Placeholder 2"/>
          <p:cNvSpPr>
            <a:spLocks noGrp="1"/>
          </p:cNvSpPr>
          <p:nvPr>
            <p:ph idx="1"/>
          </p:nvPr>
        </p:nvSpPr>
        <p:spPr/>
        <p:txBody>
          <a:bodyPr/>
          <a:lstStyle/>
          <a:p>
            <a:r>
              <a:rPr lang="en-US" dirty="0" err="1" smtClean="0"/>
              <a:t>myArray</a:t>
            </a:r>
            <a:r>
              <a:rPr lang="en-US" dirty="0" smtClean="0"/>
              <a:t> = [1, 2, 3]</a:t>
            </a:r>
          </a:p>
          <a:p>
            <a:r>
              <a:rPr lang="en-US" dirty="0" smtClean="0"/>
              <a:t>print(</a:t>
            </a:r>
            <a:r>
              <a:rPr lang="en-US" dirty="0" err="1" smtClean="0"/>
              <a:t>len</a:t>
            </a:r>
            <a:r>
              <a:rPr lang="en-US" dirty="0" smtClean="0"/>
              <a:t>(</a:t>
            </a:r>
            <a:r>
              <a:rPr lang="en-US" dirty="0" err="1" smtClean="0"/>
              <a:t>myArray</a:t>
            </a:r>
            <a:r>
              <a:rPr lang="en-US" dirty="0" smtClean="0"/>
              <a:t>))</a:t>
            </a: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75919" y="533400"/>
            <a:ext cx="2522614" cy="430887"/>
          </a:xfrm>
          <a:prstGeom prst="rect">
            <a:avLst/>
          </a:prstGeom>
        </p:spPr>
        <p:txBody>
          <a:bodyPr wrap="none">
            <a:spAutoFit/>
          </a:bodyPr>
          <a:lstStyle/>
          <a:p>
            <a:r>
              <a:rPr lang="en-IN" dirty="0"/>
              <a:t>Array Concatenation</a:t>
            </a:r>
          </a:p>
        </p:txBody>
      </p:sp>
    </p:spTree>
    <p:extLst>
      <p:ext uri="{BB962C8B-B14F-4D97-AF65-F5344CB8AC3E}">
        <p14:creationId xmlns:p14="http://schemas.microsoft.com/office/powerpoint/2010/main" val="3272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Use of count()</a:t>
            </a:r>
            <a:br>
              <a:rPr lang="en-US" b="1" dirty="0" smtClean="0"/>
            </a:br>
            <a:endParaRPr lang="en-US" dirty="0"/>
          </a:p>
        </p:txBody>
      </p:sp>
      <p:sp>
        <p:nvSpPr>
          <p:cNvPr id="3" name="Content Placeholder 2"/>
          <p:cNvSpPr>
            <a:spLocks noGrp="1"/>
          </p:cNvSpPr>
          <p:nvPr>
            <p:ph idx="1"/>
          </p:nvPr>
        </p:nvSpPr>
        <p:spPr>
          <a:xfrm>
            <a:off x="630952" y="1920241"/>
            <a:ext cx="7507367" cy="5431155"/>
          </a:xfrm>
        </p:spPr>
        <p:txBody>
          <a:bodyPr>
            <a:normAutofit fontScale="85000" lnSpcReduction="20000"/>
          </a:bodyPr>
          <a:lstStyle/>
          <a:p>
            <a:pPr>
              <a:buNone/>
            </a:pPr>
            <a:r>
              <a:rPr lang="en-US" dirty="0" smtClean="0"/>
              <a:t># vowels list </a:t>
            </a:r>
          </a:p>
          <a:p>
            <a:pPr>
              <a:buNone/>
            </a:pPr>
            <a:r>
              <a:rPr lang="en-US" dirty="0" smtClean="0"/>
              <a:t>vowels = ['a', 'e', '</a:t>
            </a:r>
            <a:r>
              <a:rPr lang="en-US" dirty="0" err="1" smtClean="0"/>
              <a:t>i</a:t>
            </a:r>
            <a:r>
              <a:rPr lang="en-US" dirty="0" smtClean="0"/>
              <a:t>', 'o', '</a:t>
            </a:r>
            <a:r>
              <a:rPr lang="en-US" dirty="0" err="1" smtClean="0"/>
              <a:t>i</a:t>
            </a:r>
            <a:r>
              <a:rPr lang="en-US" dirty="0" smtClean="0"/>
              <a:t>', 'u']</a:t>
            </a:r>
          </a:p>
          <a:p>
            <a:pPr>
              <a:buNone/>
            </a:pPr>
            <a:r>
              <a:rPr lang="en-US" dirty="0" smtClean="0"/>
              <a:t> # count element '</a:t>
            </a:r>
            <a:r>
              <a:rPr lang="en-US" dirty="0" err="1" smtClean="0"/>
              <a:t>i</a:t>
            </a:r>
            <a:r>
              <a:rPr lang="en-US" dirty="0" smtClean="0"/>
              <a:t>' </a:t>
            </a:r>
          </a:p>
          <a:p>
            <a:pPr>
              <a:buNone/>
            </a:pPr>
            <a:r>
              <a:rPr lang="en-US" dirty="0" smtClean="0"/>
              <a:t>count = </a:t>
            </a:r>
            <a:r>
              <a:rPr lang="en-US" dirty="0" err="1" smtClean="0"/>
              <a:t>vowels.count</a:t>
            </a:r>
            <a:r>
              <a:rPr lang="en-US" dirty="0" smtClean="0"/>
              <a:t>('</a:t>
            </a:r>
            <a:r>
              <a:rPr lang="en-US" dirty="0" err="1" smtClean="0"/>
              <a:t>i</a:t>
            </a:r>
            <a:r>
              <a:rPr lang="en-US" dirty="0" smtClean="0"/>
              <a:t>') </a:t>
            </a:r>
          </a:p>
          <a:p>
            <a:pPr>
              <a:buNone/>
            </a:pPr>
            <a:r>
              <a:rPr lang="en-US" dirty="0" smtClean="0"/>
              <a:t># print count </a:t>
            </a:r>
          </a:p>
          <a:p>
            <a:pPr>
              <a:buNone/>
            </a:pPr>
            <a:r>
              <a:rPr lang="en-US" dirty="0" smtClean="0"/>
              <a:t>print('The count of </a:t>
            </a:r>
            <a:r>
              <a:rPr lang="en-US" dirty="0" err="1" smtClean="0"/>
              <a:t>i</a:t>
            </a:r>
            <a:r>
              <a:rPr lang="en-US" dirty="0" smtClean="0"/>
              <a:t> is:', count) </a:t>
            </a:r>
          </a:p>
          <a:p>
            <a:pPr>
              <a:buNone/>
            </a:pPr>
            <a:r>
              <a:rPr lang="en-US" dirty="0" smtClean="0"/>
              <a:t># count element 'p' </a:t>
            </a:r>
          </a:p>
          <a:p>
            <a:pPr>
              <a:buNone/>
            </a:pPr>
            <a:r>
              <a:rPr lang="en-US" dirty="0" smtClean="0"/>
              <a:t>count = </a:t>
            </a:r>
            <a:r>
              <a:rPr lang="en-US" dirty="0" err="1" smtClean="0"/>
              <a:t>vowels.count</a:t>
            </a:r>
            <a:r>
              <a:rPr lang="en-US" dirty="0" smtClean="0"/>
              <a:t>('p') </a:t>
            </a:r>
          </a:p>
          <a:p>
            <a:pPr>
              <a:buNone/>
            </a:pPr>
            <a:r>
              <a:rPr lang="en-US" dirty="0" smtClean="0"/>
              <a:t># print count </a:t>
            </a:r>
          </a:p>
          <a:p>
            <a:pPr>
              <a:buNone/>
            </a:pPr>
            <a:r>
              <a:rPr lang="en-US" dirty="0" smtClean="0"/>
              <a:t>print('The count of p is:', count)   </a:t>
            </a:r>
            <a:endParaRPr lang="en-US" dirty="0"/>
          </a:p>
        </p:txBody>
      </p:sp>
      <p:sp>
        <p:nvSpPr>
          <p:cNvPr id="4" name="Rectangle 3"/>
          <p:cNvSpPr/>
          <p:nvPr/>
        </p:nvSpPr>
        <p:spPr>
          <a:xfrm>
            <a:off x="8519319" y="2209800"/>
            <a:ext cx="3741602" cy="1754326"/>
          </a:xfrm>
          <a:prstGeom prst="rect">
            <a:avLst/>
          </a:prstGeom>
        </p:spPr>
        <p:txBody>
          <a:bodyPr wrap="none">
            <a:spAutoFit/>
          </a:bodyPr>
          <a:lstStyle/>
          <a:p>
            <a:r>
              <a:rPr lang="en-US" sz="3600" b="1" dirty="0" smtClean="0"/>
              <a:t>Output</a:t>
            </a:r>
          </a:p>
          <a:p>
            <a:r>
              <a:rPr lang="en-US" sz="3600" dirty="0" smtClean="0"/>
              <a:t>The count of </a:t>
            </a:r>
            <a:r>
              <a:rPr lang="en-US" sz="3600" dirty="0" err="1" smtClean="0"/>
              <a:t>i</a:t>
            </a:r>
            <a:r>
              <a:rPr lang="en-US" sz="3600" dirty="0" smtClean="0"/>
              <a:t> is: 2 </a:t>
            </a:r>
          </a:p>
          <a:p>
            <a:r>
              <a:rPr lang="en-US" sz="3600" dirty="0" smtClean="0"/>
              <a:t>The count of p is: 0</a:t>
            </a:r>
            <a:endParaRPr lang="en-US" sz="36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42"/>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r>
              <a:rPr lang="en" dirty="0"/>
              <a:t>Array Counting</a:t>
            </a:r>
            <a:endParaRPr/>
          </a:p>
        </p:txBody>
      </p:sp>
      <p:sp>
        <p:nvSpPr>
          <p:cNvPr id="248" name="Google Shape;248;p42"/>
          <p:cNvSpPr txBox="1">
            <a:spLocks noGrp="1"/>
          </p:cNvSpPr>
          <p:nvPr>
            <p:ph type="body" idx="1"/>
          </p:nvPr>
        </p:nvSpPr>
        <p:spPr>
          <a:xfrm>
            <a:off x="430157" y="1843960"/>
            <a:ext cx="5748121" cy="5976960"/>
          </a:xfrm>
          <a:prstGeom prst="rect">
            <a:avLst/>
          </a:prstGeom>
        </p:spPr>
        <p:txBody>
          <a:bodyPr spcFirstLastPara="1" wrap="square" lIns="133407" tIns="133407" rIns="133407" bIns="133407" anchor="t" anchorCtr="0">
            <a:normAutofit/>
          </a:bodyPr>
          <a:lstStyle/>
          <a:p>
            <a:pPr indent="-481828">
              <a:buClr>
                <a:schemeClr val="dk2"/>
              </a:buClr>
              <a:buSzPts val="1600"/>
              <a:buFont typeface="Old Standard TT"/>
              <a:buAutoNum type="arabicPeriod"/>
            </a:pPr>
            <a:r>
              <a:rPr lang="en" sz="2300" dirty="0">
                <a:solidFill>
                  <a:schemeClr val="dk2"/>
                </a:solidFill>
                <a:latin typeface="Old Standard TT"/>
                <a:ea typeface="Old Standard TT"/>
                <a:cs typeface="Old Standard TT"/>
                <a:sym typeface="Old Standard TT"/>
              </a:rPr>
              <a:t>Using length method</a:t>
            </a:r>
            <a:endParaRPr sz="2300">
              <a:solidFill>
                <a:schemeClr val="dk2"/>
              </a:solidFill>
              <a:latin typeface="Old Standard TT"/>
              <a:ea typeface="Old Standard TT"/>
              <a:cs typeface="Old Standard TT"/>
              <a:sym typeface="Old Standard TT"/>
            </a:endParaRPr>
          </a:p>
          <a:p>
            <a:pPr indent="0">
              <a:spcBef>
                <a:spcPts val="1751"/>
              </a:spcBef>
              <a:buNone/>
            </a:pPr>
            <a:r>
              <a:rPr lang="en" sz="2300" dirty="0">
                <a:solidFill>
                  <a:schemeClr val="dk2"/>
                </a:solidFill>
                <a:latin typeface="Old Standard TT"/>
                <a:ea typeface="Old Standard TT"/>
                <a:cs typeface="Old Standard TT"/>
                <a:sym typeface="Old Standard TT"/>
              </a:rPr>
              <a:t>Syntax: </a:t>
            </a:r>
            <a:endParaRPr sz="2300">
              <a:solidFill>
                <a:schemeClr val="dk2"/>
              </a:solidFill>
              <a:latin typeface="Old Standard TT"/>
              <a:ea typeface="Old Standard TT"/>
              <a:cs typeface="Old Standard TT"/>
              <a:sym typeface="Old Standard TT"/>
            </a:endParaRPr>
          </a:p>
          <a:p>
            <a:pPr indent="0">
              <a:spcBef>
                <a:spcPts val="1751"/>
              </a:spcBef>
              <a:buNone/>
            </a:pPr>
            <a:r>
              <a:rPr lang="en" sz="1900" dirty="0">
                <a:solidFill>
                  <a:schemeClr val="dk2"/>
                </a:solidFill>
                <a:latin typeface="Source Code Pro"/>
                <a:ea typeface="Source Code Pro"/>
                <a:cs typeface="Source Code Pro"/>
                <a:sym typeface="Source Code Pro"/>
              </a:rPr>
              <a:t>len(array_name)</a:t>
            </a:r>
            <a:endParaRPr sz="1900">
              <a:solidFill>
                <a:schemeClr val="dk2"/>
              </a:solidFill>
              <a:latin typeface="Source Code Pro"/>
              <a:ea typeface="Source Code Pro"/>
              <a:cs typeface="Source Code Pro"/>
              <a:sym typeface="Source Code Pro"/>
            </a:endParaRPr>
          </a:p>
          <a:p>
            <a:pPr marL="0" indent="0">
              <a:spcBef>
                <a:spcPts val="1751"/>
              </a:spcBef>
              <a:spcAft>
                <a:spcPts val="1751"/>
              </a:spcAft>
              <a:buNone/>
            </a:pPr>
            <a:endParaRPr sz="1800">
              <a:solidFill>
                <a:srgbClr val="000088"/>
              </a:solidFill>
              <a:highlight>
                <a:schemeClr val="lt1"/>
              </a:highlight>
              <a:latin typeface="Source Code Pro"/>
              <a:ea typeface="Source Code Pro"/>
              <a:cs typeface="Source Code Pro"/>
              <a:sym typeface="Source Code Pro"/>
            </a:endParaRPr>
          </a:p>
        </p:txBody>
      </p:sp>
      <p:sp>
        <p:nvSpPr>
          <p:cNvPr id="249" name="Google Shape;249;p42"/>
          <p:cNvSpPr txBox="1">
            <a:spLocks noGrp="1"/>
          </p:cNvSpPr>
          <p:nvPr>
            <p:ph type="body" idx="1"/>
          </p:nvPr>
        </p:nvSpPr>
        <p:spPr>
          <a:xfrm>
            <a:off x="6319041" y="1843960"/>
            <a:ext cx="5748121" cy="5976960"/>
          </a:xfrm>
          <a:prstGeom prst="rect">
            <a:avLst/>
          </a:prstGeom>
        </p:spPr>
        <p:txBody>
          <a:bodyPr spcFirstLastPara="1" wrap="square" lIns="133407" tIns="133407" rIns="133407" bIns="133407" anchor="t" anchorCtr="0">
            <a:normAutofit/>
          </a:bodyPr>
          <a:lstStyle/>
          <a:p>
            <a:pPr marL="0" indent="0">
              <a:buNone/>
            </a:pPr>
            <a:r>
              <a:rPr lang="en" sz="2300" dirty="0">
                <a:solidFill>
                  <a:schemeClr val="dk2"/>
                </a:solidFill>
                <a:latin typeface="Old Standard TT"/>
                <a:ea typeface="Old Standard TT"/>
                <a:cs typeface="Old Standard TT"/>
                <a:sym typeface="Old Standard TT"/>
              </a:rPr>
              <a:t>2.	Using count variable</a:t>
            </a:r>
            <a:endParaRPr sz="2300">
              <a:solidFill>
                <a:schemeClr val="dk2"/>
              </a:solidFill>
              <a:latin typeface="Old Standard TT"/>
              <a:ea typeface="Old Standard TT"/>
              <a:cs typeface="Old Standard TT"/>
              <a:sym typeface="Old Standard TT"/>
            </a:endParaRPr>
          </a:p>
          <a:p>
            <a:pPr marL="0" indent="0">
              <a:spcBef>
                <a:spcPts val="1751"/>
              </a:spcBef>
              <a:buNone/>
            </a:pPr>
            <a:r>
              <a:rPr lang="en" sz="1800" dirty="0">
                <a:solidFill>
                  <a:srgbClr val="000088"/>
                </a:solidFill>
                <a:highlight>
                  <a:schemeClr val="lt1"/>
                </a:highlight>
                <a:latin typeface="Source Code Pro"/>
                <a:ea typeface="Source Code Pro"/>
                <a:cs typeface="Source Code Pro"/>
                <a:sym typeface="Source Code Pro"/>
              </a:rPr>
              <a:t>from</a:t>
            </a:r>
            <a:r>
              <a:rPr lang="en" sz="1800" dirty="0">
                <a:solidFill>
                  <a:schemeClr val="dk2"/>
                </a:solidFill>
                <a:highlight>
                  <a:schemeClr val="lt1"/>
                </a:highlight>
                <a:latin typeface="Source Code Pro"/>
                <a:ea typeface="Source Code Pro"/>
                <a:cs typeface="Source Code Pro"/>
                <a:sym typeface="Source Code Pro"/>
              </a:rPr>
              <a:t> array </a:t>
            </a:r>
            <a:r>
              <a:rPr lang="en" sz="1800" dirty="0">
                <a:solidFill>
                  <a:srgbClr val="000088"/>
                </a:solidFill>
                <a:highlight>
                  <a:schemeClr val="lt1"/>
                </a:highlight>
                <a:latin typeface="Source Code Pro"/>
                <a:ea typeface="Source Code Pro"/>
                <a:cs typeface="Source Code Pro"/>
                <a:sym typeface="Source Code Pro"/>
              </a:rPr>
              <a:t>import</a:t>
            </a:r>
            <a:r>
              <a:rPr lang="en" sz="1800" dirty="0">
                <a:solidFill>
                  <a:schemeClr val="dk2"/>
                </a:solidFill>
                <a:highlight>
                  <a:schemeClr val="lt1"/>
                </a:highlight>
                <a:latin typeface="Source Code Pro"/>
                <a:ea typeface="Source Code Pro"/>
                <a:cs typeface="Source Code Pro"/>
                <a:sym typeface="Source Code Pro"/>
              </a:rPr>
              <a:t> </a:t>
            </a:r>
            <a:r>
              <a:rPr lang="en" sz="1800" dirty="0">
                <a:solidFill>
                  <a:srgbClr val="666600"/>
                </a:solidFill>
                <a:highlight>
                  <a:schemeClr val="lt1"/>
                </a:highlight>
                <a:latin typeface="Source Code Pro"/>
                <a:ea typeface="Source Code Pro"/>
                <a:cs typeface="Source Code Pro"/>
                <a:sym typeface="Source Code Pro"/>
              </a:rPr>
              <a:t>*</a:t>
            </a:r>
            <a:endParaRPr sz="1800">
              <a:solidFill>
                <a:schemeClr val="dk2"/>
              </a:solidFill>
              <a:highlight>
                <a:schemeClr val="lt1"/>
              </a:highlight>
              <a:latin typeface="Source Code Pro"/>
              <a:ea typeface="Source Code Pro"/>
              <a:cs typeface="Source Code Pro"/>
              <a:sym typeface="Source Code Pro"/>
            </a:endParaRPr>
          </a:p>
          <a:p>
            <a:pPr marL="0" indent="0">
              <a:spcBef>
                <a:spcPts val="1751"/>
              </a:spcBef>
              <a:buNone/>
            </a:pPr>
            <a:r>
              <a:rPr lang="en" sz="1800" dirty="0">
                <a:solidFill>
                  <a:schemeClr val="dk2"/>
                </a:solidFill>
                <a:highlight>
                  <a:schemeClr val="lt1"/>
                </a:highlight>
                <a:latin typeface="Source Code Pro"/>
                <a:ea typeface="Source Code Pro"/>
                <a:cs typeface="Source Code Pro"/>
                <a:sym typeface="Source Code Pro"/>
              </a:rPr>
              <a:t>array1 </a:t>
            </a:r>
            <a:r>
              <a:rPr lang="en" sz="1800" dirty="0">
                <a:solidFill>
                  <a:srgbClr val="666600"/>
                </a:solidFill>
                <a:highlight>
                  <a:schemeClr val="lt1"/>
                </a:highlight>
                <a:latin typeface="Source Code Pro"/>
                <a:ea typeface="Source Code Pro"/>
                <a:cs typeface="Source Code Pro"/>
                <a:sym typeface="Source Code Pro"/>
              </a:rPr>
              <a:t>=</a:t>
            </a:r>
            <a:r>
              <a:rPr lang="en" sz="1800" dirty="0">
                <a:solidFill>
                  <a:schemeClr val="dk2"/>
                </a:solidFill>
                <a:highlight>
                  <a:schemeClr val="lt1"/>
                </a:highlight>
                <a:latin typeface="Source Code Pro"/>
                <a:ea typeface="Source Code Pro"/>
                <a:cs typeface="Source Code Pro"/>
                <a:sym typeface="Source Code Pro"/>
              </a:rPr>
              <a:t> array</a:t>
            </a:r>
            <a:r>
              <a:rPr lang="en" sz="1800" dirty="0">
                <a:solidFill>
                  <a:srgbClr val="666600"/>
                </a:solidFill>
                <a:highlight>
                  <a:schemeClr val="lt1"/>
                </a:highlight>
                <a:latin typeface="Source Code Pro"/>
                <a:ea typeface="Source Code Pro"/>
                <a:cs typeface="Source Code Pro"/>
                <a:sym typeface="Source Code Pro"/>
              </a:rPr>
              <a:t>(</a:t>
            </a:r>
            <a:r>
              <a:rPr lang="en" sz="1800" dirty="0">
                <a:solidFill>
                  <a:srgbClr val="008800"/>
                </a:solidFill>
                <a:highlight>
                  <a:schemeClr val="lt1"/>
                </a:highlight>
                <a:latin typeface="Source Code Pro"/>
                <a:ea typeface="Source Code Pro"/>
                <a:cs typeface="Source Code Pro"/>
                <a:sym typeface="Source Code Pro"/>
              </a:rPr>
              <a:t>'i'</a:t>
            </a:r>
            <a:r>
              <a:rPr lang="en" sz="1800" dirty="0">
                <a:solidFill>
                  <a:srgbClr val="666600"/>
                </a:solidFill>
                <a:highlight>
                  <a:schemeClr val="lt1"/>
                </a:highlight>
                <a:latin typeface="Source Code Pro"/>
                <a:ea typeface="Source Code Pro"/>
                <a:cs typeface="Source Code Pro"/>
                <a:sym typeface="Source Code Pro"/>
              </a:rPr>
              <a:t>,</a:t>
            </a:r>
            <a:r>
              <a:rPr lang="en" sz="1800" dirty="0">
                <a:solidFill>
                  <a:schemeClr val="dk2"/>
                </a:solidFill>
                <a:highlight>
                  <a:schemeClr val="lt1"/>
                </a:highlight>
                <a:latin typeface="Source Code Pro"/>
                <a:ea typeface="Source Code Pro"/>
                <a:cs typeface="Source Code Pro"/>
                <a:sym typeface="Source Code Pro"/>
              </a:rPr>
              <a:t> </a:t>
            </a:r>
            <a:r>
              <a:rPr lang="en" sz="1800" dirty="0">
                <a:solidFill>
                  <a:srgbClr val="666600"/>
                </a:solidFill>
                <a:highlight>
                  <a:schemeClr val="lt1"/>
                </a:highlight>
                <a:latin typeface="Source Code Pro"/>
                <a:ea typeface="Source Code Pro"/>
                <a:cs typeface="Source Code Pro"/>
                <a:sym typeface="Source Code Pro"/>
              </a:rPr>
              <a:t>[</a:t>
            </a:r>
            <a:r>
              <a:rPr lang="en" sz="1800" dirty="0">
                <a:solidFill>
                  <a:srgbClr val="006666"/>
                </a:solidFill>
                <a:highlight>
                  <a:schemeClr val="lt1"/>
                </a:highlight>
                <a:latin typeface="Source Code Pro"/>
                <a:ea typeface="Source Code Pro"/>
                <a:cs typeface="Source Code Pro"/>
                <a:sym typeface="Source Code Pro"/>
              </a:rPr>
              <a:t>10</a:t>
            </a:r>
            <a:r>
              <a:rPr lang="en" sz="1800" dirty="0">
                <a:solidFill>
                  <a:srgbClr val="666600"/>
                </a:solidFill>
                <a:highlight>
                  <a:schemeClr val="lt1"/>
                </a:highlight>
                <a:latin typeface="Source Code Pro"/>
                <a:ea typeface="Source Code Pro"/>
                <a:cs typeface="Source Code Pro"/>
                <a:sym typeface="Source Code Pro"/>
              </a:rPr>
              <a:t>,</a:t>
            </a:r>
            <a:r>
              <a:rPr lang="en" sz="1800" dirty="0">
                <a:solidFill>
                  <a:srgbClr val="006666"/>
                </a:solidFill>
                <a:highlight>
                  <a:schemeClr val="lt1"/>
                </a:highlight>
                <a:latin typeface="Source Code Pro"/>
                <a:ea typeface="Source Code Pro"/>
                <a:cs typeface="Source Code Pro"/>
                <a:sym typeface="Source Code Pro"/>
              </a:rPr>
              <a:t>20</a:t>
            </a:r>
            <a:r>
              <a:rPr lang="en" sz="1800" dirty="0">
                <a:solidFill>
                  <a:srgbClr val="666600"/>
                </a:solidFill>
                <a:highlight>
                  <a:schemeClr val="lt1"/>
                </a:highlight>
                <a:latin typeface="Source Code Pro"/>
                <a:ea typeface="Source Code Pro"/>
                <a:cs typeface="Source Code Pro"/>
                <a:sym typeface="Source Code Pro"/>
              </a:rPr>
              <a:t>,</a:t>
            </a:r>
            <a:r>
              <a:rPr lang="en" sz="1800" dirty="0">
                <a:solidFill>
                  <a:srgbClr val="006666"/>
                </a:solidFill>
                <a:highlight>
                  <a:schemeClr val="lt1"/>
                </a:highlight>
                <a:latin typeface="Source Code Pro"/>
                <a:ea typeface="Source Code Pro"/>
                <a:cs typeface="Source Code Pro"/>
                <a:sym typeface="Source Code Pro"/>
              </a:rPr>
              <a:t>30</a:t>
            </a:r>
            <a:r>
              <a:rPr lang="en" sz="1800" dirty="0">
                <a:solidFill>
                  <a:srgbClr val="666600"/>
                </a:solidFill>
                <a:highlight>
                  <a:schemeClr val="lt1"/>
                </a:highlight>
                <a:latin typeface="Source Code Pro"/>
                <a:ea typeface="Source Code Pro"/>
                <a:cs typeface="Source Code Pro"/>
                <a:sym typeface="Source Code Pro"/>
              </a:rPr>
              <a:t>,</a:t>
            </a:r>
            <a:r>
              <a:rPr lang="en" sz="1800" dirty="0">
                <a:solidFill>
                  <a:srgbClr val="006666"/>
                </a:solidFill>
                <a:highlight>
                  <a:schemeClr val="lt1"/>
                </a:highlight>
                <a:latin typeface="Source Code Pro"/>
                <a:ea typeface="Source Code Pro"/>
                <a:cs typeface="Source Code Pro"/>
                <a:sym typeface="Source Code Pro"/>
              </a:rPr>
              <a:t>40</a:t>
            </a:r>
            <a:r>
              <a:rPr lang="en" sz="1800" dirty="0">
                <a:solidFill>
                  <a:srgbClr val="666600"/>
                </a:solidFill>
                <a:highlight>
                  <a:schemeClr val="lt1"/>
                </a:highlight>
                <a:latin typeface="Source Code Pro"/>
                <a:ea typeface="Source Code Pro"/>
                <a:cs typeface="Source Code Pro"/>
                <a:sym typeface="Source Code Pro"/>
              </a:rPr>
              <a:t>,</a:t>
            </a:r>
            <a:r>
              <a:rPr lang="en" sz="1800" dirty="0">
                <a:solidFill>
                  <a:srgbClr val="006666"/>
                </a:solidFill>
                <a:highlight>
                  <a:schemeClr val="lt1"/>
                </a:highlight>
                <a:latin typeface="Source Code Pro"/>
                <a:ea typeface="Source Code Pro"/>
                <a:cs typeface="Source Code Pro"/>
                <a:sym typeface="Source Code Pro"/>
              </a:rPr>
              <a:t>50</a:t>
            </a:r>
            <a:r>
              <a:rPr lang="en" sz="1800" dirty="0">
                <a:solidFill>
                  <a:srgbClr val="666600"/>
                </a:solidFill>
                <a:highlight>
                  <a:schemeClr val="lt1"/>
                </a:highlight>
                <a:latin typeface="Source Code Pro"/>
                <a:ea typeface="Source Code Pro"/>
                <a:cs typeface="Source Code Pro"/>
                <a:sym typeface="Source Code Pro"/>
              </a:rPr>
              <a:t>])</a:t>
            </a:r>
            <a:endParaRPr sz="1800">
              <a:solidFill>
                <a:schemeClr val="dk2"/>
              </a:solidFill>
              <a:highlight>
                <a:schemeClr val="lt1"/>
              </a:highlight>
              <a:latin typeface="Source Code Pro"/>
              <a:ea typeface="Source Code Pro"/>
              <a:cs typeface="Source Code Pro"/>
              <a:sym typeface="Source Code Pro"/>
            </a:endParaRPr>
          </a:p>
          <a:p>
            <a:pPr marL="0" indent="0">
              <a:spcBef>
                <a:spcPts val="1751"/>
              </a:spcBef>
              <a:buNone/>
            </a:pPr>
            <a:endParaRPr sz="1800">
              <a:solidFill>
                <a:srgbClr val="000088"/>
              </a:solidFill>
              <a:highlight>
                <a:schemeClr val="lt1"/>
              </a:highlight>
              <a:latin typeface="Source Code Pro"/>
              <a:ea typeface="Source Code Pro"/>
              <a:cs typeface="Source Code Pro"/>
              <a:sym typeface="Source Code Pro"/>
            </a:endParaRPr>
          </a:p>
          <a:p>
            <a:pPr marL="0" indent="0">
              <a:spcBef>
                <a:spcPts val="1751"/>
              </a:spcBef>
              <a:buNone/>
            </a:pPr>
            <a:r>
              <a:rPr lang="en" sz="1800" dirty="0">
                <a:solidFill>
                  <a:srgbClr val="000088"/>
                </a:solidFill>
                <a:highlight>
                  <a:schemeClr val="lt1"/>
                </a:highlight>
                <a:latin typeface="Source Code Pro"/>
                <a:ea typeface="Source Code Pro"/>
                <a:cs typeface="Source Code Pro"/>
                <a:sym typeface="Source Code Pro"/>
              </a:rPr>
              <a:t>count = 0</a:t>
            </a:r>
            <a:endParaRPr sz="1800">
              <a:solidFill>
                <a:srgbClr val="000088"/>
              </a:solidFill>
              <a:highlight>
                <a:schemeClr val="lt1"/>
              </a:highlight>
              <a:latin typeface="Source Code Pro"/>
              <a:ea typeface="Source Code Pro"/>
              <a:cs typeface="Source Code Pro"/>
              <a:sym typeface="Source Code Pro"/>
            </a:endParaRPr>
          </a:p>
          <a:p>
            <a:pPr marL="0" indent="0">
              <a:spcBef>
                <a:spcPts val="1751"/>
              </a:spcBef>
              <a:buNone/>
            </a:pPr>
            <a:r>
              <a:rPr lang="en" sz="1800" dirty="0">
                <a:solidFill>
                  <a:srgbClr val="000088"/>
                </a:solidFill>
                <a:highlight>
                  <a:schemeClr val="lt1"/>
                </a:highlight>
                <a:latin typeface="Source Code Pro"/>
                <a:ea typeface="Source Code Pro"/>
                <a:cs typeface="Source Code Pro"/>
                <a:sym typeface="Source Code Pro"/>
              </a:rPr>
              <a:t>for</a:t>
            </a:r>
            <a:r>
              <a:rPr lang="en" sz="1800" dirty="0">
                <a:solidFill>
                  <a:schemeClr val="dk2"/>
                </a:solidFill>
                <a:highlight>
                  <a:schemeClr val="lt1"/>
                </a:highlight>
                <a:latin typeface="Source Code Pro"/>
                <a:ea typeface="Source Code Pro"/>
                <a:cs typeface="Source Code Pro"/>
                <a:sym typeface="Source Code Pro"/>
              </a:rPr>
              <a:t> x </a:t>
            </a:r>
            <a:r>
              <a:rPr lang="en" sz="1800" dirty="0">
                <a:solidFill>
                  <a:srgbClr val="000088"/>
                </a:solidFill>
                <a:highlight>
                  <a:schemeClr val="lt1"/>
                </a:highlight>
                <a:latin typeface="Source Code Pro"/>
                <a:ea typeface="Source Code Pro"/>
                <a:cs typeface="Source Code Pro"/>
                <a:sym typeface="Source Code Pro"/>
              </a:rPr>
              <a:t>in</a:t>
            </a:r>
            <a:r>
              <a:rPr lang="en" sz="1800" dirty="0">
                <a:solidFill>
                  <a:schemeClr val="dk2"/>
                </a:solidFill>
                <a:highlight>
                  <a:schemeClr val="lt1"/>
                </a:highlight>
                <a:latin typeface="Source Code Pro"/>
                <a:ea typeface="Source Code Pro"/>
                <a:cs typeface="Source Code Pro"/>
                <a:sym typeface="Source Code Pro"/>
              </a:rPr>
              <a:t> array1</a:t>
            </a:r>
            <a:r>
              <a:rPr lang="en" sz="1800" dirty="0">
                <a:solidFill>
                  <a:srgbClr val="666600"/>
                </a:solidFill>
                <a:highlight>
                  <a:schemeClr val="lt1"/>
                </a:highlight>
                <a:latin typeface="Source Code Pro"/>
                <a:ea typeface="Source Code Pro"/>
                <a:cs typeface="Source Code Pro"/>
                <a:sym typeface="Source Code Pro"/>
              </a:rPr>
              <a:t>:</a:t>
            </a:r>
            <a:endParaRPr sz="1800">
              <a:solidFill>
                <a:schemeClr val="dk2"/>
              </a:solidFill>
              <a:highlight>
                <a:schemeClr val="lt1"/>
              </a:highlight>
              <a:latin typeface="Source Code Pro"/>
              <a:ea typeface="Source Code Pro"/>
              <a:cs typeface="Source Code Pro"/>
              <a:sym typeface="Source Code Pro"/>
            </a:endParaRPr>
          </a:p>
          <a:p>
            <a:pPr marL="0" indent="667146">
              <a:spcBef>
                <a:spcPts val="1751"/>
              </a:spcBef>
              <a:buNone/>
            </a:pPr>
            <a:r>
              <a:rPr lang="en" sz="1800" dirty="0">
                <a:solidFill>
                  <a:srgbClr val="000088"/>
                </a:solidFill>
                <a:highlight>
                  <a:schemeClr val="lt1"/>
                </a:highlight>
                <a:latin typeface="Source Code Pro"/>
                <a:ea typeface="Source Code Pro"/>
                <a:cs typeface="Source Code Pro"/>
                <a:sym typeface="Source Code Pro"/>
              </a:rPr>
              <a:t>count++</a:t>
            </a:r>
            <a:endParaRPr sz="1800">
              <a:solidFill>
                <a:srgbClr val="000088"/>
              </a:solidFill>
              <a:highlight>
                <a:schemeClr val="lt1"/>
              </a:highlight>
              <a:latin typeface="Source Code Pro"/>
              <a:ea typeface="Source Code Pro"/>
              <a:cs typeface="Source Code Pro"/>
              <a:sym typeface="Source Code Pro"/>
            </a:endParaRPr>
          </a:p>
          <a:p>
            <a:pPr marL="0" indent="0">
              <a:spcBef>
                <a:spcPts val="1751"/>
              </a:spcBef>
              <a:spcAft>
                <a:spcPts val="1751"/>
              </a:spcAft>
              <a:buNone/>
            </a:pPr>
            <a:r>
              <a:rPr lang="en" sz="1800" dirty="0">
                <a:solidFill>
                  <a:srgbClr val="000088"/>
                </a:solidFill>
                <a:highlight>
                  <a:schemeClr val="lt1"/>
                </a:highlight>
                <a:latin typeface="Source Code Pro"/>
                <a:ea typeface="Source Code Pro"/>
                <a:cs typeface="Source Code Pro"/>
                <a:sym typeface="Source Code Pro"/>
              </a:rPr>
              <a:t>print(count)</a:t>
            </a:r>
            <a:endParaRPr sz="1800">
              <a:solidFill>
                <a:srgbClr val="000088"/>
              </a:solidFill>
              <a:highlight>
                <a:schemeClr val="lt1"/>
              </a:highlight>
              <a:latin typeface="Source Code Pro"/>
              <a:ea typeface="Source Code Pro"/>
              <a:cs typeface="Source Code Pro"/>
              <a:sym typeface="Source Code Pr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FINDING THE MAXIMUM</a:t>
            </a:r>
            <a:br>
              <a:rPr lang="en-US" dirty="0" smtClean="0"/>
            </a:br>
            <a:r>
              <a:rPr lang="en-US" dirty="0" smtClean="0"/>
              <a:t>NUMBER IN A SET</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dirty="0" smtClean="0"/>
              <a:t>#Initialize array</a:t>
            </a:r>
          </a:p>
          <a:p>
            <a:pPr>
              <a:buNone/>
            </a:pPr>
            <a:r>
              <a:rPr lang="en-US" dirty="0" err="1" smtClean="0"/>
              <a:t>arr</a:t>
            </a:r>
            <a:r>
              <a:rPr lang="en-US" dirty="0" smtClean="0"/>
              <a:t> = [25, 11, 7, 75, 56];</a:t>
            </a:r>
          </a:p>
          <a:p>
            <a:pPr>
              <a:buNone/>
            </a:pPr>
            <a:r>
              <a:rPr lang="en-US" dirty="0" smtClean="0"/>
              <a:t>#Initialize max with first element of array.</a:t>
            </a:r>
          </a:p>
          <a:p>
            <a:pPr>
              <a:buNone/>
            </a:pPr>
            <a:r>
              <a:rPr lang="en-US" dirty="0" smtClean="0"/>
              <a:t>max = </a:t>
            </a:r>
            <a:r>
              <a:rPr lang="en-US" dirty="0" err="1" smtClean="0"/>
              <a:t>arr</a:t>
            </a:r>
            <a:r>
              <a:rPr lang="en-US" dirty="0" smtClean="0"/>
              <a:t>[0];</a:t>
            </a:r>
          </a:p>
          <a:p>
            <a:pPr>
              <a:buNone/>
            </a:pPr>
            <a:r>
              <a:rPr lang="en-US" dirty="0" smtClean="0"/>
              <a:t>#Loop through the array</a:t>
            </a:r>
          </a:p>
          <a:p>
            <a:pPr>
              <a:buNone/>
            </a:pPr>
            <a:r>
              <a:rPr lang="en-US" dirty="0" smtClean="0"/>
              <a:t>for </a:t>
            </a:r>
            <a:r>
              <a:rPr lang="en-US" dirty="0" err="1" smtClean="0"/>
              <a:t>i</a:t>
            </a:r>
            <a:r>
              <a:rPr lang="en-US" dirty="0" smtClean="0"/>
              <a:t> in range(0, </a:t>
            </a:r>
            <a:r>
              <a:rPr lang="en-US" dirty="0" err="1" smtClean="0"/>
              <a:t>len</a:t>
            </a:r>
            <a:r>
              <a:rPr lang="en-US" dirty="0" smtClean="0"/>
              <a:t>(</a:t>
            </a:r>
            <a:r>
              <a:rPr lang="en-US" dirty="0" err="1" smtClean="0"/>
              <a:t>arr</a:t>
            </a:r>
            <a:r>
              <a:rPr lang="en-US" dirty="0" smtClean="0"/>
              <a:t>)):</a:t>
            </a:r>
          </a:p>
          <a:p>
            <a:pPr>
              <a:buNone/>
            </a:pPr>
            <a:r>
              <a:rPr lang="en-US" dirty="0" smtClean="0"/>
              <a:t>#Compare elements of array with max</a:t>
            </a:r>
          </a:p>
          <a:p>
            <a:pPr>
              <a:buNone/>
            </a:pPr>
            <a:r>
              <a:rPr lang="en-US" dirty="0" smtClean="0"/>
              <a:t>if(</a:t>
            </a:r>
            <a:r>
              <a:rPr lang="en-US" dirty="0" err="1" smtClean="0"/>
              <a:t>arr</a:t>
            </a:r>
            <a:r>
              <a:rPr lang="en-US" dirty="0" smtClean="0"/>
              <a:t>[</a:t>
            </a:r>
            <a:r>
              <a:rPr lang="en-US" dirty="0" err="1" smtClean="0"/>
              <a:t>i</a:t>
            </a:r>
            <a:r>
              <a:rPr lang="en-US" dirty="0" smtClean="0"/>
              <a:t>] &gt; max):</a:t>
            </a:r>
          </a:p>
          <a:p>
            <a:pPr>
              <a:buNone/>
            </a:pPr>
            <a:r>
              <a:rPr lang="en-US" dirty="0" smtClean="0"/>
              <a:t>max = </a:t>
            </a:r>
            <a:r>
              <a:rPr lang="en-US" dirty="0" err="1" smtClean="0"/>
              <a:t>arr</a:t>
            </a:r>
            <a:r>
              <a:rPr lang="en-US" dirty="0" smtClean="0"/>
              <a:t>[</a:t>
            </a:r>
            <a:r>
              <a:rPr lang="en-US" dirty="0" err="1" smtClean="0"/>
              <a:t>i</a:t>
            </a:r>
            <a:r>
              <a:rPr lang="en-US" dirty="0" smtClean="0"/>
              <a:t>];</a:t>
            </a:r>
          </a:p>
          <a:p>
            <a:pPr>
              <a:buNone/>
            </a:pPr>
            <a:r>
              <a:rPr lang="en-US" dirty="0" smtClean="0"/>
              <a:t>print("Largest element present in given array: "+ </a:t>
            </a:r>
            <a:r>
              <a:rPr lang="en-US" dirty="0" err="1" smtClean="0"/>
              <a:t>str</a:t>
            </a:r>
            <a:r>
              <a:rPr lang="en-US" dirty="0" smtClean="0"/>
              <a:t>(max));</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Using max function</a:t>
            </a:r>
            <a:endParaRPr lang="en-US" dirty="0"/>
          </a:p>
        </p:txBody>
      </p:sp>
      <p:sp>
        <p:nvSpPr>
          <p:cNvPr id="3" name="Content Placeholder 2"/>
          <p:cNvSpPr>
            <a:spLocks noGrp="1"/>
          </p:cNvSpPr>
          <p:nvPr>
            <p:ph idx="1"/>
          </p:nvPr>
        </p:nvSpPr>
        <p:spPr/>
        <p:txBody>
          <a:bodyPr/>
          <a:lstStyle/>
          <a:p>
            <a:r>
              <a:rPr lang="en-US" dirty="0" smtClean="0"/>
              <a:t>array =  [456, 700, 200]</a:t>
            </a:r>
          </a:p>
          <a:p>
            <a:r>
              <a:rPr lang="en-US" dirty="0" smtClean="0"/>
              <a:t>print("Max value element : ", max(array))</a:t>
            </a:r>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4"/>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r>
              <a:rPr lang="en" dirty="0"/>
              <a:t>Finding the Maximum number in a set</a:t>
            </a:r>
            <a:endParaRPr/>
          </a:p>
        </p:txBody>
      </p:sp>
      <p:sp>
        <p:nvSpPr>
          <p:cNvPr id="262" name="Google Shape;262;p44"/>
          <p:cNvSpPr txBox="1">
            <a:spLocks noGrp="1"/>
          </p:cNvSpPr>
          <p:nvPr>
            <p:ph type="body" idx="1"/>
          </p:nvPr>
        </p:nvSpPr>
        <p:spPr>
          <a:xfrm>
            <a:off x="430157" y="1843960"/>
            <a:ext cx="5334110" cy="2706240"/>
          </a:xfrm>
          <a:prstGeom prst="rect">
            <a:avLst/>
          </a:prstGeom>
        </p:spPr>
        <p:txBody>
          <a:bodyPr spcFirstLastPara="1" wrap="square" lIns="133407" tIns="133407" rIns="133407" bIns="133407" anchor="t" anchorCtr="0">
            <a:normAutofit/>
          </a:bodyPr>
          <a:lstStyle/>
          <a:p>
            <a:pPr indent="-444764">
              <a:buClr>
                <a:schemeClr val="dk2"/>
              </a:buClr>
              <a:buSzPts val="1200"/>
              <a:buFont typeface="Source Code Pro"/>
              <a:buAutoNum type="arabicPeriod"/>
            </a:pPr>
            <a:endParaRPr sz="1800">
              <a:solidFill>
                <a:schemeClr val="dk2"/>
              </a:solidFill>
              <a:latin typeface="Source Code Pro"/>
              <a:ea typeface="Source Code Pro"/>
              <a:cs typeface="Source Code Pro"/>
              <a:sym typeface="Source Code Pro"/>
            </a:endParaRPr>
          </a:p>
          <a:p>
            <a:pPr marL="0" indent="0">
              <a:spcBef>
                <a:spcPts val="1751"/>
              </a:spcBef>
              <a:buNone/>
            </a:pPr>
            <a:r>
              <a:rPr lang="en" sz="1800" dirty="0">
                <a:solidFill>
                  <a:schemeClr val="dk2"/>
                </a:solidFill>
                <a:latin typeface="Source Code Pro"/>
                <a:ea typeface="Source Code Pro"/>
                <a:cs typeface="Source Code Pro"/>
                <a:sym typeface="Source Code Pro"/>
              </a:rPr>
              <a:t>numbers </a:t>
            </a:r>
            <a:r>
              <a:rPr lang="en" sz="1800" b="1" dirty="0">
                <a:solidFill>
                  <a:schemeClr val="dk2"/>
                </a:solidFill>
                <a:latin typeface="Source Code Pro"/>
                <a:ea typeface="Source Code Pro"/>
                <a:cs typeface="Source Code Pro"/>
                <a:sym typeface="Source Code Pro"/>
              </a:rPr>
              <a:t>=</a:t>
            </a:r>
            <a:r>
              <a:rPr lang="en" sz="1800" dirty="0">
                <a:solidFill>
                  <a:schemeClr val="dk2"/>
                </a:solidFill>
                <a:latin typeface="Source Code Pro"/>
                <a:ea typeface="Source Code Pro"/>
                <a:cs typeface="Source Code Pro"/>
                <a:sym typeface="Source Code Pro"/>
              </a:rPr>
              <a:t> [9, 34, 11, </a:t>
            </a:r>
            <a:r>
              <a:rPr lang="en" sz="1800" b="1" dirty="0">
                <a:solidFill>
                  <a:schemeClr val="dk2"/>
                </a:solidFill>
                <a:latin typeface="Source Code Pro"/>
                <a:ea typeface="Source Code Pro"/>
                <a:cs typeface="Source Code Pro"/>
                <a:sym typeface="Source Code Pro"/>
              </a:rPr>
              <a:t>-</a:t>
            </a:r>
            <a:r>
              <a:rPr lang="en" sz="1800" dirty="0">
                <a:solidFill>
                  <a:schemeClr val="dk2"/>
                </a:solidFill>
                <a:latin typeface="Source Code Pro"/>
                <a:ea typeface="Source Code Pro"/>
                <a:cs typeface="Source Code Pro"/>
                <a:sym typeface="Source Code Pro"/>
              </a:rPr>
              <a:t>4, 27]</a:t>
            </a:r>
            <a:endParaRPr sz="1800">
              <a:solidFill>
                <a:schemeClr val="dk2"/>
              </a:solidFill>
              <a:latin typeface="Source Code Pro"/>
              <a:ea typeface="Source Code Pro"/>
              <a:cs typeface="Source Code Pro"/>
              <a:sym typeface="Source Code Pro"/>
            </a:endParaRPr>
          </a:p>
          <a:p>
            <a:pPr marL="0" indent="0">
              <a:spcBef>
                <a:spcPts val="1751"/>
              </a:spcBef>
              <a:buNone/>
            </a:pPr>
            <a:r>
              <a:rPr lang="en" sz="1800" dirty="0">
                <a:solidFill>
                  <a:srgbClr val="008800"/>
                </a:solidFill>
                <a:latin typeface="Source Code Pro"/>
                <a:ea typeface="Source Code Pro"/>
                <a:cs typeface="Source Code Pro"/>
                <a:sym typeface="Source Code Pro"/>
              </a:rPr>
              <a:t># find the maximum number</a:t>
            </a:r>
            <a:endParaRPr sz="1800">
              <a:solidFill>
                <a:srgbClr val="008800"/>
              </a:solidFill>
              <a:latin typeface="Source Code Pro"/>
              <a:ea typeface="Source Code Pro"/>
              <a:cs typeface="Source Code Pro"/>
              <a:sym typeface="Source Code Pro"/>
            </a:endParaRPr>
          </a:p>
          <a:p>
            <a:pPr marL="0" indent="0">
              <a:spcBef>
                <a:spcPts val="1751"/>
              </a:spcBef>
              <a:buNone/>
            </a:pPr>
            <a:r>
              <a:rPr lang="en" sz="1800" dirty="0">
                <a:solidFill>
                  <a:schemeClr val="dk2"/>
                </a:solidFill>
                <a:latin typeface="Source Code Pro"/>
                <a:ea typeface="Source Code Pro"/>
                <a:cs typeface="Source Code Pro"/>
                <a:sym typeface="Source Code Pro"/>
              </a:rPr>
              <a:t>max_number </a:t>
            </a:r>
            <a:r>
              <a:rPr lang="en" sz="1800" b="1" dirty="0">
                <a:solidFill>
                  <a:schemeClr val="dk2"/>
                </a:solidFill>
                <a:latin typeface="Source Code Pro"/>
                <a:ea typeface="Source Code Pro"/>
                <a:cs typeface="Source Code Pro"/>
                <a:sym typeface="Source Code Pro"/>
              </a:rPr>
              <a:t>=</a:t>
            </a:r>
            <a:r>
              <a:rPr lang="en" sz="1800" dirty="0">
                <a:solidFill>
                  <a:schemeClr val="dk2"/>
                </a:solidFill>
                <a:latin typeface="Source Code Pro"/>
                <a:ea typeface="Source Code Pro"/>
                <a:cs typeface="Source Code Pro"/>
                <a:sym typeface="Source Code Pro"/>
              </a:rPr>
              <a:t> max(numbers)</a:t>
            </a:r>
            <a:endParaRPr sz="1800">
              <a:solidFill>
                <a:schemeClr val="dk2"/>
              </a:solidFill>
              <a:latin typeface="Source Code Pro"/>
              <a:ea typeface="Source Code Pro"/>
              <a:cs typeface="Source Code Pro"/>
              <a:sym typeface="Source Code Pro"/>
            </a:endParaRPr>
          </a:p>
          <a:p>
            <a:pPr marL="0" indent="0">
              <a:spcBef>
                <a:spcPts val="1751"/>
              </a:spcBef>
              <a:buNone/>
            </a:pPr>
            <a:r>
              <a:rPr lang="en" sz="1800" dirty="0">
                <a:solidFill>
                  <a:schemeClr val="dk2"/>
                </a:solidFill>
                <a:latin typeface="Source Code Pro"/>
                <a:ea typeface="Source Code Pro"/>
                <a:cs typeface="Source Code Pro"/>
                <a:sym typeface="Source Code Pro"/>
              </a:rPr>
              <a:t>print(max_number)</a:t>
            </a:r>
            <a:endParaRPr sz="1800">
              <a:latin typeface="Source Code Pro"/>
              <a:ea typeface="Source Code Pro"/>
              <a:cs typeface="Source Code Pro"/>
              <a:sym typeface="Source Code Pro"/>
            </a:endParaRPr>
          </a:p>
        </p:txBody>
      </p:sp>
      <p:sp>
        <p:nvSpPr>
          <p:cNvPr id="263" name="Google Shape;263;p44"/>
          <p:cNvSpPr txBox="1">
            <a:spLocks noGrp="1"/>
          </p:cNvSpPr>
          <p:nvPr>
            <p:ph type="body" idx="1"/>
          </p:nvPr>
        </p:nvSpPr>
        <p:spPr>
          <a:xfrm>
            <a:off x="5304509" y="1843960"/>
            <a:ext cx="6776109" cy="5994720"/>
          </a:xfrm>
          <a:prstGeom prst="rect">
            <a:avLst/>
          </a:prstGeom>
        </p:spPr>
        <p:txBody>
          <a:bodyPr spcFirstLastPara="1" wrap="square" lIns="133407" tIns="133407" rIns="133407" bIns="133407" anchor="t" anchorCtr="0">
            <a:noAutofit/>
          </a:bodyPr>
          <a:lstStyle/>
          <a:p>
            <a:pPr marL="0" indent="0">
              <a:buNone/>
            </a:pPr>
            <a:r>
              <a:rPr lang="en" sz="1800" dirty="0">
                <a:solidFill>
                  <a:srgbClr val="008800"/>
                </a:solidFill>
                <a:latin typeface="Source Code Pro"/>
                <a:ea typeface="Source Code Pro"/>
                <a:cs typeface="Source Code Pro"/>
                <a:sym typeface="Source Code Pro"/>
              </a:rPr>
              <a:t>2. </a:t>
            </a:r>
            <a:endParaRPr sz="1800">
              <a:solidFill>
                <a:srgbClr val="008800"/>
              </a:solidFill>
              <a:latin typeface="Source Code Pro"/>
              <a:ea typeface="Source Code Pro"/>
              <a:cs typeface="Source Code Pro"/>
              <a:sym typeface="Source Code Pro"/>
            </a:endParaRPr>
          </a:p>
          <a:p>
            <a:pPr marL="0" indent="0">
              <a:buNone/>
            </a:pPr>
            <a:r>
              <a:rPr lang="en" sz="1800" dirty="0">
                <a:solidFill>
                  <a:srgbClr val="008800"/>
                </a:solidFill>
                <a:latin typeface="Source Code Pro"/>
                <a:ea typeface="Source Code Pro"/>
                <a:cs typeface="Source Code Pro"/>
                <a:sym typeface="Source Code Pro"/>
              </a:rPr>
              <a:t># Python code to get the maximum element from a set</a:t>
            </a:r>
            <a:endParaRPr sz="1800">
              <a:solidFill>
                <a:srgbClr val="008800"/>
              </a:solidFill>
              <a:latin typeface="Source Code Pro"/>
              <a:ea typeface="Source Code Pro"/>
              <a:cs typeface="Source Code Pro"/>
              <a:sym typeface="Source Code Pro"/>
            </a:endParaRPr>
          </a:p>
          <a:p>
            <a:pPr marL="0" indent="0">
              <a:buNone/>
            </a:pPr>
            <a:r>
              <a:rPr lang="en" sz="1800" b="1" dirty="0">
                <a:solidFill>
                  <a:schemeClr val="dk2"/>
                </a:solidFill>
                <a:latin typeface="Source Code Pro"/>
                <a:ea typeface="Source Code Pro"/>
                <a:cs typeface="Source Code Pro"/>
                <a:sym typeface="Source Code Pro"/>
              </a:rPr>
              <a:t>def</a:t>
            </a:r>
            <a:r>
              <a:rPr lang="en" sz="1800" dirty="0">
                <a:solidFill>
                  <a:schemeClr val="dk2"/>
                </a:solidFill>
                <a:latin typeface="Source Code Pro"/>
                <a:ea typeface="Source Code Pro"/>
                <a:cs typeface="Source Code Pro"/>
                <a:sym typeface="Source Code Pro"/>
              </a:rPr>
              <a:t> MAX(sets):</a:t>
            </a:r>
            <a:endParaRPr sz="1800">
              <a:solidFill>
                <a:schemeClr val="dk2"/>
              </a:solidFill>
              <a:latin typeface="Source Code Pro"/>
              <a:ea typeface="Source Code Pro"/>
              <a:cs typeface="Source Code Pro"/>
              <a:sym typeface="Source Code Pro"/>
            </a:endParaRPr>
          </a:p>
          <a:p>
            <a:pPr marL="0" indent="0">
              <a:buNone/>
            </a:pPr>
            <a:r>
              <a:rPr lang="en" sz="1800" dirty="0">
                <a:solidFill>
                  <a:schemeClr val="dk2"/>
                </a:solidFill>
                <a:latin typeface="Source Code Pro"/>
                <a:ea typeface="Source Code Pro"/>
                <a:cs typeface="Source Code Pro"/>
                <a:sym typeface="Source Code Pro"/>
              </a:rPr>
              <a:t>    </a:t>
            </a:r>
            <a:r>
              <a:rPr lang="en" sz="1800" b="1" dirty="0">
                <a:solidFill>
                  <a:schemeClr val="dk2"/>
                </a:solidFill>
                <a:latin typeface="Source Code Pro"/>
                <a:ea typeface="Source Code Pro"/>
                <a:cs typeface="Source Code Pro"/>
                <a:sym typeface="Source Code Pro"/>
              </a:rPr>
              <a:t>return</a:t>
            </a:r>
            <a:r>
              <a:rPr lang="en" sz="1800" dirty="0">
                <a:solidFill>
                  <a:schemeClr val="dk2"/>
                </a:solidFill>
                <a:latin typeface="Source Code Pro"/>
                <a:ea typeface="Source Code Pro"/>
                <a:cs typeface="Source Code Pro"/>
                <a:sym typeface="Source Code Pro"/>
              </a:rPr>
              <a:t> (max(sets))</a:t>
            </a:r>
            <a:endParaRPr sz="1800">
              <a:solidFill>
                <a:schemeClr val="dk2"/>
              </a:solidFill>
              <a:latin typeface="Source Code Pro"/>
              <a:ea typeface="Source Code Pro"/>
              <a:cs typeface="Source Code Pro"/>
              <a:sym typeface="Source Code Pro"/>
            </a:endParaRPr>
          </a:p>
          <a:p>
            <a:pPr marL="0" indent="0">
              <a:buNone/>
            </a:pPr>
            <a:r>
              <a:rPr lang="en" sz="1800" dirty="0">
                <a:solidFill>
                  <a:schemeClr val="dk2"/>
                </a:solidFill>
                <a:latin typeface="Source Code Pro"/>
                <a:ea typeface="Source Code Pro"/>
                <a:cs typeface="Source Code Pro"/>
                <a:sym typeface="Source Code Pro"/>
              </a:rPr>
              <a:t>      </a:t>
            </a:r>
            <a:endParaRPr sz="1800">
              <a:solidFill>
                <a:schemeClr val="dk2"/>
              </a:solidFill>
              <a:latin typeface="Source Code Pro"/>
              <a:ea typeface="Source Code Pro"/>
              <a:cs typeface="Source Code Pro"/>
              <a:sym typeface="Source Code Pro"/>
            </a:endParaRPr>
          </a:p>
          <a:p>
            <a:pPr marL="0" indent="0">
              <a:buNone/>
            </a:pPr>
            <a:r>
              <a:rPr lang="en" sz="1800" dirty="0">
                <a:solidFill>
                  <a:schemeClr val="dk2"/>
                </a:solidFill>
                <a:latin typeface="Source Code Pro"/>
                <a:ea typeface="Source Code Pro"/>
                <a:cs typeface="Source Code Pro"/>
                <a:sym typeface="Source Code Pro"/>
              </a:rPr>
              <a:t>sets </a:t>
            </a:r>
            <a:r>
              <a:rPr lang="en" sz="1800" b="1" dirty="0">
                <a:solidFill>
                  <a:schemeClr val="dk2"/>
                </a:solidFill>
                <a:latin typeface="Source Code Pro"/>
                <a:ea typeface="Source Code Pro"/>
                <a:cs typeface="Source Code Pro"/>
                <a:sym typeface="Source Code Pro"/>
              </a:rPr>
              <a:t>=</a:t>
            </a:r>
            <a:r>
              <a:rPr lang="en" sz="1800" dirty="0">
                <a:solidFill>
                  <a:schemeClr val="dk2"/>
                </a:solidFill>
                <a:latin typeface="Source Code Pro"/>
                <a:ea typeface="Source Code Pro"/>
                <a:cs typeface="Source Code Pro"/>
                <a:sym typeface="Source Code Pro"/>
              </a:rPr>
              <a:t> set([8, 16, 24, 1, 25, 3, 10, 65, 55])</a:t>
            </a:r>
            <a:endParaRPr sz="1800">
              <a:solidFill>
                <a:schemeClr val="dk2"/>
              </a:solidFill>
              <a:latin typeface="Source Code Pro"/>
              <a:ea typeface="Source Code Pro"/>
              <a:cs typeface="Source Code Pro"/>
              <a:sym typeface="Source Code Pro"/>
            </a:endParaRPr>
          </a:p>
          <a:p>
            <a:pPr marL="0" indent="0">
              <a:lnSpc>
                <a:spcPct val="110795"/>
              </a:lnSpc>
              <a:buNone/>
            </a:pPr>
            <a:r>
              <a:rPr lang="en" sz="1800" dirty="0">
                <a:solidFill>
                  <a:schemeClr val="dk2"/>
                </a:solidFill>
                <a:latin typeface="Source Code Pro"/>
                <a:ea typeface="Source Code Pro"/>
                <a:cs typeface="Source Code Pro"/>
                <a:sym typeface="Source Code Pro"/>
              </a:rPr>
              <a:t>print(MAX(sets))</a:t>
            </a:r>
            <a:endParaRPr sz="1800">
              <a:solidFill>
                <a:schemeClr val="dk2"/>
              </a:solidFill>
              <a:latin typeface="Source Code Pro"/>
              <a:ea typeface="Source Code Pro"/>
              <a:cs typeface="Source Code Pro"/>
              <a:sym typeface="Source Code Pro"/>
            </a:endParaRPr>
          </a:p>
          <a:p>
            <a:pPr marL="0" indent="0">
              <a:buNone/>
            </a:pPr>
            <a:endParaRPr sz="1900">
              <a:solidFill>
                <a:schemeClr val="dk2"/>
              </a:solidFill>
              <a:latin typeface="Source Code Pro"/>
              <a:ea typeface="Source Code Pro"/>
              <a:cs typeface="Source Code Pro"/>
              <a:sym typeface="Source Code Pro"/>
            </a:endParaRPr>
          </a:p>
          <a:p>
            <a:pPr marL="0" indent="0">
              <a:buNone/>
            </a:pPr>
            <a:endParaRPr sz="1900">
              <a:solidFill>
                <a:schemeClr val="dk2"/>
              </a:solidFill>
              <a:latin typeface="Source Code Pro"/>
              <a:ea typeface="Source Code Pro"/>
              <a:cs typeface="Source Code Pro"/>
              <a:sym typeface="Source Code Pro"/>
            </a:endParaRPr>
          </a:p>
          <a:p>
            <a:pPr marL="0" indent="0">
              <a:buNone/>
            </a:pPr>
            <a:r>
              <a:rPr lang="en" sz="1900" dirty="0">
                <a:solidFill>
                  <a:schemeClr val="dk2"/>
                </a:solidFill>
                <a:latin typeface="Source Code Pro"/>
                <a:ea typeface="Source Code Pro"/>
                <a:cs typeface="Source Code Pro"/>
                <a:sym typeface="Source Code Pro"/>
              </a:rPr>
              <a:t>3. </a:t>
            </a:r>
            <a:endParaRPr sz="1900">
              <a:solidFill>
                <a:schemeClr val="dk2"/>
              </a:solidFill>
              <a:latin typeface="Source Code Pro"/>
              <a:ea typeface="Source Code Pro"/>
              <a:cs typeface="Source Code Pro"/>
              <a:sym typeface="Source Code Pro"/>
            </a:endParaRPr>
          </a:p>
          <a:p>
            <a:pPr marL="0" indent="0">
              <a:buNone/>
            </a:pPr>
            <a:r>
              <a:rPr lang="en" sz="1800" dirty="0">
                <a:solidFill>
                  <a:srgbClr val="008800"/>
                </a:solidFill>
                <a:latin typeface="Source Code Pro"/>
                <a:ea typeface="Source Code Pro"/>
                <a:cs typeface="Source Code Pro"/>
                <a:sym typeface="Source Code Pro"/>
              </a:rPr>
              <a:t># Python code to get the minimum element from a set</a:t>
            </a:r>
            <a:endParaRPr sz="1800">
              <a:solidFill>
                <a:srgbClr val="008800"/>
              </a:solidFill>
              <a:latin typeface="Source Code Pro"/>
              <a:ea typeface="Source Code Pro"/>
              <a:cs typeface="Source Code Pro"/>
              <a:sym typeface="Source Code Pro"/>
            </a:endParaRPr>
          </a:p>
          <a:p>
            <a:pPr marL="0" indent="0">
              <a:buNone/>
            </a:pPr>
            <a:r>
              <a:rPr lang="en" sz="1800" b="1" dirty="0">
                <a:solidFill>
                  <a:schemeClr val="dk2"/>
                </a:solidFill>
                <a:latin typeface="Source Code Pro"/>
                <a:ea typeface="Source Code Pro"/>
                <a:cs typeface="Source Code Pro"/>
                <a:sym typeface="Source Code Pro"/>
              </a:rPr>
              <a:t>def</a:t>
            </a:r>
            <a:r>
              <a:rPr lang="en" sz="1800" dirty="0">
                <a:solidFill>
                  <a:schemeClr val="dk2"/>
                </a:solidFill>
                <a:latin typeface="Source Code Pro"/>
                <a:ea typeface="Source Code Pro"/>
                <a:cs typeface="Source Code Pro"/>
                <a:sym typeface="Source Code Pro"/>
              </a:rPr>
              <a:t> MIN(sets):</a:t>
            </a:r>
            <a:endParaRPr sz="1800">
              <a:solidFill>
                <a:schemeClr val="dk2"/>
              </a:solidFill>
              <a:latin typeface="Source Code Pro"/>
              <a:ea typeface="Source Code Pro"/>
              <a:cs typeface="Source Code Pro"/>
              <a:sym typeface="Source Code Pro"/>
            </a:endParaRPr>
          </a:p>
          <a:p>
            <a:pPr marL="0" indent="0">
              <a:buNone/>
            </a:pPr>
            <a:r>
              <a:rPr lang="en" sz="1800" dirty="0">
                <a:solidFill>
                  <a:schemeClr val="dk2"/>
                </a:solidFill>
                <a:latin typeface="Source Code Pro"/>
                <a:ea typeface="Source Code Pro"/>
                <a:cs typeface="Source Code Pro"/>
                <a:sym typeface="Source Code Pro"/>
              </a:rPr>
              <a:t>    </a:t>
            </a:r>
            <a:r>
              <a:rPr lang="en" sz="1800" b="1" dirty="0">
                <a:solidFill>
                  <a:schemeClr val="dk2"/>
                </a:solidFill>
                <a:latin typeface="Source Code Pro"/>
                <a:ea typeface="Source Code Pro"/>
                <a:cs typeface="Source Code Pro"/>
                <a:sym typeface="Source Code Pro"/>
              </a:rPr>
              <a:t>return</a:t>
            </a:r>
            <a:r>
              <a:rPr lang="en" sz="1800" dirty="0">
                <a:solidFill>
                  <a:schemeClr val="dk2"/>
                </a:solidFill>
                <a:latin typeface="Source Code Pro"/>
                <a:ea typeface="Source Code Pro"/>
                <a:cs typeface="Source Code Pro"/>
                <a:sym typeface="Source Code Pro"/>
              </a:rPr>
              <a:t> (min(sets))</a:t>
            </a:r>
            <a:endParaRPr sz="1800">
              <a:solidFill>
                <a:schemeClr val="dk2"/>
              </a:solidFill>
              <a:latin typeface="Source Code Pro"/>
              <a:ea typeface="Source Code Pro"/>
              <a:cs typeface="Source Code Pro"/>
              <a:sym typeface="Source Code Pro"/>
            </a:endParaRPr>
          </a:p>
          <a:p>
            <a:pPr marL="0" indent="0">
              <a:buNone/>
            </a:pPr>
            <a:r>
              <a:rPr lang="en" sz="1800" dirty="0">
                <a:solidFill>
                  <a:schemeClr val="dk2"/>
                </a:solidFill>
                <a:latin typeface="Source Code Pro"/>
                <a:ea typeface="Source Code Pro"/>
                <a:cs typeface="Source Code Pro"/>
                <a:sym typeface="Source Code Pro"/>
              </a:rPr>
              <a:t>      </a:t>
            </a:r>
            <a:endParaRPr sz="1800">
              <a:solidFill>
                <a:schemeClr val="dk2"/>
              </a:solidFill>
              <a:latin typeface="Source Code Pro"/>
              <a:ea typeface="Source Code Pro"/>
              <a:cs typeface="Source Code Pro"/>
              <a:sym typeface="Source Code Pro"/>
            </a:endParaRPr>
          </a:p>
          <a:p>
            <a:pPr marL="0" indent="0">
              <a:buNone/>
            </a:pPr>
            <a:r>
              <a:rPr lang="en" sz="1800" dirty="0">
                <a:solidFill>
                  <a:schemeClr val="dk2"/>
                </a:solidFill>
                <a:latin typeface="Source Code Pro"/>
                <a:ea typeface="Source Code Pro"/>
                <a:cs typeface="Source Code Pro"/>
                <a:sym typeface="Source Code Pro"/>
              </a:rPr>
              <a:t>sets </a:t>
            </a:r>
            <a:r>
              <a:rPr lang="en" sz="1800" b="1" dirty="0">
                <a:solidFill>
                  <a:schemeClr val="dk2"/>
                </a:solidFill>
                <a:latin typeface="Source Code Pro"/>
                <a:ea typeface="Source Code Pro"/>
                <a:cs typeface="Source Code Pro"/>
                <a:sym typeface="Source Code Pro"/>
              </a:rPr>
              <a:t>=</a:t>
            </a:r>
            <a:r>
              <a:rPr lang="en" sz="1800" dirty="0">
                <a:solidFill>
                  <a:schemeClr val="dk2"/>
                </a:solidFill>
                <a:latin typeface="Source Code Pro"/>
                <a:ea typeface="Source Code Pro"/>
                <a:cs typeface="Source Code Pro"/>
                <a:sym typeface="Source Code Pro"/>
              </a:rPr>
              <a:t> set([4, 12, 10, 9, 4, 13])</a:t>
            </a:r>
            <a:endParaRPr sz="1800">
              <a:solidFill>
                <a:schemeClr val="dk2"/>
              </a:solidFill>
              <a:latin typeface="Source Code Pro"/>
              <a:ea typeface="Source Code Pro"/>
              <a:cs typeface="Source Code Pro"/>
              <a:sym typeface="Source Code Pro"/>
            </a:endParaRPr>
          </a:p>
          <a:p>
            <a:pPr marL="0" indent="0">
              <a:lnSpc>
                <a:spcPct val="110795"/>
              </a:lnSpc>
              <a:buNone/>
            </a:pPr>
            <a:r>
              <a:rPr lang="en" sz="1800" dirty="0">
                <a:solidFill>
                  <a:schemeClr val="dk2"/>
                </a:solidFill>
                <a:latin typeface="Source Code Pro"/>
                <a:ea typeface="Source Code Pro"/>
                <a:cs typeface="Source Code Pro"/>
                <a:sym typeface="Source Code Pro"/>
              </a:rPr>
              <a:t>print(MIN(sets))</a:t>
            </a:r>
            <a:endParaRPr sz="1900">
              <a:solidFill>
                <a:schemeClr val="dk2"/>
              </a:solidFill>
              <a:latin typeface="Source Code Pro"/>
              <a:ea typeface="Source Code Pro"/>
              <a:cs typeface="Source Code Pro"/>
              <a:sym typeface="Source Code Pr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8"/>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r>
              <a:rPr lang="en" dirty="0"/>
              <a:t>Array Splitting</a:t>
            </a:r>
            <a:endParaRPr/>
          </a:p>
        </p:txBody>
      </p:sp>
      <p:sp>
        <p:nvSpPr>
          <p:cNvPr id="289" name="Google Shape;289;p48"/>
          <p:cNvSpPr txBox="1">
            <a:spLocks noGrp="1"/>
          </p:cNvSpPr>
          <p:nvPr>
            <p:ph type="body" idx="1"/>
          </p:nvPr>
        </p:nvSpPr>
        <p:spPr>
          <a:xfrm>
            <a:off x="430157" y="1843960"/>
            <a:ext cx="11758724" cy="5466240"/>
          </a:xfrm>
          <a:prstGeom prst="rect">
            <a:avLst/>
          </a:prstGeom>
        </p:spPr>
        <p:txBody>
          <a:bodyPr spcFirstLastPara="1" wrap="square" lIns="133407" tIns="133407" rIns="133407" bIns="133407" anchor="t" anchorCtr="0">
            <a:normAutofit/>
          </a:bodyPr>
          <a:lstStyle/>
          <a:p>
            <a:pPr marL="0" indent="0">
              <a:buNone/>
            </a:pPr>
            <a:r>
              <a:rPr lang="en" sz="1900" dirty="0">
                <a:solidFill>
                  <a:srgbClr val="008800"/>
                </a:solidFill>
                <a:latin typeface="Source Code Pro"/>
                <a:ea typeface="Source Code Pro"/>
                <a:cs typeface="Source Code Pro"/>
                <a:sym typeface="Source Code Pro"/>
              </a:rPr>
              <a:t>#splitting in 3 parts</a:t>
            </a:r>
            <a:endParaRPr sz="1900">
              <a:solidFill>
                <a:srgbClr val="008800"/>
              </a:solidFill>
              <a:latin typeface="Source Code Pro"/>
              <a:ea typeface="Source Code Pro"/>
              <a:cs typeface="Source Code Pro"/>
              <a:sym typeface="Source Code Pro"/>
            </a:endParaRPr>
          </a:p>
          <a:p>
            <a:pPr marL="0" indent="0">
              <a:buNone/>
            </a:pPr>
            <a:r>
              <a:rPr lang="en" sz="1900" dirty="0">
                <a:solidFill>
                  <a:schemeClr val="dk2"/>
                </a:solidFill>
                <a:latin typeface="Source Code Pro"/>
                <a:ea typeface="Source Code Pro"/>
                <a:cs typeface="Source Code Pro"/>
                <a:sym typeface="Source Code Pro"/>
              </a:rPr>
              <a:t>import numpy as np</a:t>
            </a:r>
            <a:endParaRPr sz="1900">
              <a:solidFill>
                <a:schemeClr val="dk2"/>
              </a:solidFill>
              <a:latin typeface="Source Code Pro"/>
              <a:ea typeface="Source Code Pro"/>
              <a:cs typeface="Source Code Pro"/>
              <a:sym typeface="Source Code Pro"/>
            </a:endParaRPr>
          </a:p>
          <a:p>
            <a:pPr marL="0" indent="0">
              <a:buNone/>
            </a:pPr>
            <a:endParaRPr sz="1900">
              <a:solidFill>
                <a:schemeClr val="dk2"/>
              </a:solidFill>
              <a:latin typeface="Source Code Pro"/>
              <a:ea typeface="Source Code Pro"/>
              <a:cs typeface="Source Code Pro"/>
              <a:sym typeface="Source Code Pro"/>
            </a:endParaRPr>
          </a:p>
          <a:p>
            <a:pPr marL="0" indent="0">
              <a:buNone/>
            </a:pPr>
            <a:r>
              <a:rPr lang="en" sz="1900" dirty="0">
                <a:solidFill>
                  <a:schemeClr val="dk2"/>
                </a:solidFill>
                <a:latin typeface="Source Code Pro"/>
                <a:ea typeface="Source Code Pro"/>
                <a:cs typeface="Source Code Pro"/>
                <a:sym typeface="Source Code Pro"/>
              </a:rPr>
              <a:t>arr </a:t>
            </a:r>
            <a:r>
              <a:rPr lang="en" sz="1900" b="1" dirty="0">
                <a:solidFill>
                  <a:schemeClr val="dk2"/>
                </a:solidFill>
                <a:latin typeface="Source Code Pro"/>
                <a:ea typeface="Source Code Pro"/>
                <a:cs typeface="Source Code Pro"/>
                <a:sym typeface="Source Code Pro"/>
              </a:rPr>
              <a:t>=</a:t>
            </a:r>
            <a:r>
              <a:rPr lang="en" sz="1900" dirty="0">
                <a:solidFill>
                  <a:schemeClr val="dk2"/>
                </a:solidFill>
                <a:latin typeface="Source Code Pro"/>
                <a:ea typeface="Source Code Pro"/>
                <a:cs typeface="Source Code Pro"/>
                <a:sym typeface="Source Code Pro"/>
              </a:rPr>
              <a:t> np</a:t>
            </a:r>
            <a:r>
              <a:rPr lang="en" sz="1900" b="1" dirty="0">
                <a:solidFill>
                  <a:schemeClr val="dk2"/>
                </a:solidFill>
                <a:latin typeface="Source Code Pro"/>
                <a:ea typeface="Source Code Pro"/>
                <a:cs typeface="Source Code Pro"/>
                <a:sym typeface="Source Code Pro"/>
              </a:rPr>
              <a:t>.</a:t>
            </a:r>
            <a:r>
              <a:rPr lang="en" sz="1900" dirty="0">
                <a:solidFill>
                  <a:schemeClr val="dk2"/>
                </a:solidFill>
                <a:latin typeface="Source Code Pro"/>
                <a:ea typeface="Source Code Pro"/>
                <a:cs typeface="Source Code Pro"/>
                <a:sym typeface="Source Code Pro"/>
              </a:rPr>
              <a:t>array([1, 2, 3, 4, 5, 6])</a:t>
            </a:r>
            <a:endParaRPr sz="1900">
              <a:solidFill>
                <a:schemeClr val="dk2"/>
              </a:solidFill>
              <a:latin typeface="Source Code Pro"/>
              <a:ea typeface="Source Code Pro"/>
              <a:cs typeface="Source Code Pro"/>
              <a:sym typeface="Source Code Pro"/>
            </a:endParaRPr>
          </a:p>
          <a:p>
            <a:pPr marL="0" indent="0">
              <a:buNone/>
            </a:pPr>
            <a:endParaRPr sz="1900">
              <a:solidFill>
                <a:schemeClr val="dk2"/>
              </a:solidFill>
              <a:latin typeface="Source Code Pro"/>
              <a:ea typeface="Source Code Pro"/>
              <a:cs typeface="Source Code Pro"/>
              <a:sym typeface="Source Code Pro"/>
            </a:endParaRPr>
          </a:p>
          <a:p>
            <a:pPr marL="0" indent="0">
              <a:buNone/>
            </a:pPr>
            <a:r>
              <a:rPr lang="en" sz="1900" dirty="0">
                <a:solidFill>
                  <a:schemeClr val="dk2"/>
                </a:solidFill>
                <a:latin typeface="Source Code Pro"/>
                <a:ea typeface="Source Code Pro"/>
                <a:cs typeface="Source Code Pro"/>
                <a:sym typeface="Source Code Pro"/>
              </a:rPr>
              <a:t>newarr </a:t>
            </a:r>
            <a:r>
              <a:rPr lang="en" sz="1900" b="1" dirty="0">
                <a:solidFill>
                  <a:schemeClr val="dk2"/>
                </a:solidFill>
                <a:latin typeface="Source Code Pro"/>
                <a:ea typeface="Source Code Pro"/>
                <a:cs typeface="Source Code Pro"/>
                <a:sym typeface="Source Code Pro"/>
              </a:rPr>
              <a:t>=</a:t>
            </a:r>
            <a:r>
              <a:rPr lang="en" sz="1900" dirty="0">
                <a:solidFill>
                  <a:schemeClr val="dk2"/>
                </a:solidFill>
                <a:latin typeface="Source Code Pro"/>
                <a:ea typeface="Source Code Pro"/>
                <a:cs typeface="Source Code Pro"/>
                <a:sym typeface="Source Code Pro"/>
              </a:rPr>
              <a:t> np</a:t>
            </a:r>
            <a:r>
              <a:rPr lang="en" sz="1900" b="1" dirty="0">
                <a:solidFill>
                  <a:schemeClr val="dk2"/>
                </a:solidFill>
                <a:latin typeface="Source Code Pro"/>
                <a:ea typeface="Source Code Pro"/>
                <a:cs typeface="Source Code Pro"/>
                <a:sym typeface="Source Code Pro"/>
              </a:rPr>
              <a:t>.</a:t>
            </a:r>
            <a:r>
              <a:rPr lang="en" sz="1900" dirty="0">
                <a:solidFill>
                  <a:schemeClr val="dk2"/>
                </a:solidFill>
                <a:latin typeface="Source Code Pro"/>
                <a:ea typeface="Source Code Pro"/>
                <a:cs typeface="Source Code Pro"/>
                <a:sym typeface="Source Code Pro"/>
              </a:rPr>
              <a:t>array_split(arr, 3)</a:t>
            </a:r>
            <a:endParaRPr sz="1900">
              <a:solidFill>
                <a:schemeClr val="dk2"/>
              </a:solidFill>
              <a:latin typeface="Source Code Pro"/>
              <a:ea typeface="Source Code Pro"/>
              <a:cs typeface="Source Code Pro"/>
              <a:sym typeface="Source Code Pro"/>
            </a:endParaRPr>
          </a:p>
          <a:p>
            <a:pPr marL="0" indent="0">
              <a:buNone/>
            </a:pPr>
            <a:endParaRPr sz="1900">
              <a:solidFill>
                <a:schemeClr val="dk2"/>
              </a:solidFill>
              <a:latin typeface="Source Code Pro"/>
              <a:ea typeface="Source Code Pro"/>
              <a:cs typeface="Source Code Pro"/>
              <a:sym typeface="Source Code Pro"/>
            </a:endParaRPr>
          </a:p>
          <a:p>
            <a:pPr marL="0" indent="0">
              <a:buNone/>
            </a:pPr>
            <a:r>
              <a:rPr lang="en" sz="1900" dirty="0">
                <a:solidFill>
                  <a:schemeClr val="dk2"/>
                </a:solidFill>
                <a:latin typeface="Source Code Pro"/>
                <a:ea typeface="Source Code Pro"/>
                <a:cs typeface="Source Code Pro"/>
                <a:sym typeface="Source Code Pro"/>
              </a:rPr>
              <a:t>print(newarr)</a:t>
            </a:r>
            <a:endParaRPr sz="1900">
              <a:solidFill>
                <a:schemeClr val="dk2"/>
              </a:solidFill>
              <a:latin typeface="Source Code Pro"/>
              <a:ea typeface="Source Code Pro"/>
              <a:cs typeface="Source Code Pro"/>
              <a:sym typeface="Source Code Pro"/>
            </a:endParaRPr>
          </a:p>
          <a:p>
            <a:pPr marL="0" indent="0">
              <a:buNone/>
            </a:pPr>
            <a:r>
              <a:rPr lang="en" sz="1900" dirty="0">
                <a:solidFill>
                  <a:schemeClr val="dk2"/>
                </a:solidFill>
                <a:latin typeface="Source Code Pro"/>
                <a:ea typeface="Source Code Pro"/>
                <a:cs typeface="Source Code Pro"/>
                <a:sym typeface="Source Code Pro"/>
              </a:rPr>
              <a:t>print(newarr[0])</a:t>
            </a:r>
            <a:endParaRPr sz="1900">
              <a:solidFill>
                <a:schemeClr val="dk2"/>
              </a:solidFill>
              <a:latin typeface="Source Code Pro"/>
              <a:ea typeface="Source Code Pro"/>
              <a:cs typeface="Source Code Pro"/>
              <a:sym typeface="Source Code Pro"/>
            </a:endParaRPr>
          </a:p>
          <a:p>
            <a:pPr marL="0" indent="0">
              <a:buNone/>
            </a:pPr>
            <a:r>
              <a:rPr lang="en" sz="1900" dirty="0">
                <a:solidFill>
                  <a:schemeClr val="dk2"/>
                </a:solidFill>
                <a:latin typeface="Source Code Pro"/>
                <a:ea typeface="Source Code Pro"/>
                <a:cs typeface="Source Code Pro"/>
                <a:sym typeface="Source Code Pro"/>
              </a:rPr>
              <a:t>print(newarr[1])</a:t>
            </a:r>
            <a:endParaRPr sz="1900">
              <a:solidFill>
                <a:schemeClr val="dk2"/>
              </a:solidFill>
              <a:latin typeface="Source Code Pro"/>
              <a:ea typeface="Source Code Pro"/>
              <a:cs typeface="Source Code Pro"/>
              <a:sym typeface="Source Code Pro"/>
            </a:endParaRPr>
          </a:p>
          <a:p>
            <a:pPr marL="0" indent="0">
              <a:buClr>
                <a:schemeClr val="dk2"/>
              </a:buClr>
              <a:buSzPts val="1100"/>
              <a:buNone/>
            </a:pPr>
            <a:r>
              <a:rPr lang="en" sz="1900" dirty="0">
                <a:solidFill>
                  <a:schemeClr val="dk2"/>
                </a:solidFill>
                <a:latin typeface="Source Code Pro"/>
                <a:ea typeface="Source Code Pro"/>
                <a:cs typeface="Source Code Pro"/>
                <a:sym typeface="Source Code Pro"/>
              </a:rPr>
              <a:t>print(newarr[2])</a:t>
            </a:r>
            <a:endParaRPr sz="1900">
              <a:solidFill>
                <a:schemeClr val="dk2"/>
              </a:solidFill>
              <a:latin typeface="Source Code Pro"/>
              <a:ea typeface="Source Code Pro"/>
              <a:cs typeface="Source Code Pro"/>
              <a:sym typeface="Source Code Pro"/>
            </a:endParaRPr>
          </a:p>
          <a:p>
            <a:pPr marL="0" indent="0">
              <a:lnSpc>
                <a:spcPct val="110795"/>
              </a:lnSpc>
              <a:buNone/>
            </a:pPr>
            <a:endParaRPr sz="2900">
              <a:latin typeface="Source Code Pro"/>
              <a:ea typeface="Source Code Pro"/>
              <a:cs typeface="Source Code Pro"/>
              <a:sym typeface="Source Code Pro"/>
            </a:endParaRPr>
          </a:p>
        </p:txBody>
      </p:sp>
      <p:sp>
        <p:nvSpPr>
          <p:cNvPr id="290" name="Google Shape;290;p48"/>
          <p:cNvSpPr txBox="1"/>
          <p:nvPr/>
        </p:nvSpPr>
        <p:spPr>
          <a:xfrm>
            <a:off x="5304509" y="4639160"/>
            <a:ext cx="6884165" cy="1892300"/>
          </a:xfrm>
          <a:prstGeom prst="rect">
            <a:avLst/>
          </a:prstGeom>
          <a:noFill/>
          <a:ln>
            <a:noFill/>
          </a:ln>
        </p:spPr>
        <p:txBody>
          <a:bodyPr spcFirstLastPara="1" wrap="square" lIns="133407" tIns="133407" rIns="133407" bIns="133407" anchor="t" anchorCtr="0">
            <a:spAutoFit/>
          </a:bodyPr>
          <a:lstStyle/>
          <a:p>
            <a:pPr>
              <a:lnSpc>
                <a:spcPct val="110795"/>
              </a:lnSpc>
              <a:buClr>
                <a:schemeClr val="dk2"/>
              </a:buClr>
              <a:buSzPts val="1100"/>
            </a:pPr>
            <a:r>
              <a:rPr lang="en" sz="1900" b="1" dirty="0">
                <a:solidFill>
                  <a:schemeClr val="dk2"/>
                </a:solidFill>
                <a:latin typeface="Source Code Pro"/>
                <a:ea typeface="Source Code Pro"/>
                <a:cs typeface="Source Code Pro"/>
                <a:sym typeface="Source Code Pro"/>
              </a:rPr>
              <a:t>Output:</a:t>
            </a:r>
            <a:endParaRPr sz="1900" b="1">
              <a:solidFill>
                <a:schemeClr val="dk2"/>
              </a:solidFill>
              <a:latin typeface="Source Code Pro"/>
              <a:ea typeface="Source Code Pro"/>
              <a:cs typeface="Source Code Pro"/>
              <a:sym typeface="Source Code Pro"/>
            </a:endParaRPr>
          </a:p>
          <a:p>
            <a:pPr>
              <a:lnSpc>
                <a:spcPct val="110795"/>
              </a:lnSpc>
              <a:buClr>
                <a:schemeClr val="dk2"/>
              </a:buClr>
              <a:buSzPts val="1100"/>
            </a:pPr>
            <a:r>
              <a:rPr lang="en" sz="1900" dirty="0">
                <a:solidFill>
                  <a:schemeClr val="dk2"/>
                </a:solidFill>
                <a:latin typeface="Source Code Pro"/>
                <a:ea typeface="Source Code Pro"/>
                <a:cs typeface="Source Code Pro"/>
                <a:sym typeface="Source Code Pro"/>
              </a:rPr>
              <a:t>[array([1, 2]), array([3, 4]), array([5, 6])]</a:t>
            </a:r>
            <a:endParaRPr sz="2900">
              <a:solidFill>
                <a:schemeClr val="lt2"/>
              </a:solidFill>
              <a:latin typeface="Source Code Pro"/>
              <a:ea typeface="Source Code Pro"/>
              <a:cs typeface="Source Code Pro"/>
              <a:sym typeface="Source Code Pro"/>
            </a:endParaRPr>
          </a:p>
          <a:p>
            <a:pPr>
              <a:lnSpc>
                <a:spcPct val="110795"/>
              </a:lnSpc>
            </a:pPr>
            <a:r>
              <a:rPr lang="en" sz="1900" dirty="0">
                <a:solidFill>
                  <a:schemeClr val="dk2"/>
                </a:solidFill>
                <a:latin typeface="Source Code Pro"/>
                <a:ea typeface="Source Code Pro"/>
                <a:cs typeface="Source Code Pro"/>
                <a:sym typeface="Source Code Pro"/>
              </a:rPr>
              <a:t>[1, 2]</a:t>
            </a:r>
            <a:endParaRPr sz="1900">
              <a:solidFill>
                <a:schemeClr val="dk2"/>
              </a:solidFill>
              <a:latin typeface="Source Code Pro"/>
              <a:ea typeface="Source Code Pro"/>
              <a:cs typeface="Source Code Pro"/>
              <a:sym typeface="Source Code Pro"/>
            </a:endParaRPr>
          </a:p>
          <a:p>
            <a:pPr>
              <a:lnSpc>
                <a:spcPct val="110795"/>
              </a:lnSpc>
            </a:pPr>
            <a:r>
              <a:rPr lang="en" sz="1900" dirty="0">
                <a:solidFill>
                  <a:schemeClr val="dk2"/>
                </a:solidFill>
                <a:latin typeface="Source Code Pro"/>
                <a:ea typeface="Source Code Pro"/>
                <a:cs typeface="Source Code Pro"/>
                <a:sym typeface="Source Code Pro"/>
              </a:rPr>
              <a:t>[3, 4]</a:t>
            </a:r>
            <a:endParaRPr sz="1900">
              <a:solidFill>
                <a:schemeClr val="dk2"/>
              </a:solidFill>
              <a:latin typeface="Source Code Pro"/>
              <a:ea typeface="Source Code Pro"/>
              <a:cs typeface="Source Code Pro"/>
              <a:sym typeface="Source Code Pro"/>
            </a:endParaRPr>
          </a:p>
          <a:p>
            <a:pPr>
              <a:lnSpc>
                <a:spcPct val="110795"/>
              </a:lnSpc>
              <a:buClr>
                <a:schemeClr val="dk2"/>
              </a:buClr>
              <a:buSzPts val="1100"/>
            </a:pPr>
            <a:r>
              <a:rPr lang="en" sz="1900" dirty="0">
                <a:solidFill>
                  <a:schemeClr val="dk2"/>
                </a:solidFill>
                <a:latin typeface="Source Code Pro"/>
                <a:ea typeface="Source Code Pro"/>
                <a:cs typeface="Source Code Pro"/>
                <a:sym typeface="Source Code Pro"/>
              </a:rPr>
              <a:t>[5, 6]</a:t>
            </a:r>
            <a:endParaRPr sz="1900">
              <a:solidFill>
                <a:schemeClr val="dk2"/>
              </a:solidFill>
              <a:latin typeface="Source Code Pro"/>
              <a:ea typeface="Source Code Pro"/>
              <a:cs typeface="Source Code Pro"/>
              <a:sym typeface="Source Code Pr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 splitting</a:t>
            </a:r>
            <a:endParaRPr lang="en-US" dirty="0"/>
          </a:p>
        </p:txBody>
      </p:sp>
      <p:sp>
        <p:nvSpPr>
          <p:cNvPr id="3" name="Content Placeholder 2"/>
          <p:cNvSpPr>
            <a:spLocks noGrp="1"/>
          </p:cNvSpPr>
          <p:nvPr>
            <p:ph idx="1"/>
          </p:nvPr>
        </p:nvSpPr>
        <p:spPr/>
        <p:txBody>
          <a:bodyPr>
            <a:normAutofit/>
          </a:bodyPr>
          <a:lstStyle/>
          <a:p>
            <a:pPr fontAlgn="base">
              <a:buNone/>
            </a:pPr>
            <a:r>
              <a:rPr lang="en-US" dirty="0" smtClean="0"/>
              <a:t>import </a:t>
            </a:r>
            <a:r>
              <a:rPr lang="en-US" dirty="0" err="1" smtClean="0"/>
              <a:t>numpy</a:t>
            </a:r>
            <a:r>
              <a:rPr lang="en-US" dirty="0" smtClean="0"/>
              <a:t> as </a:t>
            </a:r>
            <a:r>
              <a:rPr lang="en-US" dirty="0" err="1" smtClean="0"/>
              <a:t>np</a:t>
            </a:r>
            <a:endParaRPr lang="en-US" dirty="0" smtClean="0"/>
          </a:p>
          <a:p>
            <a:pPr fontAlgn="base">
              <a:buNone/>
            </a:pPr>
            <a:r>
              <a:rPr lang="en-US" dirty="0" smtClean="0"/>
              <a:t># input array</a:t>
            </a:r>
          </a:p>
          <a:p>
            <a:pPr fontAlgn="base">
              <a:buNone/>
            </a:pPr>
            <a:r>
              <a:rPr lang="en-US" dirty="0" err="1" smtClean="0"/>
              <a:t>in_arr</a:t>
            </a:r>
            <a:r>
              <a:rPr lang="en-US" dirty="0" smtClean="0"/>
              <a:t> = </a:t>
            </a:r>
            <a:r>
              <a:rPr lang="en-US" dirty="0" err="1" smtClean="0"/>
              <a:t>np.array</a:t>
            </a:r>
            <a:r>
              <a:rPr lang="en-US" dirty="0" smtClean="0"/>
              <a:t>([ 2, 0,  1, 5, 4, 9])</a:t>
            </a:r>
          </a:p>
          <a:p>
            <a:pPr fontAlgn="base">
              <a:buNone/>
            </a:pPr>
            <a:r>
              <a:rPr lang="en-US" dirty="0" smtClean="0"/>
              <a:t>print ("Input array : ", </a:t>
            </a:r>
            <a:r>
              <a:rPr lang="en-US" dirty="0" err="1" smtClean="0"/>
              <a:t>in_arr</a:t>
            </a:r>
            <a:r>
              <a:rPr lang="en-US" dirty="0" smtClean="0"/>
              <a:t>) </a:t>
            </a:r>
          </a:p>
          <a:p>
            <a:pPr fontAlgn="base">
              <a:buNone/>
            </a:pPr>
            <a:r>
              <a:rPr lang="en-US" dirty="0" err="1" smtClean="0"/>
              <a:t>out_arr</a:t>
            </a:r>
            <a:r>
              <a:rPr lang="en-US" dirty="0" smtClean="0"/>
              <a:t> = </a:t>
            </a:r>
            <a:r>
              <a:rPr lang="en-US" dirty="0" err="1" smtClean="0"/>
              <a:t>np.partition</a:t>
            </a:r>
            <a:r>
              <a:rPr lang="en-US" dirty="0" smtClean="0"/>
              <a:t>(</a:t>
            </a:r>
            <a:r>
              <a:rPr lang="en-US" dirty="0" err="1" smtClean="0"/>
              <a:t>in_arr</a:t>
            </a:r>
            <a:r>
              <a:rPr lang="en-US" dirty="0" smtClean="0"/>
              <a:t>, 3)</a:t>
            </a:r>
          </a:p>
          <a:p>
            <a:pPr fontAlgn="base">
              <a:buNone/>
            </a:pPr>
            <a:r>
              <a:rPr lang="en-US" dirty="0" smtClean="0"/>
              <a:t>print ("Output partitioned array : ", </a:t>
            </a:r>
            <a:r>
              <a:rPr lang="en-US" dirty="0" err="1" smtClean="0"/>
              <a:t>out_arr</a:t>
            </a:r>
            <a:r>
              <a:rPr lang="en-US" dirty="0" smtClean="0"/>
              <a:t>)</a:t>
            </a:r>
          </a:p>
          <a:p>
            <a:pPr>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6"/>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r>
              <a:rPr lang="en" dirty="0"/>
              <a:t>Removal of Duplicates from an Ordered Array</a:t>
            </a:r>
            <a:endParaRPr/>
          </a:p>
        </p:txBody>
      </p:sp>
      <p:sp>
        <p:nvSpPr>
          <p:cNvPr id="275" name="Google Shape;275;p46"/>
          <p:cNvSpPr txBox="1">
            <a:spLocks noGrp="1"/>
          </p:cNvSpPr>
          <p:nvPr>
            <p:ph type="body" idx="1"/>
          </p:nvPr>
        </p:nvSpPr>
        <p:spPr>
          <a:xfrm>
            <a:off x="430157" y="1843960"/>
            <a:ext cx="5702166" cy="5466240"/>
          </a:xfrm>
          <a:prstGeom prst="rect">
            <a:avLst/>
          </a:prstGeom>
        </p:spPr>
        <p:txBody>
          <a:bodyPr spcFirstLastPara="1" wrap="square" lIns="133407" tIns="133407" rIns="133407" bIns="133407" anchor="t" anchorCtr="0">
            <a:normAutofit/>
          </a:bodyPr>
          <a:lstStyle/>
          <a:p>
            <a:pPr marL="0" indent="0">
              <a:buNone/>
            </a:pPr>
            <a:r>
              <a:rPr lang="en" dirty="0">
                <a:solidFill>
                  <a:schemeClr val="dk2"/>
                </a:solidFill>
                <a:latin typeface="Old Standard TT"/>
                <a:ea typeface="Old Standard TT"/>
                <a:cs typeface="Old Standard TT"/>
                <a:sym typeface="Old Standard TT"/>
              </a:rPr>
              <a:t>1.</a:t>
            </a:r>
            <a:endParaRPr>
              <a:solidFill>
                <a:schemeClr val="dk2"/>
              </a:solidFill>
              <a:latin typeface="Old Standard TT"/>
              <a:ea typeface="Old Standard TT"/>
              <a:cs typeface="Old Standard TT"/>
              <a:sym typeface="Old Standard TT"/>
            </a:endParaRPr>
          </a:p>
          <a:p>
            <a:pPr marL="0" indent="0">
              <a:lnSpc>
                <a:spcPct val="90000"/>
              </a:lnSpc>
              <a:spcBef>
                <a:spcPts val="1751"/>
              </a:spcBef>
              <a:buNone/>
            </a:pPr>
            <a:r>
              <a:rPr lang="en" sz="1900" dirty="0">
                <a:solidFill>
                  <a:schemeClr val="dk2"/>
                </a:solidFill>
                <a:latin typeface="Source Code Pro"/>
                <a:ea typeface="Source Code Pro"/>
                <a:cs typeface="Source Code Pro"/>
                <a:sym typeface="Source Code Pro"/>
              </a:rPr>
              <a:t>a = [1,1,1,3,4,5,5,5,5,7,7,7,9,9]               	</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None/>
            </a:pPr>
            <a:r>
              <a:rPr lang="en" sz="1900" dirty="0">
                <a:solidFill>
                  <a:schemeClr val="dk2"/>
                </a:solidFill>
                <a:latin typeface="Source Code Pro"/>
                <a:ea typeface="Source Code Pro"/>
                <a:cs typeface="Source Code Pro"/>
                <a:sym typeface="Source Code Pro"/>
              </a:rPr>
              <a:t>for i in range(len(a)-1,0,-1):             	</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None/>
            </a:pPr>
            <a:r>
              <a:rPr lang="en" sz="1900" dirty="0">
                <a:solidFill>
                  <a:schemeClr val="dk2"/>
                </a:solidFill>
                <a:latin typeface="Source Code Pro"/>
                <a:ea typeface="Source Code Pro"/>
                <a:cs typeface="Source Code Pro"/>
                <a:sym typeface="Source Code Pro"/>
              </a:rPr>
              <a:t>    if a[i] == a[i-1]:</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None/>
            </a:pPr>
            <a:r>
              <a:rPr lang="en" sz="1900" dirty="0">
                <a:solidFill>
                  <a:schemeClr val="dk2"/>
                </a:solidFill>
                <a:latin typeface="Source Code Pro"/>
                <a:ea typeface="Source Code Pro"/>
                <a:cs typeface="Source Code Pro"/>
                <a:sym typeface="Source Code Pro"/>
              </a:rPr>
              <a:t>        del a[i]</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None/>
            </a:pPr>
            <a:r>
              <a:rPr lang="en" sz="1900" dirty="0">
                <a:solidFill>
                  <a:schemeClr val="dk2"/>
                </a:solidFill>
                <a:latin typeface="Source Code Pro"/>
                <a:ea typeface="Source Code Pro"/>
                <a:cs typeface="Source Code Pro"/>
                <a:sym typeface="Source Code Pro"/>
              </a:rPr>
              <a:t>print(a)</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None/>
            </a:pPr>
            <a:endParaRPr sz="2200">
              <a:solidFill>
                <a:schemeClr val="dk2"/>
              </a:solidFill>
              <a:latin typeface="Source Code Pro"/>
              <a:ea typeface="Source Code Pro"/>
              <a:cs typeface="Source Code Pro"/>
              <a:sym typeface="Source Code Pro"/>
            </a:endParaRPr>
          </a:p>
          <a:p>
            <a:pPr marL="0" indent="0">
              <a:lnSpc>
                <a:spcPct val="90000"/>
              </a:lnSpc>
              <a:spcBef>
                <a:spcPts val="1459"/>
              </a:spcBef>
              <a:buNone/>
            </a:pPr>
            <a:r>
              <a:rPr lang="en" sz="2200" dirty="0">
                <a:solidFill>
                  <a:schemeClr val="dk2"/>
                </a:solidFill>
                <a:latin typeface="Source Code Pro"/>
                <a:ea typeface="Source Code Pro"/>
                <a:cs typeface="Source Code Pro"/>
                <a:sym typeface="Source Code Pro"/>
              </a:rPr>
              <a:t>Output: ?</a:t>
            </a:r>
            <a:endParaRPr sz="2200">
              <a:solidFill>
                <a:schemeClr val="dk2"/>
              </a:solidFill>
              <a:latin typeface="Source Code Pro"/>
              <a:ea typeface="Source Code Pro"/>
              <a:cs typeface="Source Code Pro"/>
              <a:sym typeface="Source Code Pro"/>
            </a:endParaRPr>
          </a:p>
        </p:txBody>
      </p:sp>
      <p:sp>
        <p:nvSpPr>
          <p:cNvPr id="276" name="Google Shape;276;p46"/>
          <p:cNvSpPr txBox="1">
            <a:spLocks noGrp="1"/>
          </p:cNvSpPr>
          <p:nvPr>
            <p:ph type="body" idx="1"/>
          </p:nvPr>
        </p:nvSpPr>
        <p:spPr>
          <a:xfrm>
            <a:off x="6213882" y="1709480"/>
            <a:ext cx="5702166" cy="6164640"/>
          </a:xfrm>
          <a:prstGeom prst="rect">
            <a:avLst/>
          </a:prstGeom>
        </p:spPr>
        <p:txBody>
          <a:bodyPr spcFirstLastPara="1" wrap="square" lIns="133407" tIns="133407" rIns="133407" bIns="133407" anchor="t" anchorCtr="0">
            <a:normAutofit fontScale="92500" lnSpcReduction="10000"/>
          </a:bodyPr>
          <a:lstStyle/>
          <a:p>
            <a:pPr marL="0" indent="0">
              <a:buNone/>
            </a:pPr>
            <a:r>
              <a:rPr lang="en" dirty="0">
                <a:solidFill>
                  <a:schemeClr val="dk2"/>
                </a:solidFill>
                <a:latin typeface="Old Standard TT"/>
                <a:ea typeface="Old Standard TT"/>
                <a:cs typeface="Old Standard TT"/>
                <a:sym typeface="Old Standard TT"/>
              </a:rPr>
              <a:t>2.</a:t>
            </a:r>
            <a:endParaRPr>
              <a:solidFill>
                <a:schemeClr val="dk2"/>
              </a:solidFill>
              <a:latin typeface="Old Standard TT"/>
              <a:ea typeface="Old Standard TT"/>
              <a:cs typeface="Old Standard TT"/>
              <a:sym typeface="Old Standard TT"/>
            </a:endParaRPr>
          </a:p>
          <a:p>
            <a:pPr marL="0" indent="0">
              <a:lnSpc>
                <a:spcPct val="90000"/>
              </a:lnSpc>
              <a:spcBef>
                <a:spcPts val="1751"/>
              </a:spcBef>
              <a:buClr>
                <a:schemeClr val="dk2"/>
              </a:buClr>
              <a:buSzPct val="73333"/>
              <a:buNone/>
            </a:pPr>
            <a:r>
              <a:rPr lang="en" sz="2200" dirty="0">
                <a:solidFill>
                  <a:schemeClr val="dk2"/>
                </a:solidFill>
                <a:latin typeface="Source Code Pro"/>
                <a:ea typeface="Source Code Pro"/>
                <a:cs typeface="Source Code Pro"/>
                <a:sym typeface="Source Code Pro"/>
              </a:rPr>
              <a:t>a=[1,1,1,3,4,5,5,5,5,7,7,7,9,9]</a:t>
            </a:r>
            <a:endParaRPr sz="22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ct val="73333"/>
              <a:buNone/>
            </a:pPr>
            <a:r>
              <a:rPr lang="en" sz="2200" dirty="0">
                <a:solidFill>
                  <a:schemeClr val="dk2"/>
                </a:solidFill>
                <a:latin typeface="Source Code Pro"/>
                <a:ea typeface="Source Code Pro"/>
                <a:cs typeface="Source Code Pro"/>
                <a:sym typeface="Source Code Pro"/>
              </a:rPr>
              <a:t>i =0</a:t>
            </a:r>
            <a:endParaRPr sz="22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ct val="73333"/>
              <a:buNone/>
            </a:pPr>
            <a:r>
              <a:rPr lang="en" sz="2200" dirty="0">
                <a:solidFill>
                  <a:schemeClr val="dk2"/>
                </a:solidFill>
                <a:latin typeface="Source Code Pro"/>
                <a:ea typeface="Source Code Pro"/>
                <a:cs typeface="Source Code Pro"/>
                <a:sym typeface="Source Code Pro"/>
              </a:rPr>
              <a:t>l = len(a)-1</a:t>
            </a:r>
            <a:endParaRPr sz="22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ct val="73333"/>
              <a:buNone/>
            </a:pPr>
            <a:r>
              <a:rPr lang="en" sz="2200" dirty="0">
                <a:solidFill>
                  <a:schemeClr val="dk2"/>
                </a:solidFill>
                <a:latin typeface="Source Code Pro"/>
                <a:ea typeface="Source Code Pro"/>
                <a:cs typeface="Source Code Pro"/>
                <a:sym typeface="Source Code Pro"/>
              </a:rPr>
              <a:t>while i &lt; l :</a:t>
            </a:r>
            <a:endParaRPr sz="22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ct val="73333"/>
              <a:buNone/>
            </a:pPr>
            <a:r>
              <a:rPr lang="en" sz="2200" dirty="0">
                <a:solidFill>
                  <a:schemeClr val="dk2"/>
                </a:solidFill>
                <a:latin typeface="Source Code Pro"/>
                <a:ea typeface="Source Code Pro"/>
                <a:cs typeface="Source Code Pro"/>
                <a:sym typeface="Source Code Pro"/>
              </a:rPr>
              <a:t>    if a[i] == a[i+1]:</a:t>
            </a:r>
            <a:endParaRPr sz="22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ct val="73333"/>
              <a:buNone/>
            </a:pPr>
            <a:r>
              <a:rPr lang="en" sz="2200" dirty="0">
                <a:solidFill>
                  <a:schemeClr val="dk2"/>
                </a:solidFill>
                <a:latin typeface="Source Code Pro"/>
                <a:ea typeface="Source Code Pro"/>
                <a:cs typeface="Source Code Pro"/>
                <a:sym typeface="Source Code Pro"/>
              </a:rPr>
              <a:t>        del a[i+1]</a:t>
            </a:r>
            <a:endParaRPr sz="22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ct val="73333"/>
              <a:buNone/>
            </a:pPr>
            <a:r>
              <a:rPr lang="en" sz="2200" dirty="0">
                <a:solidFill>
                  <a:schemeClr val="dk2"/>
                </a:solidFill>
                <a:latin typeface="Source Code Pro"/>
                <a:ea typeface="Source Code Pro"/>
                <a:cs typeface="Source Code Pro"/>
                <a:sym typeface="Source Code Pro"/>
              </a:rPr>
              <a:t>        l -=1</a:t>
            </a:r>
            <a:endParaRPr sz="22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ct val="73333"/>
              <a:buNone/>
            </a:pPr>
            <a:r>
              <a:rPr lang="en" sz="2200" dirty="0">
                <a:solidFill>
                  <a:schemeClr val="dk2"/>
                </a:solidFill>
                <a:latin typeface="Source Code Pro"/>
                <a:ea typeface="Source Code Pro"/>
                <a:cs typeface="Source Code Pro"/>
                <a:sym typeface="Source Code Pro"/>
              </a:rPr>
              <a:t>    else :</a:t>
            </a:r>
            <a:endParaRPr sz="22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ct val="73333"/>
              <a:buNone/>
            </a:pPr>
            <a:r>
              <a:rPr lang="en" sz="2200" dirty="0">
                <a:solidFill>
                  <a:schemeClr val="dk2"/>
                </a:solidFill>
                <a:latin typeface="Source Code Pro"/>
                <a:ea typeface="Source Code Pro"/>
                <a:cs typeface="Source Code Pro"/>
                <a:sym typeface="Source Code Pro"/>
              </a:rPr>
              <a:t>        i +=1    </a:t>
            </a:r>
            <a:endParaRPr sz="2200">
              <a:solidFill>
                <a:schemeClr val="dk2"/>
              </a:solidFill>
              <a:latin typeface="Source Code Pro"/>
              <a:ea typeface="Source Code Pro"/>
              <a:cs typeface="Source Code Pro"/>
              <a:sym typeface="Source Code Pro"/>
            </a:endParaRPr>
          </a:p>
          <a:p>
            <a:pPr marL="0" indent="0">
              <a:lnSpc>
                <a:spcPct val="90000"/>
              </a:lnSpc>
              <a:spcBef>
                <a:spcPts val="1459"/>
              </a:spcBef>
              <a:buNone/>
            </a:pPr>
            <a:r>
              <a:rPr lang="en" sz="2200" dirty="0">
                <a:solidFill>
                  <a:schemeClr val="dk2"/>
                </a:solidFill>
                <a:latin typeface="Source Code Pro"/>
                <a:ea typeface="Source Code Pro"/>
                <a:cs typeface="Source Code Pro"/>
                <a:sym typeface="Source Code Pro"/>
              </a:rPr>
              <a:t>print(a)</a:t>
            </a:r>
            <a:endParaRPr sz="2200" b="1">
              <a:solidFill>
                <a:schemeClr val="dk2"/>
              </a:solidFill>
              <a:latin typeface="Source Code Pro"/>
              <a:ea typeface="Source Code Pro"/>
              <a:cs typeface="Source Code Pro"/>
              <a:sym typeface="Source Code Pro"/>
            </a:endParaRPr>
          </a:p>
          <a:p>
            <a:pPr marL="0" indent="0">
              <a:lnSpc>
                <a:spcPct val="90000"/>
              </a:lnSpc>
              <a:spcBef>
                <a:spcPts val="1459"/>
              </a:spcBef>
              <a:buNone/>
            </a:pPr>
            <a:endParaRPr sz="2200" b="1">
              <a:solidFill>
                <a:schemeClr val="dk2"/>
              </a:solidFill>
              <a:latin typeface="Source Code Pro"/>
              <a:ea typeface="Source Code Pro"/>
              <a:cs typeface="Source Code Pro"/>
              <a:sym typeface="Source Code Pro"/>
            </a:endParaRPr>
          </a:p>
          <a:p>
            <a:pPr marL="0" indent="0">
              <a:lnSpc>
                <a:spcPct val="90000"/>
              </a:lnSpc>
              <a:spcBef>
                <a:spcPts val="1459"/>
              </a:spcBef>
              <a:buNone/>
            </a:pPr>
            <a:r>
              <a:rPr lang="en" sz="2200" dirty="0">
                <a:solidFill>
                  <a:schemeClr val="dk2"/>
                </a:solidFill>
                <a:latin typeface="Source Code Pro"/>
                <a:ea typeface="Source Code Pro"/>
                <a:cs typeface="Source Code Pro"/>
                <a:sym typeface="Source Code Pro"/>
              </a:rPr>
              <a:t>Output: ?</a:t>
            </a:r>
            <a:endParaRPr sz="2200">
              <a:solidFill>
                <a:schemeClr val="dk2"/>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51"/>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r>
              <a:rPr lang="en" dirty="0"/>
              <a:t>Chapter 5: Syllabus</a:t>
            </a:r>
            <a:endParaRPr/>
          </a:p>
        </p:txBody>
      </p:sp>
      <p:sp>
        <p:nvSpPr>
          <p:cNvPr id="309" name="Google Shape;309;p51"/>
          <p:cNvSpPr txBox="1">
            <a:spLocks noGrp="1"/>
          </p:cNvSpPr>
          <p:nvPr>
            <p:ph type="body" idx="1"/>
          </p:nvPr>
        </p:nvSpPr>
        <p:spPr>
          <a:xfrm>
            <a:off x="430157" y="1843960"/>
            <a:ext cx="5879362" cy="5466240"/>
          </a:xfrm>
          <a:prstGeom prst="rect">
            <a:avLst/>
          </a:prstGeom>
        </p:spPr>
        <p:txBody>
          <a:bodyPr spcFirstLastPara="1" wrap="square" lIns="133407" tIns="133407" rIns="133407" bIns="133407" anchor="t" anchorCtr="0">
            <a:normAutofit/>
          </a:bodyPr>
          <a:lstStyle/>
          <a:p>
            <a:pPr marL="0" indent="0">
              <a:buNone/>
            </a:pPr>
            <a:r>
              <a:rPr lang="en" sz="2000" dirty="0">
                <a:solidFill>
                  <a:srgbClr val="434343"/>
                </a:solidFill>
                <a:latin typeface="Raleway"/>
                <a:ea typeface="Raleway"/>
                <a:cs typeface="Raleway"/>
                <a:sym typeface="Raleway"/>
              </a:rPr>
              <a:t>Array Techniques: Introduction </a:t>
            </a:r>
            <a:endParaRPr sz="2000">
              <a:solidFill>
                <a:srgbClr val="434343"/>
              </a:solidFill>
              <a:latin typeface="Raleway"/>
              <a:ea typeface="Raleway"/>
              <a:cs typeface="Raleway"/>
              <a:sym typeface="Raleway"/>
            </a:endParaRPr>
          </a:p>
          <a:p>
            <a:pPr marL="0" indent="0">
              <a:spcBef>
                <a:spcPts val="1751"/>
              </a:spcBef>
              <a:buNone/>
            </a:pPr>
            <a:r>
              <a:rPr lang="en" sz="2000" dirty="0">
                <a:solidFill>
                  <a:srgbClr val="434343"/>
                </a:solidFill>
                <a:latin typeface="Raleway"/>
                <a:ea typeface="Raleway"/>
                <a:cs typeface="Raleway"/>
                <a:sym typeface="Raleway"/>
              </a:rPr>
              <a:t>– Array Order Reversal </a:t>
            </a:r>
            <a:endParaRPr sz="2000">
              <a:solidFill>
                <a:srgbClr val="434343"/>
              </a:solidFill>
              <a:latin typeface="Raleway"/>
              <a:ea typeface="Raleway"/>
              <a:cs typeface="Raleway"/>
              <a:sym typeface="Raleway"/>
            </a:endParaRPr>
          </a:p>
          <a:p>
            <a:pPr marL="0" indent="0">
              <a:spcBef>
                <a:spcPts val="1751"/>
              </a:spcBef>
              <a:buNone/>
            </a:pPr>
            <a:r>
              <a:rPr lang="en" sz="2000" dirty="0">
                <a:solidFill>
                  <a:srgbClr val="434343"/>
                </a:solidFill>
                <a:latin typeface="Raleway"/>
                <a:ea typeface="Raleway"/>
                <a:cs typeface="Raleway"/>
                <a:sym typeface="Raleway"/>
              </a:rPr>
              <a:t>– Array Counting </a:t>
            </a:r>
            <a:endParaRPr sz="2000">
              <a:solidFill>
                <a:srgbClr val="434343"/>
              </a:solidFill>
              <a:latin typeface="Raleway"/>
              <a:ea typeface="Raleway"/>
              <a:cs typeface="Raleway"/>
              <a:sym typeface="Raleway"/>
            </a:endParaRPr>
          </a:p>
          <a:p>
            <a:pPr marL="0" indent="0">
              <a:spcBef>
                <a:spcPts val="1751"/>
              </a:spcBef>
              <a:buNone/>
            </a:pPr>
            <a:r>
              <a:rPr lang="en" sz="2000" dirty="0">
                <a:solidFill>
                  <a:srgbClr val="434343"/>
                </a:solidFill>
                <a:latin typeface="Raleway"/>
                <a:ea typeface="Raleway"/>
                <a:cs typeface="Raleway"/>
                <a:sym typeface="Raleway"/>
              </a:rPr>
              <a:t>– Finding the Maximum number in a set </a:t>
            </a:r>
            <a:endParaRPr sz="2000">
              <a:solidFill>
                <a:srgbClr val="434343"/>
              </a:solidFill>
              <a:latin typeface="Raleway"/>
              <a:ea typeface="Raleway"/>
              <a:cs typeface="Raleway"/>
              <a:sym typeface="Raleway"/>
            </a:endParaRPr>
          </a:p>
          <a:p>
            <a:pPr marL="0" indent="0">
              <a:spcBef>
                <a:spcPts val="1751"/>
              </a:spcBef>
              <a:buNone/>
            </a:pPr>
            <a:r>
              <a:rPr lang="en" sz="2000" dirty="0">
                <a:solidFill>
                  <a:srgbClr val="434343"/>
                </a:solidFill>
                <a:latin typeface="Raleway"/>
                <a:ea typeface="Raleway"/>
                <a:cs typeface="Raleway"/>
                <a:sym typeface="Raleway"/>
              </a:rPr>
              <a:t>– Removal of Duplicates from an ordered array </a:t>
            </a:r>
            <a:endParaRPr sz="2000">
              <a:solidFill>
                <a:srgbClr val="434343"/>
              </a:solidFill>
              <a:latin typeface="Raleway"/>
              <a:ea typeface="Raleway"/>
              <a:cs typeface="Raleway"/>
              <a:sym typeface="Raleway"/>
            </a:endParaRPr>
          </a:p>
          <a:p>
            <a:pPr marL="0" indent="0">
              <a:spcBef>
                <a:spcPts val="1751"/>
              </a:spcBef>
              <a:buNone/>
            </a:pPr>
            <a:r>
              <a:rPr lang="en" sz="2000" dirty="0">
                <a:solidFill>
                  <a:srgbClr val="434343"/>
                </a:solidFill>
                <a:latin typeface="Raleway"/>
                <a:ea typeface="Raleway"/>
                <a:cs typeface="Raleway"/>
                <a:sym typeface="Raleway"/>
              </a:rPr>
              <a:t>– Partitioning an array </a:t>
            </a:r>
            <a:endParaRPr sz="2000">
              <a:solidFill>
                <a:srgbClr val="434343"/>
              </a:solidFill>
              <a:latin typeface="Raleway"/>
              <a:ea typeface="Raleway"/>
              <a:cs typeface="Raleway"/>
              <a:sym typeface="Raleway"/>
            </a:endParaRPr>
          </a:p>
          <a:p>
            <a:pPr marL="0" indent="0">
              <a:spcBef>
                <a:spcPts val="1751"/>
              </a:spcBef>
              <a:spcAft>
                <a:spcPts val="1751"/>
              </a:spcAft>
              <a:buNone/>
            </a:pPr>
            <a:r>
              <a:rPr lang="en" sz="2000" dirty="0">
                <a:solidFill>
                  <a:srgbClr val="434343"/>
                </a:solidFill>
                <a:latin typeface="Raleway"/>
                <a:ea typeface="Raleway"/>
                <a:cs typeface="Raleway"/>
                <a:sym typeface="Raleway"/>
              </a:rPr>
              <a:t>– Finding the Kth smallest element </a:t>
            </a:r>
            <a:endParaRPr sz="2000">
              <a:solidFill>
                <a:srgbClr val="434343"/>
              </a:solidFill>
              <a:latin typeface="Raleway"/>
              <a:ea typeface="Raleway"/>
              <a:cs typeface="Raleway"/>
              <a:sym typeface="Raleway"/>
            </a:endParaRPr>
          </a:p>
        </p:txBody>
      </p:sp>
      <p:sp>
        <p:nvSpPr>
          <p:cNvPr id="310" name="Google Shape;310;p51"/>
          <p:cNvSpPr txBox="1">
            <a:spLocks noGrp="1"/>
          </p:cNvSpPr>
          <p:nvPr>
            <p:ph type="body" idx="1"/>
          </p:nvPr>
        </p:nvSpPr>
        <p:spPr>
          <a:xfrm>
            <a:off x="6734673" y="1843960"/>
            <a:ext cx="5568854" cy="5466240"/>
          </a:xfrm>
          <a:prstGeom prst="rect">
            <a:avLst/>
          </a:prstGeom>
        </p:spPr>
        <p:txBody>
          <a:bodyPr spcFirstLastPara="1" wrap="square" lIns="133407" tIns="133407" rIns="133407" bIns="133407" anchor="t" anchorCtr="0">
            <a:normAutofit/>
          </a:bodyPr>
          <a:lstStyle/>
          <a:p>
            <a:pPr marL="0" indent="0">
              <a:buNone/>
            </a:pPr>
            <a:r>
              <a:rPr lang="en" sz="2000" dirty="0">
                <a:solidFill>
                  <a:srgbClr val="FF0000"/>
                </a:solidFill>
                <a:latin typeface="Raleway"/>
                <a:ea typeface="Raleway"/>
                <a:cs typeface="Raleway"/>
                <a:sym typeface="Raleway"/>
              </a:rPr>
              <a:t>Python Lists: List operations </a:t>
            </a:r>
            <a:endParaRPr sz="2000">
              <a:solidFill>
                <a:srgbClr val="FF0000"/>
              </a:solidFill>
              <a:latin typeface="Raleway"/>
              <a:ea typeface="Raleway"/>
              <a:cs typeface="Raleway"/>
              <a:sym typeface="Raleway"/>
            </a:endParaRPr>
          </a:p>
          <a:p>
            <a:pPr marL="0" indent="0">
              <a:spcBef>
                <a:spcPts val="1751"/>
              </a:spcBef>
              <a:buNone/>
            </a:pPr>
            <a:r>
              <a:rPr lang="en" sz="2000" dirty="0">
                <a:solidFill>
                  <a:srgbClr val="FF0000"/>
                </a:solidFill>
                <a:latin typeface="Raleway"/>
                <a:ea typeface="Raleway"/>
                <a:cs typeface="Raleway"/>
                <a:sym typeface="Raleway"/>
              </a:rPr>
              <a:t>– Tuples </a:t>
            </a:r>
            <a:endParaRPr sz="2000">
              <a:solidFill>
                <a:srgbClr val="FF0000"/>
              </a:solidFill>
              <a:latin typeface="Raleway"/>
              <a:ea typeface="Raleway"/>
              <a:cs typeface="Raleway"/>
              <a:sym typeface="Raleway"/>
            </a:endParaRPr>
          </a:p>
          <a:p>
            <a:pPr marL="0" indent="0">
              <a:spcBef>
                <a:spcPts val="1751"/>
              </a:spcBef>
              <a:buNone/>
            </a:pPr>
            <a:r>
              <a:rPr lang="en" sz="2000" dirty="0">
                <a:solidFill>
                  <a:srgbClr val="FF0000"/>
                </a:solidFill>
                <a:latin typeface="Raleway"/>
                <a:ea typeface="Raleway"/>
                <a:cs typeface="Raleway"/>
                <a:sym typeface="Raleway"/>
              </a:rPr>
              <a:t>– Sets Operations </a:t>
            </a:r>
            <a:endParaRPr sz="2000">
              <a:solidFill>
                <a:srgbClr val="FF0000"/>
              </a:solidFill>
              <a:latin typeface="Raleway"/>
              <a:ea typeface="Raleway"/>
              <a:cs typeface="Raleway"/>
              <a:sym typeface="Raleway"/>
            </a:endParaRPr>
          </a:p>
          <a:p>
            <a:pPr marL="0" indent="0">
              <a:spcBef>
                <a:spcPts val="1751"/>
              </a:spcBef>
              <a:buNone/>
            </a:pPr>
            <a:r>
              <a:rPr lang="en" sz="2000" dirty="0">
                <a:solidFill>
                  <a:srgbClr val="FF0000"/>
                </a:solidFill>
                <a:latin typeface="Raleway"/>
                <a:ea typeface="Raleway"/>
                <a:cs typeface="Raleway"/>
                <a:sym typeface="Raleway"/>
              </a:rPr>
              <a:t>– Dictionaries </a:t>
            </a:r>
            <a:endParaRPr sz="2000">
              <a:solidFill>
                <a:srgbClr val="FF0000"/>
              </a:solidFill>
              <a:latin typeface="Raleway"/>
              <a:ea typeface="Raleway"/>
              <a:cs typeface="Raleway"/>
              <a:sym typeface="Raleway"/>
            </a:endParaRPr>
          </a:p>
          <a:p>
            <a:pPr marL="0" indent="0">
              <a:spcBef>
                <a:spcPts val="1751"/>
              </a:spcBef>
              <a:spcAft>
                <a:spcPts val="1751"/>
              </a:spcAft>
              <a:buNone/>
            </a:pPr>
            <a:r>
              <a:rPr lang="en" sz="2000" dirty="0">
                <a:solidFill>
                  <a:srgbClr val="FF0000"/>
                </a:solidFill>
                <a:latin typeface="Raleway"/>
                <a:ea typeface="Raleway"/>
                <a:cs typeface="Raleway"/>
                <a:sym typeface="Raleway"/>
              </a:rPr>
              <a:t>– Time Tradeoff. </a:t>
            </a:r>
            <a:endParaRPr sz="2000">
              <a:solidFill>
                <a:srgbClr val="FF0000"/>
              </a:solidFill>
              <a:latin typeface="Raleway"/>
              <a:ea typeface="Raleway"/>
              <a:cs typeface="Raleway"/>
              <a:sym typeface="Raleway"/>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List</a:t>
            </a:r>
            <a:endParaRPr lang="en-IN" dirty="0"/>
          </a:p>
        </p:txBody>
      </p:sp>
      <p:sp>
        <p:nvSpPr>
          <p:cNvPr id="3" name="Text Placeholder 2"/>
          <p:cNvSpPr>
            <a:spLocks noGrp="1"/>
          </p:cNvSpPr>
          <p:nvPr>
            <p:ph type="body" idx="1"/>
          </p:nvPr>
        </p:nvSpPr>
        <p:spPr/>
        <p:txBody>
          <a:bodyPr/>
          <a:lstStyle/>
          <a:p>
            <a:r>
              <a:rPr lang="en-IN" dirty="0" smtClean="0"/>
              <a:t>Create list</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918" y="2809875"/>
            <a:ext cx="2315201" cy="2143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3519" y="2763109"/>
            <a:ext cx="3200400" cy="21567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4519" y="2590800"/>
            <a:ext cx="3625792" cy="21431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918" y="5334000"/>
            <a:ext cx="5960019"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22472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Slice Operator</a:t>
            </a: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119" y="1981200"/>
            <a:ext cx="8763000" cy="42045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56945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519" y="1524000"/>
            <a:ext cx="10289573" cy="4705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871191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52"/>
          <p:cNvSpPr txBox="1">
            <a:spLocks noGrp="1"/>
          </p:cNvSpPr>
          <p:nvPr>
            <p:ph type="title"/>
          </p:nvPr>
        </p:nvSpPr>
        <p:spPr>
          <a:xfrm>
            <a:off x="137319" y="228600"/>
            <a:ext cx="11758724" cy="683981"/>
          </a:xfrm>
          <a:prstGeom prst="rect">
            <a:avLst/>
          </a:prstGeom>
        </p:spPr>
        <p:txBody>
          <a:bodyPr spcFirstLastPara="1" wrap="square" lIns="133407" tIns="133407" rIns="133407" bIns="133407" anchor="t" anchorCtr="0">
            <a:normAutofit fontScale="90000"/>
          </a:bodyPr>
          <a:lstStyle/>
          <a:p>
            <a:pPr algn="l">
              <a:spcBef>
                <a:spcPts val="0"/>
              </a:spcBef>
            </a:pPr>
            <a:r>
              <a:rPr lang="en" dirty="0"/>
              <a:t>Python List: List Operations</a:t>
            </a:r>
            <a:endParaRPr dirty="0"/>
          </a:p>
        </p:txBody>
      </p:sp>
      <p:graphicFrame>
        <p:nvGraphicFramePr>
          <p:cNvPr id="316" name="Google Shape;316;p52"/>
          <p:cNvGraphicFramePr/>
          <p:nvPr/>
        </p:nvGraphicFramePr>
        <p:xfrm>
          <a:off x="881378" y="1216075"/>
          <a:ext cx="10940605" cy="7104274"/>
        </p:xfrm>
        <a:graphic>
          <a:graphicData uri="http://schemas.openxmlformats.org/drawingml/2006/table">
            <a:tbl>
              <a:tblPr>
                <a:noFill/>
              </a:tblPr>
              <a:tblGrid>
                <a:gridCol w="2431414"/>
                <a:gridCol w="8509191"/>
              </a:tblGrid>
              <a:tr h="566318">
                <a:tc>
                  <a:txBody>
                    <a:bodyPr/>
                    <a:lstStyle/>
                    <a:p>
                      <a:pPr marL="0" lvl="0" indent="0" algn="l" rtl="0">
                        <a:lnSpc>
                          <a:spcPct val="115000"/>
                        </a:lnSpc>
                        <a:spcBef>
                          <a:spcPts val="1500"/>
                        </a:spcBef>
                        <a:spcAft>
                          <a:spcPts val="1500"/>
                        </a:spcAft>
                        <a:buNone/>
                      </a:pPr>
                      <a:r>
                        <a:rPr lang="en" sz="1800" b="1" dirty="0">
                          <a:highlight>
                            <a:srgbClr val="FFFFFF"/>
                          </a:highlight>
                          <a:latin typeface="Verdana"/>
                          <a:ea typeface="Verdana"/>
                          <a:cs typeface="Verdana"/>
                          <a:sym typeface="Verdana"/>
                        </a:rPr>
                        <a:t>Method</a:t>
                      </a:r>
                      <a:endParaRPr sz="1800" b="1" dirty="0">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b="1">
                          <a:highlight>
                            <a:srgbClr val="FFFFFF"/>
                          </a:highlight>
                          <a:latin typeface="Verdana"/>
                          <a:ea typeface="Verdana"/>
                          <a:cs typeface="Verdana"/>
                          <a:sym typeface="Verdana"/>
                        </a:rPr>
                        <a:t>Description</a:t>
                      </a:r>
                      <a:endParaRPr sz="1800" b="1">
                        <a:highlight>
                          <a:srgbClr val="FFFFFF"/>
                        </a:highlight>
                        <a:latin typeface="Verdana"/>
                        <a:ea typeface="Verdana"/>
                        <a:cs typeface="Verdana"/>
                        <a:sym typeface="Verdana"/>
                      </a:endParaRPr>
                    </a:p>
                  </a:txBody>
                  <a:tcPr marL="105159" marR="105159" marT="121920" marB="121920"/>
                </a:tc>
              </a:tr>
              <a:tr h="566318">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3"/>
                        </a:rPr>
                        <a:t>append()</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dirty="0">
                          <a:highlight>
                            <a:srgbClr val="FFFFFF"/>
                          </a:highlight>
                          <a:latin typeface="Verdana"/>
                          <a:ea typeface="Verdana"/>
                          <a:cs typeface="Verdana"/>
                          <a:sym typeface="Verdana"/>
                        </a:rPr>
                        <a:t>Adds an element at the end of the list</a:t>
                      </a:r>
                      <a:endParaRPr sz="1800" dirty="0">
                        <a:highlight>
                          <a:srgbClr val="FFFFFF"/>
                        </a:highlight>
                        <a:latin typeface="Verdana"/>
                        <a:ea typeface="Verdana"/>
                        <a:cs typeface="Verdana"/>
                        <a:sym typeface="Verdana"/>
                      </a:endParaRPr>
                    </a:p>
                  </a:txBody>
                  <a:tcPr marL="105159" marR="105159" marT="121920" marB="121920"/>
                </a:tc>
              </a:tr>
              <a:tr h="566318">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4"/>
                        </a:rPr>
                        <a:t>clear()</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Removes all the elements from the list</a:t>
                      </a:r>
                      <a:endParaRPr sz="1800">
                        <a:highlight>
                          <a:srgbClr val="FFFFFF"/>
                        </a:highlight>
                        <a:latin typeface="Verdana"/>
                        <a:ea typeface="Verdana"/>
                        <a:cs typeface="Verdana"/>
                        <a:sym typeface="Verdana"/>
                      </a:endParaRPr>
                    </a:p>
                  </a:txBody>
                  <a:tcPr marL="105159" marR="105159" marT="121920" marB="121920"/>
                </a:tc>
              </a:tr>
              <a:tr h="566318">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5"/>
                        </a:rPr>
                        <a:t>copy()</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Returns a copy of the list</a:t>
                      </a:r>
                      <a:endParaRPr sz="1800">
                        <a:highlight>
                          <a:srgbClr val="FFFFFF"/>
                        </a:highlight>
                        <a:latin typeface="Verdana"/>
                        <a:ea typeface="Verdana"/>
                        <a:cs typeface="Verdana"/>
                        <a:sym typeface="Verdana"/>
                      </a:endParaRPr>
                    </a:p>
                  </a:txBody>
                  <a:tcPr marL="105159" marR="105159" marT="121920" marB="121920"/>
                </a:tc>
              </a:tr>
              <a:tr h="566318">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6"/>
                        </a:rPr>
                        <a:t>count()</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Returns the number of elements with the specified value</a:t>
                      </a:r>
                      <a:endParaRPr sz="1800">
                        <a:highlight>
                          <a:srgbClr val="FFFFFF"/>
                        </a:highlight>
                        <a:latin typeface="Verdana"/>
                        <a:ea typeface="Verdana"/>
                        <a:cs typeface="Verdana"/>
                        <a:sym typeface="Verdana"/>
                      </a:endParaRPr>
                    </a:p>
                  </a:txBody>
                  <a:tcPr marL="105159" marR="105159" marT="121920" marB="121920"/>
                </a:tc>
              </a:tr>
              <a:tr h="566318">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7"/>
                        </a:rPr>
                        <a:t>extend()</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Add the elements of a list (or any iterable), to the end of the current list</a:t>
                      </a:r>
                      <a:endParaRPr sz="1800">
                        <a:highlight>
                          <a:srgbClr val="FFFFFF"/>
                        </a:highlight>
                        <a:latin typeface="Verdana"/>
                        <a:ea typeface="Verdana"/>
                        <a:cs typeface="Verdana"/>
                        <a:sym typeface="Verdana"/>
                      </a:endParaRPr>
                    </a:p>
                  </a:txBody>
                  <a:tcPr marL="105159" marR="105159" marT="121920" marB="121920"/>
                </a:tc>
              </a:tr>
              <a:tr h="566318">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8"/>
                        </a:rPr>
                        <a:t>index()</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Returns the index of the first element with the specified value</a:t>
                      </a:r>
                      <a:endParaRPr sz="1800">
                        <a:highlight>
                          <a:srgbClr val="FFFFFF"/>
                        </a:highlight>
                        <a:latin typeface="Verdana"/>
                        <a:ea typeface="Verdana"/>
                        <a:cs typeface="Verdana"/>
                        <a:sym typeface="Verdana"/>
                      </a:endParaRPr>
                    </a:p>
                  </a:txBody>
                  <a:tcPr marL="105159" marR="105159" marT="121920" marB="121920"/>
                </a:tc>
              </a:tr>
              <a:tr h="566318">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9"/>
                        </a:rPr>
                        <a:t>insert()</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Adds an element at the specified position</a:t>
                      </a:r>
                      <a:endParaRPr sz="1800">
                        <a:highlight>
                          <a:srgbClr val="FFFFFF"/>
                        </a:highlight>
                        <a:latin typeface="Verdana"/>
                        <a:ea typeface="Verdana"/>
                        <a:cs typeface="Verdana"/>
                        <a:sym typeface="Verdana"/>
                      </a:endParaRPr>
                    </a:p>
                  </a:txBody>
                  <a:tcPr marL="105159" marR="105159" marT="121920" marB="121920"/>
                </a:tc>
              </a:tr>
              <a:tr h="566318">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10"/>
                        </a:rPr>
                        <a:t>pop()</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Removes the element at the specified position</a:t>
                      </a:r>
                      <a:endParaRPr sz="1800">
                        <a:highlight>
                          <a:srgbClr val="FFFFFF"/>
                        </a:highlight>
                        <a:latin typeface="Verdana"/>
                        <a:ea typeface="Verdana"/>
                        <a:cs typeface="Verdana"/>
                        <a:sym typeface="Verdana"/>
                      </a:endParaRPr>
                    </a:p>
                  </a:txBody>
                  <a:tcPr marL="105159" marR="105159" marT="121920" marB="121920"/>
                </a:tc>
              </a:tr>
              <a:tr h="566318">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11"/>
                        </a:rPr>
                        <a:t>remove()</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dirty="0">
                          <a:highlight>
                            <a:srgbClr val="FFFFFF"/>
                          </a:highlight>
                          <a:latin typeface="Verdana"/>
                          <a:ea typeface="Verdana"/>
                          <a:cs typeface="Verdana"/>
                          <a:sym typeface="Verdana"/>
                        </a:rPr>
                        <a:t>Removes the first item with the specified value</a:t>
                      </a:r>
                      <a:endParaRPr sz="1800">
                        <a:highlight>
                          <a:srgbClr val="FFFFFF"/>
                        </a:highlight>
                        <a:latin typeface="Verdana"/>
                        <a:ea typeface="Verdana"/>
                        <a:cs typeface="Verdana"/>
                        <a:sym typeface="Verdana"/>
                      </a:endParaRPr>
                    </a:p>
                  </a:txBody>
                  <a:tcPr marL="105159" marR="105159" marT="121920" marB="121920"/>
                </a:tc>
              </a:tr>
              <a:tr h="566318">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12"/>
                        </a:rPr>
                        <a:t>reverse()</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Reverses the order of the list</a:t>
                      </a:r>
                      <a:endParaRPr sz="1800">
                        <a:highlight>
                          <a:srgbClr val="FFFFFF"/>
                        </a:highlight>
                        <a:latin typeface="Verdana"/>
                        <a:ea typeface="Verdana"/>
                        <a:cs typeface="Verdana"/>
                        <a:sym typeface="Verdana"/>
                      </a:endParaRPr>
                    </a:p>
                  </a:txBody>
                  <a:tcPr marL="105159" marR="105159" marT="121920" marB="121920"/>
                </a:tc>
              </a:tr>
              <a:tr h="566318">
                <a:tc>
                  <a:txBody>
                    <a:bodyPr/>
                    <a:lstStyle/>
                    <a:p>
                      <a:pPr marL="0" lvl="0" indent="0" algn="l" rtl="0">
                        <a:lnSpc>
                          <a:spcPct val="115000"/>
                        </a:lnSpc>
                        <a:spcBef>
                          <a:spcPts val="1500"/>
                        </a:spcBef>
                        <a:spcAft>
                          <a:spcPts val="1500"/>
                        </a:spcAft>
                        <a:buNone/>
                      </a:pPr>
                      <a:r>
                        <a:rPr lang="en" sz="1800" u="sng" dirty="0">
                          <a:solidFill>
                            <a:schemeClr val="hlink"/>
                          </a:solidFill>
                          <a:highlight>
                            <a:srgbClr val="FFFFFF"/>
                          </a:highlight>
                          <a:latin typeface="Verdana"/>
                          <a:ea typeface="Verdana"/>
                          <a:cs typeface="Verdana"/>
                          <a:sym typeface="Verdana"/>
                          <a:hlinkClick r:id="rId13"/>
                        </a:rPr>
                        <a:t>sort()</a:t>
                      </a:r>
                      <a:endParaRPr sz="1800" u="sng" dirty="0">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dirty="0">
                          <a:highlight>
                            <a:srgbClr val="FFFFFF"/>
                          </a:highlight>
                          <a:latin typeface="Verdana"/>
                          <a:ea typeface="Verdana"/>
                          <a:cs typeface="Verdana"/>
                          <a:sym typeface="Verdana"/>
                        </a:rPr>
                        <a:t>Sorts the list</a:t>
                      </a:r>
                      <a:endParaRPr sz="1800">
                        <a:highlight>
                          <a:srgbClr val="FFFFFF"/>
                        </a:highlight>
                        <a:latin typeface="Verdana"/>
                        <a:ea typeface="Verdana"/>
                        <a:cs typeface="Verdana"/>
                        <a:sym typeface="Verdana"/>
                      </a:endParaRPr>
                    </a:p>
                  </a:txBody>
                  <a:tcPr marL="105159" marR="105159" marT="121920" marB="121920"/>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319" y="1995670"/>
            <a:ext cx="10224778" cy="2185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13343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53"/>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r>
              <a:rPr lang="en" dirty="0"/>
              <a:t>Some Examples:</a:t>
            </a:r>
            <a:endParaRPr/>
          </a:p>
        </p:txBody>
      </p:sp>
      <p:sp>
        <p:nvSpPr>
          <p:cNvPr id="322" name="Google Shape;322;p53"/>
          <p:cNvSpPr txBox="1">
            <a:spLocks noGrp="1"/>
          </p:cNvSpPr>
          <p:nvPr>
            <p:ph type="body" idx="1"/>
          </p:nvPr>
        </p:nvSpPr>
        <p:spPr>
          <a:xfrm>
            <a:off x="430157" y="1843960"/>
            <a:ext cx="5520001" cy="5466240"/>
          </a:xfrm>
          <a:prstGeom prst="rect">
            <a:avLst/>
          </a:prstGeom>
        </p:spPr>
        <p:txBody>
          <a:bodyPr spcFirstLastPara="1" wrap="square" lIns="133407" tIns="133407" rIns="133407" bIns="133407" anchor="t" anchorCtr="0">
            <a:normAutofit/>
          </a:bodyPr>
          <a:lstStyle/>
          <a:p>
            <a:pPr marL="0" indent="0">
              <a:lnSpc>
                <a:spcPct val="90000"/>
              </a:lnSpc>
              <a:spcBef>
                <a:spcPts val="1459"/>
              </a:spcBef>
              <a:buClr>
                <a:schemeClr val="dk2"/>
              </a:buClr>
              <a:buSzPts val="1100"/>
              <a:buNone/>
            </a:pPr>
            <a:r>
              <a:rPr lang="en" sz="1900" dirty="0">
                <a:solidFill>
                  <a:srgbClr val="ED7D31"/>
                </a:solidFill>
                <a:latin typeface="Source Code Pro"/>
                <a:ea typeface="Source Code Pro"/>
                <a:cs typeface="Source Code Pro"/>
                <a:sym typeface="Source Code Pro"/>
              </a:rPr>
              <a:t>append()</a:t>
            </a:r>
            <a:endParaRPr sz="1900">
              <a:solidFill>
                <a:srgbClr val="ED7D31"/>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rgbClr val="0D0D0D"/>
                </a:solidFill>
                <a:latin typeface="Source Code Pro"/>
                <a:ea typeface="Source Code Pro"/>
                <a:cs typeface="Source Code Pro"/>
                <a:sym typeface="Source Code Pro"/>
              </a:rPr>
              <a:t>Example:</a:t>
            </a:r>
            <a:endParaRPr sz="1900">
              <a:solidFill>
                <a:srgbClr val="0D0D0D"/>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rgbClr val="0D0D0D"/>
                </a:solidFill>
                <a:latin typeface="Source Code Pro"/>
                <a:ea typeface="Source Code Pro"/>
                <a:cs typeface="Source Code Pro"/>
                <a:sym typeface="Source Code Pro"/>
              </a:rPr>
              <a:t>fruits = ["apple", "banana", "cherry"]                      	</a:t>
            </a:r>
            <a:endParaRPr sz="1900">
              <a:solidFill>
                <a:srgbClr val="0D0D0D"/>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rgbClr val="0D0D0D"/>
                </a:solidFill>
                <a:latin typeface="Source Code Pro"/>
                <a:ea typeface="Source Code Pro"/>
                <a:cs typeface="Source Code Pro"/>
                <a:sym typeface="Source Code Pro"/>
              </a:rPr>
              <a:t>fruits.append("orange")</a:t>
            </a:r>
            <a:endParaRPr sz="1900">
              <a:solidFill>
                <a:srgbClr val="0D0D0D"/>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rgbClr val="0D0D0D"/>
                </a:solidFill>
                <a:latin typeface="Source Code Pro"/>
                <a:ea typeface="Source Code Pro"/>
                <a:cs typeface="Source Code Pro"/>
                <a:sym typeface="Source Code Pro"/>
              </a:rPr>
              <a:t>print(fruits)	</a:t>
            </a:r>
            <a:endParaRPr sz="1900">
              <a:solidFill>
                <a:srgbClr val="0D0D0D"/>
              </a:solidFill>
              <a:latin typeface="Source Code Pro"/>
              <a:ea typeface="Source Code Pro"/>
              <a:cs typeface="Source Code Pro"/>
              <a:sym typeface="Source Code Pro"/>
            </a:endParaRPr>
          </a:p>
          <a:p>
            <a:pPr marL="0" indent="0">
              <a:lnSpc>
                <a:spcPct val="90000"/>
              </a:lnSpc>
              <a:spcBef>
                <a:spcPts val="1459"/>
              </a:spcBef>
              <a:buNone/>
            </a:pPr>
            <a:r>
              <a:rPr lang="en" sz="1900" dirty="0">
                <a:solidFill>
                  <a:srgbClr val="0D0D0D"/>
                </a:solidFill>
                <a:latin typeface="Source Code Pro"/>
                <a:ea typeface="Source Code Pro"/>
                <a:cs typeface="Source Code Pro"/>
                <a:sym typeface="Source Code Pro"/>
              </a:rPr>
              <a:t> </a:t>
            </a:r>
            <a:endParaRPr sz="1900">
              <a:solidFill>
                <a:srgbClr val="0D0D0D"/>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rgbClr val="ED7D31"/>
                </a:solidFill>
                <a:latin typeface="Source Code Pro"/>
                <a:ea typeface="Source Code Pro"/>
                <a:cs typeface="Source Code Pro"/>
                <a:sym typeface="Source Code Pro"/>
              </a:rPr>
              <a:t>output: [ ‘apple’ , ‘banana’ , ‘cherry’ , ‘orange’]</a:t>
            </a:r>
            <a:endParaRPr sz="1900">
              <a:solidFill>
                <a:srgbClr val="ED7D31"/>
              </a:solidFill>
              <a:latin typeface="Source Code Pro"/>
              <a:ea typeface="Source Code Pro"/>
              <a:cs typeface="Source Code Pro"/>
              <a:sym typeface="Source Code Pro"/>
            </a:endParaRPr>
          </a:p>
          <a:p>
            <a:pPr marL="0" indent="0">
              <a:spcAft>
                <a:spcPts val="1751"/>
              </a:spcAft>
              <a:buNone/>
            </a:pPr>
            <a:endParaRPr/>
          </a:p>
        </p:txBody>
      </p:sp>
      <p:sp>
        <p:nvSpPr>
          <p:cNvPr id="323" name="Google Shape;323;p53"/>
          <p:cNvSpPr txBox="1">
            <a:spLocks noGrp="1"/>
          </p:cNvSpPr>
          <p:nvPr>
            <p:ph type="body" idx="2"/>
          </p:nvPr>
        </p:nvSpPr>
        <p:spPr>
          <a:xfrm>
            <a:off x="6668880" y="1843960"/>
            <a:ext cx="5520001" cy="5466240"/>
          </a:xfrm>
          <a:prstGeom prst="rect">
            <a:avLst/>
          </a:prstGeom>
        </p:spPr>
        <p:txBody>
          <a:bodyPr spcFirstLastPara="1" wrap="square" lIns="133407" tIns="133407" rIns="133407" bIns="133407" anchor="t" anchorCtr="0">
            <a:normAutofit/>
          </a:bodyPr>
          <a:lstStyle/>
          <a:p>
            <a:pPr marL="0" indent="0">
              <a:lnSpc>
                <a:spcPct val="90000"/>
              </a:lnSpc>
              <a:spcBef>
                <a:spcPts val="1459"/>
              </a:spcBef>
              <a:buClr>
                <a:schemeClr val="dk2"/>
              </a:buClr>
              <a:buSzPts val="1100"/>
              <a:buNone/>
            </a:pPr>
            <a:r>
              <a:rPr lang="en" sz="1900" dirty="0">
                <a:solidFill>
                  <a:srgbClr val="ED7D31"/>
                </a:solidFill>
                <a:latin typeface="Source Code Pro"/>
                <a:ea typeface="Source Code Pro"/>
                <a:cs typeface="Source Code Pro"/>
                <a:sym typeface="Source Code Pro"/>
              </a:rPr>
              <a:t>clear()</a:t>
            </a:r>
            <a:endParaRPr sz="1900">
              <a:solidFill>
                <a:srgbClr val="ED7D31"/>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chemeClr val="dk2"/>
                </a:solidFill>
                <a:latin typeface="Source Code Pro"/>
                <a:ea typeface="Source Code Pro"/>
                <a:cs typeface="Source Code Pro"/>
                <a:sym typeface="Source Code Pro"/>
              </a:rPr>
              <a:t>Example:</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chemeClr val="dk2"/>
                </a:solidFill>
                <a:latin typeface="Source Code Pro"/>
                <a:ea typeface="Source Code Pro"/>
                <a:cs typeface="Source Code Pro"/>
                <a:sym typeface="Source Code Pro"/>
              </a:rPr>
              <a:t>fruits = ["apple", "banana", "cherry"]</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None/>
            </a:pP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chemeClr val="dk2"/>
                </a:solidFill>
                <a:latin typeface="Source Code Pro"/>
                <a:ea typeface="Source Code Pro"/>
                <a:cs typeface="Source Code Pro"/>
                <a:sym typeface="Source Code Pro"/>
              </a:rPr>
              <a:t>fruits.clear()</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chemeClr val="dk2"/>
                </a:solidFill>
                <a:latin typeface="Source Code Pro"/>
                <a:ea typeface="Source Code Pro"/>
                <a:cs typeface="Source Code Pro"/>
                <a:sym typeface="Source Code Pro"/>
              </a:rPr>
              <a:t>print(fruits)</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None/>
            </a:pPr>
            <a:endParaRPr sz="1900">
              <a:solidFill>
                <a:srgbClr val="ED7D31"/>
              </a:solidFill>
              <a:latin typeface="Source Code Pro"/>
              <a:ea typeface="Source Code Pro"/>
              <a:cs typeface="Source Code Pro"/>
              <a:sym typeface="Source Code Pro"/>
            </a:endParaRPr>
          </a:p>
          <a:p>
            <a:pPr marL="0" indent="0">
              <a:lnSpc>
                <a:spcPct val="90000"/>
              </a:lnSpc>
              <a:spcBef>
                <a:spcPts val="1459"/>
              </a:spcBef>
              <a:buNone/>
            </a:pPr>
            <a:r>
              <a:rPr lang="en" sz="1900" dirty="0">
                <a:solidFill>
                  <a:srgbClr val="ED7D31"/>
                </a:solidFill>
                <a:latin typeface="Source Code Pro"/>
                <a:ea typeface="Source Code Pro"/>
                <a:cs typeface="Source Code Pro"/>
                <a:sym typeface="Source Code Pro"/>
              </a:rPr>
              <a:t>output: []</a:t>
            </a:r>
            <a:endParaRPr sz="1900">
              <a:latin typeface="Source Code Pro"/>
              <a:ea typeface="Source Code Pro"/>
              <a:cs typeface="Source Code Pro"/>
              <a:sym typeface="Source Code Pr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4"/>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spcBef>
                <a:spcPts val="0"/>
              </a:spcBef>
            </a:pPr>
            <a:r>
              <a:rPr lang="en" dirty="0"/>
              <a:t>Tuple Operations</a:t>
            </a:r>
            <a:endParaRPr/>
          </a:p>
        </p:txBody>
      </p:sp>
      <p:graphicFrame>
        <p:nvGraphicFramePr>
          <p:cNvPr id="329" name="Google Shape;329;p54"/>
          <p:cNvGraphicFramePr/>
          <p:nvPr/>
        </p:nvGraphicFramePr>
        <p:xfrm>
          <a:off x="1314483" y="3200400"/>
          <a:ext cx="9990072" cy="2136038"/>
        </p:xfrm>
        <a:graphic>
          <a:graphicData uri="http://schemas.openxmlformats.org/drawingml/2006/table">
            <a:tbl>
              <a:tblPr>
                <a:noFill/>
              </a:tblPr>
              <a:tblGrid>
                <a:gridCol w="2051491"/>
                <a:gridCol w="7938581"/>
              </a:tblGrid>
              <a:tr h="609600">
                <a:tc>
                  <a:txBody>
                    <a:bodyPr/>
                    <a:lstStyle/>
                    <a:p>
                      <a:pPr marL="0" lvl="0" indent="0" algn="l" rtl="0">
                        <a:lnSpc>
                          <a:spcPct val="115000"/>
                        </a:lnSpc>
                        <a:spcBef>
                          <a:spcPts val="1500"/>
                        </a:spcBef>
                        <a:spcAft>
                          <a:spcPts val="1500"/>
                        </a:spcAft>
                        <a:buNone/>
                      </a:pPr>
                      <a:r>
                        <a:rPr lang="en" sz="1900" b="1">
                          <a:highlight>
                            <a:srgbClr val="FFFFFF"/>
                          </a:highlight>
                          <a:latin typeface="Verdana"/>
                          <a:ea typeface="Verdana"/>
                          <a:cs typeface="Verdana"/>
                          <a:sym typeface="Verdana"/>
                        </a:rPr>
                        <a:t>Method</a:t>
                      </a:r>
                      <a:endParaRPr sz="1900" b="1">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900" b="1">
                          <a:highlight>
                            <a:srgbClr val="FFFFFF"/>
                          </a:highlight>
                          <a:latin typeface="Verdana"/>
                          <a:ea typeface="Verdana"/>
                          <a:cs typeface="Verdana"/>
                          <a:sym typeface="Verdana"/>
                        </a:rPr>
                        <a:t>Description</a:t>
                      </a:r>
                      <a:endParaRPr sz="1900" b="1">
                        <a:highlight>
                          <a:srgbClr val="FFFFFF"/>
                        </a:highlight>
                        <a:latin typeface="Verdana"/>
                        <a:ea typeface="Verdana"/>
                        <a:cs typeface="Verdana"/>
                        <a:sym typeface="Verdana"/>
                      </a:endParaRPr>
                    </a:p>
                  </a:txBody>
                  <a:tcPr marL="105159" marR="105159" marT="121920" marB="121920"/>
                </a:tc>
              </a:tr>
              <a:tr h="609600">
                <a:tc>
                  <a:txBody>
                    <a:bodyPr/>
                    <a:lstStyle/>
                    <a:p>
                      <a:pPr marL="0" lvl="0" indent="0" algn="l" rtl="0">
                        <a:lnSpc>
                          <a:spcPct val="115000"/>
                        </a:lnSpc>
                        <a:spcBef>
                          <a:spcPts val="1500"/>
                        </a:spcBef>
                        <a:spcAft>
                          <a:spcPts val="1500"/>
                        </a:spcAft>
                        <a:buNone/>
                      </a:pPr>
                      <a:r>
                        <a:rPr lang="en" sz="1900" u="sng">
                          <a:solidFill>
                            <a:schemeClr val="hlink"/>
                          </a:solidFill>
                          <a:highlight>
                            <a:srgbClr val="FFFFFF"/>
                          </a:highlight>
                          <a:latin typeface="Verdana"/>
                          <a:ea typeface="Verdana"/>
                          <a:cs typeface="Verdana"/>
                          <a:sym typeface="Verdana"/>
                          <a:hlinkClick r:id="rId3"/>
                        </a:rPr>
                        <a:t>count()</a:t>
                      </a:r>
                      <a:endParaRPr sz="19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900">
                          <a:highlight>
                            <a:srgbClr val="FFFFFF"/>
                          </a:highlight>
                          <a:latin typeface="Verdana"/>
                          <a:ea typeface="Verdana"/>
                          <a:cs typeface="Verdana"/>
                          <a:sym typeface="Verdana"/>
                        </a:rPr>
                        <a:t>Returns the number of times a specified value occurs in a tuple</a:t>
                      </a:r>
                      <a:endParaRPr sz="1900">
                        <a:highlight>
                          <a:srgbClr val="FFFFFF"/>
                        </a:highlight>
                        <a:latin typeface="Verdana"/>
                        <a:ea typeface="Verdana"/>
                        <a:cs typeface="Verdana"/>
                        <a:sym typeface="Verdana"/>
                      </a:endParaRPr>
                    </a:p>
                  </a:txBody>
                  <a:tcPr marL="105159" marR="105159" marT="121920" marB="121920"/>
                </a:tc>
              </a:tr>
              <a:tr h="916838">
                <a:tc>
                  <a:txBody>
                    <a:bodyPr/>
                    <a:lstStyle/>
                    <a:p>
                      <a:pPr marL="0" lvl="0" indent="0" algn="l" rtl="0">
                        <a:lnSpc>
                          <a:spcPct val="115000"/>
                        </a:lnSpc>
                        <a:spcBef>
                          <a:spcPts val="1500"/>
                        </a:spcBef>
                        <a:spcAft>
                          <a:spcPts val="1500"/>
                        </a:spcAft>
                        <a:buNone/>
                      </a:pPr>
                      <a:r>
                        <a:rPr lang="en" sz="1900" u="sng">
                          <a:solidFill>
                            <a:schemeClr val="hlink"/>
                          </a:solidFill>
                          <a:highlight>
                            <a:srgbClr val="FFFFFF"/>
                          </a:highlight>
                          <a:latin typeface="Verdana"/>
                          <a:ea typeface="Verdana"/>
                          <a:cs typeface="Verdana"/>
                          <a:sym typeface="Verdana"/>
                          <a:hlinkClick r:id="rId4"/>
                        </a:rPr>
                        <a:t>index()</a:t>
                      </a:r>
                      <a:endParaRPr sz="19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900">
                          <a:highlight>
                            <a:srgbClr val="FFFFFF"/>
                          </a:highlight>
                          <a:latin typeface="Verdana"/>
                          <a:ea typeface="Verdana"/>
                          <a:cs typeface="Verdana"/>
                          <a:sym typeface="Verdana"/>
                        </a:rPr>
                        <a:t>Searches the tuple for a specified value and returns the position of where it was found</a:t>
                      </a:r>
                      <a:endParaRPr sz="1900">
                        <a:highlight>
                          <a:srgbClr val="FFFFFF"/>
                        </a:highlight>
                        <a:latin typeface="Verdana"/>
                        <a:ea typeface="Verdana"/>
                        <a:cs typeface="Verdana"/>
                        <a:sym typeface="Verdana"/>
                      </a:endParaRPr>
                    </a:p>
                  </a:txBody>
                  <a:tcPr marL="105159" marR="105159" marT="121920" marB="121920"/>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5"/>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spcBef>
                <a:spcPts val="0"/>
              </a:spcBef>
            </a:pPr>
            <a:r>
              <a:rPr lang="en" dirty="0"/>
              <a:t>Set Operations</a:t>
            </a:r>
            <a:endParaRPr/>
          </a:p>
        </p:txBody>
      </p:sp>
      <p:graphicFrame>
        <p:nvGraphicFramePr>
          <p:cNvPr id="335" name="Google Shape;335;p55"/>
          <p:cNvGraphicFramePr/>
          <p:nvPr/>
        </p:nvGraphicFramePr>
        <p:xfrm>
          <a:off x="731902" y="1709481"/>
          <a:ext cx="11308522" cy="6368800"/>
        </p:xfrm>
        <a:graphic>
          <a:graphicData uri="http://schemas.openxmlformats.org/drawingml/2006/table">
            <a:tbl>
              <a:tblPr>
                <a:noFill/>
              </a:tblPr>
              <a:tblGrid>
                <a:gridCol w="3103215"/>
                <a:gridCol w="8205307"/>
              </a:tblGrid>
              <a:tr h="593920">
                <a:tc>
                  <a:txBody>
                    <a:bodyPr/>
                    <a:lstStyle/>
                    <a:p>
                      <a:pPr marL="0" lvl="0" indent="0" algn="l" rtl="0">
                        <a:lnSpc>
                          <a:spcPct val="100000"/>
                        </a:lnSpc>
                        <a:spcBef>
                          <a:spcPts val="1500"/>
                        </a:spcBef>
                        <a:spcAft>
                          <a:spcPts val="1500"/>
                        </a:spcAft>
                        <a:buNone/>
                      </a:pPr>
                      <a:r>
                        <a:rPr lang="en" sz="1800" b="1">
                          <a:highlight>
                            <a:srgbClr val="FFFFFF"/>
                          </a:highlight>
                          <a:latin typeface="Verdana"/>
                          <a:ea typeface="Verdana"/>
                          <a:cs typeface="Verdana"/>
                          <a:sym typeface="Verdana"/>
                        </a:rPr>
                        <a:t>Method</a:t>
                      </a:r>
                      <a:endParaRPr sz="1800" b="1">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b="1">
                          <a:highlight>
                            <a:srgbClr val="FFFFFF"/>
                          </a:highlight>
                          <a:latin typeface="Verdana"/>
                          <a:ea typeface="Verdana"/>
                          <a:cs typeface="Verdana"/>
                          <a:sym typeface="Verdana"/>
                        </a:rPr>
                        <a:t>Description</a:t>
                      </a:r>
                      <a:endParaRPr sz="1800" b="1">
                        <a:highlight>
                          <a:srgbClr val="FFFFFF"/>
                        </a:highlight>
                        <a:latin typeface="Verdana"/>
                        <a:ea typeface="Verdana"/>
                        <a:cs typeface="Verdana"/>
                        <a:sym typeface="Verdana"/>
                      </a:endParaRPr>
                    </a:p>
                  </a:txBody>
                  <a:tcPr marL="105159" marR="105159" marT="121920" marB="121920"/>
                </a:tc>
              </a:tr>
              <a:tr h="593920">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3"/>
                        </a:rPr>
                        <a:t>add()</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Adds an element to the set</a:t>
                      </a:r>
                      <a:endParaRPr sz="1800">
                        <a:highlight>
                          <a:srgbClr val="FFFFFF"/>
                        </a:highlight>
                        <a:latin typeface="Verdana"/>
                        <a:ea typeface="Verdana"/>
                        <a:cs typeface="Verdana"/>
                        <a:sym typeface="Verdana"/>
                      </a:endParaRPr>
                    </a:p>
                  </a:txBody>
                  <a:tcPr marL="105159" marR="105159" marT="121920" marB="121920"/>
                </a:tc>
              </a:tr>
              <a:tr h="593920">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4"/>
                        </a:rPr>
                        <a:t>clear()</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Removes all the elements from the set</a:t>
                      </a:r>
                      <a:endParaRPr sz="1800">
                        <a:highlight>
                          <a:srgbClr val="FFFFFF"/>
                        </a:highlight>
                        <a:latin typeface="Verdana"/>
                        <a:ea typeface="Verdana"/>
                        <a:cs typeface="Verdana"/>
                        <a:sym typeface="Verdana"/>
                      </a:endParaRPr>
                    </a:p>
                  </a:txBody>
                  <a:tcPr marL="105159" marR="105159" marT="121920" marB="121920"/>
                </a:tc>
              </a:tr>
              <a:tr h="593920">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5"/>
                        </a:rPr>
                        <a:t>copy()</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Returns a copy of the set</a:t>
                      </a:r>
                      <a:endParaRPr sz="1800">
                        <a:highlight>
                          <a:srgbClr val="FFFFFF"/>
                        </a:highlight>
                        <a:latin typeface="Verdana"/>
                        <a:ea typeface="Verdana"/>
                        <a:cs typeface="Verdana"/>
                        <a:sym typeface="Verdana"/>
                      </a:endParaRPr>
                    </a:p>
                  </a:txBody>
                  <a:tcPr marL="105159" marR="105159" marT="121920" marB="121920"/>
                </a:tc>
              </a:tr>
              <a:tr h="593920">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6"/>
                        </a:rPr>
                        <a:t>difference()</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Returns a set containing the difference between two or more sets</a:t>
                      </a:r>
                      <a:endParaRPr sz="1800">
                        <a:highlight>
                          <a:srgbClr val="FFFFFF"/>
                        </a:highlight>
                        <a:latin typeface="Verdana"/>
                        <a:ea typeface="Verdana"/>
                        <a:cs typeface="Verdana"/>
                        <a:sym typeface="Verdana"/>
                      </a:endParaRPr>
                    </a:p>
                  </a:txBody>
                  <a:tcPr marL="105159" marR="105159" marT="121920" marB="121920"/>
                </a:tc>
              </a:tr>
              <a:tr h="647240">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7"/>
                        </a:rPr>
                        <a:t>difference_update()</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Removes the items in this set that are also included in another, specified set</a:t>
                      </a:r>
                      <a:endParaRPr sz="1800">
                        <a:highlight>
                          <a:srgbClr val="FFFFFF"/>
                        </a:highlight>
                        <a:latin typeface="Verdana"/>
                        <a:ea typeface="Verdana"/>
                        <a:cs typeface="Verdana"/>
                        <a:sym typeface="Verdana"/>
                      </a:endParaRPr>
                    </a:p>
                  </a:txBody>
                  <a:tcPr marL="105159" marR="105159" marT="121920" marB="121920"/>
                </a:tc>
              </a:tr>
              <a:tr h="593920">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8"/>
                        </a:rPr>
                        <a:t>discard()</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Remove the specified item</a:t>
                      </a:r>
                      <a:endParaRPr sz="1800">
                        <a:highlight>
                          <a:srgbClr val="FFFFFF"/>
                        </a:highlight>
                        <a:latin typeface="Verdana"/>
                        <a:ea typeface="Verdana"/>
                        <a:cs typeface="Verdana"/>
                        <a:sym typeface="Verdana"/>
                      </a:endParaRPr>
                    </a:p>
                  </a:txBody>
                  <a:tcPr marL="105159" marR="105159" marT="121920" marB="121920"/>
                </a:tc>
              </a:tr>
              <a:tr h="593920">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9"/>
                        </a:rPr>
                        <a:t>intersection()</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Returns a set, that is the intersection of two or more sets</a:t>
                      </a:r>
                      <a:endParaRPr sz="1800">
                        <a:highlight>
                          <a:srgbClr val="FFFFFF"/>
                        </a:highlight>
                        <a:latin typeface="Verdana"/>
                        <a:ea typeface="Verdana"/>
                        <a:cs typeface="Verdana"/>
                        <a:sym typeface="Verdana"/>
                      </a:endParaRPr>
                    </a:p>
                  </a:txBody>
                  <a:tcPr marL="105159" marR="105159" marT="121920" marB="121920"/>
                </a:tc>
              </a:tr>
              <a:tr h="824960">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10"/>
                        </a:rPr>
                        <a:t>intersection_update()</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Removes the items in this set that are not present in other, specified set(s)</a:t>
                      </a:r>
                      <a:endParaRPr sz="1800">
                        <a:highlight>
                          <a:srgbClr val="FFFFFF"/>
                        </a:highlight>
                        <a:latin typeface="Verdana"/>
                        <a:ea typeface="Verdana"/>
                        <a:cs typeface="Verdana"/>
                        <a:sym typeface="Verdana"/>
                      </a:endParaRPr>
                    </a:p>
                  </a:txBody>
                  <a:tcPr marL="105159" marR="105159" marT="121920" marB="121920"/>
                </a:tc>
              </a:tr>
              <a:tr h="593920">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11"/>
                        </a:rPr>
                        <a:t>isdisjoint()</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Returns whether two sets have a intersection or not</a:t>
                      </a:r>
                      <a:endParaRPr sz="1800">
                        <a:highlight>
                          <a:srgbClr val="FFFFFF"/>
                        </a:highlight>
                        <a:latin typeface="Verdana"/>
                        <a:ea typeface="Verdana"/>
                        <a:cs typeface="Verdana"/>
                        <a:sym typeface="Verdana"/>
                      </a:endParaRPr>
                    </a:p>
                  </a:txBody>
                  <a:tcPr marL="105159" marR="105159" marT="121920" marB="121920"/>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6"/>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spcBef>
                <a:spcPts val="0"/>
              </a:spcBef>
            </a:pPr>
            <a:r>
              <a:rPr lang="en" dirty="0"/>
              <a:t>Set Operations</a:t>
            </a:r>
            <a:endParaRPr/>
          </a:p>
        </p:txBody>
      </p:sp>
      <p:graphicFrame>
        <p:nvGraphicFramePr>
          <p:cNvPr id="341" name="Google Shape;341;p56"/>
          <p:cNvGraphicFramePr/>
          <p:nvPr/>
        </p:nvGraphicFramePr>
        <p:xfrm>
          <a:off x="731902" y="1831401"/>
          <a:ext cx="11308523" cy="5910496"/>
        </p:xfrm>
        <a:graphic>
          <a:graphicData uri="http://schemas.openxmlformats.org/drawingml/2006/table">
            <a:tbl>
              <a:tblPr>
                <a:noFill/>
              </a:tblPr>
              <a:tblGrid>
                <a:gridCol w="3609136"/>
                <a:gridCol w="7699387"/>
              </a:tblGrid>
              <a:tr h="593920">
                <a:tc>
                  <a:txBody>
                    <a:bodyPr/>
                    <a:lstStyle/>
                    <a:p>
                      <a:pPr marL="0" lvl="0" indent="0" algn="l" rtl="0">
                        <a:lnSpc>
                          <a:spcPct val="100000"/>
                        </a:lnSpc>
                        <a:spcBef>
                          <a:spcPts val="1500"/>
                        </a:spcBef>
                        <a:spcAft>
                          <a:spcPts val="1500"/>
                        </a:spcAft>
                        <a:buNone/>
                      </a:pPr>
                      <a:r>
                        <a:rPr lang="en" sz="1800" b="1">
                          <a:highlight>
                            <a:srgbClr val="FFFFFF"/>
                          </a:highlight>
                          <a:latin typeface="Verdana"/>
                          <a:ea typeface="Verdana"/>
                          <a:cs typeface="Verdana"/>
                          <a:sym typeface="Verdana"/>
                        </a:rPr>
                        <a:t>Method</a:t>
                      </a:r>
                      <a:endParaRPr sz="1800" b="1">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b="1">
                          <a:highlight>
                            <a:srgbClr val="FFFFFF"/>
                          </a:highlight>
                          <a:latin typeface="Verdana"/>
                          <a:ea typeface="Verdana"/>
                          <a:cs typeface="Verdana"/>
                          <a:sym typeface="Verdana"/>
                        </a:rPr>
                        <a:t>Description</a:t>
                      </a:r>
                      <a:endParaRPr sz="1800" b="1">
                        <a:highlight>
                          <a:srgbClr val="FFFFFF"/>
                        </a:highlight>
                        <a:latin typeface="Verdana"/>
                        <a:ea typeface="Verdana"/>
                        <a:cs typeface="Verdana"/>
                        <a:sym typeface="Verdana"/>
                      </a:endParaRPr>
                    </a:p>
                  </a:txBody>
                  <a:tcPr marL="105159" marR="105159" marT="121920" marB="121920"/>
                </a:tc>
              </a:tr>
              <a:tr h="593920">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3"/>
                        </a:rPr>
                        <a:t>issubset()</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Returns whether another set contains this set or not</a:t>
                      </a:r>
                      <a:endParaRPr sz="1800">
                        <a:highlight>
                          <a:srgbClr val="FFFFFF"/>
                        </a:highlight>
                        <a:latin typeface="Verdana"/>
                        <a:ea typeface="Verdana"/>
                        <a:cs typeface="Verdana"/>
                        <a:sym typeface="Verdana"/>
                      </a:endParaRPr>
                    </a:p>
                  </a:txBody>
                  <a:tcPr marL="105159" marR="105159" marT="121920" marB="121920"/>
                </a:tc>
              </a:tr>
              <a:tr h="593920">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4"/>
                        </a:rPr>
                        <a:t>issuperset()</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Returns whether this set contains another set or not</a:t>
                      </a:r>
                      <a:endParaRPr sz="1800">
                        <a:highlight>
                          <a:srgbClr val="FFFFFF"/>
                        </a:highlight>
                        <a:latin typeface="Verdana"/>
                        <a:ea typeface="Verdana"/>
                        <a:cs typeface="Verdana"/>
                        <a:sym typeface="Verdana"/>
                      </a:endParaRPr>
                    </a:p>
                  </a:txBody>
                  <a:tcPr marL="105159" marR="105159" marT="121920" marB="121920"/>
                </a:tc>
              </a:tr>
              <a:tr h="593920">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5"/>
                        </a:rPr>
                        <a:t>pop()</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Removes an element from the set</a:t>
                      </a:r>
                      <a:endParaRPr sz="1800">
                        <a:highlight>
                          <a:srgbClr val="FFFFFF"/>
                        </a:highlight>
                        <a:latin typeface="Verdana"/>
                        <a:ea typeface="Verdana"/>
                        <a:cs typeface="Verdana"/>
                        <a:sym typeface="Verdana"/>
                      </a:endParaRPr>
                    </a:p>
                  </a:txBody>
                  <a:tcPr marL="105159" marR="105159" marT="121920" marB="121920"/>
                </a:tc>
              </a:tr>
              <a:tr h="593920">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6"/>
                        </a:rPr>
                        <a:t>remove()</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Removes the specified element</a:t>
                      </a:r>
                      <a:endParaRPr sz="1800">
                        <a:highlight>
                          <a:srgbClr val="FFFFFF"/>
                        </a:highlight>
                        <a:latin typeface="Verdana"/>
                        <a:ea typeface="Verdana"/>
                        <a:cs typeface="Verdana"/>
                        <a:sym typeface="Verdana"/>
                      </a:endParaRPr>
                    </a:p>
                  </a:txBody>
                  <a:tcPr marL="105159" marR="105159" marT="121920" marB="121920"/>
                </a:tc>
              </a:tr>
              <a:tr h="647240">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7"/>
                        </a:rPr>
                        <a:t>symmetric_difference()</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Returns a set with the symmetric differences of two sets</a:t>
                      </a:r>
                      <a:endParaRPr sz="1800">
                        <a:highlight>
                          <a:srgbClr val="FFFFFF"/>
                        </a:highlight>
                        <a:latin typeface="Verdana"/>
                        <a:ea typeface="Verdana"/>
                        <a:cs typeface="Verdana"/>
                        <a:sym typeface="Verdana"/>
                      </a:endParaRPr>
                    </a:p>
                  </a:txBody>
                  <a:tcPr marL="105159" marR="105159" marT="121920" marB="121920"/>
                </a:tc>
              </a:tr>
              <a:tr h="593920">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8"/>
                        </a:rPr>
                        <a:t>symmetric_difference_update()</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inserts the symmetric differences from this set and another</a:t>
                      </a:r>
                      <a:endParaRPr sz="1800">
                        <a:highlight>
                          <a:srgbClr val="FFFFFF"/>
                        </a:highlight>
                        <a:latin typeface="Verdana"/>
                        <a:ea typeface="Verdana"/>
                        <a:cs typeface="Verdana"/>
                        <a:sym typeface="Verdana"/>
                      </a:endParaRPr>
                    </a:p>
                  </a:txBody>
                  <a:tcPr marL="105159" marR="105159" marT="121920" marB="121920"/>
                </a:tc>
              </a:tr>
              <a:tr h="593920">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9"/>
                        </a:rPr>
                        <a:t>union()</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Return a set containing the union of sets</a:t>
                      </a:r>
                      <a:endParaRPr sz="1800">
                        <a:highlight>
                          <a:srgbClr val="FFFFFF"/>
                        </a:highlight>
                        <a:latin typeface="Verdana"/>
                        <a:ea typeface="Verdana"/>
                        <a:cs typeface="Verdana"/>
                        <a:sym typeface="Verdana"/>
                      </a:endParaRPr>
                    </a:p>
                  </a:txBody>
                  <a:tcPr marL="105159" marR="105159" marT="121920" marB="121920"/>
                </a:tc>
              </a:tr>
              <a:tr h="824960">
                <a:tc>
                  <a:txBody>
                    <a:bodyPr/>
                    <a:lstStyle/>
                    <a:p>
                      <a:pPr marL="0" lvl="0" indent="0" algn="l" rtl="0">
                        <a:lnSpc>
                          <a:spcPct val="115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10"/>
                        </a:rPr>
                        <a:t>update()</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15000"/>
                        </a:lnSpc>
                        <a:spcBef>
                          <a:spcPts val="1500"/>
                        </a:spcBef>
                        <a:spcAft>
                          <a:spcPts val="1500"/>
                        </a:spcAft>
                        <a:buNone/>
                      </a:pPr>
                      <a:r>
                        <a:rPr lang="en" sz="1800">
                          <a:highlight>
                            <a:srgbClr val="FFFFFF"/>
                          </a:highlight>
                          <a:latin typeface="Verdana"/>
                          <a:ea typeface="Verdana"/>
                          <a:cs typeface="Verdana"/>
                          <a:sym typeface="Verdana"/>
                        </a:rPr>
                        <a:t>Update the set with another set, or any other iterable</a:t>
                      </a:r>
                      <a:endParaRPr sz="1800">
                        <a:highlight>
                          <a:srgbClr val="FFFFFF"/>
                        </a:highlight>
                        <a:latin typeface="Verdana"/>
                        <a:ea typeface="Verdana"/>
                        <a:cs typeface="Verdana"/>
                        <a:sym typeface="Verdana"/>
                      </a:endParaRPr>
                    </a:p>
                  </a:txBody>
                  <a:tcPr marL="105159" marR="105159" marT="121920" marB="121920"/>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7"/>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spcBef>
                <a:spcPts val="0"/>
              </a:spcBef>
            </a:pPr>
            <a:r>
              <a:rPr lang="en" dirty="0"/>
              <a:t>Dictionary Operations</a:t>
            </a:r>
            <a:endParaRPr/>
          </a:p>
        </p:txBody>
      </p:sp>
      <p:graphicFrame>
        <p:nvGraphicFramePr>
          <p:cNvPr id="347" name="Google Shape;347;p57"/>
          <p:cNvGraphicFramePr/>
          <p:nvPr/>
        </p:nvGraphicFramePr>
        <p:xfrm>
          <a:off x="1038512" y="1616054"/>
          <a:ext cx="10549642" cy="6613536"/>
        </p:xfrm>
        <a:graphic>
          <a:graphicData uri="http://schemas.openxmlformats.org/drawingml/2006/table">
            <a:tbl>
              <a:tblPr>
                <a:noFill/>
              </a:tblPr>
              <a:tblGrid>
                <a:gridCol w="2009814"/>
                <a:gridCol w="8539828"/>
              </a:tblGrid>
              <a:tr h="524256">
                <a:tc>
                  <a:txBody>
                    <a:bodyPr/>
                    <a:lstStyle/>
                    <a:p>
                      <a:pPr marL="0" lvl="0" indent="0" algn="l" rtl="0">
                        <a:lnSpc>
                          <a:spcPct val="100000"/>
                        </a:lnSpc>
                        <a:spcBef>
                          <a:spcPts val="1500"/>
                        </a:spcBef>
                        <a:spcAft>
                          <a:spcPts val="1500"/>
                        </a:spcAft>
                        <a:buNone/>
                      </a:pPr>
                      <a:r>
                        <a:rPr lang="en" sz="1800" b="1">
                          <a:highlight>
                            <a:srgbClr val="FFFFFF"/>
                          </a:highlight>
                          <a:latin typeface="Verdana"/>
                          <a:ea typeface="Verdana"/>
                          <a:cs typeface="Verdana"/>
                          <a:sym typeface="Verdana"/>
                        </a:rPr>
                        <a:t>Method</a:t>
                      </a:r>
                      <a:endParaRPr sz="1800" b="1">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b="1">
                          <a:highlight>
                            <a:srgbClr val="FFFFFF"/>
                          </a:highlight>
                          <a:latin typeface="Verdana"/>
                          <a:ea typeface="Verdana"/>
                          <a:cs typeface="Verdana"/>
                          <a:sym typeface="Verdana"/>
                        </a:rPr>
                        <a:t>Description</a:t>
                      </a:r>
                      <a:endParaRPr sz="1800" b="1">
                        <a:highlight>
                          <a:srgbClr val="FFFFFF"/>
                        </a:highlight>
                        <a:latin typeface="Verdana"/>
                        <a:ea typeface="Verdana"/>
                        <a:cs typeface="Verdana"/>
                        <a:sym typeface="Verdana"/>
                      </a:endParaRPr>
                    </a:p>
                  </a:txBody>
                  <a:tcPr marL="105159" marR="105159" marT="121920" marB="121920"/>
                </a:tc>
              </a:tr>
              <a:tr h="524256">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3"/>
                        </a:rPr>
                        <a:t>clear()</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Removes all the elements from the dictionary</a:t>
                      </a:r>
                      <a:endParaRPr sz="1800">
                        <a:highlight>
                          <a:srgbClr val="FFFFFF"/>
                        </a:highlight>
                        <a:latin typeface="Verdana"/>
                        <a:ea typeface="Verdana"/>
                        <a:cs typeface="Verdana"/>
                        <a:sym typeface="Verdana"/>
                      </a:endParaRPr>
                    </a:p>
                  </a:txBody>
                  <a:tcPr marL="105159" marR="105159" marT="121920" marB="121920"/>
                </a:tc>
              </a:tr>
              <a:tr h="524256">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4"/>
                        </a:rPr>
                        <a:t>copy()</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Returns a copy of the dictionary</a:t>
                      </a:r>
                      <a:endParaRPr sz="1800">
                        <a:highlight>
                          <a:srgbClr val="FFFFFF"/>
                        </a:highlight>
                        <a:latin typeface="Verdana"/>
                        <a:ea typeface="Verdana"/>
                        <a:cs typeface="Verdana"/>
                        <a:sym typeface="Verdana"/>
                      </a:endParaRPr>
                    </a:p>
                  </a:txBody>
                  <a:tcPr marL="105159" marR="105159" marT="121920" marB="121920"/>
                </a:tc>
              </a:tr>
              <a:tr h="524256">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5"/>
                        </a:rPr>
                        <a:t>fromkeys()</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Returns a dictionary with the specified keys and value</a:t>
                      </a:r>
                      <a:endParaRPr sz="1800">
                        <a:highlight>
                          <a:srgbClr val="FFFFFF"/>
                        </a:highlight>
                        <a:latin typeface="Verdana"/>
                        <a:ea typeface="Verdana"/>
                        <a:cs typeface="Verdana"/>
                        <a:sym typeface="Verdana"/>
                      </a:endParaRPr>
                    </a:p>
                  </a:txBody>
                  <a:tcPr marL="105159" marR="105159" marT="121920" marB="121920"/>
                </a:tc>
              </a:tr>
              <a:tr h="524256">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6"/>
                        </a:rPr>
                        <a:t>get()</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Returns the value of the specified key</a:t>
                      </a:r>
                      <a:endParaRPr sz="1800">
                        <a:highlight>
                          <a:srgbClr val="FFFFFF"/>
                        </a:highlight>
                        <a:latin typeface="Verdana"/>
                        <a:ea typeface="Verdana"/>
                        <a:cs typeface="Verdana"/>
                        <a:sym typeface="Verdana"/>
                      </a:endParaRPr>
                    </a:p>
                  </a:txBody>
                  <a:tcPr marL="105159" marR="105159" marT="121920" marB="121920"/>
                </a:tc>
              </a:tr>
              <a:tr h="524256">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7"/>
                        </a:rPr>
                        <a:t>items()</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Returns a list containing a tuple for each key value pair</a:t>
                      </a:r>
                      <a:endParaRPr sz="1800">
                        <a:highlight>
                          <a:srgbClr val="FFFFFF"/>
                        </a:highlight>
                        <a:latin typeface="Verdana"/>
                        <a:ea typeface="Verdana"/>
                        <a:cs typeface="Verdana"/>
                        <a:sym typeface="Verdana"/>
                      </a:endParaRPr>
                    </a:p>
                  </a:txBody>
                  <a:tcPr marL="105159" marR="105159" marT="121920" marB="121920"/>
                </a:tc>
              </a:tr>
              <a:tr h="524256">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8"/>
                        </a:rPr>
                        <a:t>keys()</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Returns a list containing the dictionary's keys</a:t>
                      </a:r>
                      <a:endParaRPr sz="1800">
                        <a:highlight>
                          <a:srgbClr val="FFFFFF"/>
                        </a:highlight>
                        <a:latin typeface="Verdana"/>
                        <a:ea typeface="Verdana"/>
                        <a:cs typeface="Verdana"/>
                        <a:sym typeface="Verdana"/>
                      </a:endParaRPr>
                    </a:p>
                  </a:txBody>
                  <a:tcPr marL="105159" marR="105159" marT="121920" marB="121920"/>
                </a:tc>
              </a:tr>
              <a:tr h="524256">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9"/>
                        </a:rPr>
                        <a:t>pop()</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Removes the element with the specified key</a:t>
                      </a:r>
                      <a:endParaRPr sz="1800">
                        <a:highlight>
                          <a:srgbClr val="FFFFFF"/>
                        </a:highlight>
                        <a:latin typeface="Verdana"/>
                        <a:ea typeface="Verdana"/>
                        <a:cs typeface="Verdana"/>
                        <a:sym typeface="Verdana"/>
                      </a:endParaRPr>
                    </a:p>
                  </a:txBody>
                  <a:tcPr marL="105159" marR="105159" marT="121920" marB="121920"/>
                </a:tc>
              </a:tr>
              <a:tr h="524256">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10"/>
                        </a:rPr>
                        <a:t>popitem()</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Removes the last inserted key-value pair</a:t>
                      </a:r>
                      <a:endParaRPr sz="1800">
                        <a:highlight>
                          <a:srgbClr val="FFFFFF"/>
                        </a:highlight>
                        <a:latin typeface="Verdana"/>
                        <a:ea typeface="Verdana"/>
                        <a:cs typeface="Verdana"/>
                        <a:sym typeface="Verdana"/>
                      </a:endParaRPr>
                    </a:p>
                  </a:txBody>
                  <a:tcPr marL="105159" marR="105159" marT="121920" marB="121920"/>
                </a:tc>
              </a:tr>
              <a:tr h="846720">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11"/>
                        </a:rPr>
                        <a:t>setdefault()</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Returns the value of the specified key. If the key does not exist: insert the key, with the specified value</a:t>
                      </a:r>
                      <a:endParaRPr sz="1800">
                        <a:highlight>
                          <a:srgbClr val="FFFFFF"/>
                        </a:highlight>
                        <a:latin typeface="Verdana"/>
                        <a:ea typeface="Verdana"/>
                        <a:cs typeface="Verdana"/>
                        <a:sym typeface="Verdana"/>
                      </a:endParaRPr>
                    </a:p>
                  </a:txBody>
                  <a:tcPr marL="105159" marR="105159" marT="121920" marB="121920"/>
                </a:tc>
              </a:tr>
              <a:tr h="524256">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12"/>
                        </a:rPr>
                        <a:t>update()</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Updates the dictionary with the specified key-value pairs</a:t>
                      </a:r>
                      <a:endParaRPr sz="1800">
                        <a:highlight>
                          <a:srgbClr val="FFFFFF"/>
                        </a:highlight>
                        <a:latin typeface="Verdana"/>
                        <a:ea typeface="Verdana"/>
                        <a:cs typeface="Verdana"/>
                        <a:sym typeface="Verdana"/>
                      </a:endParaRPr>
                    </a:p>
                  </a:txBody>
                  <a:tcPr marL="105159" marR="105159" marT="121920" marB="121920"/>
                </a:tc>
              </a:tr>
              <a:tr h="524256">
                <a:tc>
                  <a:txBody>
                    <a:bodyPr/>
                    <a:lstStyle/>
                    <a:p>
                      <a:pPr marL="0" lvl="0" indent="0" algn="l" rtl="0">
                        <a:lnSpc>
                          <a:spcPct val="100000"/>
                        </a:lnSpc>
                        <a:spcBef>
                          <a:spcPts val="1500"/>
                        </a:spcBef>
                        <a:spcAft>
                          <a:spcPts val="1500"/>
                        </a:spcAft>
                        <a:buNone/>
                      </a:pPr>
                      <a:r>
                        <a:rPr lang="en" sz="1800" u="sng">
                          <a:solidFill>
                            <a:schemeClr val="hlink"/>
                          </a:solidFill>
                          <a:highlight>
                            <a:srgbClr val="FFFFFF"/>
                          </a:highlight>
                          <a:latin typeface="Verdana"/>
                          <a:ea typeface="Verdana"/>
                          <a:cs typeface="Verdana"/>
                          <a:sym typeface="Verdana"/>
                          <a:hlinkClick r:id="rId13"/>
                        </a:rPr>
                        <a:t>values()</a:t>
                      </a:r>
                      <a:endParaRPr sz="1800" u="sng">
                        <a:solidFill>
                          <a:schemeClr val="hlink"/>
                        </a:solidFill>
                        <a:highlight>
                          <a:srgbClr val="FFFFFF"/>
                        </a:highlight>
                        <a:latin typeface="Verdana"/>
                        <a:ea typeface="Verdana"/>
                        <a:cs typeface="Verdana"/>
                        <a:sym typeface="Verdana"/>
                      </a:endParaRPr>
                    </a:p>
                  </a:txBody>
                  <a:tcPr marL="210317" marR="105159" marT="121920" marB="121920"/>
                </a:tc>
                <a:tc>
                  <a:txBody>
                    <a:bodyPr/>
                    <a:lstStyle/>
                    <a:p>
                      <a:pPr marL="0" lvl="0" indent="0" algn="l" rtl="0">
                        <a:lnSpc>
                          <a:spcPct val="100000"/>
                        </a:lnSpc>
                        <a:spcBef>
                          <a:spcPts val="1500"/>
                        </a:spcBef>
                        <a:spcAft>
                          <a:spcPts val="1500"/>
                        </a:spcAft>
                        <a:buNone/>
                      </a:pPr>
                      <a:r>
                        <a:rPr lang="en" sz="1800">
                          <a:highlight>
                            <a:srgbClr val="FFFFFF"/>
                          </a:highlight>
                          <a:latin typeface="Verdana"/>
                          <a:ea typeface="Verdana"/>
                          <a:cs typeface="Verdana"/>
                          <a:sym typeface="Verdana"/>
                        </a:rPr>
                        <a:t>Returns a list of all the values in the dictionary</a:t>
                      </a:r>
                      <a:endParaRPr sz="1800">
                        <a:highlight>
                          <a:srgbClr val="FFFFFF"/>
                        </a:highlight>
                        <a:latin typeface="Verdana"/>
                        <a:ea typeface="Verdana"/>
                        <a:cs typeface="Verdana"/>
                        <a:sym typeface="Verdana"/>
                      </a:endParaRPr>
                    </a:p>
                  </a:txBody>
                  <a:tcPr marL="105159" marR="105159" marT="121920" marB="121920"/>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58"/>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spcBef>
                <a:spcPts val="0"/>
              </a:spcBef>
            </a:pPr>
            <a:r>
              <a:rPr lang="en" dirty="0"/>
              <a:t>String Operations</a:t>
            </a:r>
            <a:endParaRPr/>
          </a:p>
        </p:txBody>
      </p:sp>
      <p:graphicFrame>
        <p:nvGraphicFramePr>
          <p:cNvPr id="353" name="Google Shape;353;p58"/>
          <p:cNvGraphicFramePr/>
          <p:nvPr/>
        </p:nvGraphicFramePr>
        <p:xfrm>
          <a:off x="601593" y="1676400"/>
          <a:ext cx="11385184" cy="6635611"/>
        </p:xfrm>
        <a:graphic>
          <a:graphicData uri="http://schemas.openxmlformats.org/drawingml/2006/table">
            <a:tbl>
              <a:tblPr>
                <a:noFill/>
              </a:tblPr>
              <a:tblGrid>
                <a:gridCol w="2652496"/>
                <a:gridCol w="8732688"/>
              </a:tblGrid>
              <a:tr h="629059">
                <a:tc>
                  <a:txBody>
                    <a:bodyPr/>
                    <a:lstStyle/>
                    <a:p>
                      <a:pPr marL="0" lvl="0" indent="0" algn="l" rtl="0">
                        <a:lnSpc>
                          <a:spcPct val="115000"/>
                        </a:lnSpc>
                        <a:spcBef>
                          <a:spcPts val="0"/>
                        </a:spcBef>
                        <a:spcAft>
                          <a:spcPts val="0"/>
                        </a:spcAft>
                        <a:buNone/>
                      </a:pPr>
                      <a:r>
                        <a:rPr lang="en" sz="1900" b="1">
                          <a:solidFill>
                            <a:schemeClr val="dk2"/>
                          </a:solidFill>
                          <a:latin typeface="Verdana"/>
                          <a:ea typeface="Verdana"/>
                          <a:cs typeface="Verdana"/>
                          <a:sym typeface="Verdana"/>
                        </a:rPr>
                        <a:t>Method</a:t>
                      </a:r>
                      <a:endParaRPr sz="1900" b="1">
                        <a:solidFill>
                          <a:schemeClr val="dk2"/>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b="1">
                          <a:solidFill>
                            <a:schemeClr val="dk2"/>
                          </a:solidFill>
                          <a:latin typeface="Verdana"/>
                          <a:ea typeface="Verdana"/>
                          <a:cs typeface="Verdana"/>
                          <a:sym typeface="Verdana"/>
                        </a:rPr>
                        <a:t>Description</a:t>
                      </a:r>
                      <a:endParaRPr sz="1900" b="1">
                        <a:solidFill>
                          <a:schemeClr val="dk2"/>
                        </a:solidFill>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3"/>
                        </a:rPr>
                        <a:t>capitalize()</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Converts the first character to uppercase</a:t>
                      </a:r>
                      <a:endParaRPr sz="1900">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4"/>
                        </a:rPr>
                        <a:t>casefold()</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Converts string into lower case</a:t>
                      </a:r>
                      <a:endParaRPr sz="1900">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5"/>
                        </a:rPr>
                        <a:t>center()</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Returns a centred string</a:t>
                      </a:r>
                      <a:endParaRPr sz="1900">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6"/>
                        </a:rPr>
                        <a:t>count()</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Returns the number of times a specified value occurs in a string</a:t>
                      </a:r>
                      <a:endParaRPr sz="1900">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7"/>
                        </a:rPr>
                        <a:t>islower()</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Returns True if all characters in the string are lower case</a:t>
                      </a:r>
                      <a:endParaRPr sz="1900">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8"/>
                        </a:rPr>
                        <a:t>isupper()</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Returns True if all characters in the string are upper case</a:t>
                      </a:r>
                      <a:endParaRPr sz="1900">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9"/>
                        </a:rPr>
                        <a:t>endswith()</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Returns true if the string ends with the specified value</a:t>
                      </a:r>
                      <a:endParaRPr sz="1900">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10"/>
                        </a:rPr>
                        <a:t>expandtabs()</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Sets the tab size of the string</a:t>
                      </a:r>
                      <a:endParaRPr sz="1900">
                        <a:latin typeface="Verdana"/>
                        <a:ea typeface="Verdana"/>
                        <a:cs typeface="Verdana"/>
                        <a:sym typeface="Verdana"/>
                      </a:endParaRPr>
                    </a:p>
                  </a:txBody>
                  <a:tcPr marL="126170" marR="126170" marT="146280" marB="146280"/>
                </a:tc>
              </a:tr>
              <a:tr h="974080">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11"/>
                        </a:rPr>
                        <a:t>find()</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Searches the string for a specified value and returns the position of where it was found</a:t>
                      </a:r>
                      <a:endParaRPr sz="1900">
                        <a:latin typeface="Verdana"/>
                        <a:ea typeface="Verdana"/>
                        <a:cs typeface="Verdana"/>
                        <a:sym typeface="Verdana"/>
                      </a:endParaRPr>
                    </a:p>
                  </a:txBody>
                  <a:tcPr marL="126170" marR="126170" marT="146280" marB="146280"/>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9"/>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spcBef>
                <a:spcPts val="0"/>
              </a:spcBef>
            </a:pPr>
            <a:r>
              <a:rPr lang="en" dirty="0"/>
              <a:t>String Operations</a:t>
            </a:r>
            <a:endParaRPr/>
          </a:p>
        </p:txBody>
      </p:sp>
      <p:graphicFrame>
        <p:nvGraphicFramePr>
          <p:cNvPr id="359" name="Google Shape;359;p59"/>
          <p:cNvGraphicFramePr/>
          <p:nvPr/>
        </p:nvGraphicFramePr>
        <p:xfrm>
          <a:off x="601593" y="1798321"/>
          <a:ext cx="11385184" cy="6676687"/>
        </p:xfrm>
        <a:graphic>
          <a:graphicData uri="http://schemas.openxmlformats.org/drawingml/2006/table">
            <a:tbl>
              <a:tblPr>
                <a:noFill/>
              </a:tblPr>
              <a:tblGrid>
                <a:gridCol w="2652496"/>
                <a:gridCol w="8732688"/>
              </a:tblGrid>
              <a:tr h="657101">
                <a:tc>
                  <a:txBody>
                    <a:bodyPr/>
                    <a:lstStyle/>
                    <a:p>
                      <a:pPr marL="0" lvl="0" indent="0" algn="l" rtl="0">
                        <a:lnSpc>
                          <a:spcPct val="115000"/>
                        </a:lnSpc>
                        <a:spcBef>
                          <a:spcPts val="0"/>
                        </a:spcBef>
                        <a:spcAft>
                          <a:spcPts val="0"/>
                        </a:spcAft>
                        <a:buNone/>
                      </a:pPr>
                      <a:r>
                        <a:rPr lang="en" sz="2100" b="1">
                          <a:solidFill>
                            <a:schemeClr val="dk2"/>
                          </a:solidFill>
                          <a:latin typeface="Verdana"/>
                          <a:ea typeface="Verdana"/>
                          <a:cs typeface="Verdana"/>
                          <a:sym typeface="Verdana"/>
                        </a:rPr>
                        <a:t>Method</a:t>
                      </a:r>
                      <a:endParaRPr sz="2100" b="1">
                        <a:solidFill>
                          <a:schemeClr val="dk2"/>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2100" b="1">
                          <a:solidFill>
                            <a:schemeClr val="dk2"/>
                          </a:solidFill>
                          <a:latin typeface="Verdana"/>
                          <a:ea typeface="Verdana"/>
                          <a:cs typeface="Verdana"/>
                          <a:sym typeface="Verdana"/>
                        </a:rPr>
                        <a:t>Description</a:t>
                      </a:r>
                      <a:endParaRPr sz="2100" b="1">
                        <a:solidFill>
                          <a:schemeClr val="dk2"/>
                        </a:solidFill>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3"/>
                        </a:rPr>
                        <a:t>format()</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solidFill>
                            <a:schemeClr val="dk2"/>
                          </a:solidFill>
                          <a:latin typeface="Verdana"/>
                          <a:ea typeface="Verdana"/>
                          <a:cs typeface="Verdana"/>
                          <a:sym typeface="Verdana"/>
                        </a:rPr>
                        <a:t>Formats specified values in a string</a:t>
                      </a:r>
                      <a:endParaRPr sz="1900">
                        <a:solidFill>
                          <a:schemeClr val="dk2"/>
                        </a:solidFill>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format_map()</a:t>
                      </a:r>
                      <a:endParaRPr sz="1900">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Formats specified values in a string</a:t>
                      </a:r>
                      <a:endParaRPr sz="1900">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4"/>
                        </a:rPr>
                        <a:t>join()</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solidFill>
                            <a:schemeClr val="dk2"/>
                          </a:solidFill>
                          <a:latin typeface="Verdana"/>
                          <a:ea typeface="Verdana"/>
                          <a:cs typeface="Verdana"/>
                          <a:sym typeface="Verdana"/>
                        </a:rPr>
                        <a:t>Converts the elements of an iterable into a string</a:t>
                      </a:r>
                      <a:endParaRPr sz="1900">
                        <a:solidFill>
                          <a:schemeClr val="dk2"/>
                        </a:solidFill>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5"/>
                        </a:rPr>
                        <a:t>lower()</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Converts a string into lower case</a:t>
                      </a:r>
                      <a:endParaRPr sz="1900">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6"/>
                        </a:rPr>
                        <a:t>upper()</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Converts a string into upper case</a:t>
                      </a:r>
                      <a:endParaRPr sz="1900">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7"/>
                        </a:rPr>
                        <a:t>title()</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Converts the first character of each word to upper case</a:t>
                      </a:r>
                      <a:endParaRPr sz="1900">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8"/>
                        </a:rPr>
                        <a:t>replace()</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Returns a string where a specified value is replaced with a specified value</a:t>
                      </a:r>
                      <a:endParaRPr sz="1900">
                        <a:latin typeface="Verdana"/>
                        <a:ea typeface="Verdana"/>
                        <a:cs typeface="Verdana"/>
                        <a:sym typeface="Verdana"/>
                      </a:endParaRPr>
                    </a:p>
                  </a:txBody>
                  <a:tcPr marL="126170" marR="126170" marT="146280" marB="146280"/>
                </a:tc>
              </a:tr>
              <a:tr h="629059">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9"/>
                        </a:rPr>
                        <a:t>split()</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Splits the string at the specified separator, and returns a list</a:t>
                      </a:r>
                      <a:endParaRPr sz="1900">
                        <a:latin typeface="Verdana"/>
                        <a:ea typeface="Verdana"/>
                        <a:cs typeface="Verdana"/>
                        <a:sym typeface="Verdana"/>
                      </a:endParaRPr>
                    </a:p>
                  </a:txBody>
                  <a:tcPr marL="126170" marR="126170" marT="146280" marB="146280"/>
                </a:tc>
              </a:tr>
              <a:tr h="654120">
                <a:tc>
                  <a:txBody>
                    <a:bodyPr/>
                    <a:lstStyle/>
                    <a:p>
                      <a:pPr marL="0" lvl="0" indent="0" algn="l" rtl="0">
                        <a:lnSpc>
                          <a:spcPct val="115000"/>
                        </a:lnSpc>
                        <a:spcBef>
                          <a:spcPts val="0"/>
                        </a:spcBef>
                        <a:spcAft>
                          <a:spcPts val="0"/>
                        </a:spcAft>
                        <a:buNone/>
                      </a:pPr>
                      <a:r>
                        <a:rPr lang="en" sz="1900" u="sng">
                          <a:solidFill>
                            <a:schemeClr val="hlink"/>
                          </a:solidFill>
                          <a:latin typeface="Verdana"/>
                          <a:ea typeface="Verdana"/>
                          <a:cs typeface="Verdana"/>
                          <a:sym typeface="Verdana"/>
                          <a:hlinkClick r:id="rId9"/>
                        </a:rPr>
                        <a:t>split()</a:t>
                      </a:r>
                      <a:endParaRPr sz="1900" u="sng">
                        <a:solidFill>
                          <a:schemeClr val="hlink"/>
                        </a:solidFill>
                        <a:latin typeface="Verdana"/>
                        <a:ea typeface="Verdana"/>
                        <a:cs typeface="Verdana"/>
                        <a:sym typeface="Verdana"/>
                      </a:endParaRPr>
                    </a:p>
                  </a:txBody>
                  <a:tcPr marL="126170" marR="126170" marT="146280" marB="146280"/>
                </a:tc>
                <a:tc>
                  <a:txBody>
                    <a:bodyPr/>
                    <a:lstStyle/>
                    <a:p>
                      <a:pPr marL="0" lvl="0" indent="0" algn="l" rtl="0">
                        <a:lnSpc>
                          <a:spcPct val="115000"/>
                        </a:lnSpc>
                        <a:spcBef>
                          <a:spcPts val="0"/>
                        </a:spcBef>
                        <a:spcAft>
                          <a:spcPts val="0"/>
                        </a:spcAft>
                        <a:buNone/>
                      </a:pPr>
                      <a:r>
                        <a:rPr lang="en" sz="1900">
                          <a:latin typeface="Verdana"/>
                          <a:ea typeface="Verdana"/>
                          <a:cs typeface="Verdana"/>
                          <a:sym typeface="Verdana"/>
                        </a:rPr>
                        <a:t>Splits the string at the specified separator, and returns a list</a:t>
                      </a:r>
                      <a:endParaRPr sz="1900">
                        <a:latin typeface="Verdana"/>
                        <a:ea typeface="Verdana"/>
                        <a:cs typeface="Verdana"/>
                        <a:sym typeface="Verdana"/>
                      </a:endParaRPr>
                    </a:p>
                  </a:txBody>
                  <a:tcPr marL="126170" marR="126170" marT="146280" marB="146280"/>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60"/>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r>
              <a:rPr lang="en" dirty="0"/>
              <a:t>Some Examples</a:t>
            </a:r>
            <a:endParaRPr/>
          </a:p>
        </p:txBody>
      </p:sp>
      <p:sp>
        <p:nvSpPr>
          <p:cNvPr id="365" name="Google Shape;365;p60"/>
          <p:cNvSpPr txBox="1">
            <a:spLocks noGrp="1"/>
          </p:cNvSpPr>
          <p:nvPr>
            <p:ph type="body" idx="1"/>
          </p:nvPr>
        </p:nvSpPr>
        <p:spPr>
          <a:xfrm>
            <a:off x="430157" y="1843960"/>
            <a:ext cx="5520001" cy="5466240"/>
          </a:xfrm>
          <a:prstGeom prst="rect">
            <a:avLst/>
          </a:prstGeom>
        </p:spPr>
        <p:txBody>
          <a:bodyPr spcFirstLastPara="1" wrap="square" lIns="133407" tIns="133407" rIns="133407" bIns="133407" anchor="t" anchorCtr="0">
            <a:normAutofit/>
          </a:bodyPr>
          <a:lstStyle/>
          <a:p>
            <a:pPr marL="0" indent="0">
              <a:lnSpc>
                <a:spcPct val="90000"/>
              </a:lnSpc>
              <a:spcBef>
                <a:spcPts val="1459"/>
              </a:spcBef>
              <a:buClr>
                <a:schemeClr val="dk2"/>
              </a:buClr>
              <a:buSzPts val="1100"/>
              <a:buNone/>
            </a:pPr>
            <a:r>
              <a:rPr lang="en" sz="1900" dirty="0">
                <a:solidFill>
                  <a:srgbClr val="ED7D31"/>
                </a:solidFill>
                <a:latin typeface="Source Code Pro"/>
                <a:ea typeface="Source Code Pro"/>
                <a:cs typeface="Source Code Pro"/>
                <a:sym typeface="Source Code Pro"/>
              </a:rPr>
              <a:t>capitalize()</a:t>
            </a:r>
            <a:endParaRPr sz="1900">
              <a:solidFill>
                <a:srgbClr val="ED7D31"/>
              </a:solidFill>
              <a:latin typeface="Source Code Pro"/>
              <a:ea typeface="Source Code Pro"/>
              <a:cs typeface="Source Code Pro"/>
              <a:sym typeface="Source Code Pro"/>
            </a:endParaRPr>
          </a:p>
          <a:p>
            <a:pPr marL="0" indent="0">
              <a:lnSpc>
                <a:spcPct val="90000"/>
              </a:lnSpc>
              <a:spcBef>
                <a:spcPts val="1459"/>
              </a:spcBef>
              <a:buNone/>
            </a:pPr>
            <a:endParaRPr sz="1900" u="sng">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chemeClr val="dk2"/>
                </a:solidFill>
                <a:latin typeface="Source Code Pro"/>
                <a:ea typeface="Source Code Pro"/>
                <a:cs typeface="Source Code Pro"/>
                <a:sym typeface="Source Code Pro"/>
              </a:rPr>
              <a:t>Example:</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chemeClr val="dk2"/>
                </a:solidFill>
                <a:latin typeface="Source Code Pro"/>
                <a:ea typeface="Source Code Pro"/>
                <a:cs typeface="Source Code Pro"/>
                <a:sym typeface="Source Code Pro"/>
              </a:rPr>
              <a:t>txt = "hello, and welcome to my world."</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chemeClr val="dk2"/>
                </a:solidFill>
                <a:latin typeface="Source Code Pro"/>
                <a:ea typeface="Source Code Pro"/>
                <a:cs typeface="Source Code Pro"/>
                <a:sym typeface="Source Code Pro"/>
              </a:rPr>
              <a:t>x = txt.capitalize()</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None/>
            </a:pPr>
            <a:r>
              <a:rPr lang="en" sz="1900" dirty="0">
                <a:solidFill>
                  <a:schemeClr val="dk2"/>
                </a:solidFill>
                <a:latin typeface="Source Code Pro"/>
                <a:ea typeface="Source Code Pro"/>
                <a:cs typeface="Source Code Pro"/>
                <a:sym typeface="Source Code Pro"/>
              </a:rPr>
              <a:t>print (x)</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chemeClr val="dk2"/>
                </a:solidFill>
                <a:latin typeface="Source Code Pro"/>
                <a:ea typeface="Source Code Pro"/>
                <a:cs typeface="Source Code Pro"/>
                <a:sym typeface="Source Code Pro"/>
              </a:rPr>
              <a:t>Output:</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None/>
            </a:pPr>
            <a:r>
              <a:rPr lang="en" sz="1900" dirty="0">
                <a:solidFill>
                  <a:srgbClr val="ED7D31"/>
                </a:solidFill>
                <a:latin typeface="Source Code Pro"/>
                <a:ea typeface="Source Code Pro"/>
                <a:cs typeface="Source Code Pro"/>
                <a:sym typeface="Source Code Pro"/>
              </a:rPr>
              <a:t>Hello, and welcome to my world.</a:t>
            </a:r>
            <a:endParaRPr sz="1900">
              <a:latin typeface="Source Code Pro"/>
              <a:ea typeface="Source Code Pro"/>
              <a:cs typeface="Source Code Pro"/>
              <a:sym typeface="Source Code Pro"/>
            </a:endParaRPr>
          </a:p>
        </p:txBody>
      </p:sp>
      <p:sp>
        <p:nvSpPr>
          <p:cNvPr id="366" name="Google Shape;366;p60"/>
          <p:cNvSpPr txBox="1">
            <a:spLocks noGrp="1"/>
          </p:cNvSpPr>
          <p:nvPr>
            <p:ph type="body" idx="2"/>
          </p:nvPr>
        </p:nvSpPr>
        <p:spPr>
          <a:xfrm>
            <a:off x="6668880" y="1843960"/>
            <a:ext cx="5520001" cy="5466240"/>
          </a:xfrm>
          <a:prstGeom prst="rect">
            <a:avLst/>
          </a:prstGeom>
        </p:spPr>
        <p:txBody>
          <a:bodyPr spcFirstLastPara="1" wrap="square" lIns="133407" tIns="133407" rIns="133407" bIns="133407" anchor="t" anchorCtr="0">
            <a:normAutofit/>
          </a:bodyPr>
          <a:lstStyle/>
          <a:p>
            <a:pPr marL="0" indent="0">
              <a:lnSpc>
                <a:spcPct val="90000"/>
              </a:lnSpc>
              <a:spcBef>
                <a:spcPts val="1459"/>
              </a:spcBef>
              <a:buClr>
                <a:schemeClr val="dk2"/>
              </a:buClr>
              <a:buSzPts val="1100"/>
              <a:buNone/>
            </a:pPr>
            <a:r>
              <a:rPr lang="en" sz="1900" dirty="0">
                <a:solidFill>
                  <a:srgbClr val="ED7D31"/>
                </a:solidFill>
                <a:latin typeface="Source Code Pro"/>
                <a:ea typeface="Source Code Pro"/>
                <a:cs typeface="Source Code Pro"/>
                <a:sym typeface="Source Code Pro"/>
              </a:rPr>
              <a:t>islower()</a:t>
            </a:r>
            <a:endParaRPr sz="1900">
              <a:solidFill>
                <a:srgbClr val="ED7D31"/>
              </a:solidFill>
              <a:latin typeface="Source Code Pro"/>
              <a:ea typeface="Source Code Pro"/>
              <a:cs typeface="Source Code Pro"/>
              <a:sym typeface="Source Code Pro"/>
            </a:endParaRPr>
          </a:p>
          <a:p>
            <a:pPr marL="0" indent="0">
              <a:lnSpc>
                <a:spcPct val="90000"/>
              </a:lnSpc>
              <a:spcBef>
                <a:spcPts val="1459"/>
              </a:spcBef>
              <a:buNone/>
            </a:pPr>
            <a:endParaRPr sz="1900" u="sng">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chemeClr val="dk2"/>
                </a:solidFill>
                <a:latin typeface="Source Code Pro"/>
                <a:ea typeface="Source Code Pro"/>
                <a:cs typeface="Source Code Pro"/>
                <a:sym typeface="Source Code Pro"/>
              </a:rPr>
              <a:t>Example:</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chemeClr val="dk2"/>
                </a:solidFill>
                <a:latin typeface="Source Code Pro"/>
                <a:ea typeface="Source Code Pro"/>
                <a:cs typeface="Source Code Pro"/>
                <a:sym typeface="Source Code Pro"/>
              </a:rPr>
              <a:t>txt = "hello world!"</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chemeClr val="dk2"/>
                </a:solidFill>
                <a:latin typeface="Source Code Pro"/>
                <a:ea typeface="Source Code Pro"/>
                <a:cs typeface="Source Code Pro"/>
                <a:sym typeface="Source Code Pro"/>
              </a:rPr>
              <a:t>x = txt.islower()</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chemeClr val="dk2"/>
                </a:solidFill>
                <a:latin typeface="Source Code Pro"/>
                <a:ea typeface="Source Code Pro"/>
                <a:cs typeface="Source Code Pro"/>
                <a:sym typeface="Source Code Pro"/>
              </a:rPr>
              <a:t>print(x)</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None/>
            </a:pPr>
            <a:endParaRPr sz="1900" u="sng">
              <a:solidFill>
                <a:schemeClr val="dk2"/>
              </a:solidFill>
              <a:latin typeface="Source Code Pro"/>
              <a:ea typeface="Source Code Pro"/>
              <a:cs typeface="Source Code Pro"/>
              <a:sym typeface="Source Code Pro"/>
            </a:endParaRPr>
          </a:p>
          <a:p>
            <a:pPr marL="0" indent="0">
              <a:lnSpc>
                <a:spcPct val="90000"/>
              </a:lnSpc>
              <a:spcBef>
                <a:spcPts val="1459"/>
              </a:spcBef>
              <a:buClr>
                <a:schemeClr val="dk2"/>
              </a:buClr>
              <a:buSzPts val="1100"/>
              <a:buNone/>
            </a:pPr>
            <a:r>
              <a:rPr lang="en" sz="1900" dirty="0">
                <a:solidFill>
                  <a:schemeClr val="dk2"/>
                </a:solidFill>
                <a:latin typeface="Source Code Pro"/>
                <a:ea typeface="Source Code Pro"/>
                <a:cs typeface="Source Code Pro"/>
                <a:sym typeface="Source Code Pro"/>
              </a:rPr>
              <a:t>Output :</a:t>
            </a:r>
            <a:endParaRPr sz="1900">
              <a:solidFill>
                <a:schemeClr val="dk2"/>
              </a:solidFill>
              <a:latin typeface="Source Code Pro"/>
              <a:ea typeface="Source Code Pro"/>
              <a:cs typeface="Source Code Pro"/>
              <a:sym typeface="Source Code Pro"/>
            </a:endParaRPr>
          </a:p>
          <a:p>
            <a:pPr marL="0" indent="0">
              <a:lnSpc>
                <a:spcPct val="90000"/>
              </a:lnSpc>
              <a:spcBef>
                <a:spcPts val="1459"/>
              </a:spcBef>
              <a:buNone/>
            </a:pPr>
            <a:r>
              <a:rPr lang="en" sz="1900" dirty="0">
                <a:solidFill>
                  <a:srgbClr val="ED7D31"/>
                </a:solidFill>
                <a:latin typeface="Source Code Pro"/>
                <a:ea typeface="Source Code Pro"/>
                <a:cs typeface="Source Code Pro"/>
                <a:sym typeface="Source Code Pro"/>
              </a:rPr>
              <a:t>True</a:t>
            </a:r>
            <a:endParaRPr sz="1900">
              <a:latin typeface="Source Code Pro"/>
              <a:ea typeface="Source Code Pro"/>
              <a:cs typeface="Source Code Pro"/>
              <a:sym typeface="Source Code Pr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61"/>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r>
              <a:rPr lang="en" dirty="0"/>
              <a:t>Time Tradeoff</a:t>
            </a:r>
            <a:endParaRPr/>
          </a:p>
        </p:txBody>
      </p:sp>
      <p:sp>
        <p:nvSpPr>
          <p:cNvPr id="372" name="Google Shape;372;p61"/>
          <p:cNvSpPr txBox="1">
            <a:spLocks noGrp="1"/>
          </p:cNvSpPr>
          <p:nvPr>
            <p:ph type="body" idx="1"/>
          </p:nvPr>
        </p:nvSpPr>
        <p:spPr>
          <a:xfrm>
            <a:off x="430157" y="1843960"/>
            <a:ext cx="11758724" cy="5466240"/>
          </a:xfrm>
          <a:prstGeom prst="rect">
            <a:avLst/>
          </a:prstGeom>
        </p:spPr>
        <p:txBody>
          <a:bodyPr spcFirstLastPara="1" wrap="square" lIns="133407" tIns="133407" rIns="133407" bIns="133407" anchor="t" anchorCtr="0">
            <a:noAutofit/>
          </a:bodyPr>
          <a:lstStyle/>
          <a:p>
            <a:pPr marL="0" indent="0" algn="just">
              <a:lnSpc>
                <a:spcPct val="120000"/>
              </a:lnSpc>
              <a:buClr>
                <a:schemeClr val="dk2"/>
              </a:buClr>
              <a:buSzPts val="1100"/>
              <a:buNone/>
            </a:pPr>
            <a:r>
              <a:rPr lang="en" sz="2200" dirty="0">
                <a:solidFill>
                  <a:schemeClr val="dk2"/>
                </a:solidFill>
                <a:highlight>
                  <a:srgbClr val="FFFFFF"/>
                </a:highlight>
                <a:latin typeface="Old Standard TT"/>
                <a:ea typeface="Old Standard TT"/>
                <a:cs typeface="Old Standard TT"/>
                <a:sym typeface="Old Standard TT"/>
              </a:rPr>
              <a:t>Sometimes the choice of an algorithm that involves a space-time tradeoff. That is by increasing the amount of space for storing the data, we may be able to reduce the time needed for processing data or vice-versa.</a:t>
            </a:r>
            <a:endParaRPr sz="2200">
              <a:solidFill>
                <a:schemeClr val="dk2"/>
              </a:solidFill>
              <a:highlight>
                <a:srgbClr val="FFFFFF"/>
              </a:highlight>
              <a:latin typeface="Old Standard TT"/>
              <a:ea typeface="Old Standard TT"/>
              <a:cs typeface="Old Standard TT"/>
              <a:sym typeface="Old Standard TT"/>
            </a:endParaRPr>
          </a:p>
          <a:p>
            <a:pPr marL="0" indent="0" algn="just">
              <a:lnSpc>
                <a:spcPct val="120000"/>
              </a:lnSpc>
              <a:buClr>
                <a:schemeClr val="dk2"/>
              </a:buClr>
              <a:buSzPts val="1100"/>
              <a:buNone/>
            </a:pPr>
            <a:r>
              <a:rPr lang="en" sz="2200" dirty="0">
                <a:solidFill>
                  <a:schemeClr val="dk2"/>
                </a:solidFill>
                <a:highlight>
                  <a:srgbClr val="FFFFFF"/>
                </a:highlight>
                <a:latin typeface="Old Standard TT"/>
                <a:ea typeface="Old Standard TT"/>
                <a:cs typeface="Old Standard TT"/>
                <a:sym typeface="Old Standard TT"/>
              </a:rPr>
              <a:t>Basically it is a way of solving problems in:</a:t>
            </a:r>
            <a:endParaRPr sz="2200">
              <a:solidFill>
                <a:schemeClr val="dk2"/>
              </a:solidFill>
              <a:highlight>
                <a:srgbClr val="FFFFFF"/>
              </a:highlight>
              <a:latin typeface="Old Standard TT"/>
              <a:ea typeface="Old Standard TT"/>
              <a:cs typeface="Old Standard TT"/>
              <a:sym typeface="Old Standard TT"/>
            </a:endParaRPr>
          </a:p>
          <a:p>
            <a:pPr marL="870996" indent="-472562">
              <a:buClr>
                <a:schemeClr val="dk2"/>
              </a:buClr>
              <a:buSzPts val="1500"/>
              <a:buFont typeface="Old Standard TT"/>
              <a:buAutoNum type="arabicPeriod"/>
            </a:pPr>
            <a:r>
              <a:rPr lang="en" sz="2200" dirty="0">
                <a:solidFill>
                  <a:schemeClr val="dk2"/>
                </a:solidFill>
                <a:highlight>
                  <a:srgbClr val="FFFFFF"/>
                </a:highlight>
                <a:latin typeface="Old Standard TT"/>
                <a:ea typeface="Old Standard TT"/>
                <a:cs typeface="Old Standard TT"/>
                <a:sym typeface="Old Standard TT"/>
              </a:rPr>
              <a:t>Less time by using more memory</a:t>
            </a:r>
            <a:endParaRPr sz="2200">
              <a:solidFill>
                <a:schemeClr val="dk2"/>
              </a:solidFill>
              <a:highlight>
                <a:srgbClr val="FFFFFF"/>
              </a:highlight>
              <a:latin typeface="Old Standard TT"/>
              <a:ea typeface="Old Standard TT"/>
              <a:cs typeface="Old Standard TT"/>
              <a:sym typeface="Old Standard TT"/>
            </a:endParaRPr>
          </a:p>
          <a:p>
            <a:pPr marL="870996" indent="-472562">
              <a:buClr>
                <a:schemeClr val="dk2"/>
              </a:buClr>
              <a:buSzPts val="1500"/>
              <a:buFont typeface="Old Standard TT"/>
              <a:buAutoNum type="arabicPeriod"/>
            </a:pPr>
            <a:r>
              <a:rPr lang="en" sz="2200" dirty="0">
                <a:solidFill>
                  <a:schemeClr val="dk2"/>
                </a:solidFill>
                <a:highlight>
                  <a:srgbClr val="FFFFFF"/>
                </a:highlight>
                <a:latin typeface="Old Standard TT"/>
                <a:ea typeface="Old Standard TT"/>
                <a:cs typeface="Old Standard TT"/>
                <a:sym typeface="Old Standard TT"/>
              </a:rPr>
              <a:t>Solving a problem in little space by spending a long time.</a:t>
            </a:r>
            <a:endParaRPr sz="2200">
              <a:solidFill>
                <a:schemeClr val="dk2"/>
              </a:solidFill>
              <a:highlight>
                <a:srgbClr val="FFFFFF"/>
              </a:highlight>
              <a:latin typeface="Old Standard TT"/>
              <a:ea typeface="Old Standard TT"/>
              <a:cs typeface="Old Standard TT"/>
              <a:sym typeface="Old Standard TT"/>
            </a:endParaRPr>
          </a:p>
          <a:p>
            <a:pPr marL="0" indent="0">
              <a:buClr>
                <a:schemeClr val="dk2"/>
              </a:buClr>
              <a:buSzPts val="1100"/>
              <a:buNone/>
            </a:pPr>
            <a:endParaRPr sz="2200">
              <a:solidFill>
                <a:schemeClr val="dk2"/>
              </a:solidFill>
              <a:latin typeface="Old Standard TT"/>
              <a:ea typeface="Old Standard TT"/>
              <a:cs typeface="Old Standard TT"/>
              <a:sym typeface="Old Standard TT"/>
            </a:endParaRPr>
          </a:p>
          <a:p>
            <a:pPr marL="0" indent="0" algn="just">
              <a:lnSpc>
                <a:spcPct val="120000"/>
              </a:lnSpc>
              <a:buClr>
                <a:schemeClr val="dk2"/>
              </a:buClr>
              <a:buSzPts val="1100"/>
              <a:buNone/>
            </a:pPr>
            <a:r>
              <a:rPr lang="en" sz="2200" dirty="0">
                <a:solidFill>
                  <a:schemeClr val="dk2"/>
                </a:solidFill>
                <a:highlight>
                  <a:srgbClr val="FFFFFF"/>
                </a:highlight>
                <a:latin typeface="Old Standard TT"/>
                <a:ea typeface="Old Standard TT"/>
                <a:cs typeface="Old Standard TT"/>
                <a:sym typeface="Old Standard TT"/>
              </a:rPr>
              <a:t>TYPE OF TIME SPACE TRADE OFF:</a:t>
            </a:r>
            <a:endParaRPr sz="2200">
              <a:solidFill>
                <a:schemeClr val="dk2"/>
              </a:solidFill>
              <a:highlight>
                <a:srgbClr val="FFFFFF"/>
              </a:highlight>
              <a:latin typeface="Old Standard TT"/>
              <a:ea typeface="Old Standard TT"/>
              <a:cs typeface="Old Standard TT"/>
              <a:sym typeface="Old Standard TT"/>
            </a:endParaRPr>
          </a:p>
          <a:p>
            <a:pPr marL="870996" indent="-472562">
              <a:buClr>
                <a:schemeClr val="dk2"/>
              </a:buClr>
              <a:buSzPts val="1500"/>
              <a:buFont typeface="Old Standard TT"/>
              <a:buAutoNum type="arabicPeriod"/>
            </a:pPr>
            <a:r>
              <a:rPr lang="en" sz="2200" dirty="0">
                <a:solidFill>
                  <a:schemeClr val="dk2"/>
                </a:solidFill>
                <a:highlight>
                  <a:srgbClr val="FFFFFF"/>
                </a:highlight>
                <a:latin typeface="Old Standard TT"/>
                <a:ea typeface="Old Standard TT"/>
                <a:cs typeface="Old Standard TT"/>
                <a:sym typeface="Old Standard TT"/>
              </a:rPr>
              <a:t>Compressed / Uncompressed data</a:t>
            </a:r>
            <a:endParaRPr sz="2200">
              <a:solidFill>
                <a:schemeClr val="dk2"/>
              </a:solidFill>
              <a:highlight>
                <a:srgbClr val="FFFFFF"/>
              </a:highlight>
              <a:latin typeface="Old Standard TT"/>
              <a:ea typeface="Old Standard TT"/>
              <a:cs typeface="Old Standard TT"/>
              <a:sym typeface="Old Standard TT"/>
            </a:endParaRPr>
          </a:p>
          <a:p>
            <a:pPr marL="870996" indent="-472562">
              <a:buClr>
                <a:schemeClr val="dk2"/>
              </a:buClr>
              <a:buSzPts val="1500"/>
              <a:buFont typeface="Old Standard TT"/>
              <a:buAutoNum type="arabicPeriod"/>
            </a:pPr>
            <a:r>
              <a:rPr lang="en" sz="2200" dirty="0">
                <a:solidFill>
                  <a:schemeClr val="dk2"/>
                </a:solidFill>
                <a:highlight>
                  <a:srgbClr val="FFFFFF"/>
                </a:highlight>
                <a:latin typeface="Old Standard TT"/>
                <a:ea typeface="Old Standard TT"/>
                <a:cs typeface="Old Standard TT"/>
                <a:sym typeface="Old Standard TT"/>
              </a:rPr>
              <a:t>Re -Rendering / Sorted image</a:t>
            </a:r>
            <a:endParaRPr sz="2200">
              <a:solidFill>
                <a:schemeClr val="dk2"/>
              </a:solidFill>
              <a:highlight>
                <a:srgbClr val="FFFFFF"/>
              </a:highlight>
              <a:latin typeface="Old Standard TT"/>
              <a:ea typeface="Old Standard TT"/>
              <a:cs typeface="Old Standard TT"/>
              <a:sym typeface="Old Standard TT"/>
            </a:endParaRPr>
          </a:p>
          <a:p>
            <a:pPr marL="870996" indent="-472562">
              <a:buClr>
                <a:schemeClr val="dk2"/>
              </a:buClr>
              <a:buSzPts val="1500"/>
              <a:buFont typeface="Old Standard TT"/>
              <a:buAutoNum type="arabicPeriod"/>
            </a:pPr>
            <a:r>
              <a:rPr lang="en" sz="2200" dirty="0">
                <a:solidFill>
                  <a:schemeClr val="dk2"/>
                </a:solidFill>
                <a:highlight>
                  <a:srgbClr val="FFFFFF"/>
                </a:highlight>
                <a:latin typeface="Old Standard TT"/>
                <a:ea typeface="Old Standard TT"/>
                <a:cs typeface="Old Standard TT"/>
                <a:sym typeface="Old Standard TT"/>
              </a:rPr>
              <a:t>Smaller code / Loop Unrolling</a:t>
            </a:r>
            <a:endParaRPr sz="2200">
              <a:solidFill>
                <a:schemeClr val="dk2"/>
              </a:solidFill>
              <a:highlight>
                <a:srgbClr val="FFFFFF"/>
              </a:highlight>
              <a:latin typeface="Old Standard TT"/>
              <a:ea typeface="Old Standard TT"/>
              <a:cs typeface="Old Standard TT"/>
              <a:sym typeface="Old Standard TT"/>
            </a:endParaRPr>
          </a:p>
          <a:p>
            <a:pPr marL="870996" indent="-472562">
              <a:buClr>
                <a:schemeClr val="dk2"/>
              </a:buClr>
              <a:buSzPts val="1500"/>
              <a:buFont typeface="Old Standard TT"/>
              <a:buAutoNum type="arabicPeriod"/>
            </a:pPr>
            <a:r>
              <a:rPr lang="en" sz="2200" dirty="0">
                <a:solidFill>
                  <a:schemeClr val="dk2"/>
                </a:solidFill>
                <a:highlight>
                  <a:srgbClr val="FFFFFF"/>
                </a:highlight>
                <a:latin typeface="Old Standard TT"/>
                <a:ea typeface="Old Standard TT"/>
                <a:cs typeface="Old Standard TT"/>
                <a:sym typeface="Old Standard TT"/>
              </a:rPr>
              <a:t>Lookup table / Recalculation </a:t>
            </a:r>
            <a:endParaRPr sz="2200">
              <a:solidFill>
                <a:schemeClr val="dk2"/>
              </a:solidFill>
              <a:latin typeface="Old Standard TT"/>
              <a:ea typeface="Old Standard TT"/>
              <a:cs typeface="Old Standard TT"/>
              <a:sym typeface="Old Standard T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62"/>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r>
              <a:rPr lang="en" dirty="0"/>
              <a:t>Time Tradeoff Cont.</a:t>
            </a:r>
            <a:endParaRPr/>
          </a:p>
        </p:txBody>
      </p:sp>
      <p:sp>
        <p:nvSpPr>
          <p:cNvPr id="378" name="Google Shape;378;p62"/>
          <p:cNvSpPr txBox="1">
            <a:spLocks noGrp="1"/>
          </p:cNvSpPr>
          <p:nvPr>
            <p:ph type="body" idx="1"/>
          </p:nvPr>
        </p:nvSpPr>
        <p:spPr>
          <a:xfrm>
            <a:off x="430157" y="1843960"/>
            <a:ext cx="11758724" cy="5745600"/>
          </a:xfrm>
          <a:prstGeom prst="rect">
            <a:avLst/>
          </a:prstGeom>
        </p:spPr>
        <p:txBody>
          <a:bodyPr spcFirstLastPara="1" wrap="square" lIns="133407" tIns="133407" rIns="133407" bIns="133407" anchor="t" anchorCtr="0">
            <a:noAutofit/>
          </a:bodyPr>
          <a:lstStyle/>
          <a:p>
            <a:pPr indent="-472562">
              <a:lnSpc>
                <a:spcPct val="95000"/>
              </a:lnSpc>
              <a:buClr>
                <a:schemeClr val="dk2"/>
              </a:buClr>
              <a:buSzPts val="1500"/>
              <a:buFont typeface="Old Standard TT"/>
              <a:buAutoNum type="arabicPeriod"/>
            </a:pPr>
            <a:r>
              <a:rPr lang="en" sz="2200" dirty="0">
                <a:solidFill>
                  <a:schemeClr val="dk2"/>
                </a:solidFill>
                <a:latin typeface="Old Standard TT"/>
                <a:ea typeface="Old Standard TT"/>
                <a:cs typeface="Old Standard TT"/>
                <a:sym typeface="Old Standard TT"/>
              </a:rPr>
              <a:t>Compressed / Uncompressed data:</a:t>
            </a:r>
            <a:endParaRPr sz="2200">
              <a:solidFill>
                <a:schemeClr val="dk2"/>
              </a:solidFill>
              <a:latin typeface="Old Standard TT"/>
              <a:ea typeface="Old Standard TT"/>
              <a:cs typeface="Old Standard TT"/>
              <a:sym typeface="Old Standard TT"/>
            </a:endParaRPr>
          </a:p>
          <a:p>
            <a:pPr indent="-472562">
              <a:lnSpc>
                <a:spcPct val="115000"/>
              </a:lnSpc>
              <a:buClr>
                <a:schemeClr val="dk2"/>
              </a:buClr>
              <a:buSzPts val="1500"/>
              <a:buFont typeface="Old Standard TT"/>
              <a:buChar char="●"/>
            </a:pPr>
            <a:r>
              <a:rPr lang="en" sz="2200" dirty="0">
                <a:solidFill>
                  <a:schemeClr val="dk2"/>
                </a:solidFill>
                <a:latin typeface="Old Standard TT"/>
                <a:ea typeface="Old Standard TT"/>
                <a:cs typeface="Old Standard TT"/>
                <a:sym typeface="Old Standard TT"/>
              </a:rPr>
              <a:t>A space time trade off can be applied to the problem of solving data storage. If data is uncompressed it take more space but less time.</a:t>
            </a:r>
            <a:endParaRPr sz="2200">
              <a:solidFill>
                <a:schemeClr val="dk2"/>
              </a:solidFill>
              <a:latin typeface="Old Standard TT"/>
              <a:ea typeface="Old Standard TT"/>
              <a:cs typeface="Old Standard TT"/>
              <a:sym typeface="Old Standard TT"/>
            </a:endParaRPr>
          </a:p>
          <a:p>
            <a:pPr indent="-472562">
              <a:lnSpc>
                <a:spcPct val="115000"/>
              </a:lnSpc>
              <a:buClr>
                <a:schemeClr val="dk2"/>
              </a:buClr>
              <a:buSzPts val="1500"/>
              <a:buFont typeface="Old Standard TT"/>
              <a:buChar char="●"/>
            </a:pPr>
            <a:r>
              <a:rPr lang="en" sz="2200" dirty="0">
                <a:solidFill>
                  <a:schemeClr val="dk2"/>
                </a:solidFill>
                <a:latin typeface="Old Standard TT"/>
                <a:ea typeface="Old Standard TT"/>
                <a:cs typeface="Old Standard TT"/>
                <a:sym typeface="Old Standard TT"/>
              </a:rPr>
              <a:t>If data is compressed it takes less space but more time to run decompressed data.</a:t>
            </a:r>
            <a:endParaRPr sz="2200">
              <a:solidFill>
                <a:schemeClr val="dk2"/>
              </a:solidFill>
              <a:latin typeface="Old Standard TT"/>
              <a:ea typeface="Old Standard TT"/>
              <a:cs typeface="Old Standard TT"/>
              <a:sym typeface="Old Standard TT"/>
            </a:endParaRPr>
          </a:p>
          <a:p>
            <a:pPr indent="0">
              <a:lnSpc>
                <a:spcPct val="95000"/>
              </a:lnSpc>
              <a:buNone/>
            </a:pPr>
            <a:endParaRPr sz="2200">
              <a:solidFill>
                <a:schemeClr val="dk2"/>
              </a:solidFill>
              <a:latin typeface="Old Standard TT"/>
              <a:ea typeface="Old Standard TT"/>
              <a:cs typeface="Old Standard TT"/>
              <a:sym typeface="Old Standard TT"/>
            </a:endParaRPr>
          </a:p>
          <a:p>
            <a:pPr indent="-472562">
              <a:lnSpc>
                <a:spcPct val="95000"/>
              </a:lnSpc>
              <a:buClr>
                <a:schemeClr val="dk2"/>
              </a:buClr>
              <a:buSzPts val="1500"/>
              <a:buFont typeface="Old Standard TT"/>
              <a:buAutoNum type="arabicPeriod"/>
            </a:pPr>
            <a:r>
              <a:rPr lang="en" sz="2200" dirty="0">
                <a:solidFill>
                  <a:schemeClr val="dk2"/>
                </a:solidFill>
                <a:latin typeface="Old Standard TT"/>
                <a:ea typeface="Old Standard TT"/>
                <a:cs typeface="Old Standard TT"/>
                <a:sym typeface="Old Standard TT"/>
              </a:rPr>
              <a:t>Re -Rendering / Sorted image:</a:t>
            </a:r>
            <a:endParaRPr sz="2200">
              <a:solidFill>
                <a:schemeClr val="dk2"/>
              </a:solidFill>
              <a:latin typeface="Old Standard TT"/>
              <a:ea typeface="Old Standard TT"/>
              <a:cs typeface="Old Standard TT"/>
              <a:sym typeface="Old Standard TT"/>
            </a:endParaRPr>
          </a:p>
          <a:p>
            <a:pPr indent="-472562">
              <a:lnSpc>
                <a:spcPct val="115000"/>
              </a:lnSpc>
              <a:buClr>
                <a:schemeClr val="dk2"/>
              </a:buClr>
              <a:buSzPts val="1500"/>
              <a:buFont typeface="Old Standard TT"/>
              <a:buChar char="●"/>
            </a:pPr>
            <a:r>
              <a:rPr lang="en" sz="2200" dirty="0">
                <a:solidFill>
                  <a:schemeClr val="dk2"/>
                </a:solidFill>
                <a:latin typeface="Old Standard TT"/>
                <a:ea typeface="Old Standard TT"/>
                <a:cs typeface="Old Standard TT"/>
                <a:sym typeface="Old Standard TT"/>
              </a:rPr>
              <a:t>Sorting only the source and rendering an image every time a page is requested would be trading time for space.</a:t>
            </a:r>
            <a:endParaRPr sz="2200">
              <a:solidFill>
                <a:schemeClr val="dk2"/>
              </a:solidFill>
              <a:latin typeface="Old Standard TT"/>
              <a:ea typeface="Old Standard TT"/>
              <a:cs typeface="Old Standard TT"/>
              <a:sym typeface="Old Standard TT"/>
            </a:endParaRPr>
          </a:p>
          <a:p>
            <a:pPr indent="-472562">
              <a:lnSpc>
                <a:spcPct val="115000"/>
              </a:lnSpc>
              <a:buClr>
                <a:schemeClr val="dk2"/>
              </a:buClr>
              <a:buSzPts val="1500"/>
              <a:buFont typeface="Old Standard TT"/>
              <a:buChar char="●"/>
            </a:pPr>
            <a:r>
              <a:rPr lang="en" sz="2200" dirty="0">
                <a:solidFill>
                  <a:schemeClr val="dk2"/>
                </a:solidFill>
                <a:latin typeface="Old Standard TT"/>
                <a:ea typeface="Old Standard TT"/>
                <a:cs typeface="Old Standard TT"/>
                <a:sym typeface="Old Standard TT"/>
              </a:rPr>
              <a:t>More time used but less space.</a:t>
            </a:r>
            <a:endParaRPr sz="2200">
              <a:solidFill>
                <a:schemeClr val="dk2"/>
              </a:solidFill>
              <a:latin typeface="Old Standard TT"/>
              <a:ea typeface="Old Standard TT"/>
              <a:cs typeface="Old Standard TT"/>
              <a:sym typeface="Old Standard TT"/>
            </a:endParaRPr>
          </a:p>
          <a:p>
            <a:pPr indent="-472562">
              <a:lnSpc>
                <a:spcPct val="115000"/>
              </a:lnSpc>
              <a:buClr>
                <a:schemeClr val="dk2"/>
              </a:buClr>
              <a:buSzPts val="1500"/>
              <a:buFont typeface="Old Standard TT"/>
              <a:buChar char="●"/>
            </a:pPr>
            <a:r>
              <a:rPr lang="en" sz="2200" dirty="0">
                <a:solidFill>
                  <a:schemeClr val="dk2"/>
                </a:solidFill>
                <a:latin typeface="Old Standard TT"/>
                <a:ea typeface="Old Standard TT"/>
                <a:cs typeface="Old Standard TT"/>
                <a:sym typeface="Old Standard TT"/>
              </a:rPr>
              <a:t>Sorting the image would be trade space for time.</a:t>
            </a:r>
            <a:endParaRPr sz="2200">
              <a:solidFill>
                <a:schemeClr val="dk2"/>
              </a:solidFill>
              <a:latin typeface="Old Standard TT"/>
              <a:ea typeface="Old Standard TT"/>
              <a:cs typeface="Old Standard TT"/>
              <a:sym typeface="Old Standard TT"/>
            </a:endParaRPr>
          </a:p>
          <a:p>
            <a:pPr indent="-472562">
              <a:lnSpc>
                <a:spcPct val="115000"/>
              </a:lnSpc>
              <a:buClr>
                <a:schemeClr val="dk2"/>
              </a:buClr>
              <a:buSzPts val="1500"/>
              <a:buFont typeface="Old Standard TT"/>
              <a:buChar char="●"/>
            </a:pPr>
            <a:r>
              <a:rPr lang="en" sz="2200" dirty="0">
                <a:solidFill>
                  <a:schemeClr val="dk2"/>
                </a:solidFill>
                <a:latin typeface="Old Standard TT"/>
                <a:ea typeface="Old Standard TT"/>
                <a:cs typeface="Old Standard TT"/>
                <a:sym typeface="Old Standard TT"/>
              </a:rPr>
              <a:t>More space used but less time.</a:t>
            </a:r>
            <a:endParaRPr sz="2200">
              <a:solidFill>
                <a:schemeClr val="dk2"/>
              </a:solidFill>
              <a:latin typeface="Old Standard TT"/>
              <a:ea typeface="Old Standard TT"/>
              <a:cs typeface="Old Standard TT"/>
              <a:sym typeface="Old Standard T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63"/>
          <p:cNvSpPr txBox="1">
            <a:spLocks noGrp="1"/>
          </p:cNvSpPr>
          <p:nvPr>
            <p:ph type="title"/>
          </p:nvPr>
        </p:nvSpPr>
        <p:spPr>
          <a:xfrm>
            <a:off x="430157" y="712040"/>
            <a:ext cx="11758724" cy="997440"/>
          </a:xfrm>
          <a:prstGeom prst="rect">
            <a:avLst/>
          </a:prstGeom>
        </p:spPr>
        <p:txBody>
          <a:bodyPr spcFirstLastPara="1" wrap="square" lIns="133407" tIns="133407" rIns="133407" bIns="133407" anchor="t" anchorCtr="0">
            <a:normAutofit fontScale="90000"/>
          </a:bodyPr>
          <a:lstStyle/>
          <a:p>
            <a:pPr algn="l"/>
            <a:r>
              <a:rPr lang="en" dirty="0"/>
              <a:t>Time Tradeoff Cont.</a:t>
            </a:r>
            <a:endParaRPr/>
          </a:p>
        </p:txBody>
      </p:sp>
      <p:sp>
        <p:nvSpPr>
          <p:cNvPr id="384" name="Google Shape;384;p63"/>
          <p:cNvSpPr txBox="1">
            <a:spLocks noGrp="1"/>
          </p:cNvSpPr>
          <p:nvPr>
            <p:ph type="body" idx="1"/>
          </p:nvPr>
        </p:nvSpPr>
        <p:spPr>
          <a:xfrm>
            <a:off x="430157" y="1843960"/>
            <a:ext cx="11758724" cy="5466240"/>
          </a:xfrm>
          <a:prstGeom prst="rect">
            <a:avLst/>
          </a:prstGeom>
        </p:spPr>
        <p:txBody>
          <a:bodyPr spcFirstLastPara="1" wrap="square" lIns="133407" tIns="133407" rIns="133407" bIns="133407" anchor="t" anchorCtr="0">
            <a:noAutofit/>
          </a:bodyPr>
          <a:lstStyle/>
          <a:p>
            <a:pPr marL="0" indent="0">
              <a:lnSpc>
                <a:spcPct val="95000"/>
              </a:lnSpc>
              <a:buNone/>
            </a:pPr>
            <a:r>
              <a:rPr lang="en" sz="2200" dirty="0">
                <a:solidFill>
                  <a:schemeClr val="dk2"/>
                </a:solidFill>
                <a:latin typeface="Old Standard TT"/>
                <a:ea typeface="Old Standard TT"/>
                <a:cs typeface="Old Standard TT"/>
                <a:sym typeface="Old Standard TT"/>
              </a:rPr>
              <a:t>3.	Smaller code(with loop) / Larger code(without loop):</a:t>
            </a:r>
            <a:endParaRPr sz="2200">
              <a:solidFill>
                <a:schemeClr val="dk2"/>
              </a:solidFill>
              <a:latin typeface="Old Standard TT"/>
              <a:ea typeface="Old Standard TT"/>
              <a:cs typeface="Old Standard TT"/>
              <a:sym typeface="Old Standard TT"/>
            </a:endParaRPr>
          </a:p>
          <a:p>
            <a:pPr indent="-472562">
              <a:lnSpc>
                <a:spcPct val="115000"/>
              </a:lnSpc>
              <a:buClr>
                <a:schemeClr val="dk2"/>
              </a:buClr>
              <a:buSzPts val="1500"/>
              <a:buFont typeface="Old Standard TT"/>
              <a:buChar char="●"/>
            </a:pPr>
            <a:r>
              <a:rPr lang="en" sz="2200" dirty="0">
                <a:solidFill>
                  <a:schemeClr val="dk2"/>
                </a:solidFill>
                <a:latin typeface="Old Standard TT"/>
                <a:ea typeface="Old Standard TT"/>
                <a:cs typeface="Old Standard TT"/>
                <a:sym typeface="Old Standard TT"/>
              </a:rPr>
              <a:t>Smaller code occupies less space in memory but it require high computation time which is required for jumping back to the beginning of the loop at the end of each iteration. </a:t>
            </a:r>
            <a:endParaRPr sz="2200">
              <a:solidFill>
                <a:schemeClr val="dk2"/>
              </a:solidFill>
              <a:latin typeface="Old Standard TT"/>
              <a:ea typeface="Old Standard TT"/>
              <a:cs typeface="Old Standard TT"/>
              <a:sym typeface="Old Standard TT"/>
            </a:endParaRPr>
          </a:p>
          <a:p>
            <a:pPr indent="-472562">
              <a:lnSpc>
                <a:spcPct val="115000"/>
              </a:lnSpc>
              <a:buClr>
                <a:schemeClr val="dk2"/>
              </a:buClr>
              <a:buSzPts val="1500"/>
              <a:buFont typeface="Old Standard TT"/>
              <a:buChar char="●"/>
            </a:pPr>
            <a:r>
              <a:rPr lang="en" sz="2200" dirty="0">
                <a:solidFill>
                  <a:schemeClr val="dk2"/>
                </a:solidFill>
                <a:latin typeface="Old Standard TT"/>
                <a:ea typeface="Old Standard TT"/>
                <a:cs typeface="Old Standard TT"/>
                <a:sym typeface="Old Standard TT"/>
              </a:rPr>
              <a:t>Larger code or loop unrolling can be trade of higher programming speed. It occupies more space in memory but require less computation time.</a:t>
            </a:r>
            <a:endParaRPr sz="2200">
              <a:solidFill>
                <a:schemeClr val="dk2"/>
              </a:solidFill>
              <a:latin typeface="Old Standard TT"/>
              <a:ea typeface="Old Standard TT"/>
              <a:cs typeface="Old Standard TT"/>
              <a:sym typeface="Old Standard TT"/>
            </a:endParaRPr>
          </a:p>
          <a:p>
            <a:pPr indent="0">
              <a:buSzPts val="1018"/>
              <a:buNone/>
            </a:pPr>
            <a:endParaRPr sz="2200">
              <a:solidFill>
                <a:schemeClr val="dk2"/>
              </a:solidFill>
              <a:latin typeface="Old Standard TT"/>
              <a:ea typeface="Old Standard TT"/>
              <a:cs typeface="Old Standard TT"/>
              <a:sym typeface="Old Standard TT"/>
            </a:endParaRPr>
          </a:p>
          <a:p>
            <a:pPr marL="0" indent="0">
              <a:lnSpc>
                <a:spcPct val="95000"/>
              </a:lnSpc>
              <a:buNone/>
            </a:pPr>
            <a:r>
              <a:rPr lang="en" sz="2200" dirty="0">
                <a:solidFill>
                  <a:schemeClr val="dk2"/>
                </a:solidFill>
                <a:latin typeface="Old Standard TT"/>
                <a:ea typeface="Old Standard TT"/>
                <a:cs typeface="Old Standard TT"/>
                <a:sym typeface="Old Standard TT"/>
              </a:rPr>
              <a:t>4. 	Lookup Table/ Recalculation:</a:t>
            </a:r>
            <a:endParaRPr sz="2200">
              <a:solidFill>
                <a:schemeClr val="dk2"/>
              </a:solidFill>
              <a:latin typeface="Old Standard TT"/>
              <a:ea typeface="Old Standard TT"/>
              <a:cs typeface="Old Standard TT"/>
              <a:sym typeface="Old Standard TT"/>
            </a:endParaRPr>
          </a:p>
          <a:p>
            <a:pPr indent="-472562">
              <a:lnSpc>
                <a:spcPct val="115000"/>
              </a:lnSpc>
              <a:buClr>
                <a:schemeClr val="dk2"/>
              </a:buClr>
              <a:buSzPts val="1500"/>
              <a:buFont typeface="Old Standard TT"/>
              <a:buChar char="●"/>
            </a:pPr>
            <a:r>
              <a:rPr lang="en" sz="2200" dirty="0">
                <a:solidFill>
                  <a:schemeClr val="dk2"/>
                </a:solidFill>
                <a:latin typeface="Old Standard TT"/>
                <a:ea typeface="Old Standard TT"/>
                <a:cs typeface="Old Standard TT"/>
                <a:sym typeface="Old Standard TT"/>
              </a:rPr>
              <a:t>In lookup table an implementation can include the entire table which reduce computing time but increase the amount of memory needed.</a:t>
            </a:r>
            <a:endParaRPr sz="2200">
              <a:solidFill>
                <a:schemeClr val="dk2"/>
              </a:solidFill>
              <a:latin typeface="Old Standard TT"/>
              <a:ea typeface="Old Standard TT"/>
              <a:cs typeface="Old Standard TT"/>
              <a:sym typeface="Old Standard TT"/>
            </a:endParaRPr>
          </a:p>
          <a:p>
            <a:pPr indent="-472562">
              <a:lnSpc>
                <a:spcPct val="115000"/>
              </a:lnSpc>
              <a:buClr>
                <a:schemeClr val="dk2"/>
              </a:buClr>
              <a:buSzPts val="1500"/>
              <a:buFont typeface="Old Standard TT"/>
              <a:buChar char="●"/>
            </a:pPr>
            <a:r>
              <a:rPr lang="en" sz="2200" dirty="0">
                <a:solidFill>
                  <a:schemeClr val="dk2"/>
                </a:solidFill>
                <a:latin typeface="Old Standard TT"/>
                <a:ea typeface="Old Standard TT"/>
                <a:cs typeface="Old Standard TT"/>
                <a:sym typeface="Old Standard TT"/>
              </a:rPr>
              <a:t>It can recalculate i.e. compute table entire as needed, increasing computing time but reducing memory requirement.</a:t>
            </a:r>
            <a:endParaRPr sz="2200">
              <a:solidFill>
                <a:schemeClr val="dk2"/>
              </a:solidFill>
              <a:latin typeface="Old Standard TT"/>
              <a:ea typeface="Old Standard TT"/>
              <a:cs typeface="Old Standard TT"/>
              <a:sym typeface="Old Standard T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1195</TotalTime>
  <Words>2199</Words>
  <Application>Microsoft Office PowerPoint</Application>
  <PresentationFormat>Custom</PresentationFormat>
  <Paragraphs>482</Paragraphs>
  <Slides>48</Slides>
  <Notes>17</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Array Techniques</vt:lpstr>
      <vt:lpstr>Array</vt:lpstr>
      <vt:lpstr>Array Representation </vt:lpstr>
      <vt:lpstr>Basic Operations </vt:lpstr>
      <vt:lpstr>Array is created in Python by importing array module to the python program.</vt:lpstr>
      <vt:lpstr>Typecode are the codes that are used to define the type of value the array will hold. Some common typecodes used are:</vt:lpstr>
      <vt:lpstr>Example</vt:lpstr>
      <vt:lpstr>Finding the length of an array </vt:lpstr>
      <vt:lpstr>Accessing Array Element </vt:lpstr>
      <vt:lpstr>Insertion Operation </vt:lpstr>
      <vt:lpstr>Insertion Operation </vt:lpstr>
      <vt:lpstr>Deletion Operation </vt:lpstr>
      <vt:lpstr>Using Del function </vt:lpstr>
      <vt:lpstr>Search Operation </vt:lpstr>
      <vt:lpstr>Update Operation </vt:lpstr>
      <vt:lpstr>How to change or add elements </vt:lpstr>
      <vt:lpstr>Array Order Reversal  Method reverse() </vt:lpstr>
      <vt:lpstr>Using reversed() Method </vt:lpstr>
      <vt:lpstr>Reversing a NumPy Array in Python </vt:lpstr>
      <vt:lpstr>Using flipud() Method </vt:lpstr>
      <vt:lpstr>Using Simple Slicing </vt:lpstr>
      <vt:lpstr>Array Counting</vt:lpstr>
      <vt:lpstr>PowerPoint Presentation</vt:lpstr>
      <vt:lpstr>Use of count() </vt:lpstr>
      <vt:lpstr>Array Counting</vt:lpstr>
      <vt:lpstr>FINDING THE MAXIMUM NUMBER IN A SET</vt:lpstr>
      <vt:lpstr>Using max function</vt:lpstr>
      <vt:lpstr>Finding the Maximum number in a set</vt:lpstr>
      <vt:lpstr>Array Splitting</vt:lpstr>
      <vt:lpstr>Array splitting</vt:lpstr>
      <vt:lpstr>Removal of Duplicates from an Ordered Array</vt:lpstr>
      <vt:lpstr>Chapter 5: Syllabus</vt:lpstr>
      <vt:lpstr>List</vt:lpstr>
      <vt:lpstr>Slice Operator</vt:lpstr>
      <vt:lpstr>PowerPoint Presentation</vt:lpstr>
      <vt:lpstr>Python List: List Operations</vt:lpstr>
      <vt:lpstr>PowerPoint Presentation</vt:lpstr>
      <vt:lpstr>Some Examples:</vt:lpstr>
      <vt:lpstr>Tuple Operations</vt:lpstr>
      <vt:lpstr>Set Operations</vt:lpstr>
      <vt:lpstr>Set Operations</vt:lpstr>
      <vt:lpstr>Dictionary Operations</vt:lpstr>
      <vt:lpstr>String Operations</vt:lpstr>
      <vt:lpstr>String Operations</vt:lpstr>
      <vt:lpstr>Some Examples</vt:lpstr>
      <vt:lpstr>Time Tradeoff</vt:lpstr>
      <vt:lpstr>Time Tradeoff Cont.</vt:lpstr>
      <vt:lpstr>Time Tradeoff Cont.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RLokesh</dc:creator>
  <cp:lastModifiedBy>Windows User</cp:lastModifiedBy>
  <cp:revision>19</cp:revision>
  <dcterms:created xsi:type="dcterms:W3CDTF">2021-12-03T08:56:06Z</dcterms:created>
  <dcterms:modified xsi:type="dcterms:W3CDTF">2024-11-25T06:23:55Z</dcterms:modified>
</cp:coreProperties>
</file>