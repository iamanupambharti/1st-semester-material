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06" r:id="rId15"/>
    <p:sldId id="269" r:id="rId16"/>
    <p:sldId id="30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307" r:id="rId27"/>
    <p:sldId id="30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10083800" cy="5670550"/>
  <p:notesSz cx="10083800" cy="5670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86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1757870"/>
            <a:ext cx="8571230" cy="1190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3175508"/>
            <a:ext cx="7058660" cy="1417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5759" y="46080"/>
            <a:ext cx="673163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2780" y="949049"/>
            <a:ext cx="6779895" cy="1323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5273611"/>
            <a:ext cx="3226816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5273611"/>
            <a:ext cx="2319274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5273611"/>
            <a:ext cx="2319274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8850" y="1926950"/>
            <a:ext cx="7838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8495" algn="l"/>
              </a:tabLst>
            </a:pPr>
            <a:r>
              <a:rPr spc="-10" dirty="0"/>
              <a:t>Module</a:t>
            </a:r>
            <a:r>
              <a:rPr dirty="0"/>
              <a:t>	3</a:t>
            </a:r>
            <a:r>
              <a:rPr b="0" dirty="0">
                <a:latin typeface="Microsoft Sans Serif"/>
                <a:cs typeface="Microsoft Sans Serif"/>
              </a:rPr>
              <a:t>:</a:t>
            </a:r>
            <a:r>
              <a:rPr b="0" spc="-50" dirty="0">
                <a:latin typeface="Microsoft Sans Serif"/>
                <a:cs typeface="Microsoft Sans Serif"/>
              </a:rPr>
              <a:t> </a:t>
            </a:r>
            <a:r>
              <a:rPr b="0" spc="-10" dirty="0">
                <a:latin typeface="Microsoft Sans Serif"/>
                <a:cs typeface="Microsoft Sans Serif"/>
              </a:rPr>
              <a:t>Mathematical</a:t>
            </a:r>
            <a:r>
              <a:rPr b="0" spc="-60" dirty="0">
                <a:latin typeface="Microsoft Sans Serif"/>
                <a:cs typeface="Microsoft Sans Serif"/>
              </a:rPr>
              <a:t> </a:t>
            </a:r>
            <a:r>
              <a:rPr b="0" dirty="0">
                <a:latin typeface="Microsoft Sans Serif"/>
                <a:cs typeface="Microsoft Sans Serif"/>
              </a:rPr>
              <a:t>Physics</a:t>
            </a:r>
            <a:r>
              <a:rPr b="0" spc="-45" dirty="0">
                <a:latin typeface="Microsoft Sans Serif"/>
                <a:cs typeface="Microsoft Sans Serif"/>
              </a:rPr>
              <a:t> </a:t>
            </a:r>
            <a:r>
              <a:rPr b="0" spc="-25" dirty="0">
                <a:latin typeface="Microsoft Sans Serif"/>
                <a:cs typeface="Microsoft Sans Serif"/>
              </a:rPr>
              <a:t>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Sequential</a:t>
            </a:r>
            <a:r>
              <a:rPr spc="-145" dirty="0"/>
              <a:t> </a:t>
            </a:r>
            <a:r>
              <a:rPr spc="-10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269" y="802999"/>
            <a:ext cx="9058910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sequence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collection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elements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particular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order.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020"/>
              </a:lnSpc>
              <a:tabLst>
                <a:tab pos="6084570" algn="l"/>
              </a:tabLst>
            </a:pPr>
            <a:r>
              <a:rPr sz="1800" dirty="0">
                <a:latin typeface="Microsoft Sans Serif"/>
                <a:cs typeface="Microsoft Sans Serif"/>
              </a:rPr>
              <a:t>Elements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3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sequence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related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each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other,</a:t>
            </a:r>
            <a:r>
              <a:rPr sz="1800" dirty="0">
                <a:latin typeface="Microsoft Sans Serif"/>
                <a:cs typeface="Microsoft Sans Serif"/>
              </a:rPr>
              <a:t>	and</a:t>
            </a:r>
            <a:r>
              <a:rPr sz="1800" spc="3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often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defined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using recursion.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1800" dirty="0">
                <a:latin typeface="Microsoft Sans Serif"/>
                <a:cs typeface="Microsoft Sans Serif"/>
              </a:rPr>
              <a:t>Sequences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finite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infinite.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519" y="3058519"/>
            <a:ext cx="2772410" cy="685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1120" y="2015850"/>
            <a:ext cx="3992879" cy="30848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43529" y="4762860"/>
            <a:ext cx="4030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Sequence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defined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function.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spc="-125" dirty="0"/>
              <a:t> </a:t>
            </a:r>
            <a:r>
              <a:rPr spc="-10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269" y="802999"/>
            <a:ext cx="8811895" cy="811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chosen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chance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some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specified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Such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independent,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having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correlations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between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successive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numbers.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-123253"/>
            <a:ext cx="6657340" cy="115506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pc="-10" dirty="0"/>
              <a:t>Probability</a:t>
            </a:r>
          </a:p>
          <a:p>
            <a:pPr marL="13335">
              <a:lnSpc>
                <a:spcPct val="100000"/>
              </a:lnSpc>
              <a:spcBef>
                <a:spcPts val="600"/>
              </a:spcBef>
            </a:pPr>
            <a:r>
              <a:rPr sz="1800" b="0" dirty="0">
                <a:latin typeface="Microsoft Sans Serif"/>
                <a:cs typeface="Microsoft Sans Serif"/>
              </a:rPr>
              <a:t>Probability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is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the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spc="-10" dirty="0">
                <a:latin typeface="Microsoft Sans Serif"/>
                <a:cs typeface="Microsoft Sans Serif"/>
              </a:rPr>
              <a:t>possibility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of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occurrence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of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an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event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or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spc="-10" dirty="0">
                <a:latin typeface="Microsoft Sans Serif"/>
                <a:cs typeface="Microsoft Sans Serif"/>
              </a:rPr>
              <a:t>outcome.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1685650"/>
            <a:ext cx="2368550" cy="18059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27500" y="1349100"/>
            <a:ext cx="4800600" cy="24472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0520" y="4192630"/>
            <a:ext cx="9288145" cy="8115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 algn="just">
              <a:lnSpc>
                <a:spcPct val="93300"/>
              </a:lnSpc>
              <a:spcBef>
                <a:spcPts val="244"/>
              </a:spcBef>
            </a:pPr>
            <a:r>
              <a:rPr sz="1800" b="1" dirty="0">
                <a:latin typeface="Arial"/>
                <a:cs typeface="Arial"/>
              </a:rPr>
              <a:t>Sample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Space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probability,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set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all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possible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outcomes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called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Sample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Space. </a:t>
            </a:r>
            <a:r>
              <a:rPr sz="1800" dirty="0">
                <a:latin typeface="Microsoft Sans Serif"/>
                <a:cs typeface="Microsoft Sans Serif"/>
              </a:rPr>
              <a:t>We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will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</a:t>
            </a:r>
            <a:r>
              <a:rPr sz="1800" spc="1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represent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sample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space.</a:t>
            </a:r>
            <a:r>
              <a:rPr sz="1800" spc="1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terms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language</a:t>
            </a:r>
            <a:r>
              <a:rPr sz="1800" spc="1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sets,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sample </a:t>
            </a:r>
            <a:r>
              <a:rPr sz="1800" dirty="0">
                <a:latin typeface="Microsoft Sans Serif"/>
                <a:cs typeface="Microsoft Sans Serif"/>
              </a:rPr>
              <a:t>space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universal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outcome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element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universal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set.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Probability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269" y="802999"/>
            <a:ext cx="9058910" cy="5562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classical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probability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P(A)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event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defined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favorable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results </a:t>
            </a:r>
            <a:r>
              <a:rPr sz="1800" dirty="0">
                <a:latin typeface="Microsoft Sans Serif"/>
                <a:cs typeface="Microsoft Sans Serif"/>
              </a:rPr>
              <a:t>n,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divided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possible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results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m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51300" y="1694539"/>
            <a:ext cx="114744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2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500" dirty="0">
                <a:latin typeface="Cambria"/>
                <a:cs typeface="Cambria"/>
              </a:rPr>
              <a:t>=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3000" i="1" spc="-75" baseline="33333" dirty="0">
                <a:latin typeface="Times New Roman"/>
                <a:cs typeface="Times New Roman"/>
              </a:rPr>
              <a:t>n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93640" y="1879960"/>
            <a:ext cx="217170" cy="11430"/>
          </a:xfrm>
          <a:custGeom>
            <a:avLst/>
            <a:gdLst/>
            <a:ahLst/>
            <a:cxnLst/>
            <a:rect l="l" t="t" r="r" b="b"/>
            <a:pathLst>
              <a:path w="217170" h="11430">
                <a:moveTo>
                  <a:pt x="217170" y="0"/>
                </a:moveTo>
                <a:lnTo>
                  <a:pt x="0" y="0"/>
                </a:lnTo>
                <a:lnTo>
                  <a:pt x="0" y="11429"/>
                </a:lnTo>
                <a:lnTo>
                  <a:pt x="217170" y="11429"/>
                </a:lnTo>
                <a:lnTo>
                  <a:pt x="217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91100" y="1865989"/>
            <a:ext cx="21209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50" dirty="0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1920" y="2461619"/>
            <a:ext cx="15005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2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i="1" spc="-944" dirty="0">
                <a:latin typeface="Times New Roman"/>
                <a:cs typeface="Times New Roman"/>
              </a:rPr>
              <a:t>A</a:t>
            </a:r>
            <a:r>
              <a:rPr sz="3000" spc="322" baseline="5555" dirty="0">
                <a:latin typeface="Cambria"/>
                <a:cs typeface="Cambria"/>
              </a:rPr>
              <a:t>¯</a:t>
            </a:r>
            <a:r>
              <a:rPr sz="3000" spc="-44" baseline="55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245" dirty="0">
                <a:latin typeface="Cambria"/>
                <a:cs typeface="Cambria"/>
              </a:rPr>
              <a:t> </a:t>
            </a:r>
            <a:r>
              <a:rPr sz="2000" spc="360" dirty="0">
                <a:latin typeface="Cambria"/>
                <a:cs typeface="Cambria"/>
              </a:rPr>
              <a:t>=</a:t>
            </a:r>
            <a:r>
              <a:rPr sz="2000" spc="360" dirty="0">
                <a:latin typeface="Times New Roman"/>
                <a:cs typeface="Times New Roman"/>
              </a:rPr>
              <a:t>1</a:t>
            </a:r>
            <a:r>
              <a:rPr sz="2000" spc="360" dirty="0">
                <a:latin typeface="Cambria"/>
                <a:cs typeface="Cambria"/>
              </a:rPr>
              <a:t>−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3000" i="1" spc="-75" baseline="33333" dirty="0">
                <a:latin typeface="Times New Roman"/>
                <a:cs typeface="Times New Roman"/>
              </a:rPr>
              <a:t>n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17159" y="2645769"/>
            <a:ext cx="217170" cy="12700"/>
          </a:xfrm>
          <a:custGeom>
            <a:avLst/>
            <a:gdLst/>
            <a:ahLst/>
            <a:cxnLst/>
            <a:rect l="l" t="t" r="r" b="b"/>
            <a:pathLst>
              <a:path w="217170" h="12700">
                <a:moveTo>
                  <a:pt x="217169" y="0"/>
                </a:moveTo>
                <a:lnTo>
                  <a:pt x="0" y="0"/>
                </a:lnTo>
                <a:lnTo>
                  <a:pt x="0" y="12700"/>
                </a:lnTo>
                <a:lnTo>
                  <a:pt x="217169" y="12700"/>
                </a:lnTo>
                <a:lnTo>
                  <a:pt x="217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23509" y="2633069"/>
            <a:ext cx="21209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50" dirty="0">
                <a:latin typeface="Times New Roman"/>
                <a:cs typeface="Times New Roman"/>
              </a:rPr>
              <a:t>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9309" y="2459079"/>
            <a:ext cx="3587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Probability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complementary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event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869" y="3395069"/>
            <a:ext cx="67951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statistical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definition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probability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event</a:t>
            </a:r>
            <a:r>
              <a:rPr sz="1800" spc="-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given</a:t>
            </a:r>
            <a:r>
              <a:rPr sz="1800" spc="-25" dirty="0">
                <a:latin typeface="Microsoft Sans Serif"/>
                <a:cs typeface="Microsoft Sans Serif"/>
              </a:rPr>
              <a:t> by: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1300" y="4070710"/>
            <a:ext cx="15855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417955" algn="l"/>
              </a:tabLst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2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5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155" dirty="0">
                <a:latin typeface="Cambria"/>
                <a:cs typeface="Cambria"/>
              </a:rPr>
              <a:t>=</a:t>
            </a:r>
            <a:r>
              <a:rPr sz="2000" spc="155" dirty="0">
                <a:latin typeface="Times New Roman"/>
                <a:cs typeface="Times New Roman"/>
              </a:rPr>
              <a:t>lim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3000" i="1" spc="-75" baseline="33333" dirty="0">
                <a:latin typeface="Times New Roman"/>
                <a:cs typeface="Times New Roman"/>
              </a:rPr>
              <a:t>n</a:t>
            </a:r>
            <a:endParaRPr sz="3000" baseline="3333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22900" y="4256130"/>
            <a:ext cx="217170" cy="11430"/>
          </a:xfrm>
          <a:custGeom>
            <a:avLst/>
            <a:gdLst/>
            <a:ahLst/>
            <a:cxnLst/>
            <a:rect l="l" t="t" r="r" b="b"/>
            <a:pathLst>
              <a:path w="217170" h="11429">
                <a:moveTo>
                  <a:pt x="217170" y="0"/>
                </a:moveTo>
                <a:lnTo>
                  <a:pt x="0" y="0"/>
                </a:lnTo>
                <a:lnTo>
                  <a:pt x="0" y="11430"/>
                </a:lnTo>
                <a:lnTo>
                  <a:pt x="217170" y="11430"/>
                </a:lnTo>
                <a:lnTo>
                  <a:pt x="2171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72050" y="4262480"/>
            <a:ext cx="66929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i="1" dirty="0">
                <a:latin typeface="Times New Roman"/>
                <a:cs typeface="Times New Roman"/>
              </a:rPr>
              <a:t>m</a:t>
            </a:r>
            <a:r>
              <a:rPr sz="1200" dirty="0">
                <a:latin typeface="Cambria"/>
                <a:cs typeface="Cambria"/>
              </a:rPr>
              <a:t>→∞</a:t>
            </a:r>
            <a:r>
              <a:rPr sz="1200" spc="420" dirty="0">
                <a:latin typeface="Cambria"/>
                <a:cs typeface="Cambria"/>
              </a:rPr>
              <a:t> </a:t>
            </a:r>
            <a:r>
              <a:rPr sz="3000" i="1" spc="-75" baseline="4166" dirty="0">
                <a:latin typeface="Times New Roman"/>
                <a:cs typeface="Times New Roman"/>
              </a:rPr>
              <a:t>m</a:t>
            </a:r>
            <a:endParaRPr sz="3000" baseline="4166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-123253"/>
            <a:ext cx="7773034" cy="115506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/>
              <a:t>Random</a:t>
            </a:r>
            <a:r>
              <a:rPr spc="-125" dirty="0"/>
              <a:t> </a:t>
            </a:r>
            <a:r>
              <a:rPr spc="-10" dirty="0"/>
              <a:t>numbers</a:t>
            </a:r>
          </a:p>
          <a:p>
            <a:pPr marL="156210">
              <a:lnSpc>
                <a:spcPct val="100000"/>
              </a:lnSpc>
              <a:spcBef>
                <a:spcPts val="600"/>
              </a:spcBef>
            </a:pPr>
            <a:r>
              <a:rPr sz="1800" b="0" dirty="0">
                <a:latin typeface="Microsoft Sans Serif"/>
                <a:cs typeface="Microsoft Sans Serif"/>
              </a:rPr>
              <a:t>Random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numbers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generated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in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the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computer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are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spc="-10" dirty="0">
                <a:latin typeface="Microsoft Sans Serif"/>
                <a:cs typeface="Microsoft Sans Serif"/>
              </a:rPr>
              <a:t>pseudo-</a:t>
            </a:r>
            <a:r>
              <a:rPr sz="1800" b="0" dirty="0">
                <a:latin typeface="Microsoft Sans Serif"/>
                <a:cs typeface="Microsoft Sans Serif"/>
              </a:rPr>
              <a:t>random</a:t>
            </a:r>
            <a:r>
              <a:rPr sz="1800" b="0" spc="-10" dirty="0">
                <a:latin typeface="Microsoft Sans Serif"/>
                <a:cs typeface="Microsoft Sans Serif"/>
              </a:rPr>
              <a:t> numbers.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9269" y="1243689"/>
            <a:ext cx="9060180" cy="38823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010"/>
              </a:lnSpc>
              <a:spcBef>
                <a:spcPts val="290"/>
              </a:spcBef>
              <a:tabLst>
                <a:tab pos="292735" algn="l"/>
                <a:tab pos="2030730" algn="l"/>
                <a:tab pos="2943225" algn="l"/>
                <a:tab pos="3248025" algn="l"/>
                <a:tab pos="3515995" algn="l"/>
                <a:tab pos="4429125" algn="l"/>
                <a:tab pos="5596255" algn="l"/>
                <a:tab pos="6141085" algn="l"/>
                <a:tab pos="6598920" algn="l"/>
                <a:tab pos="7169150" algn="l"/>
                <a:tab pos="7499984" algn="l"/>
                <a:tab pos="7766684" algn="l"/>
              </a:tabLst>
            </a:pPr>
            <a:r>
              <a:rPr sz="1800" spc="-5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pseudo-random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number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is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number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generated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0" dirty="0">
                <a:latin typeface="Microsoft Sans Serif"/>
                <a:cs typeface="Microsoft Sans Serif"/>
              </a:rPr>
              <a:t>with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the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0" dirty="0">
                <a:latin typeface="Microsoft Sans Serif"/>
                <a:cs typeface="Microsoft Sans Serif"/>
              </a:rPr>
              <a:t>help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of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50" dirty="0">
                <a:latin typeface="Microsoft Sans Serif"/>
                <a:cs typeface="Microsoft Sans Serif"/>
              </a:rPr>
              <a:t>a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deterministic </a:t>
            </a:r>
            <a:r>
              <a:rPr sz="1800" dirty="0">
                <a:latin typeface="Microsoft Sans Serif"/>
                <a:cs typeface="Microsoft Sans Serif"/>
              </a:rPr>
              <a:t>algorithm,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however,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shows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behavior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if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were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random.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generator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will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comply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following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criteria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5080" indent="254635">
              <a:lnSpc>
                <a:spcPts val="2020"/>
              </a:lnSpc>
              <a:buAutoNum type="arabicPeriod"/>
              <a:tabLst>
                <a:tab pos="267335" algn="l"/>
              </a:tabLst>
            </a:pPr>
            <a:r>
              <a:rPr sz="1800" dirty="0">
                <a:latin typeface="Microsoft Sans Serif"/>
                <a:cs typeface="Microsoft Sans Serif"/>
              </a:rPr>
              <a:t>Produce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pseudo-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numbers whose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statistical properties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close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 </a:t>
            </a:r>
            <a:r>
              <a:rPr sz="1800" spc="-10" dirty="0">
                <a:latin typeface="Microsoft Sans Serif"/>
                <a:cs typeface="Microsoft Sans Serif"/>
              </a:rPr>
              <a:t>possible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those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real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numbers.</a:t>
            </a:r>
            <a:endParaRPr sz="1800">
              <a:latin typeface="Microsoft Sans Serif"/>
              <a:cs typeface="Microsoft Sans Serif"/>
            </a:endParaRPr>
          </a:p>
          <a:p>
            <a:pPr marL="12700" marR="6985" indent="264795">
              <a:lnSpc>
                <a:spcPts val="2020"/>
              </a:lnSpc>
              <a:spcBef>
                <a:spcPts val="2010"/>
              </a:spcBef>
              <a:buAutoNum type="arabicPeriod"/>
              <a:tabLst>
                <a:tab pos="277495" algn="l"/>
              </a:tabLst>
            </a:pPr>
            <a:r>
              <a:rPr sz="1800" dirty="0">
                <a:latin typeface="Microsoft Sans Serif"/>
                <a:cs typeface="Microsoft Sans Serif"/>
              </a:rPr>
              <a:t>Have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long</a:t>
            </a:r>
            <a:r>
              <a:rPr sz="1800" spc="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period:</a:t>
            </a:r>
            <a:r>
              <a:rPr sz="1800" spc="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should</a:t>
            </a:r>
            <a:r>
              <a:rPr sz="1800" spc="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generate</a:t>
            </a:r>
            <a:r>
              <a:rPr sz="1800" spc="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non-</a:t>
            </a:r>
            <a:r>
              <a:rPr sz="1800" dirty="0">
                <a:latin typeface="Microsoft Sans Serif"/>
                <a:cs typeface="Microsoft Sans Serif"/>
              </a:rPr>
              <a:t>repeating</a:t>
            </a:r>
            <a:r>
              <a:rPr sz="1800" spc="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sequence</a:t>
            </a:r>
            <a:r>
              <a:rPr sz="1800" spc="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8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numbers </a:t>
            </a:r>
            <a:r>
              <a:rPr sz="1800" dirty="0">
                <a:latin typeface="Microsoft Sans Serif"/>
                <a:cs typeface="Microsoft Sans Serif"/>
              </a:rPr>
              <a:t>which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sufficiently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long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computational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purposes.</a:t>
            </a:r>
            <a:endParaRPr sz="1800">
              <a:latin typeface="Microsoft Sans Serif"/>
              <a:cs typeface="Microsoft Sans Serif"/>
            </a:endParaRPr>
          </a:p>
          <a:p>
            <a:pPr marL="12700" marR="6985" indent="274955">
              <a:lnSpc>
                <a:spcPts val="2010"/>
              </a:lnSpc>
              <a:spcBef>
                <a:spcPts val="2020"/>
              </a:spcBef>
              <a:buAutoNum type="arabicPeriod"/>
              <a:tabLst>
                <a:tab pos="287655" algn="l"/>
              </a:tabLst>
            </a:pP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1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reproducible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sense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defined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above,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well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re-</a:t>
            </a:r>
            <a:r>
              <a:rPr sz="1800" dirty="0">
                <a:latin typeface="Microsoft Sans Serif"/>
                <a:cs typeface="Microsoft Sans Serif"/>
              </a:rPr>
              <a:t>startable</a:t>
            </a:r>
            <a:r>
              <a:rPr sz="1800" spc="1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1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arbitrary break-point.</a:t>
            </a:r>
            <a:endParaRPr sz="1800">
              <a:latin typeface="Microsoft Sans Serif"/>
              <a:cs typeface="Microsoft Sans Serif"/>
            </a:endParaRPr>
          </a:p>
          <a:p>
            <a:pPr marL="264795" indent="-252095">
              <a:lnSpc>
                <a:spcPct val="100000"/>
              </a:lnSpc>
              <a:spcBef>
                <a:spcPts val="1825"/>
              </a:spcBef>
              <a:buAutoNum type="arabicPeriod"/>
              <a:tabLst>
                <a:tab pos="264795" algn="l"/>
              </a:tabLst>
            </a:pP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fast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parallelizable: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should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not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limiting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component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0" dirty="0">
                <a:latin typeface="Microsoft Sans Serif"/>
                <a:cs typeface="Microsoft Sans Serif"/>
              </a:rPr>
              <a:t> simulations.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Randomness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1090" y="669698"/>
            <a:ext cx="4701540" cy="4372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6880" y="725530"/>
            <a:ext cx="3878579" cy="157988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6350" algn="just">
              <a:lnSpc>
                <a:spcPct val="93300"/>
              </a:lnSpc>
              <a:spcBef>
                <a:spcPts val="244"/>
              </a:spcBef>
            </a:pPr>
            <a:r>
              <a:rPr sz="1800" b="1" dirty="0">
                <a:latin typeface="Arial"/>
                <a:cs typeface="Arial"/>
              </a:rPr>
              <a:t>Randomness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40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409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40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40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lack</a:t>
            </a:r>
            <a:r>
              <a:rPr sz="1800" spc="405" dirty="0">
                <a:latin typeface="Microsoft Sans Serif"/>
                <a:cs typeface="Microsoft Sans Serif"/>
              </a:rPr>
              <a:t>  </a:t>
            </a:r>
            <a:r>
              <a:rPr sz="1800" spc="-25" dirty="0">
                <a:latin typeface="Microsoft Sans Serif"/>
                <a:cs typeface="Microsoft Sans Serif"/>
              </a:rPr>
              <a:t>of </a:t>
            </a:r>
            <a:r>
              <a:rPr sz="1800" dirty="0">
                <a:latin typeface="Microsoft Sans Serif"/>
                <a:cs typeface="Microsoft Sans Serif"/>
              </a:rPr>
              <a:t>predictability</a:t>
            </a:r>
            <a:r>
              <a:rPr sz="1800" spc="4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4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events,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i.e.,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there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is </a:t>
            </a:r>
            <a:r>
              <a:rPr sz="1800" dirty="0">
                <a:latin typeface="Microsoft Sans Serif"/>
                <a:cs typeface="Microsoft Sans Serif"/>
              </a:rPr>
              <a:t>no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pattern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involved.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ts val="2020"/>
              </a:lnSpc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475" dirty="0">
                <a:latin typeface="Microsoft Sans Serif"/>
                <a:cs typeface="Microsoft Sans Serif"/>
              </a:rPr>
              <a:t>  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265" dirty="0">
                <a:latin typeface="Microsoft Sans Serif"/>
                <a:cs typeface="Microsoft Sans Serif"/>
              </a:rPr>
              <a:t>    </a:t>
            </a:r>
            <a:r>
              <a:rPr sz="1800" dirty="0">
                <a:latin typeface="Microsoft Sans Serif"/>
                <a:cs typeface="Microsoft Sans Serif"/>
              </a:rPr>
              <a:t>process</a:t>
            </a:r>
            <a:r>
              <a:rPr sz="1800" spc="260" dirty="0">
                <a:latin typeface="Microsoft Sans Serif"/>
                <a:cs typeface="Microsoft Sans Serif"/>
              </a:rPr>
              <a:t>   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265" dirty="0">
                <a:latin typeface="Microsoft Sans Serif"/>
                <a:cs typeface="Microsoft Sans Serif"/>
              </a:rPr>
              <a:t>    </a:t>
            </a:r>
            <a:r>
              <a:rPr sz="1800" spc="-20" dirty="0">
                <a:latin typeface="Microsoft Sans Serif"/>
                <a:cs typeface="Microsoft Sans Serif"/>
              </a:rPr>
              <a:t>non- </a:t>
            </a:r>
            <a:r>
              <a:rPr sz="1800" spc="-10" dirty="0">
                <a:latin typeface="Microsoft Sans Serif"/>
                <a:cs typeface="Microsoft Sans Serif"/>
              </a:rPr>
              <a:t>deterministic.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091" y="3146573"/>
            <a:ext cx="3818152" cy="1594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spc="-12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797919"/>
            <a:ext cx="8989695" cy="28587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635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2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3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3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whose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unknown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function</a:t>
            </a:r>
            <a:r>
              <a:rPr sz="1800" spc="3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37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assigns </a:t>
            </a:r>
            <a:r>
              <a:rPr sz="1800" dirty="0">
                <a:latin typeface="Microsoft Sans Serif"/>
                <a:cs typeface="Microsoft Sans Serif"/>
              </a:rPr>
              <a:t>values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each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experiment's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outcomes.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020"/>
              </a:lnSpc>
              <a:spcBef>
                <a:spcPts val="201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3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2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2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3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either</a:t>
            </a:r>
            <a:r>
              <a:rPr sz="1800" spc="3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discrete</a:t>
            </a:r>
            <a:r>
              <a:rPr sz="1800" spc="2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(having</a:t>
            </a:r>
            <a:r>
              <a:rPr sz="1800" spc="2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specific</a:t>
            </a:r>
            <a:r>
              <a:rPr sz="1800" spc="3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values)</a:t>
            </a:r>
            <a:r>
              <a:rPr sz="1800" spc="2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2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continuous</a:t>
            </a:r>
            <a:r>
              <a:rPr sz="1800" spc="30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(any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continuous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range).</a:t>
            </a:r>
            <a:endParaRPr sz="1800">
              <a:latin typeface="Microsoft Sans Serif"/>
              <a:cs typeface="Microsoft Sans Serif"/>
            </a:endParaRPr>
          </a:p>
          <a:p>
            <a:pPr marL="12700" marR="6985">
              <a:lnSpc>
                <a:spcPts val="2010"/>
              </a:lnSpc>
              <a:spcBef>
                <a:spcPts val="2020"/>
              </a:spcBef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0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</a:t>
            </a:r>
            <a:r>
              <a:rPr sz="1800" spc="2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2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2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variables</a:t>
            </a:r>
            <a:r>
              <a:rPr sz="1800" spc="20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most</a:t>
            </a:r>
            <a:r>
              <a:rPr sz="1800" spc="2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common</a:t>
            </a:r>
            <a:r>
              <a:rPr sz="1800" spc="2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2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probability</a:t>
            </a:r>
            <a:r>
              <a:rPr sz="1800" spc="20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2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statistics,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where</a:t>
            </a:r>
            <a:r>
              <a:rPr sz="1800" spc="19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they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quantify outcomes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occurrences.</a:t>
            </a:r>
            <a:endParaRPr sz="1800">
              <a:latin typeface="Microsoft Sans Serif"/>
              <a:cs typeface="Microsoft Sans Serif"/>
            </a:endParaRPr>
          </a:p>
          <a:p>
            <a:pPr marL="12700" marR="7620">
              <a:lnSpc>
                <a:spcPts val="2020"/>
              </a:lnSpc>
              <a:spcBef>
                <a:spcPts val="2015"/>
              </a:spcBef>
            </a:pPr>
            <a:r>
              <a:rPr sz="1800" dirty="0">
                <a:latin typeface="Microsoft Sans Serif"/>
                <a:cs typeface="Microsoft Sans Serif"/>
              </a:rPr>
              <a:t>Risk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analysts</a:t>
            </a:r>
            <a:r>
              <a:rPr sz="1800" spc="4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</a:t>
            </a:r>
            <a:r>
              <a:rPr sz="1800" spc="3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3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variables</a:t>
            </a:r>
            <a:r>
              <a:rPr sz="1800" spc="4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3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estimate</a:t>
            </a:r>
            <a:r>
              <a:rPr sz="1800" spc="39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3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probability</a:t>
            </a:r>
            <a:r>
              <a:rPr sz="1800" spc="3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4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3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adverse</a:t>
            </a:r>
            <a:r>
              <a:rPr sz="1800" spc="40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event occurring.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559" y="839830"/>
            <a:ext cx="9080500" cy="189674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4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4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4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functional</a:t>
            </a:r>
            <a:r>
              <a:rPr sz="1800" spc="4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whose</a:t>
            </a:r>
            <a:r>
              <a:rPr sz="1800" spc="4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4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assigned</a:t>
            </a:r>
            <a:r>
              <a:rPr sz="1800" spc="4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4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outcome</a:t>
            </a:r>
            <a:r>
              <a:rPr sz="1800" spc="409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42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some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process.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event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80" dirty="0">
                <a:latin typeface="Microsoft Sans Serif"/>
                <a:cs typeface="Microsoft Sans Serif"/>
              </a:rPr>
              <a:t>ω,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defined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X(ω)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2573020">
              <a:lnSpc>
                <a:spcPct val="100000"/>
              </a:lnSpc>
            </a:pPr>
            <a:r>
              <a:rPr sz="2000" spc="-60" dirty="0">
                <a:latin typeface="Cambria"/>
                <a:cs typeface="Cambria"/>
              </a:rPr>
              <a:t>⟨</a:t>
            </a:r>
            <a:r>
              <a:rPr sz="2000" spc="-14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160" dirty="0">
                <a:latin typeface="Times New Roman"/>
                <a:cs typeface="Times New Roman"/>
              </a:rPr>
              <a:t> </a:t>
            </a:r>
            <a:r>
              <a:rPr sz="2000" spc="265" dirty="0">
                <a:latin typeface="Cambria"/>
                <a:cs typeface="Cambria"/>
              </a:rPr>
              <a:t>⟩=</a:t>
            </a:r>
            <a:r>
              <a:rPr sz="4425" spc="397" baseline="-3766" dirty="0">
                <a:latin typeface="Cambria"/>
                <a:cs typeface="Cambria"/>
              </a:rPr>
              <a:t>∑</a:t>
            </a:r>
            <a:r>
              <a:rPr sz="4425" spc="-195" baseline="-3766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1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mbria"/>
                <a:cs typeface="Cambria"/>
              </a:rPr>
              <a:t>(</a:t>
            </a:r>
            <a:r>
              <a:rPr sz="2100" i="1" spc="-20" dirty="0">
                <a:latin typeface="Cambria"/>
                <a:cs typeface="Cambria"/>
              </a:rPr>
              <a:t>ω</a:t>
            </a:r>
            <a:r>
              <a:rPr sz="2000" spc="-20" dirty="0">
                <a:latin typeface="Cambria"/>
                <a:cs typeface="Cambria"/>
              </a:rPr>
              <a:t>)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mbria"/>
                <a:cs typeface="Cambria"/>
              </a:rPr>
              <a:t>(</a:t>
            </a:r>
            <a:r>
              <a:rPr sz="2100" i="1" spc="-25" dirty="0">
                <a:latin typeface="Cambria"/>
                <a:cs typeface="Cambria"/>
              </a:rPr>
              <a:t>ω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spc="-125" dirty="0"/>
              <a:t> </a:t>
            </a:r>
            <a:r>
              <a:rPr spc="-10" dirty="0"/>
              <a:t>variable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951479" y="2735304"/>
            <a:ext cx="216535" cy="504825"/>
            <a:chOff x="2951479" y="2735304"/>
            <a:chExt cx="216535" cy="504825"/>
          </a:xfrm>
        </p:grpSpPr>
        <p:sp>
          <p:nvSpPr>
            <p:cNvPr id="5" name="object 5"/>
            <p:cNvSpPr/>
            <p:nvPr/>
          </p:nvSpPr>
          <p:spPr>
            <a:xfrm>
              <a:off x="3012439" y="2735939"/>
              <a:ext cx="154940" cy="361950"/>
            </a:xfrm>
            <a:custGeom>
              <a:avLst/>
              <a:gdLst/>
              <a:ahLst/>
              <a:cxnLst/>
              <a:rect l="l" t="t" r="r" b="b"/>
              <a:pathLst>
                <a:path w="154939" h="361950">
                  <a:moveTo>
                    <a:pt x="154940" y="0"/>
                  </a:moveTo>
                  <a:lnTo>
                    <a:pt x="0" y="3619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51479" y="3069949"/>
              <a:ext cx="114300" cy="170180"/>
            </a:xfrm>
            <a:custGeom>
              <a:avLst/>
              <a:gdLst/>
              <a:ahLst/>
              <a:cxnLst/>
              <a:rect l="l" t="t" r="r" b="b"/>
              <a:pathLst>
                <a:path w="114300" h="170180">
                  <a:moveTo>
                    <a:pt x="13969" y="0"/>
                  </a:moveTo>
                  <a:lnTo>
                    <a:pt x="0" y="170179"/>
                  </a:lnTo>
                  <a:lnTo>
                    <a:pt x="114300" y="43179"/>
                  </a:lnTo>
                  <a:lnTo>
                    <a:pt x="13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39620" y="3287119"/>
            <a:ext cx="1824989" cy="556260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708660" marR="5080" indent="-695960">
              <a:lnSpc>
                <a:spcPts val="2020"/>
              </a:lnSpc>
              <a:spcBef>
                <a:spcPts val="284"/>
              </a:spcBef>
            </a:pPr>
            <a:r>
              <a:rPr sz="1800" dirty="0">
                <a:latin typeface="Microsoft Sans Serif"/>
                <a:cs typeface="Microsoft Sans Serif"/>
              </a:rPr>
              <a:t>Expectation</a:t>
            </a:r>
            <a:r>
              <a:rPr sz="1800" spc="-1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value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X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87265" y="2735304"/>
            <a:ext cx="648335" cy="504825"/>
            <a:chOff x="4787265" y="2735304"/>
            <a:chExt cx="648335" cy="504825"/>
          </a:xfrm>
        </p:grpSpPr>
        <p:sp>
          <p:nvSpPr>
            <p:cNvPr id="9" name="object 9"/>
            <p:cNvSpPr/>
            <p:nvPr/>
          </p:nvSpPr>
          <p:spPr>
            <a:xfrm>
              <a:off x="4787900" y="2735939"/>
              <a:ext cx="525780" cy="408940"/>
            </a:xfrm>
            <a:custGeom>
              <a:avLst/>
              <a:gdLst/>
              <a:ahLst/>
              <a:cxnLst/>
              <a:rect l="l" t="t" r="r" b="b"/>
              <a:pathLst>
                <a:path w="525779" h="408939">
                  <a:moveTo>
                    <a:pt x="0" y="0"/>
                  </a:moveTo>
                  <a:lnTo>
                    <a:pt x="525779" y="40893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75580" y="3097889"/>
              <a:ext cx="160020" cy="142240"/>
            </a:xfrm>
            <a:custGeom>
              <a:avLst/>
              <a:gdLst/>
              <a:ahLst/>
              <a:cxnLst/>
              <a:rect l="l" t="t" r="r" b="b"/>
              <a:pathLst>
                <a:path w="160020" h="142239">
                  <a:moveTo>
                    <a:pt x="66040" y="0"/>
                  </a:moveTo>
                  <a:lnTo>
                    <a:pt x="0" y="85089"/>
                  </a:lnTo>
                  <a:lnTo>
                    <a:pt x="160020" y="142239"/>
                  </a:lnTo>
                  <a:lnTo>
                    <a:pt x="660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728209" y="3288389"/>
            <a:ext cx="1343660" cy="5549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71145" marR="5080" indent="-259079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Probability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 </a:t>
            </a:r>
            <a:r>
              <a:rPr sz="1800" dirty="0">
                <a:latin typeface="Microsoft Sans Serif"/>
                <a:cs typeface="Microsoft Sans Serif"/>
              </a:rPr>
              <a:t>event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110" dirty="0">
                <a:latin typeface="Microsoft Sans Serif"/>
                <a:cs typeface="Microsoft Sans Serif"/>
              </a:rPr>
              <a:t>ω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2050" y="4623160"/>
            <a:ext cx="225806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var</a:t>
            </a:r>
            <a:r>
              <a:rPr sz="2000" i="1" spc="-27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25" dirty="0">
                <a:latin typeface="Times New Roman"/>
                <a:cs typeface="Times New Roman"/>
              </a:rPr>
              <a:t> </a:t>
            </a:r>
            <a:r>
              <a:rPr sz="2000" spc="125" dirty="0">
                <a:latin typeface="Cambria"/>
                <a:cs typeface="Cambria"/>
              </a:rPr>
              <a:t>)=⟨</a:t>
            </a:r>
            <a:r>
              <a:rPr sz="2000" spc="-14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300" dirty="0">
                <a:latin typeface="Times New Roman"/>
                <a:cs typeface="Times New Roman"/>
              </a:rPr>
              <a:t> </a:t>
            </a:r>
            <a:r>
              <a:rPr sz="1800" baseline="46296" dirty="0">
                <a:latin typeface="Times New Roman"/>
                <a:cs typeface="Times New Roman"/>
              </a:rPr>
              <a:t>2</a:t>
            </a:r>
            <a:r>
              <a:rPr sz="1800" spc="-232" baseline="46296" dirty="0">
                <a:latin typeface="Times New Roman"/>
                <a:cs typeface="Times New Roman"/>
              </a:rPr>
              <a:t> </a:t>
            </a:r>
            <a:r>
              <a:rPr sz="2000" spc="165" dirty="0">
                <a:latin typeface="Cambria"/>
                <a:cs typeface="Cambria"/>
              </a:rPr>
              <a:t>⟩−⟨</a:t>
            </a:r>
            <a:r>
              <a:rPr sz="2000" spc="-5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1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mbria"/>
                <a:cs typeface="Cambria"/>
              </a:rPr>
              <a:t>⟩</a:t>
            </a:r>
            <a:r>
              <a:rPr sz="1800" spc="-37" baseline="46296" dirty="0">
                <a:latin typeface="Times New Roman"/>
                <a:cs typeface="Times New Roman"/>
              </a:rPr>
              <a:t>2</a:t>
            </a:r>
            <a:endParaRPr sz="1800" baseline="4629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36820" y="4581249"/>
            <a:ext cx="1216660" cy="8890"/>
          </a:xfrm>
          <a:custGeom>
            <a:avLst/>
            <a:gdLst/>
            <a:ahLst/>
            <a:cxnLst/>
            <a:rect l="l" t="t" r="r" b="b"/>
            <a:pathLst>
              <a:path w="1216660" h="8889">
                <a:moveTo>
                  <a:pt x="1216659" y="0"/>
                </a:moveTo>
                <a:lnTo>
                  <a:pt x="0" y="0"/>
                </a:lnTo>
                <a:lnTo>
                  <a:pt x="0" y="8889"/>
                </a:lnTo>
                <a:lnTo>
                  <a:pt x="1216659" y="8889"/>
                </a:lnTo>
                <a:lnTo>
                  <a:pt x="12166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70070" y="4479649"/>
            <a:ext cx="1925320" cy="47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i="1" spc="55" dirty="0">
                <a:latin typeface="Cambria"/>
                <a:cs typeface="Cambria"/>
              </a:rPr>
              <a:t>σ</a:t>
            </a:r>
            <a:r>
              <a:rPr sz="2100" i="1" spc="505" dirty="0">
                <a:latin typeface="Cambria"/>
                <a:cs typeface="Cambria"/>
              </a:rPr>
              <a:t> </a:t>
            </a:r>
            <a:r>
              <a:rPr sz="2000" spc="-70" dirty="0">
                <a:latin typeface="Cambria"/>
                <a:cs typeface="Cambria"/>
              </a:rPr>
              <a:t>=</a:t>
            </a:r>
            <a:r>
              <a:rPr sz="4425" spc="-104" baseline="-2824" dirty="0">
                <a:latin typeface="Cambria"/>
                <a:cs typeface="Cambria"/>
              </a:rPr>
              <a:t>√</a:t>
            </a:r>
            <a:r>
              <a:rPr sz="2000" spc="-70" dirty="0">
                <a:latin typeface="Cambria"/>
                <a:cs typeface="Cambria"/>
              </a:rPr>
              <a:t>⟨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305" dirty="0">
                <a:latin typeface="Times New Roman"/>
                <a:cs typeface="Times New Roman"/>
              </a:rPr>
              <a:t> </a:t>
            </a:r>
            <a:r>
              <a:rPr sz="1800" baseline="48611" dirty="0">
                <a:latin typeface="Times New Roman"/>
                <a:cs typeface="Times New Roman"/>
              </a:rPr>
              <a:t>2</a:t>
            </a:r>
            <a:r>
              <a:rPr sz="1800" spc="-232" baseline="48611" dirty="0">
                <a:latin typeface="Times New Roman"/>
                <a:cs typeface="Times New Roman"/>
              </a:rPr>
              <a:t> </a:t>
            </a:r>
            <a:r>
              <a:rPr sz="2000" spc="190" dirty="0">
                <a:latin typeface="Cambria"/>
                <a:cs typeface="Cambria"/>
              </a:rPr>
              <a:t>⟩−⟨</a:t>
            </a:r>
            <a:r>
              <a:rPr sz="2000" spc="-13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1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mbria"/>
                <a:cs typeface="Cambria"/>
              </a:rPr>
              <a:t>⟩</a:t>
            </a:r>
            <a:r>
              <a:rPr sz="1800" spc="-37" baseline="48611" dirty="0">
                <a:latin typeface="Times New Roman"/>
                <a:cs typeface="Times New Roman"/>
              </a:rPr>
              <a:t>2</a:t>
            </a:r>
            <a:endParaRPr sz="1800" baseline="486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09740" y="4619349"/>
            <a:ext cx="1927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Standard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deviation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Random</a:t>
            </a:r>
            <a:r>
              <a:rPr spc="-125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5850" y="2583539"/>
            <a:ext cx="1416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480" dirty="0">
                <a:latin typeface="Cambria"/>
                <a:cs typeface="Cambria"/>
              </a:rPr>
              <a:t>¯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4900" y="2564489"/>
            <a:ext cx="3536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260" dirty="0">
                <a:latin typeface="Times New Roman"/>
                <a:cs typeface="Times New Roman"/>
              </a:rPr>
              <a:t>x</a:t>
            </a:r>
            <a:r>
              <a:rPr sz="2000" spc="260" dirty="0">
                <a:latin typeface="Cambria"/>
                <a:cs typeface="Cambria"/>
              </a:rPr>
              <a:t>=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6690" y="2412089"/>
            <a:ext cx="264160" cy="659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u="sng" spc="-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  <a:spcBef>
                <a:spcPts val="150"/>
              </a:spcBef>
            </a:pPr>
            <a:r>
              <a:rPr sz="2000" i="1" spc="-5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3550" y="2474320"/>
            <a:ext cx="324485" cy="6330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3429"/>
              </a:lnSpc>
              <a:spcBef>
                <a:spcPts val="120"/>
              </a:spcBef>
            </a:pPr>
            <a:r>
              <a:rPr sz="2950" spc="200" dirty="0">
                <a:latin typeface="Cambria"/>
                <a:cs typeface="Cambria"/>
              </a:rPr>
              <a:t>∑</a:t>
            </a:r>
            <a:endParaRPr sz="2950">
              <a:latin typeface="Cambria"/>
              <a:cs typeface="Cambria"/>
            </a:endParaRPr>
          </a:p>
          <a:p>
            <a:pPr marL="31750">
              <a:lnSpc>
                <a:spcPts val="1330"/>
              </a:lnSpc>
            </a:pPr>
            <a:r>
              <a:rPr sz="1200" i="1" spc="90" dirty="0">
                <a:latin typeface="Times New Roman"/>
                <a:cs typeface="Times New Roman"/>
              </a:rPr>
              <a:t>i</a:t>
            </a:r>
            <a:r>
              <a:rPr sz="1200" spc="90" dirty="0">
                <a:latin typeface="Cambria"/>
                <a:cs typeface="Cambria"/>
              </a:rPr>
              <a:t>=</a:t>
            </a:r>
            <a:r>
              <a:rPr sz="1200" spc="9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859" y="767439"/>
            <a:ext cx="9102725" cy="18167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 marR="17780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3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process,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ascertain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outcome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3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event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determine</a:t>
            </a:r>
            <a:r>
              <a:rPr sz="1800" spc="3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3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&lt;X&gt;, </a:t>
            </a:r>
            <a:r>
              <a:rPr sz="1800" dirty="0">
                <a:latin typeface="Microsoft Sans Serif"/>
                <a:cs typeface="Microsoft Sans Serif"/>
              </a:rPr>
              <a:t>multiple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observations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utilized</a:t>
            </a:r>
            <a:endParaRPr sz="1800">
              <a:latin typeface="Microsoft Sans Serif"/>
              <a:cs typeface="Microsoft Sans Serif"/>
            </a:endParaRPr>
          </a:p>
          <a:p>
            <a:pPr marR="1628139" algn="ctr">
              <a:lnSpc>
                <a:spcPct val="100000"/>
              </a:lnSpc>
              <a:spcBef>
                <a:spcPts val="1060"/>
              </a:spcBef>
            </a:pPr>
            <a:r>
              <a:rPr sz="2000" i="1" spc="210" dirty="0">
                <a:latin typeface="Times New Roman"/>
                <a:cs typeface="Times New Roman"/>
              </a:rPr>
              <a:t>x</a:t>
            </a:r>
            <a:r>
              <a:rPr sz="2000" spc="210" dirty="0">
                <a:latin typeface="Cambria"/>
                <a:cs typeface="Cambria"/>
              </a:rPr>
              <a:t>=⟨</a:t>
            </a:r>
            <a:r>
              <a:rPr sz="2000" spc="-15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1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Cambria"/>
                <a:cs typeface="Cambria"/>
              </a:rPr>
              <a:t>⟩</a:t>
            </a:r>
            <a:endParaRPr sz="2000">
              <a:latin typeface="Cambria"/>
              <a:cs typeface="Cambria"/>
            </a:endParaRPr>
          </a:p>
          <a:p>
            <a:pPr marL="76200">
              <a:lnSpc>
                <a:spcPct val="100000"/>
              </a:lnSpc>
              <a:spcBef>
                <a:spcPts val="1500"/>
              </a:spcBef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set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observations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i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where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1;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2;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........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;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N</a:t>
            </a:r>
            <a:endParaRPr sz="1800">
              <a:latin typeface="Microsoft Sans Serif"/>
              <a:cs typeface="Microsoft Sans Serif"/>
            </a:endParaRPr>
          </a:p>
          <a:p>
            <a:pPr marR="1056005" algn="ctr">
              <a:lnSpc>
                <a:spcPct val="100000"/>
              </a:lnSpc>
              <a:spcBef>
                <a:spcPts val="132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5500" y="2564489"/>
            <a:ext cx="1403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50" dirty="0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58690" y="2724510"/>
            <a:ext cx="6858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Central</a:t>
            </a:r>
            <a:r>
              <a:rPr spc="-114" dirty="0"/>
              <a:t> </a:t>
            </a:r>
            <a:r>
              <a:rPr dirty="0"/>
              <a:t>limit</a:t>
            </a:r>
            <a:r>
              <a:rPr spc="-125" dirty="0"/>
              <a:t> </a:t>
            </a:r>
            <a:r>
              <a:rPr spc="-10" dirty="0"/>
              <a:t>theorem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359" y="2963269"/>
            <a:ext cx="19773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tends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normal.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1420" y="2546710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8859" y="2377800"/>
            <a:ext cx="47815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Z</a:t>
            </a:r>
            <a:r>
              <a:rPr sz="2000" i="1" spc="330" dirty="0">
                <a:latin typeface="Times New Roman"/>
                <a:cs typeface="Times New Roman"/>
              </a:rPr>
              <a:t> </a:t>
            </a:r>
            <a:r>
              <a:rPr sz="2000" spc="450" dirty="0">
                <a:latin typeface="Cambria"/>
                <a:cs typeface="Cambria"/>
              </a:rPr>
              <a:t>=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46220" y="2356210"/>
            <a:ext cx="100838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95044" algn="l"/>
              </a:tabLst>
            </a:pPr>
            <a:r>
              <a:rPr sz="1200" i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200" i="1" u="sng" spc="-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=</a:t>
            </a:r>
            <a:r>
              <a:rPr sz="1200" u="sng" spc="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159" y="767439"/>
            <a:ext cx="8172450" cy="161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79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Let X</a:t>
            </a:r>
            <a:r>
              <a:rPr sz="1575" baseline="-31746" dirty="0">
                <a:latin typeface="Microsoft Sans Serif"/>
                <a:cs typeface="Microsoft Sans Serif"/>
              </a:rPr>
              <a:t>1</a:t>
            </a:r>
            <a:r>
              <a:rPr sz="1800" dirty="0">
                <a:latin typeface="Microsoft Sans Serif"/>
                <a:cs typeface="Microsoft Sans Serif"/>
              </a:rPr>
              <a:t>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2</a:t>
            </a:r>
            <a:r>
              <a:rPr sz="1800" dirty="0">
                <a:latin typeface="Microsoft Sans Serif"/>
                <a:cs typeface="Microsoft Sans Serif"/>
              </a:rPr>
              <a:t>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3</a:t>
            </a:r>
            <a:r>
              <a:rPr sz="1800" dirty="0">
                <a:latin typeface="Microsoft Sans Serif"/>
                <a:cs typeface="Microsoft Sans Serif"/>
              </a:rPr>
              <a:t>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.........., X</a:t>
            </a:r>
            <a:r>
              <a:rPr sz="1575" baseline="-31746" dirty="0">
                <a:latin typeface="Microsoft Sans Serif"/>
                <a:cs typeface="Microsoft Sans Serif"/>
              </a:rPr>
              <a:t>n</a:t>
            </a:r>
            <a:r>
              <a:rPr sz="1575" spc="292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 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random samples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mean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μ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variance σ</a:t>
            </a:r>
            <a:endParaRPr sz="1800">
              <a:latin typeface="Microsoft Sans Serif"/>
              <a:cs typeface="Microsoft Sans Serif"/>
            </a:endParaRPr>
          </a:p>
          <a:p>
            <a:pPr marR="30480" algn="r">
              <a:lnSpc>
                <a:spcPts val="630"/>
              </a:lnSpc>
            </a:pPr>
            <a:r>
              <a:rPr sz="1050" spc="-50" dirty="0">
                <a:latin typeface="Microsoft Sans Serif"/>
                <a:cs typeface="Microsoft Sans Serif"/>
              </a:rPr>
              <a:t>2</a:t>
            </a: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0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5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Then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limiting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the</a:t>
            </a:r>
            <a:r>
              <a:rPr sz="1800" spc="-10" dirty="0">
                <a:latin typeface="Microsoft Sans Serif"/>
                <a:cs typeface="Microsoft Sans Serif"/>
              </a:rPr>
              <a:t> distribution</a:t>
            </a:r>
            <a:endParaRPr sz="1800">
              <a:latin typeface="Microsoft Sans Serif"/>
              <a:cs typeface="Microsoft Sans Serif"/>
            </a:endParaRPr>
          </a:p>
          <a:p>
            <a:pPr marR="504825" algn="ctr">
              <a:lnSpc>
                <a:spcPts val="1005"/>
              </a:lnSpc>
              <a:spcBef>
                <a:spcPts val="1789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  <a:p>
            <a:pPr marL="139700" algn="ctr">
              <a:lnSpc>
                <a:spcPts val="3105"/>
              </a:lnSpc>
            </a:pPr>
            <a:r>
              <a:rPr sz="4425" spc="375" baseline="-3766" dirty="0">
                <a:latin typeface="Cambria"/>
                <a:cs typeface="Cambria"/>
              </a:rPr>
              <a:t>∑</a:t>
            </a:r>
            <a:r>
              <a:rPr sz="4425" spc="-112" baseline="-3766" dirty="0">
                <a:latin typeface="Cambria"/>
                <a:cs typeface="Cambria"/>
              </a:rPr>
              <a:t> </a:t>
            </a:r>
            <a:r>
              <a:rPr sz="2000" i="1" spc="175" dirty="0">
                <a:latin typeface="Times New Roman"/>
                <a:cs typeface="Times New Roman"/>
              </a:rPr>
              <a:t>X</a:t>
            </a:r>
            <a:r>
              <a:rPr sz="1800" i="1" spc="262" baseline="-20833" dirty="0">
                <a:latin typeface="Times New Roman"/>
                <a:cs typeface="Times New Roman"/>
              </a:rPr>
              <a:t>i</a:t>
            </a:r>
            <a:r>
              <a:rPr sz="2000" spc="175" dirty="0">
                <a:latin typeface="Cambria"/>
                <a:cs typeface="Cambria"/>
              </a:rPr>
              <a:t>−</a:t>
            </a:r>
            <a:r>
              <a:rPr sz="2100" i="1" spc="175" dirty="0">
                <a:latin typeface="Cambria"/>
                <a:cs typeface="Cambria"/>
              </a:rPr>
              <a:t>μ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10709" y="2610210"/>
            <a:ext cx="425450" cy="8890"/>
          </a:xfrm>
          <a:custGeom>
            <a:avLst/>
            <a:gdLst/>
            <a:ahLst/>
            <a:cxnLst/>
            <a:rect l="l" t="t" r="r" b="b"/>
            <a:pathLst>
              <a:path w="425450" h="8889">
                <a:moveTo>
                  <a:pt x="425450" y="0"/>
                </a:moveTo>
                <a:lnTo>
                  <a:pt x="0" y="0"/>
                </a:lnTo>
                <a:lnTo>
                  <a:pt x="0" y="8890"/>
                </a:lnTo>
                <a:lnTo>
                  <a:pt x="425450" y="8890"/>
                </a:lnTo>
                <a:lnTo>
                  <a:pt x="425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30370" y="2507339"/>
            <a:ext cx="63881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-30" baseline="-2923" dirty="0">
                <a:latin typeface="Cambria"/>
                <a:cs typeface="Cambria"/>
              </a:rPr>
              <a:t>√</a:t>
            </a:r>
            <a:r>
              <a:rPr sz="2000" i="1" spc="-20" dirty="0">
                <a:latin typeface="Times New Roman"/>
                <a:cs typeface="Times New Roman"/>
              </a:rPr>
              <a:t>n</a:t>
            </a:r>
            <a:r>
              <a:rPr sz="2100" i="1" spc="-20" dirty="0">
                <a:latin typeface="Cambria"/>
                <a:cs typeface="Cambria"/>
              </a:rPr>
              <a:t>σ</a:t>
            </a:r>
            <a:r>
              <a:rPr sz="1800" spc="-30" baseline="43981" dirty="0">
                <a:latin typeface="Times New Roman"/>
                <a:cs typeface="Times New Roman"/>
              </a:rPr>
              <a:t>2</a:t>
            </a:r>
            <a:endParaRPr sz="1800" baseline="4398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8308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and</a:t>
            </a:r>
            <a:r>
              <a:rPr spc="-50" dirty="0"/>
              <a:t> </a:t>
            </a:r>
            <a:r>
              <a:rPr spc="-10" dirty="0"/>
              <a:t>dispersion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559" y="767439"/>
            <a:ext cx="9079230" cy="10680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Central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tendency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single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describes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set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1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identifying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central </a:t>
            </a:r>
            <a:r>
              <a:rPr sz="1800" dirty="0">
                <a:latin typeface="Microsoft Sans Serif"/>
                <a:cs typeface="Microsoft Sans Serif"/>
              </a:rPr>
              <a:t>position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set.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statistics,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typical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probability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6950" y="2420979"/>
            <a:ext cx="40195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285" dirty="0">
                <a:latin typeface="Times New Roman"/>
                <a:cs typeface="Times New Roman"/>
              </a:rPr>
              <a:t>A</a:t>
            </a:r>
            <a:r>
              <a:rPr sz="2000" spc="285" dirty="0">
                <a:latin typeface="Cambria"/>
                <a:cs typeface="Cambria"/>
              </a:rPr>
              <a:t>=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5889" y="2268579"/>
            <a:ext cx="154305" cy="659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2000" i="1" spc="-5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57500" y="2227940"/>
            <a:ext cx="324485" cy="7359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985" algn="ctr">
              <a:lnSpc>
                <a:spcPts val="112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ts val="3115"/>
              </a:lnSpc>
            </a:pPr>
            <a:r>
              <a:rPr sz="2950" spc="200" dirty="0">
                <a:latin typeface="Cambria"/>
                <a:cs typeface="Cambria"/>
              </a:rPr>
              <a:t>∑</a:t>
            </a:r>
            <a:endParaRPr sz="2950">
              <a:latin typeface="Cambria"/>
              <a:cs typeface="Cambria"/>
            </a:endParaRPr>
          </a:p>
          <a:p>
            <a:pPr marL="5715" algn="ctr">
              <a:lnSpc>
                <a:spcPts val="1335"/>
              </a:lnSpc>
            </a:pPr>
            <a:r>
              <a:rPr sz="1200" i="1" spc="90" dirty="0">
                <a:latin typeface="Times New Roman"/>
                <a:cs typeface="Times New Roman"/>
              </a:rPr>
              <a:t>i</a:t>
            </a:r>
            <a:r>
              <a:rPr sz="1200" spc="90" dirty="0">
                <a:latin typeface="Cambria"/>
                <a:cs typeface="Cambria"/>
              </a:rPr>
              <a:t>=</a:t>
            </a:r>
            <a:r>
              <a:rPr sz="1200" spc="9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42640" y="2581000"/>
            <a:ext cx="6858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9289" y="2420979"/>
            <a:ext cx="4210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spc="450" dirty="0">
                <a:latin typeface="Cambria"/>
                <a:cs typeface="Cambria"/>
              </a:rPr>
              <a:t>=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3150" y="2230479"/>
            <a:ext cx="198247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1800" baseline="-23148" dirty="0">
                <a:latin typeface="Times New Roman"/>
                <a:cs typeface="Times New Roman"/>
              </a:rPr>
              <a:t>1</a:t>
            </a:r>
            <a:r>
              <a:rPr sz="1800" spc="-195" baseline="-23148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Cambria"/>
                <a:cs typeface="Cambria"/>
              </a:rPr>
              <a:t>+</a:t>
            </a:r>
            <a:r>
              <a:rPr sz="2000" i="1" spc="100" dirty="0">
                <a:latin typeface="Times New Roman"/>
                <a:cs typeface="Times New Roman"/>
              </a:rPr>
              <a:t>a</a:t>
            </a:r>
            <a:r>
              <a:rPr sz="1800" spc="150" baseline="-23148" dirty="0">
                <a:latin typeface="Times New Roman"/>
                <a:cs typeface="Times New Roman"/>
              </a:rPr>
              <a:t>2</a:t>
            </a:r>
            <a:r>
              <a:rPr sz="2000" spc="100" dirty="0">
                <a:latin typeface="Cambria"/>
                <a:cs typeface="Cambria"/>
              </a:rPr>
              <a:t>+</a:t>
            </a:r>
            <a:r>
              <a:rPr sz="2000" i="1" spc="100" dirty="0">
                <a:latin typeface="Times New Roman"/>
                <a:cs typeface="Times New Roman"/>
              </a:rPr>
              <a:t>a</a:t>
            </a:r>
            <a:r>
              <a:rPr sz="1800" spc="150" baseline="-23148" dirty="0">
                <a:latin typeface="Times New Roman"/>
                <a:cs typeface="Times New Roman"/>
              </a:rPr>
              <a:t>3</a:t>
            </a:r>
            <a:r>
              <a:rPr sz="1800" spc="-187" baseline="-23148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Cambria"/>
                <a:cs typeface="Cambria"/>
              </a:rPr>
              <a:t>+</a:t>
            </a:r>
            <a:r>
              <a:rPr sz="2000" spc="55" dirty="0">
                <a:latin typeface="Times New Roman"/>
                <a:cs typeface="Times New Roman"/>
              </a:rPr>
              <a:t>.....</a:t>
            </a:r>
            <a:r>
              <a:rPr sz="2000" spc="55" dirty="0">
                <a:latin typeface="Cambria"/>
                <a:cs typeface="Cambria"/>
              </a:rPr>
              <a:t>+</a:t>
            </a:r>
            <a:r>
              <a:rPr sz="2000" i="1" spc="55" dirty="0">
                <a:latin typeface="Times New Roman"/>
                <a:cs typeface="Times New Roman"/>
              </a:rPr>
              <a:t>a</a:t>
            </a:r>
            <a:r>
              <a:rPr sz="1800" i="1" spc="82" baseline="-23148" dirty="0">
                <a:latin typeface="Times New Roman"/>
                <a:cs typeface="Times New Roman"/>
              </a:rPr>
              <a:t>n</a:t>
            </a:r>
            <a:endParaRPr sz="1800" baseline="-2314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32200" y="2605129"/>
            <a:ext cx="1934210" cy="12700"/>
          </a:xfrm>
          <a:custGeom>
            <a:avLst/>
            <a:gdLst/>
            <a:ahLst/>
            <a:cxnLst/>
            <a:rect l="l" t="t" r="r" b="b"/>
            <a:pathLst>
              <a:path w="1934210" h="12700">
                <a:moveTo>
                  <a:pt x="1934210" y="0"/>
                </a:moveTo>
                <a:lnTo>
                  <a:pt x="0" y="0"/>
                </a:lnTo>
                <a:lnTo>
                  <a:pt x="0" y="12700"/>
                </a:lnTo>
                <a:lnTo>
                  <a:pt x="1934210" y="12700"/>
                </a:lnTo>
                <a:lnTo>
                  <a:pt x="1934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23740" y="2592429"/>
            <a:ext cx="1543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50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68720" y="2387960"/>
            <a:ext cx="1674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Arithmetic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mean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2490" y="3636369"/>
            <a:ext cx="128270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243965" algn="l"/>
              </a:tabLst>
            </a:pPr>
            <a:r>
              <a:rPr sz="3000" i="1" spc="600" baseline="-27777" dirty="0">
                <a:latin typeface="Times New Roman"/>
                <a:cs typeface="Times New Roman"/>
              </a:rPr>
              <a:t>A</a:t>
            </a:r>
            <a:r>
              <a:rPr sz="3000" spc="600" baseline="-27777" dirty="0">
                <a:latin typeface="Cambria"/>
                <a:cs typeface="Cambria"/>
              </a:rPr>
              <a:t>=</a:t>
            </a:r>
            <a:r>
              <a:rPr sz="1200" i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i="1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200" u="sng" spc="114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=</a:t>
            </a:r>
            <a:r>
              <a:rPr sz="1200" u="sng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22700" y="3216000"/>
            <a:ext cx="852169" cy="550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41605">
              <a:lnSpc>
                <a:spcPts val="1005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ts val="3105"/>
              </a:lnSpc>
            </a:pPr>
            <a:r>
              <a:rPr sz="4425" spc="375" baseline="-4708" dirty="0">
                <a:latin typeface="Cambria"/>
                <a:cs typeface="Cambria"/>
              </a:rPr>
              <a:t>∑</a:t>
            </a:r>
            <a:r>
              <a:rPr sz="4425" spc="-300" baseline="-4708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w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89" baseline="-20833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</a:t>
            </a:r>
            <a:r>
              <a:rPr sz="2000" i="1" spc="-135" dirty="0">
                <a:latin typeface="Times New Roman"/>
                <a:cs typeface="Times New Roman"/>
              </a:rPr>
              <a:t> </a:t>
            </a:r>
            <a:r>
              <a:rPr sz="1800" i="1" spc="-89" baseline="-20833" dirty="0">
                <a:latin typeface="Times New Roman"/>
                <a:cs typeface="Times New Roman"/>
              </a:rPr>
              <a:t>i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17950" y="3948789"/>
            <a:ext cx="652780" cy="7359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62255" algn="ctr">
              <a:lnSpc>
                <a:spcPts val="101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ts val="3110"/>
              </a:lnSpc>
            </a:pPr>
            <a:r>
              <a:rPr sz="4425" spc="375" baseline="-5649" dirty="0">
                <a:latin typeface="Cambria"/>
                <a:cs typeface="Cambria"/>
              </a:rPr>
              <a:t>∑</a:t>
            </a:r>
            <a:r>
              <a:rPr sz="4425" spc="-352" baseline="-5649" dirty="0">
                <a:latin typeface="Cambria"/>
                <a:cs typeface="Cambria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w</a:t>
            </a:r>
            <a:r>
              <a:rPr sz="1800" i="1" spc="-37" baseline="-23148" dirty="0">
                <a:latin typeface="Times New Roman"/>
                <a:cs typeface="Times New Roman"/>
              </a:rPr>
              <a:t>i</a:t>
            </a:r>
            <a:endParaRPr sz="1800" baseline="-23148">
              <a:latin typeface="Times New Roman"/>
              <a:cs typeface="Times New Roman"/>
            </a:endParaRPr>
          </a:p>
          <a:p>
            <a:pPr marR="273685" algn="ctr">
              <a:lnSpc>
                <a:spcPct val="100000"/>
              </a:lnSpc>
              <a:spcBef>
                <a:spcPts val="10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180" dirty="0">
                <a:latin typeface="Times New Roman"/>
                <a:cs typeface="Times New Roman"/>
              </a:rPr>
              <a:t> </a:t>
            </a:r>
            <a:r>
              <a:rPr sz="1200" spc="130" dirty="0">
                <a:latin typeface="Cambria"/>
                <a:cs typeface="Cambria"/>
              </a:rPr>
              <a:t>=</a:t>
            </a:r>
            <a:r>
              <a:rPr sz="1200" spc="13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09309" y="3755749"/>
            <a:ext cx="2672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Weighted</a:t>
            </a:r>
            <a:r>
              <a:rPr sz="1800" spc="-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arithmetic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mean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8308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and</a:t>
            </a:r>
            <a:r>
              <a:rPr spc="-50" dirty="0"/>
              <a:t> </a:t>
            </a:r>
            <a:r>
              <a:rPr spc="-10" dirty="0"/>
              <a:t>dispersion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559" y="767439"/>
            <a:ext cx="4328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4255" algn="l"/>
                <a:tab pos="1310640" algn="l"/>
                <a:tab pos="1633855" algn="l"/>
                <a:tab pos="2110105" algn="l"/>
                <a:tab pos="3231515" algn="l"/>
                <a:tab pos="3935095" algn="l"/>
              </a:tabLst>
            </a:pPr>
            <a:r>
              <a:rPr sz="1800" b="1" spc="-10" dirty="0">
                <a:latin typeface="Arial"/>
                <a:cs typeface="Arial"/>
              </a:rPr>
              <a:t>Median</a:t>
            </a:r>
            <a:r>
              <a:rPr sz="1800" spc="-10" dirty="0">
                <a:latin typeface="Microsoft Sans Serif"/>
                <a:cs typeface="Microsoft Sans Serif"/>
              </a:rPr>
              <a:t>: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It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is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the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positional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value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0" dirty="0">
                <a:latin typeface="Microsoft Sans Serif"/>
                <a:cs typeface="Microsoft Sans Serif"/>
              </a:rPr>
              <a:t>that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6559" y="935969"/>
            <a:ext cx="4194175" cy="7905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latin typeface="Microsoft Sans Serif"/>
                <a:cs typeface="Microsoft Sans Serif"/>
              </a:rPr>
              <a:t>divides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distribution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two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equal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parts.</a:t>
            </a:r>
            <a:endParaRPr sz="1800">
              <a:latin typeface="Microsoft Sans Serif"/>
              <a:cs typeface="Microsoft Sans Serif"/>
            </a:endParaRPr>
          </a:p>
          <a:p>
            <a:pPr marL="75311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Microsoft Sans Serif"/>
                <a:cs typeface="Microsoft Sans Serif"/>
              </a:rPr>
              <a:t>1,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3,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4,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5,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6,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7,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8,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9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21560" y="1728829"/>
            <a:ext cx="107950" cy="394970"/>
            <a:chOff x="2321560" y="1728829"/>
            <a:chExt cx="107950" cy="394970"/>
          </a:xfrm>
        </p:grpSpPr>
        <p:sp>
          <p:nvSpPr>
            <p:cNvPr id="6" name="object 6"/>
            <p:cNvSpPr/>
            <p:nvPr/>
          </p:nvSpPr>
          <p:spPr>
            <a:xfrm>
              <a:off x="2376170" y="1883769"/>
              <a:ext cx="0" cy="240029"/>
            </a:xfrm>
            <a:custGeom>
              <a:avLst/>
              <a:gdLst/>
              <a:ahLst/>
              <a:cxnLst/>
              <a:rect l="l" t="t" r="r" b="b"/>
              <a:pathLst>
                <a:path h="240030">
                  <a:moveTo>
                    <a:pt x="0" y="24003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21560" y="172882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54609" y="0"/>
                  </a:moveTo>
                  <a:lnTo>
                    <a:pt x="0" y="161289"/>
                  </a:lnTo>
                  <a:lnTo>
                    <a:pt x="107950" y="161289"/>
                  </a:lnTo>
                  <a:lnTo>
                    <a:pt x="54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3559" y="2093319"/>
            <a:ext cx="4274185" cy="290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0960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Median</a:t>
            </a:r>
            <a:endParaRPr sz="1800">
              <a:latin typeface="Microsoft Sans Serif"/>
              <a:cs typeface="Microsoft Sans Serif"/>
            </a:endParaRPr>
          </a:p>
          <a:p>
            <a:pPr marR="554355" algn="ctr">
              <a:lnSpc>
                <a:spcPct val="100000"/>
              </a:lnSpc>
              <a:spcBef>
                <a:spcPts val="1420"/>
              </a:spcBef>
            </a:pPr>
            <a:r>
              <a:rPr sz="2000" dirty="0">
                <a:latin typeface="Microsoft Sans Serif"/>
                <a:cs typeface="Microsoft Sans Serif"/>
              </a:rPr>
              <a:t>1, 2,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3,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4,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5,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6,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7,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8,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9,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10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Microsoft Sans Serif"/>
              <a:cs typeface="Microsoft Sans Serif"/>
            </a:endParaRPr>
          </a:p>
          <a:p>
            <a:pPr marL="878840">
              <a:lnSpc>
                <a:spcPct val="100000"/>
              </a:lnSpc>
              <a:tabLst>
                <a:tab pos="175323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Median</a:t>
            </a:r>
            <a:r>
              <a:rPr sz="1800" dirty="0">
                <a:latin typeface="Microsoft Sans Serif"/>
                <a:cs typeface="Microsoft Sans Serif"/>
              </a:rPr>
              <a:t>	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(5+6)/2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93300"/>
              </a:lnSpc>
            </a:pPr>
            <a:r>
              <a:rPr sz="1800" b="1" dirty="0">
                <a:latin typeface="Arial"/>
                <a:cs typeface="Arial"/>
              </a:rPr>
              <a:t>Mode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3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4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3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typical</a:t>
            </a:r>
            <a:r>
              <a:rPr sz="1800" spc="3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2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around</a:t>
            </a:r>
            <a:r>
              <a:rPr sz="1800" spc="30" dirty="0">
                <a:latin typeface="Microsoft Sans Serif"/>
                <a:cs typeface="Microsoft Sans Serif"/>
              </a:rPr>
              <a:t>  </a:t>
            </a:r>
            <a:r>
              <a:rPr sz="1800" spc="-10" dirty="0">
                <a:latin typeface="Microsoft Sans Serif"/>
                <a:cs typeface="Microsoft Sans Serif"/>
              </a:rPr>
              <a:t>which </a:t>
            </a:r>
            <a:r>
              <a:rPr sz="1800" dirty="0">
                <a:latin typeface="Microsoft Sans Serif"/>
                <a:cs typeface="Microsoft Sans Serif"/>
              </a:rPr>
              <a:t>distribution</a:t>
            </a:r>
            <a:r>
              <a:rPr sz="1800" spc="44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445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concentrated</a:t>
            </a:r>
            <a:r>
              <a:rPr sz="1800" spc="440" dirty="0">
                <a:latin typeface="Microsoft Sans Serif"/>
                <a:cs typeface="Microsoft Sans Serif"/>
              </a:rPr>
              <a:t> 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445" dirty="0">
                <a:latin typeface="Microsoft Sans Serif"/>
                <a:cs typeface="Microsoft Sans Serif"/>
              </a:rPr>
              <a:t>  </a:t>
            </a:r>
            <a:r>
              <a:rPr sz="1800" spc="-20" dirty="0">
                <a:latin typeface="Microsoft Sans Serif"/>
                <a:cs typeface="Microsoft Sans Serif"/>
              </a:rPr>
              <a:t>most </a:t>
            </a:r>
            <a:r>
              <a:rPr sz="1800" dirty="0">
                <a:latin typeface="Microsoft Sans Serif"/>
                <a:cs typeface="Microsoft Sans Serif"/>
              </a:rPr>
              <a:t>frequent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value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set.</a:t>
            </a:r>
            <a:endParaRPr sz="1800">
              <a:latin typeface="Microsoft Sans Serif"/>
              <a:cs typeface="Microsoft Sans Serif"/>
            </a:endParaRPr>
          </a:p>
          <a:p>
            <a:pPr marL="447040" algn="just">
              <a:lnSpc>
                <a:spcPct val="100000"/>
              </a:lnSpc>
              <a:spcBef>
                <a:spcPts val="960"/>
              </a:spcBef>
            </a:pPr>
            <a:r>
              <a:rPr sz="2000" dirty="0">
                <a:latin typeface="Microsoft Sans Serif"/>
                <a:cs typeface="Microsoft Sans Serif"/>
              </a:rPr>
              <a:t>1,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3,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6,</a:t>
            </a:r>
            <a:r>
              <a:rPr sz="2000" spc="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6,</a:t>
            </a:r>
            <a:r>
              <a:rPr sz="2000" spc="5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6,</a:t>
            </a:r>
            <a:r>
              <a:rPr sz="2000" spc="20" dirty="0">
                <a:solidFill>
                  <a:srgbClr val="FF0000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Sans Serif"/>
                <a:cs typeface="Microsoft Sans Serif"/>
              </a:rPr>
              <a:t>6</a:t>
            </a:r>
            <a:r>
              <a:rPr sz="2000" dirty="0">
                <a:latin typeface="Microsoft Sans Serif"/>
                <a:cs typeface="Microsoft Sans Serif"/>
              </a:rPr>
              <a:t>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7,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7,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12,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12,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35" dirty="0">
                <a:latin typeface="Microsoft Sans Serif"/>
                <a:cs typeface="Microsoft Sans Serif"/>
              </a:rPr>
              <a:t>17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1930" y="884412"/>
            <a:ext cx="2790189" cy="446884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429510" y="4968599"/>
            <a:ext cx="107950" cy="431800"/>
            <a:chOff x="2429510" y="4968599"/>
            <a:chExt cx="107950" cy="431800"/>
          </a:xfrm>
        </p:grpSpPr>
        <p:sp>
          <p:nvSpPr>
            <p:cNvPr id="11" name="object 11"/>
            <p:cNvSpPr/>
            <p:nvPr/>
          </p:nvSpPr>
          <p:spPr>
            <a:xfrm>
              <a:off x="2484120" y="5123539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h="276860">
                  <a:moveTo>
                    <a:pt x="0" y="2768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29510" y="4968599"/>
              <a:ext cx="107950" cy="161290"/>
            </a:xfrm>
            <a:custGeom>
              <a:avLst/>
              <a:gdLst/>
              <a:ahLst/>
              <a:cxnLst/>
              <a:rect l="l" t="t" r="r" b="b"/>
              <a:pathLst>
                <a:path w="107950" h="161289">
                  <a:moveTo>
                    <a:pt x="54609" y="0"/>
                  </a:moveTo>
                  <a:lnTo>
                    <a:pt x="0" y="161289"/>
                  </a:lnTo>
                  <a:lnTo>
                    <a:pt x="107950" y="161289"/>
                  </a:lnTo>
                  <a:lnTo>
                    <a:pt x="54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46B660-0D65-6AF4-2307-051D57BD551F}"/>
              </a:ext>
            </a:extLst>
          </p:cNvPr>
          <p:cNvSpPr txBox="1"/>
          <p:nvPr/>
        </p:nvSpPr>
        <p:spPr>
          <a:xfrm>
            <a:off x="2146300" y="854075"/>
            <a:ext cx="50414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1.Find </a:t>
            </a:r>
            <a:r>
              <a:rPr lang="en-US" dirty="0"/>
              <a:t>the mean of the marks (out of 15) obtained by 20 students. </a:t>
            </a:r>
          </a:p>
          <a:p>
            <a:r>
              <a:rPr lang="en-US" dirty="0"/>
              <a:t>12 10 5 8 15 5 2 8 10 5 10 12 12 2 5 2 8 10 5 10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2.If the mean of the following data is 20.2, find the value of k </a:t>
            </a:r>
          </a:p>
          <a:p>
            <a:endParaRPr lang="en-US" dirty="0"/>
          </a:p>
          <a:p>
            <a:r>
              <a:rPr lang="en-US" dirty="0"/>
              <a:t>xi 10 15 20 25 30 fi 6 8 20 k 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276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8308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and</a:t>
            </a:r>
            <a:r>
              <a:rPr spc="-50" dirty="0"/>
              <a:t> </a:t>
            </a:r>
            <a:r>
              <a:rPr spc="-10" dirty="0"/>
              <a:t>dispersion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2603860"/>
            <a:ext cx="8248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Standard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deviation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measures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dispersion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data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set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relative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mean.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76040" y="1228450"/>
            <a:ext cx="32448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200" dirty="0">
                <a:latin typeface="Cambria"/>
                <a:cs typeface="Cambria"/>
              </a:rPr>
              <a:t>∑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6559" y="640023"/>
            <a:ext cx="7737475" cy="69977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b="1" spc="-10" dirty="0">
                <a:latin typeface="Arial"/>
                <a:cs typeface="Arial"/>
              </a:rPr>
              <a:t>Variance</a:t>
            </a:r>
            <a:r>
              <a:rPr sz="1800" spc="-10" dirty="0">
                <a:latin typeface="Microsoft Sans Serif"/>
                <a:cs typeface="Microsoft Sans Serif"/>
              </a:rPr>
              <a:t>:</a:t>
            </a:r>
            <a:r>
              <a:rPr sz="1800" dirty="0">
                <a:latin typeface="Microsoft Sans Serif"/>
                <a:cs typeface="Microsoft Sans Serif"/>
              </a:rPr>
              <a:t> It 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measurement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 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spread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between numbers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 data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set.</a:t>
            </a:r>
            <a:endParaRPr sz="1800">
              <a:latin typeface="Microsoft Sans Serif"/>
              <a:cs typeface="Microsoft Sans Serif"/>
            </a:endParaRPr>
          </a:p>
          <a:p>
            <a:pPr marR="499109" algn="ctr">
              <a:lnSpc>
                <a:spcPct val="100000"/>
              </a:lnSpc>
              <a:spcBef>
                <a:spcPts val="70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56429" y="1479909"/>
            <a:ext cx="6858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4400" y="1338939"/>
            <a:ext cx="1416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60" dirty="0">
                <a:latin typeface="Cambria"/>
                <a:cs typeface="Cambria"/>
              </a:rPr>
              <a:t>¯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8779" y="1319889"/>
            <a:ext cx="77089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spc="225" dirty="0">
                <a:latin typeface="Cambria"/>
                <a:cs typeface="Cambria"/>
              </a:rPr>
              <a:t>−</a:t>
            </a:r>
            <a:r>
              <a:rPr sz="2000" i="1" spc="225" dirty="0">
                <a:latin typeface="Times New Roman"/>
                <a:cs typeface="Times New Roman"/>
              </a:rPr>
              <a:t>x</a:t>
            </a:r>
            <a:r>
              <a:rPr sz="2000" spc="2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3000" y="128940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79850" y="1865989"/>
            <a:ext cx="1177290" cy="12700"/>
          </a:xfrm>
          <a:custGeom>
            <a:avLst/>
            <a:gdLst/>
            <a:ahLst/>
            <a:cxnLst/>
            <a:rect l="l" t="t" r="r" b="b"/>
            <a:pathLst>
              <a:path w="1177289" h="12700">
                <a:moveTo>
                  <a:pt x="1177289" y="0"/>
                </a:moveTo>
                <a:lnTo>
                  <a:pt x="0" y="0"/>
                </a:lnTo>
                <a:lnTo>
                  <a:pt x="0" y="12700"/>
                </a:lnTo>
                <a:lnTo>
                  <a:pt x="1177289" y="12700"/>
                </a:lnTo>
                <a:lnTo>
                  <a:pt x="11772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93440" y="1548489"/>
            <a:ext cx="134810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i="1" spc="307" baseline="-27777" dirty="0">
                <a:latin typeface="Times New Roman"/>
                <a:cs typeface="Times New Roman"/>
              </a:rPr>
              <a:t>S</a:t>
            </a:r>
            <a:r>
              <a:rPr sz="1200" spc="204" dirty="0">
                <a:latin typeface="Times New Roman"/>
                <a:cs typeface="Times New Roman"/>
              </a:rPr>
              <a:t>2</a:t>
            </a:r>
            <a:r>
              <a:rPr sz="3000" spc="307" baseline="-27777" dirty="0">
                <a:latin typeface="Cambria"/>
                <a:cs typeface="Cambria"/>
              </a:rPr>
              <a:t>=</a:t>
            </a:r>
            <a:r>
              <a:rPr sz="3000" spc="-44" baseline="-27777" dirty="0">
                <a:latin typeface="Cambria"/>
                <a:cs typeface="Cambria"/>
              </a:rPr>
              <a:t> </a:t>
            </a:r>
            <a:r>
              <a:rPr sz="1200" i="1" spc="114" dirty="0">
                <a:latin typeface="Times New Roman"/>
                <a:cs typeface="Times New Roman"/>
              </a:rPr>
              <a:t>i</a:t>
            </a:r>
            <a:r>
              <a:rPr sz="1200" spc="114" dirty="0">
                <a:latin typeface="Cambria"/>
                <a:cs typeface="Cambria"/>
              </a:rPr>
              <a:t>=</a:t>
            </a:r>
            <a:r>
              <a:rPr sz="1200" spc="114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838200">
              <a:lnSpc>
                <a:spcPct val="100000"/>
              </a:lnSpc>
            </a:pPr>
            <a:r>
              <a:rPr sz="2000" i="1" spc="170" dirty="0">
                <a:latin typeface="Times New Roman"/>
                <a:cs typeface="Times New Roman"/>
              </a:rPr>
              <a:t>n</a:t>
            </a:r>
            <a:r>
              <a:rPr sz="2000" spc="170" dirty="0">
                <a:latin typeface="Cambria"/>
                <a:cs typeface="Cambria"/>
              </a:rPr>
              <a:t>−</a:t>
            </a:r>
            <a:r>
              <a:rPr sz="2000" spc="17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9400" y="3778610"/>
            <a:ext cx="241300" cy="8890"/>
          </a:xfrm>
          <a:custGeom>
            <a:avLst/>
            <a:gdLst/>
            <a:ahLst/>
            <a:cxnLst/>
            <a:rect l="l" t="t" r="r" b="b"/>
            <a:pathLst>
              <a:path w="241300" h="8889">
                <a:moveTo>
                  <a:pt x="241300" y="0"/>
                </a:moveTo>
                <a:lnTo>
                  <a:pt x="0" y="0"/>
                </a:lnTo>
                <a:lnTo>
                  <a:pt x="0" y="8889"/>
                </a:lnTo>
                <a:lnTo>
                  <a:pt x="241300" y="8889"/>
                </a:lnTo>
                <a:lnTo>
                  <a:pt x="241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04591" y="3675926"/>
            <a:ext cx="1062355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00" i="1" spc="135" dirty="0">
                <a:latin typeface="Cambria"/>
                <a:cs typeface="Cambria"/>
              </a:rPr>
              <a:t>σ</a:t>
            </a:r>
            <a:r>
              <a:rPr sz="2000" spc="135" dirty="0">
                <a:latin typeface="Cambria"/>
                <a:cs typeface="Cambria"/>
              </a:rPr>
              <a:t>=</a:t>
            </a:r>
            <a:r>
              <a:rPr sz="4275" spc="202" baseline="-2923" dirty="0">
                <a:latin typeface="Cambria"/>
                <a:cs typeface="Cambria"/>
              </a:rPr>
              <a:t>√</a:t>
            </a:r>
            <a:r>
              <a:rPr sz="2000" i="1" spc="135" dirty="0">
                <a:latin typeface="Times New Roman"/>
                <a:cs typeface="Times New Roman"/>
              </a:rPr>
              <a:t>S</a:t>
            </a:r>
            <a:r>
              <a:rPr sz="1800" spc="202" baseline="43981" dirty="0">
                <a:latin typeface="Times New Roman"/>
                <a:cs typeface="Times New Roman"/>
              </a:rPr>
              <a:t>2</a:t>
            </a:r>
            <a:r>
              <a:rPr sz="2000" spc="135" dirty="0">
                <a:latin typeface="Cambria"/>
                <a:cs typeface="Cambria"/>
              </a:rPr>
              <a:t>=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99000" y="3177900"/>
            <a:ext cx="1215390" cy="8890"/>
          </a:xfrm>
          <a:custGeom>
            <a:avLst/>
            <a:gdLst/>
            <a:ahLst/>
            <a:cxnLst/>
            <a:rect l="l" t="t" r="r" b="b"/>
            <a:pathLst>
              <a:path w="1215389" h="8889">
                <a:moveTo>
                  <a:pt x="1215389" y="0"/>
                </a:moveTo>
                <a:lnTo>
                  <a:pt x="0" y="0"/>
                </a:lnTo>
                <a:lnTo>
                  <a:pt x="0" y="8889"/>
                </a:lnTo>
                <a:lnTo>
                  <a:pt x="1215389" y="8889"/>
                </a:lnTo>
                <a:lnTo>
                  <a:pt x="12153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24400" y="3340460"/>
            <a:ext cx="32448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200" dirty="0">
                <a:latin typeface="Cambria"/>
                <a:cs typeface="Cambria"/>
              </a:rPr>
              <a:t>∑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9809" y="3238860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94523" y="3786230"/>
            <a:ext cx="6858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-50" dirty="0">
                <a:latin typeface="Times New Roman"/>
                <a:cs typeface="Times New Roman"/>
              </a:rPr>
              <a:t>i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72759" y="3450950"/>
            <a:ext cx="1416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60" dirty="0">
                <a:latin typeface="Cambria"/>
                <a:cs typeface="Cambria"/>
              </a:rPr>
              <a:t>¯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9491" y="3461111"/>
            <a:ext cx="76962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6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spc="225" dirty="0">
                <a:latin typeface="Cambria"/>
                <a:cs typeface="Cambria"/>
              </a:rPr>
              <a:t>−</a:t>
            </a:r>
            <a:r>
              <a:rPr sz="2000" i="1" spc="225" dirty="0">
                <a:latin typeface="Times New Roman"/>
                <a:cs typeface="Times New Roman"/>
              </a:rPr>
              <a:t>x</a:t>
            </a:r>
            <a:r>
              <a:rPr sz="2000" spc="225" dirty="0">
                <a:latin typeface="Cambria"/>
                <a:cs typeface="Cambria"/>
              </a:rPr>
              <a:t>)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17676" y="336212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2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28209" y="3977999"/>
            <a:ext cx="1177290" cy="12700"/>
          </a:xfrm>
          <a:custGeom>
            <a:avLst/>
            <a:gdLst/>
            <a:ahLst/>
            <a:cxnLst/>
            <a:rect l="l" t="t" r="r" b="b"/>
            <a:pathLst>
              <a:path w="1177289" h="12700">
                <a:moveTo>
                  <a:pt x="1177289" y="0"/>
                </a:moveTo>
                <a:lnTo>
                  <a:pt x="0" y="0"/>
                </a:lnTo>
                <a:lnTo>
                  <a:pt x="0" y="12700"/>
                </a:lnTo>
                <a:lnTo>
                  <a:pt x="1177289" y="12700"/>
                </a:lnTo>
                <a:lnTo>
                  <a:pt x="11772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660051" y="2938286"/>
            <a:ext cx="2756805" cy="1614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0400" spc="-3290" dirty="0">
                <a:latin typeface="Cambria"/>
                <a:cs typeface="Cambria"/>
              </a:rPr>
              <a:t>√</a:t>
            </a:r>
            <a:r>
              <a:rPr sz="1800" i="1" spc="-5609" baseline="113425" dirty="0">
                <a:latin typeface="Times New Roman"/>
                <a:cs typeface="Times New Roman"/>
              </a:rPr>
              <a:t>i</a:t>
            </a:r>
            <a:r>
              <a:rPr sz="1800" spc="-5550" baseline="113425" dirty="0">
                <a:latin typeface="Cambria"/>
                <a:cs typeface="Cambria"/>
              </a:rPr>
              <a:t>=</a:t>
            </a:r>
            <a:r>
              <a:rPr sz="1800" spc="-5670" baseline="113425" dirty="0">
                <a:latin typeface="Times New Roman"/>
                <a:cs typeface="Times New Roman"/>
              </a:rPr>
              <a:t>1</a:t>
            </a:r>
            <a:r>
              <a:rPr sz="1800" spc="337" baseline="113425" dirty="0">
                <a:latin typeface="Times New Roman"/>
                <a:cs typeface="Times New Roman"/>
              </a:rPr>
              <a:t> </a:t>
            </a:r>
            <a:r>
              <a:rPr lang="en-US" sz="1800" spc="337" baseline="113425" dirty="0">
                <a:latin typeface="Times New Roman"/>
                <a:cs typeface="Times New Roman"/>
              </a:rPr>
              <a:t>     </a:t>
            </a:r>
            <a:r>
              <a:rPr sz="3000" i="1" spc="247" baseline="1388" dirty="0">
                <a:latin typeface="Times New Roman"/>
                <a:cs typeface="Times New Roman"/>
              </a:rPr>
              <a:t>n</a:t>
            </a:r>
            <a:r>
              <a:rPr sz="3000" spc="247" baseline="1388" dirty="0">
                <a:latin typeface="Cambria"/>
                <a:cs typeface="Cambria"/>
              </a:rPr>
              <a:t>−</a:t>
            </a:r>
            <a:r>
              <a:rPr sz="3000" spc="247" baseline="1388" dirty="0">
                <a:latin typeface="Times New Roman"/>
                <a:cs typeface="Times New Roman"/>
              </a:rPr>
              <a:t>1</a:t>
            </a:r>
            <a:endParaRPr sz="3000" baseline="1388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701B94-10A1-04A6-6F21-C114593A5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37" y="0"/>
            <a:ext cx="9838725" cy="56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61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1689" y="1079859"/>
            <a:ext cx="5791200" cy="29051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830897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and</a:t>
            </a:r>
            <a:r>
              <a:rPr spc="-50" dirty="0"/>
              <a:t> </a:t>
            </a:r>
            <a:r>
              <a:rPr spc="-10" dirty="0"/>
              <a:t>dispersion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55175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6530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559" y="767439"/>
            <a:ext cx="9150985" cy="5562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b="1" dirty="0">
                <a:latin typeface="Arial"/>
                <a:cs typeface="Arial"/>
              </a:rPr>
              <a:t>Probabiltiy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density</a:t>
            </a:r>
            <a:r>
              <a:rPr sz="1800" b="1" spc="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function</a:t>
            </a:r>
            <a:r>
              <a:rPr sz="1800" b="1" spc="135" dirty="0">
                <a:latin typeface="Arial"/>
                <a:cs typeface="Arial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1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function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provides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relative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likelyhood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 </a:t>
            </a:r>
            <a:r>
              <a:rPr sz="1800" dirty="0">
                <a:latin typeface="Microsoft Sans Serif"/>
                <a:cs typeface="Microsoft Sans Serif"/>
              </a:rPr>
              <a:t>random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given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point.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1799950"/>
            <a:ext cx="3713479" cy="280797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77900" y="4870810"/>
            <a:ext cx="309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Continious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unifrom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3209" y="2055220"/>
            <a:ext cx="75374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1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65" dirty="0">
                <a:latin typeface="Times New Roman"/>
                <a:cs typeface="Times New Roman"/>
              </a:rPr>
              <a:t> </a:t>
            </a:r>
            <a:r>
              <a:rPr sz="2000" spc="175" dirty="0">
                <a:latin typeface="Cambria"/>
                <a:cs typeface="Cambria"/>
              </a:rPr>
              <a:t>)=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24270" y="1839320"/>
            <a:ext cx="1859914" cy="80137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69850" marR="43180" indent="-19050">
              <a:lnSpc>
                <a:spcPct val="56299"/>
              </a:lnSpc>
              <a:spcBef>
                <a:spcPts val="1175"/>
              </a:spcBef>
              <a:tabLst>
                <a:tab pos="250825" algn="l"/>
                <a:tab pos="568325" algn="l"/>
              </a:tabLst>
            </a:pPr>
            <a:r>
              <a:rPr sz="3000" u="sng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sz="3000" u="sng" spc="-75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000" u="sng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spc="-150" baseline="33333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for</a:t>
            </a:r>
            <a:r>
              <a:rPr sz="2000" i="1" spc="-180" dirty="0">
                <a:latin typeface="Times New Roman"/>
                <a:cs typeface="Times New Roman"/>
              </a:rPr>
              <a:t> </a:t>
            </a:r>
            <a:r>
              <a:rPr sz="2000" i="1" spc="300" dirty="0">
                <a:latin typeface="Times New Roman"/>
                <a:cs typeface="Times New Roman"/>
              </a:rPr>
              <a:t>a</a:t>
            </a:r>
            <a:r>
              <a:rPr sz="2000" spc="300" dirty="0">
                <a:latin typeface="Cambria"/>
                <a:cs typeface="Cambria"/>
              </a:rPr>
              <a:t>≤</a:t>
            </a:r>
            <a:r>
              <a:rPr sz="2000" i="1" spc="300" dirty="0">
                <a:latin typeface="Times New Roman"/>
                <a:cs typeface="Times New Roman"/>
              </a:rPr>
              <a:t>x</a:t>
            </a:r>
            <a:r>
              <a:rPr sz="2000" spc="300" dirty="0">
                <a:latin typeface="Cambria"/>
                <a:cs typeface="Cambria"/>
              </a:rPr>
              <a:t>≤</a:t>
            </a:r>
            <a:r>
              <a:rPr sz="2000" i="1" spc="300" dirty="0">
                <a:latin typeface="Times New Roman"/>
                <a:cs typeface="Times New Roman"/>
              </a:rPr>
              <a:t>b </a:t>
            </a:r>
            <a:r>
              <a:rPr sz="2000" i="1" spc="195" dirty="0">
                <a:latin typeface="Times New Roman"/>
                <a:cs typeface="Times New Roman"/>
              </a:rPr>
              <a:t>b</a:t>
            </a:r>
            <a:r>
              <a:rPr sz="2000" spc="195" dirty="0">
                <a:latin typeface="Cambria"/>
                <a:cs typeface="Cambria"/>
              </a:rPr>
              <a:t>−</a:t>
            </a:r>
            <a:r>
              <a:rPr sz="2000" i="1" spc="195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212725">
              <a:lnSpc>
                <a:spcPts val="2320"/>
              </a:lnSpc>
              <a:tabLst>
                <a:tab pos="612775" algn="l"/>
              </a:tabLst>
            </a:pPr>
            <a:r>
              <a:rPr sz="2000" spc="-50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i="1" spc="-10" dirty="0">
                <a:latin typeface="Times New Roman"/>
                <a:cs typeface="Times New Roman"/>
              </a:rPr>
              <a:t>elsewhere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86779" y="2915009"/>
            <a:ext cx="1102995" cy="1595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30"/>
              </a:spcBef>
            </a:pPr>
            <a:r>
              <a:rPr sz="3000" spc="-465" baseline="-37500" dirty="0">
                <a:latin typeface="Cambria"/>
                <a:cs typeface="Cambria"/>
              </a:rPr>
              <a:t>¯</a:t>
            </a:r>
            <a:r>
              <a:rPr sz="3000" i="1" spc="390" baseline="-33333" dirty="0">
                <a:latin typeface="Times New Roman"/>
                <a:cs typeface="Times New Roman"/>
              </a:rPr>
              <a:t>x</a:t>
            </a:r>
            <a:r>
              <a:rPr sz="3000" spc="555" baseline="-33333" dirty="0">
                <a:latin typeface="Cambria"/>
                <a:cs typeface="Cambria"/>
              </a:rPr>
              <a:t>=</a:t>
            </a:r>
            <a:r>
              <a:rPr sz="2000" i="1" u="sng" spc="-3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000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</a:t>
            </a:r>
            <a:r>
              <a:rPr sz="2000" i="1" u="sng" spc="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  <a:p>
            <a:pPr marL="641350">
              <a:lnSpc>
                <a:spcPct val="100000"/>
              </a:lnSpc>
              <a:spcBef>
                <a:spcPts val="150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3150" i="1" spc="427" baseline="-31746" dirty="0">
                <a:latin typeface="Cambria"/>
                <a:cs typeface="Cambria"/>
              </a:rPr>
              <a:t>σ</a:t>
            </a:r>
            <a:r>
              <a:rPr sz="1800" spc="427" baseline="-6944" dirty="0">
                <a:latin typeface="Times New Roman"/>
                <a:cs typeface="Times New Roman"/>
              </a:rPr>
              <a:t>2</a:t>
            </a:r>
            <a:r>
              <a:rPr sz="3000" spc="427" baseline="-33333" dirty="0">
                <a:latin typeface="Cambria"/>
                <a:cs typeface="Cambria"/>
              </a:rPr>
              <a:t>=</a:t>
            </a:r>
            <a:r>
              <a:rPr sz="2000" i="1" u="sng" spc="-3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i="1" u="sng" spc="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</a:t>
            </a:r>
            <a:r>
              <a:rPr sz="2000" u="sng" spc="19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2000" i="1" u="sng" spc="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673100">
              <a:lnSpc>
                <a:spcPct val="100000"/>
              </a:lnSpc>
              <a:spcBef>
                <a:spcPts val="130"/>
              </a:spcBef>
            </a:pPr>
            <a:r>
              <a:rPr sz="2000" spc="-25" dirty="0">
                <a:latin typeface="Times New Roman"/>
                <a:cs typeface="Times New Roman"/>
              </a:rPr>
              <a:t>12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55175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6530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64579" y="2622909"/>
            <a:ext cx="1550670" cy="1311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28575" algn="ctr">
              <a:lnSpc>
                <a:spcPct val="100000"/>
              </a:lnSpc>
              <a:spcBef>
                <a:spcPts val="130"/>
              </a:spcBef>
            </a:pPr>
            <a:r>
              <a:rPr sz="3000" spc="-577" baseline="-4166" dirty="0">
                <a:latin typeface="Cambria"/>
                <a:cs typeface="Cambria"/>
              </a:rPr>
              <a:t>¯</a:t>
            </a:r>
            <a:r>
              <a:rPr sz="2000" i="1" spc="185" dirty="0">
                <a:latin typeface="Times New Roman"/>
                <a:cs typeface="Times New Roman"/>
              </a:rPr>
              <a:t>x</a:t>
            </a:r>
            <a:r>
              <a:rPr sz="2000" spc="215" dirty="0">
                <a:latin typeface="Cambria"/>
                <a:cs typeface="Cambria"/>
              </a:rPr>
              <a:t>=</a:t>
            </a:r>
            <a:r>
              <a:rPr sz="2000" i="1" spc="110" dirty="0">
                <a:latin typeface="Times New Roman"/>
                <a:cs typeface="Times New Roman"/>
              </a:rPr>
              <a:t>np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100" i="1" spc="160" dirty="0">
                <a:latin typeface="Cambria"/>
                <a:cs typeface="Cambria"/>
              </a:rPr>
              <a:t>σ</a:t>
            </a:r>
            <a:r>
              <a:rPr sz="1800" spc="240" baseline="46296" dirty="0">
                <a:latin typeface="Times New Roman"/>
                <a:cs typeface="Times New Roman"/>
              </a:rPr>
              <a:t>2</a:t>
            </a:r>
            <a:r>
              <a:rPr sz="2000" spc="160" dirty="0">
                <a:latin typeface="Cambria"/>
                <a:cs typeface="Cambria"/>
              </a:rPr>
              <a:t>=</a:t>
            </a:r>
            <a:r>
              <a:rPr sz="2000" i="1" spc="160" dirty="0">
                <a:latin typeface="Times New Roman"/>
                <a:cs typeface="Times New Roman"/>
              </a:rPr>
              <a:t>np</a:t>
            </a:r>
            <a:r>
              <a:rPr sz="2000" i="1" spc="-285" dirty="0">
                <a:latin typeface="Times New Roman"/>
                <a:cs typeface="Times New Roman"/>
              </a:rPr>
              <a:t> </a:t>
            </a:r>
            <a:r>
              <a:rPr sz="2000" spc="175" dirty="0">
                <a:latin typeface="Cambria"/>
                <a:cs typeface="Cambria"/>
              </a:rPr>
              <a:t>(</a:t>
            </a:r>
            <a:r>
              <a:rPr sz="2000" spc="175" dirty="0">
                <a:latin typeface="Times New Roman"/>
                <a:cs typeface="Times New Roman"/>
              </a:rPr>
              <a:t>1</a:t>
            </a:r>
            <a:r>
              <a:rPr sz="2000" spc="175" dirty="0">
                <a:latin typeface="Cambria"/>
                <a:cs typeface="Cambria"/>
              </a:rPr>
              <a:t>−</a:t>
            </a:r>
            <a:r>
              <a:rPr sz="2000" spc="-170" dirty="0">
                <a:latin typeface="Cambria"/>
                <a:cs typeface="Cambria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p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522454"/>
            <a:ext cx="3876675" cy="26098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65570" y="1641200"/>
            <a:ext cx="101663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200" dirty="0">
                <a:latin typeface="Cambria"/>
                <a:cs typeface="Cambria"/>
              </a:rPr>
              <a:t>(</a:t>
            </a:r>
            <a:r>
              <a:rPr sz="2000" i="1" spc="200" dirty="0">
                <a:latin typeface="Times New Roman"/>
                <a:cs typeface="Times New Roman"/>
              </a:rPr>
              <a:t>n</a:t>
            </a:r>
            <a:r>
              <a:rPr sz="2000" spc="200" dirty="0">
                <a:latin typeface="Cambria"/>
                <a:cs typeface="Cambria"/>
              </a:rPr>
              <a:t>−</a:t>
            </a:r>
            <a:r>
              <a:rPr sz="2000" i="1" spc="200" dirty="0">
                <a:latin typeface="Times New Roman"/>
                <a:cs typeface="Times New Roman"/>
              </a:rPr>
              <a:t>x</a:t>
            </a:r>
            <a:r>
              <a:rPr sz="2000" i="1" spc="-280" dirty="0">
                <a:latin typeface="Times New Roman"/>
                <a:cs typeface="Times New Roman"/>
              </a:rPr>
              <a:t> </a:t>
            </a:r>
            <a:r>
              <a:rPr sz="2000" spc="-80" dirty="0">
                <a:latin typeface="Cambria"/>
                <a:cs typeface="Cambria"/>
              </a:rPr>
              <a:t>)!</a:t>
            </a:r>
            <a:r>
              <a:rPr sz="2000" spc="-200" dirty="0">
                <a:latin typeface="Cambria"/>
                <a:cs typeface="Cambria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x</a:t>
            </a:r>
            <a:r>
              <a:rPr sz="2000" spc="-25" dirty="0">
                <a:latin typeface="Cambria"/>
                <a:cs typeface="Cambria"/>
              </a:rPr>
              <a:t>!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97220" y="1460859"/>
            <a:ext cx="256476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180465" algn="l"/>
                <a:tab pos="1774825" algn="l"/>
              </a:tabLst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0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75" dirty="0">
                <a:latin typeface="Times New Roman"/>
                <a:cs typeface="Times New Roman"/>
              </a:rPr>
              <a:t> </a:t>
            </a:r>
            <a:r>
              <a:rPr sz="2000" spc="229" dirty="0">
                <a:latin typeface="Cambria"/>
                <a:cs typeface="Cambria"/>
              </a:rPr>
              <a:t>)=</a:t>
            </a:r>
            <a:r>
              <a:rPr sz="3000" i="1" u="sng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i="1" u="sng" spc="-37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3000" u="sng" spc="-37" baseline="33333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!</a:t>
            </a:r>
            <a:r>
              <a:rPr sz="3000" u="sng" baseline="33333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3000" baseline="33333" dirty="0">
                <a:latin typeface="Cambria"/>
                <a:cs typeface="Cambria"/>
              </a:rPr>
              <a:t> </a:t>
            </a:r>
            <a:r>
              <a:rPr sz="2000" i="1" spc="95" dirty="0">
                <a:latin typeface="Times New Roman"/>
                <a:cs typeface="Times New Roman"/>
              </a:rPr>
              <a:t>p</a:t>
            </a:r>
            <a:r>
              <a:rPr sz="1800" i="1" spc="142" baseline="48611" dirty="0">
                <a:latin typeface="Times New Roman"/>
                <a:cs typeface="Times New Roman"/>
              </a:rPr>
              <a:t>x</a:t>
            </a:r>
            <a:r>
              <a:rPr sz="1800" i="1" spc="30" baseline="48611" dirty="0">
                <a:latin typeface="Times New Roman"/>
                <a:cs typeface="Times New Roman"/>
              </a:rPr>
              <a:t> </a:t>
            </a:r>
            <a:r>
              <a:rPr sz="2000" i="1" spc="140" dirty="0">
                <a:latin typeface="Times New Roman"/>
                <a:cs typeface="Times New Roman"/>
              </a:rPr>
              <a:t>q</a:t>
            </a:r>
            <a:r>
              <a:rPr sz="1800" i="1" spc="209" baseline="48611" dirty="0">
                <a:latin typeface="Times New Roman"/>
                <a:cs typeface="Times New Roman"/>
              </a:rPr>
              <a:t>n</a:t>
            </a:r>
            <a:r>
              <a:rPr sz="1800" spc="209" baseline="48611" dirty="0">
                <a:latin typeface="Cambria"/>
                <a:cs typeface="Cambria"/>
              </a:rPr>
              <a:t>−</a:t>
            </a:r>
            <a:r>
              <a:rPr sz="1800" spc="-135" baseline="48611" dirty="0">
                <a:latin typeface="Cambria"/>
                <a:cs typeface="Cambria"/>
              </a:rPr>
              <a:t> </a:t>
            </a:r>
            <a:r>
              <a:rPr sz="1800" i="1" baseline="48611" dirty="0">
                <a:latin typeface="Times New Roman"/>
                <a:cs typeface="Times New Roman"/>
              </a:rPr>
              <a:t>x</a:t>
            </a:r>
            <a:endParaRPr sz="1800" baseline="486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3889" y="4705710"/>
            <a:ext cx="2065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Binomial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55175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6530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  <a:r>
              <a:rPr spc="-10" dirty="0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032" y="936350"/>
            <a:ext cx="4454107" cy="27756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41500" y="4129130"/>
            <a:ext cx="2244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Geometric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0019" y="1364339"/>
            <a:ext cx="2069464" cy="24650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0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9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75" dirty="0">
                <a:latin typeface="Times New Roman"/>
                <a:cs typeface="Times New Roman"/>
              </a:rPr>
              <a:t> </a:t>
            </a:r>
            <a:r>
              <a:rPr sz="2000" spc="180" dirty="0">
                <a:latin typeface="Cambria"/>
                <a:cs typeface="Cambria"/>
              </a:rPr>
              <a:t>)=(</a:t>
            </a:r>
            <a:r>
              <a:rPr sz="2000" spc="180" dirty="0">
                <a:latin typeface="Times New Roman"/>
                <a:cs typeface="Times New Roman"/>
              </a:rPr>
              <a:t>1</a:t>
            </a:r>
            <a:r>
              <a:rPr sz="2000" spc="180" dirty="0">
                <a:latin typeface="Cambria"/>
                <a:cs typeface="Cambria"/>
              </a:rPr>
              <a:t>−</a:t>
            </a:r>
            <a:r>
              <a:rPr sz="2000" spc="-175" dirty="0">
                <a:latin typeface="Cambria"/>
                <a:cs typeface="Cambria"/>
              </a:rPr>
              <a:t> </a:t>
            </a:r>
            <a:r>
              <a:rPr sz="2000" i="1" spc="110" dirty="0">
                <a:latin typeface="Times New Roman"/>
                <a:cs typeface="Times New Roman"/>
              </a:rPr>
              <a:t>p</a:t>
            </a:r>
            <a:r>
              <a:rPr sz="2000" spc="110" dirty="0">
                <a:latin typeface="Cambria"/>
                <a:cs typeface="Cambria"/>
              </a:rPr>
              <a:t>)</a:t>
            </a:r>
            <a:r>
              <a:rPr sz="1800" i="1" spc="165" baseline="43981" dirty="0">
                <a:latin typeface="Times New Roman"/>
                <a:cs typeface="Times New Roman"/>
              </a:rPr>
              <a:t>x</a:t>
            </a:r>
            <a:r>
              <a:rPr sz="1800" spc="165" baseline="43981" dirty="0">
                <a:latin typeface="Cambria"/>
                <a:cs typeface="Cambria"/>
              </a:rPr>
              <a:t>−</a:t>
            </a:r>
            <a:r>
              <a:rPr sz="1800" spc="165" baseline="43981" dirty="0">
                <a:latin typeface="Times New Roman"/>
                <a:cs typeface="Times New Roman"/>
              </a:rPr>
              <a:t>1</a:t>
            </a:r>
            <a:r>
              <a:rPr sz="1800" spc="104" baseline="43981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2000">
              <a:latin typeface="Times New Roman"/>
              <a:cs typeface="Times New Roman"/>
            </a:endParaRPr>
          </a:p>
          <a:p>
            <a:pPr marR="365125" algn="ctr">
              <a:lnSpc>
                <a:spcPct val="100000"/>
              </a:lnSpc>
            </a:pPr>
            <a:r>
              <a:rPr sz="3000" spc="-457" baseline="-37500" dirty="0">
                <a:latin typeface="Cambria"/>
                <a:cs typeface="Cambria"/>
              </a:rPr>
              <a:t>¯</a:t>
            </a:r>
            <a:r>
              <a:rPr sz="3000" i="1" spc="382" baseline="-33333" dirty="0">
                <a:latin typeface="Times New Roman"/>
                <a:cs typeface="Times New Roman"/>
              </a:rPr>
              <a:t>x</a:t>
            </a:r>
            <a:r>
              <a:rPr sz="3000" spc="562" baseline="-33333" dirty="0">
                <a:latin typeface="Cambria"/>
                <a:cs typeface="Cambria"/>
              </a:rPr>
              <a:t>=</a:t>
            </a:r>
            <a:r>
              <a:rPr sz="2000" u="sng" spc="-2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47625" algn="ctr">
              <a:lnSpc>
                <a:spcPct val="100000"/>
              </a:lnSpc>
              <a:spcBef>
                <a:spcPts val="150"/>
              </a:spcBef>
            </a:pPr>
            <a:r>
              <a:rPr sz="2000" i="1" spc="-50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000">
              <a:latin typeface="Times New Roman"/>
              <a:cs typeface="Times New Roman"/>
            </a:endParaRPr>
          </a:p>
          <a:p>
            <a:pPr marR="431800" algn="ctr">
              <a:lnSpc>
                <a:spcPts val="2245"/>
              </a:lnSpc>
            </a:pPr>
            <a:r>
              <a:rPr sz="3150" i="1" spc="465" baseline="-31746" dirty="0">
                <a:latin typeface="Cambria"/>
                <a:cs typeface="Cambria"/>
              </a:rPr>
              <a:t>σ</a:t>
            </a:r>
            <a:r>
              <a:rPr sz="1800" spc="465" baseline="-6944" dirty="0">
                <a:latin typeface="Times New Roman"/>
                <a:cs typeface="Times New Roman"/>
              </a:rPr>
              <a:t>2</a:t>
            </a:r>
            <a:r>
              <a:rPr sz="3000" spc="465" baseline="-33333" dirty="0">
                <a:latin typeface="Cambria"/>
                <a:cs typeface="Cambria"/>
              </a:rPr>
              <a:t>=</a:t>
            </a:r>
            <a:r>
              <a:rPr sz="2000" u="sng" spc="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u="sng" spc="31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2000" u="sng" spc="-1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  <a:p>
            <a:pPr marL="80010" algn="ctr">
              <a:lnSpc>
                <a:spcPts val="2125"/>
              </a:lnSpc>
            </a:pPr>
            <a:r>
              <a:rPr sz="3000" i="1" spc="52" baseline="-26388" dirty="0">
                <a:latin typeface="Times New Roman"/>
                <a:cs typeface="Times New Roman"/>
              </a:rPr>
              <a:t>p</a:t>
            </a:r>
            <a:r>
              <a:rPr sz="1200" spc="35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55175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6530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  <a:r>
              <a:rPr spc="-10" dirty="0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05" y="1318970"/>
            <a:ext cx="3113633" cy="259408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86980" y="2156819"/>
            <a:ext cx="326390" cy="8890"/>
          </a:xfrm>
          <a:custGeom>
            <a:avLst/>
            <a:gdLst/>
            <a:ahLst/>
            <a:cxnLst/>
            <a:rect l="l" t="t" r="r" b="b"/>
            <a:pathLst>
              <a:path w="326390" h="8889">
                <a:moveTo>
                  <a:pt x="326390" y="0"/>
                </a:moveTo>
                <a:lnTo>
                  <a:pt x="0" y="0"/>
                </a:lnTo>
                <a:lnTo>
                  <a:pt x="0" y="8890"/>
                </a:lnTo>
                <a:lnTo>
                  <a:pt x="326390" y="8890"/>
                </a:lnTo>
                <a:lnTo>
                  <a:pt x="3263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52870" y="1934570"/>
            <a:ext cx="196786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067435" algn="l"/>
                <a:tab pos="1476375" algn="l"/>
              </a:tabLst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0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75" dirty="0">
                <a:latin typeface="Times New Roman"/>
                <a:cs typeface="Times New Roman"/>
              </a:rPr>
              <a:t> </a:t>
            </a:r>
            <a:r>
              <a:rPr sz="2000" spc="235" dirty="0">
                <a:latin typeface="Cambria"/>
                <a:cs typeface="Cambria"/>
              </a:rPr>
              <a:t>)=</a:t>
            </a:r>
            <a:r>
              <a:rPr sz="3000" u="sng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u="sng" spc="-89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000" u="sng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000" spc="-262" baseline="33333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</a:t>
            </a:r>
            <a:r>
              <a:rPr sz="2000" i="1" spc="-265" dirty="0">
                <a:latin typeface="Times New Roman"/>
                <a:cs typeface="Times New Roman"/>
              </a:rPr>
              <a:t> </a:t>
            </a:r>
            <a:r>
              <a:rPr sz="1800" baseline="41666" dirty="0">
                <a:latin typeface="Times New Roman"/>
                <a:cs typeface="Times New Roman"/>
              </a:rPr>
              <a:t>2</a:t>
            </a:r>
            <a:r>
              <a:rPr sz="1800" spc="-89" baseline="41666" dirty="0">
                <a:latin typeface="Times New Roman"/>
                <a:cs typeface="Times New Roman"/>
              </a:rPr>
              <a:t> </a:t>
            </a:r>
            <a:r>
              <a:rPr sz="1875" i="1" spc="-97" baseline="40000" dirty="0">
                <a:latin typeface="Cambria"/>
                <a:cs typeface="Cambria"/>
              </a:rPr>
              <a:t>π</a:t>
            </a:r>
            <a:r>
              <a:rPr sz="1875" i="1" spc="-37" baseline="40000" dirty="0">
                <a:latin typeface="Cambria"/>
                <a:cs typeface="Cambria"/>
              </a:rPr>
              <a:t> </a:t>
            </a:r>
            <a:r>
              <a:rPr sz="1800" baseline="81018" dirty="0">
                <a:latin typeface="Cambria"/>
                <a:cs typeface="Cambria"/>
              </a:rPr>
              <a:t>(</a:t>
            </a:r>
            <a:endParaRPr sz="1800" baseline="81018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97569" y="1860524"/>
            <a:ext cx="119380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i="1" spc="-50" dirty="0">
                <a:latin typeface="Cambria"/>
                <a:cs typeface="Cambria"/>
              </a:rPr>
              <a:t>σ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6169" y="1817729"/>
            <a:ext cx="7810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Cambria"/>
                <a:cs typeface="Cambria"/>
              </a:rPr>
              <a:t>)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63230" y="1717014"/>
            <a:ext cx="808355" cy="2184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200" u="sng" spc="1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1200" u="sng" spc="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200" spc="440" dirty="0">
                <a:latin typeface="Times New Roman"/>
                <a:cs typeface="Times New Roman"/>
              </a:rPr>
              <a:t> </a:t>
            </a:r>
            <a:r>
              <a:rPr sz="1200" u="sng" spc="-1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1200" i="1" u="sng" spc="-1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1250" i="1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μ</a:t>
            </a:r>
            <a:r>
              <a:rPr sz="1250" i="1" spc="295" dirty="0">
                <a:latin typeface="Cambria"/>
                <a:cs typeface="Cambria"/>
              </a:rPr>
              <a:t> </a:t>
            </a:r>
            <a:r>
              <a:rPr sz="1050" spc="-75" baseline="47619" dirty="0">
                <a:latin typeface="Times New Roman"/>
                <a:cs typeface="Times New Roman"/>
              </a:rPr>
              <a:t>2</a:t>
            </a:r>
            <a:endParaRPr sz="1050" baseline="47619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1809" y="2065380"/>
            <a:ext cx="1086485" cy="156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sz="2100" i="1" spc="55" dirty="0">
                <a:latin typeface="Cambria"/>
                <a:cs typeface="Cambria"/>
              </a:rPr>
              <a:t>σ</a:t>
            </a:r>
            <a:r>
              <a:rPr sz="2100" i="1" spc="-110" dirty="0">
                <a:latin typeface="Cambria"/>
                <a:cs typeface="Cambria"/>
              </a:rPr>
              <a:t> </a:t>
            </a:r>
            <a:r>
              <a:rPr sz="3750" spc="-345" baseline="-3333" dirty="0">
                <a:latin typeface="Cambria"/>
                <a:cs typeface="Cambria"/>
              </a:rPr>
              <a:t>√</a:t>
            </a:r>
            <a:r>
              <a:rPr sz="2000" spc="-229" dirty="0">
                <a:latin typeface="Times New Roman"/>
                <a:cs typeface="Times New Roman"/>
              </a:rPr>
              <a:t>2</a:t>
            </a:r>
            <a:r>
              <a:rPr sz="2000" spc="-225" dirty="0">
                <a:latin typeface="Times New Roman"/>
                <a:cs typeface="Times New Roman"/>
              </a:rPr>
              <a:t> </a:t>
            </a:r>
            <a:r>
              <a:rPr sz="2100" i="1" spc="-50" dirty="0">
                <a:latin typeface="Cambria"/>
                <a:cs typeface="Cambria"/>
              </a:rPr>
              <a:t>π</a:t>
            </a:r>
            <a:endParaRPr sz="2100">
              <a:latin typeface="Cambria"/>
              <a:cs typeface="Cambria"/>
            </a:endParaRPr>
          </a:p>
          <a:p>
            <a:pPr marL="38100" marR="325120" indent="86360">
              <a:lnSpc>
                <a:spcPts val="4690"/>
              </a:lnSpc>
              <a:spcBef>
                <a:spcPts val="65"/>
              </a:spcBef>
            </a:pPr>
            <a:r>
              <a:rPr sz="3000" spc="-547" baseline="-4166" dirty="0">
                <a:latin typeface="Cambria"/>
                <a:cs typeface="Cambria"/>
              </a:rPr>
              <a:t>¯</a:t>
            </a:r>
            <a:r>
              <a:rPr sz="2000" i="1" spc="195" dirty="0">
                <a:latin typeface="Times New Roman"/>
                <a:cs typeface="Times New Roman"/>
              </a:rPr>
              <a:t>x</a:t>
            </a:r>
            <a:r>
              <a:rPr sz="2000" spc="165" dirty="0">
                <a:latin typeface="Cambria"/>
                <a:cs typeface="Cambria"/>
              </a:rPr>
              <a:t>=</a:t>
            </a:r>
            <a:r>
              <a:rPr sz="2100" i="1" spc="130" dirty="0">
                <a:latin typeface="Cambria"/>
                <a:cs typeface="Cambria"/>
              </a:rPr>
              <a:t>μ</a:t>
            </a:r>
            <a:r>
              <a:rPr sz="2100" i="1" spc="30" dirty="0">
                <a:latin typeface="Cambria"/>
                <a:cs typeface="Cambria"/>
              </a:rPr>
              <a:t> </a:t>
            </a:r>
            <a:r>
              <a:rPr sz="2100" i="1" spc="180" dirty="0">
                <a:latin typeface="Cambria"/>
                <a:cs typeface="Cambria"/>
              </a:rPr>
              <a:t>σ</a:t>
            </a:r>
            <a:r>
              <a:rPr sz="1800" spc="270" baseline="46296" dirty="0">
                <a:latin typeface="Times New Roman"/>
                <a:cs typeface="Times New Roman"/>
              </a:rPr>
              <a:t>2</a:t>
            </a:r>
            <a:r>
              <a:rPr sz="2000" spc="180" dirty="0">
                <a:latin typeface="Cambria"/>
                <a:cs typeface="Cambria"/>
              </a:rPr>
              <a:t>=</a:t>
            </a:r>
            <a:r>
              <a:rPr sz="2100" i="1" spc="180" dirty="0">
                <a:latin typeface="Cambria"/>
                <a:cs typeface="Cambria"/>
              </a:rPr>
              <a:t>σ</a:t>
            </a:r>
            <a:r>
              <a:rPr sz="1800" spc="270" baseline="46296" dirty="0">
                <a:latin typeface="Times New Roman"/>
                <a:cs typeface="Times New Roman"/>
              </a:rPr>
              <a:t>2</a:t>
            </a:r>
            <a:endParaRPr sz="1800" baseline="46296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3550" y="4345030"/>
            <a:ext cx="19265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Normal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55175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6530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  <a:r>
              <a:rPr spc="-10" dirty="0"/>
              <a:t>distribution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190" y="1081129"/>
            <a:ext cx="3959860" cy="31673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03340" y="1715926"/>
            <a:ext cx="1532255" cy="186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1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9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70" dirty="0">
                <a:latin typeface="Times New Roman"/>
                <a:cs typeface="Times New Roman"/>
              </a:rPr>
              <a:t> </a:t>
            </a:r>
            <a:r>
              <a:rPr sz="2000" spc="185" dirty="0">
                <a:latin typeface="Cambria"/>
                <a:cs typeface="Cambria"/>
              </a:rPr>
              <a:t>)=</a:t>
            </a:r>
            <a:r>
              <a:rPr sz="2100" i="1" spc="185" dirty="0">
                <a:latin typeface="Cambria"/>
                <a:cs typeface="Cambria"/>
              </a:rPr>
              <a:t>λ</a:t>
            </a:r>
            <a:r>
              <a:rPr sz="2100" i="1" spc="-70" dirty="0">
                <a:latin typeface="Cambria"/>
                <a:cs typeface="Cambria"/>
              </a:rPr>
              <a:t> </a:t>
            </a:r>
            <a:r>
              <a:rPr sz="2000" i="1" spc="130" dirty="0">
                <a:latin typeface="Times New Roman"/>
                <a:cs typeface="Times New Roman"/>
              </a:rPr>
              <a:t>e</a:t>
            </a:r>
            <a:r>
              <a:rPr sz="1800" spc="195" baseline="46296" dirty="0">
                <a:latin typeface="Cambria"/>
                <a:cs typeface="Cambria"/>
              </a:rPr>
              <a:t>−</a:t>
            </a:r>
            <a:r>
              <a:rPr sz="1875" i="1" spc="195" baseline="44444" dirty="0">
                <a:latin typeface="Cambria"/>
                <a:cs typeface="Cambria"/>
              </a:rPr>
              <a:t>λ</a:t>
            </a:r>
            <a:r>
              <a:rPr sz="1875" i="1" spc="52" baseline="44444" dirty="0">
                <a:latin typeface="Cambria"/>
                <a:cs typeface="Cambria"/>
              </a:rPr>
              <a:t> </a:t>
            </a:r>
            <a:r>
              <a:rPr sz="1800" i="1" spc="-75" baseline="46296" dirty="0">
                <a:latin typeface="Times New Roman"/>
                <a:cs typeface="Times New Roman"/>
              </a:rPr>
              <a:t>x</a:t>
            </a:r>
            <a:endParaRPr sz="1800" baseline="46296">
              <a:latin typeface="Times New Roman"/>
              <a:cs typeface="Times New Roman"/>
            </a:endParaRPr>
          </a:p>
          <a:p>
            <a:pPr marL="546735">
              <a:lnSpc>
                <a:spcPts val="2275"/>
              </a:lnSpc>
              <a:spcBef>
                <a:spcPts val="1850"/>
              </a:spcBef>
            </a:pPr>
            <a:r>
              <a:rPr sz="3000" spc="-457" baseline="-37500" dirty="0">
                <a:latin typeface="Cambria"/>
                <a:cs typeface="Cambria"/>
              </a:rPr>
              <a:t>¯</a:t>
            </a:r>
            <a:r>
              <a:rPr sz="3000" i="1" spc="382" baseline="-33333" dirty="0">
                <a:latin typeface="Times New Roman"/>
                <a:cs typeface="Times New Roman"/>
              </a:rPr>
              <a:t>x</a:t>
            </a:r>
            <a:r>
              <a:rPr sz="3000" spc="562" baseline="-33333" dirty="0">
                <a:latin typeface="Cambria"/>
                <a:cs typeface="Cambria"/>
              </a:rPr>
              <a:t>=</a:t>
            </a:r>
            <a:r>
              <a:rPr sz="2000" u="sng" spc="-2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937260">
              <a:lnSpc>
                <a:spcPts val="2395"/>
              </a:lnSpc>
            </a:pPr>
            <a:r>
              <a:rPr sz="2100" i="1" spc="65" dirty="0">
                <a:latin typeface="Cambria"/>
                <a:cs typeface="Cambria"/>
              </a:rPr>
              <a:t>λ</a:t>
            </a:r>
            <a:endParaRPr sz="2100">
              <a:latin typeface="Cambria"/>
              <a:cs typeface="Cambria"/>
            </a:endParaRPr>
          </a:p>
          <a:p>
            <a:pPr marL="495934">
              <a:lnSpc>
                <a:spcPts val="2200"/>
              </a:lnSpc>
              <a:spcBef>
                <a:spcPts val="1030"/>
              </a:spcBef>
            </a:pPr>
            <a:r>
              <a:rPr sz="3150" i="1" spc="427" baseline="-31746" dirty="0">
                <a:latin typeface="Cambria"/>
                <a:cs typeface="Cambria"/>
              </a:rPr>
              <a:t>σ</a:t>
            </a:r>
            <a:r>
              <a:rPr sz="1800" spc="427" baseline="-6944" dirty="0">
                <a:latin typeface="Times New Roman"/>
                <a:cs typeface="Times New Roman"/>
              </a:rPr>
              <a:t>2</a:t>
            </a:r>
            <a:r>
              <a:rPr sz="3000" spc="427" baseline="-33333" dirty="0">
                <a:latin typeface="Cambria"/>
                <a:cs typeface="Cambria"/>
              </a:rPr>
              <a:t>=</a:t>
            </a:r>
            <a:r>
              <a:rPr sz="2000" u="sng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000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991235">
              <a:lnSpc>
                <a:spcPts val="2200"/>
              </a:lnSpc>
            </a:pPr>
            <a:r>
              <a:rPr sz="3150" i="1" spc="165" baseline="-25132" dirty="0">
                <a:latin typeface="Cambria"/>
                <a:cs typeface="Cambria"/>
              </a:rPr>
              <a:t>λ</a:t>
            </a:r>
            <a:r>
              <a:rPr sz="1200" spc="11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3550" y="4345030"/>
            <a:ext cx="2381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Exponential</a:t>
            </a:r>
            <a:r>
              <a:rPr sz="1800" spc="-9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55175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6530" algn="l"/>
              </a:tabLst>
            </a:pPr>
            <a:r>
              <a:rPr spc="-10" dirty="0"/>
              <a:t>Frequency</a:t>
            </a:r>
            <a:r>
              <a:rPr dirty="0"/>
              <a:t>	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9540" y="1732639"/>
            <a:ext cx="75501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30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75" dirty="0">
                <a:latin typeface="Times New Roman"/>
                <a:cs typeface="Times New Roman"/>
              </a:rPr>
              <a:t> </a:t>
            </a:r>
            <a:r>
              <a:rPr sz="2000" spc="180" dirty="0">
                <a:latin typeface="Cambria"/>
                <a:cs typeface="Cambria"/>
              </a:rPr>
              <a:t>)=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16140" y="1447956"/>
            <a:ext cx="67564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i="1" spc="209" baseline="-26455" dirty="0">
                <a:latin typeface="Cambria"/>
                <a:cs typeface="Cambria"/>
              </a:rPr>
              <a:t>λ</a:t>
            </a:r>
            <a:r>
              <a:rPr sz="1200" i="1" spc="140" dirty="0">
                <a:latin typeface="Times New Roman"/>
                <a:cs typeface="Times New Roman"/>
              </a:rPr>
              <a:t>x</a:t>
            </a:r>
            <a:r>
              <a:rPr sz="1200" i="1" spc="55" dirty="0">
                <a:latin typeface="Times New Roman"/>
                <a:cs typeface="Times New Roman"/>
              </a:rPr>
              <a:t> </a:t>
            </a:r>
            <a:r>
              <a:rPr sz="3000" i="1" spc="150" baseline="-27777" dirty="0">
                <a:latin typeface="Times New Roman"/>
                <a:cs typeface="Times New Roman"/>
              </a:rPr>
              <a:t>e</a:t>
            </a:r>
            <a:r>
              <a:rPr sz="1200" spc="100" dirty="0">
                <a:latin typeface="Cambria"/>
                <a:cs typeface="Cambria"/>
              </a:rPr>
              <a:t>−</a:t>
            </a:r>
            <a:r>
              <a:rPr sz="1250" i="1" spc="100" dirty="0">
                <a:latin typeface="Cambria"/>
                <a:cs typeface="Cambria"/>
              </a:rPr>
              <a:t>λ</a:t>
            </a:r>
            <a:endParaRPr sz="125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35190" y="1918060"/>
            <a:ext cx="642620" cy="12700"/>
          </a:xfrm>
          <a:custGeom>
            <a:avLst/>
            <a:gdLst/>
            <a:ahLst/>
            <a:cxnLst/>
            <a:rect l="l" t="t" r="r" b="b"/>
            <a:pathLst>
              <a:path w="642620" h="12700">
                <a:moveTo>
                  <a:pt x="642619" y="0"/>
                </a:moveTo>
                <a:lnTo>
                  <a:pt x="0" y="0"/>
                </a:lnTo>
                <a:lnTo>
                  <a:pt x="0" y="12700"/>
                </a:lnTo>
                <a:lnTo>
                  <a:pt x="642619" y="12700"/>
                </a:lnTo>
                <a:lnTo>
                  <a:pt x="642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61250" y="1904089"/>
            <a:ext cx="22542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25" dirty="0">
                <a:latin typeface="Times New Roman"/>
                <a:cs typeface="Times New Roman"/>
              </a:rPr>
              <a:t>x</a:t>
            </a:r>
            <a:r>
              <a:rPr sz="2000" spc="-25" dirty="0">
                <a:latin typeface="Cambria"/>
                <a:cs typeface="Cambria"/>
              </a:rPr>
              <a:t>!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49109" y="2509676"/>
            <a:ext cx="719455" cy="1086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sz="3000" spc="-509" baseline="-4166" dirty="0">
                <a:latin typeface="Cambria"/>
                <a:cs typeface="Cambria"/>
              </a:rPr>
              <a:t>¯</a:t>
            </a:r>
            <a:r>
              <a:rPr sz="2000" i="1" spc="229" dirty="0">
                <a:latin typeface="Times New Roman"/>
                <a:cs typeface="Times New Roman"/>
              </a:rPr>
              <a:t>x</a:t>
            </a:r>
            <a:r>
              <a:rPr sz="2000" spc="260" dirty="0">
                <a:latin typeface="Cambria"/>
                <a:cs typeface="Cambria"/>
              </a:rPr>
              <a:t>=</a:t>
            </a:r>
            <a:r>
              <a:rPr sz="2100" i="1" spc="155" dirty="0">
                <a:latin typeface="Cambria"/>
                <a:cs typeface="Cambria"/>
              </a:rPr>
              <a:t>λ</a:t>
            </a:r>
            <a:endParaRPr sz="2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20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</a:pPr>
            <a:r>
              <a:rPr sz="2100" i="1" spc="225" dirty="0">
                <a:latin typeface="Cambria"/>
                <a:cs typeface="Cambria"/>
              </a:rPr>
              <a:t>σ</a:t>
            </a:r>
            <a:r>
              <a:rPr sz="1800" spc="337" baseline="46296" dirty="0">
                <a:latin typeface="Times New Roman"/>
                <a:cs typeface="Times New Roman"/>
              </a:rPr>
              <a:t>2</a:t>
            </a:r>
            <a:r>
              <a:rPr sz="2000" spc="225" dirty="0">
                <a:latin typeface="Cambria"/>
                <a:cs typeface="Cambria"/>
              </a:rPr>
              <a:t>=</a:t>
            </a:r>
            <a:r>
              <a:rPr sz="2100" i="1" spc="225" dirty="0">
                <a:latin typeface="Cambria"/>
                <a:cs typeface="Cambria"/>
              </a:rPr>
              <a:t>λ</a:t>
            </a:r>
            <a:endParaRPr sz="210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803" y="1177061"/>
            <a:ext cx="3995029" cy="29773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33550" y="4345030"/>
            <a:ext cx="2002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Poisson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distribution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</a:t>
            </a:r>
            <a:r>
              <a:rPr spc="-10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767439"/>
            <a:ext cx="9279255" cy="2338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Errors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inevitable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computer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simulations.</a:t>
            </a:r>
            <a:endParaRPr sz="1800" dirty="0">
              <a:latin typeface="Microsoft Sans Serif"/>
              <a:cs typeface="Microsoft Sans Serif"/>
            </a:endParaRPr>
          </a:p>
          <a:p>
            <a:pPr marL="50800" algn="just">
              <a:lnSpc>
                <a:spcPct val="10000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When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simulating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phenomena,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error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occur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due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humans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or</a:t>
            </a:r>
            <a:r>
              <a:rPr sz="1800" spc="-10" dirty="0">
                <a:latin typeface="Microsoft Sans Serif"/>
                <a:cs typeface="Microsoft Sans Serif"/>
              </a:rPr>
              <a:t> computer</a:t>
            </a:r>
            <a:endParaRPr sz="1800" dirty="0">
              <a:latin typeface="Microsoft Sans Serif"/>
              <a:cs typeface="Microsoft Sans Serif"/>
            </a:endParaRPr>
          </a:p>
          <a:p>
            <a:pPr marL="50800" marR="43180" algn="just">
              <a:lnSpc>
                <a:spcPct val="93300"/>
              </a:lnSpc>
              <a:spcBef>
                <a:spcPts val="2015"/>
              </a:spcBef>
            </a:pPr>
            <a:r>
              <a:rPr lang="en-US" sz="1800" b="1" dirty="0" err="1">
                <a:latin typeface="Arial"/>
                <a:cs typeface="Arial"/>
              </a:rPr>
              <a:t>a.</a:t>
            </a:r>
            <a:r>
              <a:rPr sz="1800" b="1" dirty="0" err="1">
                <a:latin typeface="Arial"/>
                <a:cs typeface="Arial"/>
              </a:rPr>
              <a:t>Approximation</a:t>
            </a:r>
            <a:r>
              <a:rPr sz="1800" b="1" spc="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errors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arises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due</a:t>
            </a:r>
            <a:r>
              <a:rPr sz="1800" spc="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0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simplification</a:t>
            </a:r>
            <a:r>
              <a:rPr sz="1800" spc="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14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mathematical</a:t>
            </a:r>
            <a:r>
              <a:rPr sz="1800" spc="10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functions,</a:t>
            </a:r>
            <a:r>
              <a:rPr sz="1800" spc="114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in </a:t>
            </a:r>
            <a:r>
              <a:rPr sz="1800" dirty="0">
                <a:latin typeface="Microsoft Sans Serif"/>
                <a:cs typeface="Microsoft Sans Serif"/>
              </a:rPr>
              <a:t>order</a:t>
            </a:r>
            <a:r>
              <a:rPr sz="1800" spc="3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to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solve</a:t>
            </a:r>
            <a:r>
              <a:rPr sz="1800" spc="3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them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3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computers.</a:t>
            </a:r>
            <a:r>
              <a:rPr sz="1800" spc="29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includes</a:t>
            </a:r>
            <a:r>
              <a:rPr sz="1800" spc="3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replacement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3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infinite</a:t>
            </a:r>
            <a:r>
              <a:rPr sz="1800" spc="3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series</a:t>
            </a:r>
            <a:r>
              <a:rPr sz="1800" spc="3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3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finite </a:t>
            </a:r>
            <a:r>
              <a:rPr sz="1800" dirty="0">
                <a:latin typeface="Microsoft Sans Serif"/>
                <a:cs typeface="Microsoft Sans Serif"/>
              </a:rPr>
              <a:t>sums,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infinitesimal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intervals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finite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ones,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variable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functions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by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constants.</a:t>
            </a:r>
            <a:endParaRPr sz="1800" dirty="0">
              <a:latin typeface="Microsoft Sans Serif"/>
              <a:cs typeface="Microsoft Sans Serif"/>
            </a:endParaRPr>
          </a:p>
          <a:p>
            <a:pPr marL="1926589">
              <a:lnSpc>
                <a:spcPts val="370"/>
              </a:lnSpc>
              <a:spcBef>
                <a:spcPts val="1120"/>
              </a:spcBef>
            </a:pPr>
            <a:r>
              <a:rPr sz="1200" spc="-50" dirty="0">
                <a:latin typeface="Cambria"/>
                <a:cs typeface="Cambria"/>
              </a:rPr>
              <a:t>∞</a:t>
            </a:r>
            <a:endParaRPr sz="1200" dirty="0">
              <a:latin typeface="Cambria"/>
              <a:cs typeface="Cambria"/>
            </a:endParaRPr>
          </a:p>
          <a:p>
            <a:pPr marL="1840230">
              <a:lnSpc>
                <a:spcPts val="2470"/>
              </a:lnSpc>
            </a:pPr>
            <a:r>
              <a:rPr sz="4425" spc="225" baseline="-25423" dirty="0">
                <a:latin typeface="Cambria"/>
                <a:cs typeface="Cambria"/>
              </a:rPr>
              <a:t>∑</a:t>
            </a:r>
            <a:r>
              <a:rPr sz="3000" spc="225" baseline="-29166" dirty="0">
                <a:latin typeface="Cambria"/>
                <a:cs typeface="Cambria"/>
              </a:rPr>
              <a:t>(−</a:t>
            </a:r>
            <a:r>
              <a:rPr sz="3000" spc="225" baseline="-29166" dirty="0">
                <a:latin typeface="Times New Roman"/>
                <a:cs typeface="Times New Roman"/>
              </a:rPr>
              <a:t>1</a:t>
            </a:r>
            <a:r>
              <a:rPr sz="3000" spc="225" baseline="-29166" dirty="0">
                <a:latin typeface="Cambria"/>
                <a:cs typeface="Cambria"/>
              </a:rPr>
              <a:t>)</a:t>
            </a:r>
            <a:r>
              <a:rPr sz="1200" i="1" spc="150" dirty="0">
                <a:latin typeface="Times New Roman"/>
                <a:cs typeface="Times New Roman"/>
              </a:rPr>
              <a:t>n</a:t>
            </a:r>
            <a:r>
              <a:rPr sz="1200" i="1" spc="90" dirty="0">
                <a:latin typeface="Times New Roman"/>
                <a:cs typeface="Times New Roman"/>
              </a:rPr>
              <a:t> </a:t>
            </a:r>
            <a:r>
              <a:rPr sz="3000" i="1" spc="112" baseline="-29166" dirty="0">
                <a:latin typeface="Times New Roman"/>
                <a:cs typeface="Times New Roman"/>
              </a:rPr>
              <a:t>x</a:t>
            </a:r>
            <a:r>
              <a:rPr sz="1200" spc="75" dirty="0">
                <a:latin typeface="Times New Roman"/>
                <a:cs typeface="Times New Roman"/>
              </a:rPr>
              <a:t>2</a:t>
            </a:r>
            <a:r>
              <a:rPr sz="1200" spc="-155" dirty="0">
                <a:latin typeface="Times New Roman"/>
                <a:cs typeface="Times New Roman"/>
              </a:rPr>
              <a:t> </a:t>
            </a:r>
            <a:r>
              <a:rPr sz="1200" i="1" spc="25" dirty="0">
                <a:latin typeface="Times New Roman"/>
                <a:cs typeface="Times New Roman"/>
              </a:rPr>
              <a:t>n</a:t>
            </a:r>
            <a:r>
              <a:rPr sz="1200" spc="25" dirty="0">
                <a:latin typeface="Cambria"/>
                <a:cs typeface="Cambria"/>
              </a:rPr>
              <a:t>+</a:t>
            </a:r>
            <a:r>
              <a:rPr sz="1200" spc="25" dirty="0"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6669" y="3232509"/>
            <a:ext cx="245364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2414905" algn="l"/>
              </a:tabLst>
            </a:pPr>
            <a:r>
              <a:rPr sz="2000" dirty="0">
                <a:latin typeface="Times New Roman"/>
                <a:cs typeface="Times New Roman"/>
              </a:rPr>
              <a:t>sin</a:t>
            </a:r>
            <a:r>
              <a:rPr sz="2000" spc="-22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spc="220" dirty="0">
                <a:latin typeface="Times New Roman"/>
                <a:cs typeface="Times New Roman"/>
              </a:rPr>
              <a:t>x</a:t>
            </a:r>
            <a:r>
              <a:rPr sz="2000" spc="220" dirty="0">
                <a:latin typeface="Cambria"/>
                <a:cs typeface="Cambria"/>
              </a:rPr>
              <a:t>)=</a:t>
            </a:r>
            <a:r>
              <a:rPr sz="1800" i="1" u="sng" spc="-209" baseline="4398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i="1" u="sng" spc="150" baseline="4398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800" u="sng" spc="150" baseline="43981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=</a:t>
            </a:r>
            <a:r>
              <a:rPr sz="1800" u="sng" spc="150" baseline="4398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800" u="sng" baseline="43981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800" baseline="4398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8010" y="4165960"/>
            <a:ext cx="179705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758314" algn="l"/>
              </a:tabLst>
            </a:pPr>
            <a:r>
              <a:rPr sz="3000" spc="1027" baseline="-27777" dirty="0">
                <a:latin typeface="Cambria"/>
                <a:cs typeface="Cambria"/>
              </a:rPr>
              <a:t>≈</a:t>
            </a:r>
            <a:r>
              <a:rPr sz="1200" i="1" u="sng" spc="-1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i="1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sz="1200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=</a:t>
            </a:r>
            <a:r>
              <a:rPr sz="120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5500" y="3685899"/>
            <a:ext cx="1544320" cy="47815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33350">
              <a:lnSpc>
                <a:spcPts val="520"/>
              </a:lnSpc>
              <a:spcBef>
                <a:spcPts val="52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ts val="2620"/>
              </a:lnSpc>
            </a:pPr>
            <a:r>
              <a:rPr sz="4425" spc="247" baseline="-23540" dirty="0">
                <a:latin typeface="Cambria"/>
                <a:cs typeface="Cambria"/>
              </a:rPr>
              <a:t>∑</a:t>
            </a:r>
            <a:r>
              <a:rPr sz="3000" spc="247" baseline="-29166" dirty="0">
                <a:latin typeface="Cambria"/>
                <a:cs typeface="Cambria"/>
              </a:rPr>
              <a:t>(−</a:t>
            </a:r>
            <a:r>
              <a:rPr sz="3000" spc="247" baseline="-29166" dirty="0">
                <a:latin typeface="Times New Roman"/>
                <a:cs typeface="Times New Roman"/>
              </a:rPr>
              <a:t>1</a:t>
            </a:r>
            <a:r>
              <a:rPr sz="3000" spc="247" baseline="-29166" dirty="0">
                <a:latin typeface="Cambria"/>
                <a:cs typeface="Cambria"/>
              </a:rPr>
              <a:t>)</a:t>
            </a:r>
            <a:r>
              <a:rPr sz="1200" i="1" spc="165" dirty="0">
                <a:latin typeface="Times New Roman"/>
                <a:cs typeface="Times New Roman"/>
              </a:rPr>
              <a:t>n</a:t>
            </a:r>
            <a:r>
              <a:rPr sz="1200" i="1" spc="125" dirty="0">
                <a:latin typeface="Times New Roman"/>
                <a:cs typeface="Times New Roman"/>
              </a:rPr>
              <a:t> </a:t>
            </a:r>
            <a:r>
              <a:rPr sz="3000" i="1" baseline="-29166" dirty="0">
                <a:latin typeface="Times New Roman"/>
                <a:cs typeface="Times New Roman"/>
              </a:rPr>
              <a:t>x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n</a:t>
            </a:r>
            <a:r>
              <a:rPr sz="1200" i="1" spc="-1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Cambria"/>
                <a:cs typeface="Cambria"/>
              </a:rPr>
              <a:t>+</a:t>
            </a:r>
            <a:r>
              <a:rPr sz="1200" spc="-25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25700" y="4472030"/>
            <a:ext cx="89344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Cambria"/>
                <a:cs typeface="Cambria"/>
              </a:rPr>
              <a:t>(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27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</a:t>
            </a:r>
            <a:r>
              <a:rPr sz="2000" i="1" spc="-27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mbria"/>
                <a:cs typeface="Cambria"/>
              </a:rPr>
              <a:t>+</a:t>
            </a:r>
            <a:r>
              <a:rPr sz="2000" spc="-20" dirty="0">
                <a:latin typeface="Times New Roman"/>
                <a:cs typeface="Times New Roman"/>
              </a:rPr>
              <a:t>1</a:t>
            </a:r>
            <a:r>
              <a:rPr sz="2000" spc="-20" dirty="0">
                <a:latin typeface="Cambria"/>
                <a:cs typeface="Cambria"/>
              </a:rPr>
              <a:t>)!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91659" y="3581760"/>
            <a:ext cx="1224280" cy="109220"/>
            <a:chOff x="4391659" y="3581760"/>
            <a:chExt cx="1224280" cy="109220"/>
          </a:xfrm>
        </p:grpSpPr>
        <p:sp>
          <p:nvSpPr>
            <p:cNvPr id="9" name="object 9"/>
            <p:cNvSpPr/>
            <p:nvPr/>
          </p:nvSpPr>
          <p:spPr>
            <a:xfrm>
              <a:off x="4391659" y="3636370"/>
              <a:ext cx="1069340" cy="0"/>
            </a:xfrm>
            <a:custGeom>
              <a:avLst/>
              <a:gdLst/>
              <a:ahLst/>
              <a:cxnLst/>
              <a:rect l="l" t="t" r="r" b="b"/>
              <a:pathLst>
                <a:path w="1069339">
                  <a:moveTo>
                    <a:pt x="0" y="0"/>
                  </a:moveTo>
                  <a:lnTo>
                    <a:pt x="106933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53379" y="3581760"/>
              <a:ext cx="162560" cy="109220"/>
            </a:xfrm>
            <a:custGeom>
              <a:avLst/>
              <a:gdLst/>
              <a:ahLst/>
              <a:cxnLst/>
              <a:rect l="l" t="t" r="r" b="b"/>
              <a:pathLst>
                <a:path w="162560" h="109220">
                  <a:moveTo>
                    <a:pt x="0" y="0"/>
                  </a:moveTo>
                  <a:lnTo>
                    <a:pt x="0" y="109219"/>
                  </a:lnTo>
                  <a:lnTo>
                    <a:pt x="162560" y="546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522220" y="3405025"/>
            <a:ext cx="523494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2665" algn="l"/>
              </a:tabLst>
            </a:pPr>
            <a:r>
              <a:rPr sz="2000" dirty="0">
                <a:latin typeface="Cambria"/>
                <a:cs typeface="Cambria"/>
              </a:rPr>
              <a:t>(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i="1" spc="40" dirty="0">
                <a:latin typeface="Times New Roman"/>
                <a:cs typeface="Times New Roman"/>
              </a:rPr>
              <a:t>n</a:t>
            </a:r>
            <a:r>
              <a:rPr sz="2000" spc="40" dirty="0">
                <a:latin typeface="Cambria"/>
                <a:cs typeface="Cambria"/>
              </a:rPr>
              <a:t>+</a:t>
            </a:r>
            <a:r>
              <a:rPr sz="2000" spc="40" dirty="0">
                <a:latin typeface="Times New Roman"/>
                <a:cs typeface="Times New Roman"/>
              </a:rPr>
              <a:t>1</a:t>
            </a:r>
            <a:r>
              <a:rPr sz="2000" spc="40" dirty="0">
                <a:latin typeface="Cambria"/>
                <a:cs typeface="Cambria"/>
              </a:rPr>
              <a:t>)!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3000" baseline="2777" dirty="0">
                <a:latin typeface="Times New Roman"/>
                <a:cs typeface="Times New Roman"/>
              </a:rPr>
              <a:t>sin</a:t>
            </a:r>
            <a:r>
              <a:rPr sz="3000" spc="-352" baseline="2777" dirty="0">
                <a:latin typeface="Times New Roman"/>
                <a:cs typeface="Times New Roman"/>
              </a:rPr>
              <a:t> </a:t>
            </a:r>
            <a:r>
              <a:rPr sz="3000" spc="-127" baseline="2777" dirty="0">
                <a:latin typeface="Cambria"/>
                <a:cs typeface="Cambria"/>
              </a:rPr>
              <a:t>(</a:t>
            </a:r>
            <a:r>
              <a:rPr sz="3000" spc="-337" baseline="2777" dirty="0">
                <a:latin typeface="Cambria"/>
                <a:cs typeface="Cambria"/>
              </a:rPr>
              <a:t> </a:t>
            </a:r>
            <a:r>
              <a:rPr sz="3000" i="1" spc="179" baseline="2777" dirty="0">
                <a:latin typeface="Times New Roman"/>
                <a:cs typeface="Times New Roman"/>
              </a:rPr>
              <a:t>x</a:t>
            </a:r>
            <a:r>
              <a:rPr sz="3000" spc="179" baseline="2777" dirty="0">
                <a:latin typeface="Cambria"/>
                <a:cs typeface="Cambria"/>
              </a:rPr>
              <a:t>)+</a:t>
            </a:r>
            <a:r>
              <a:rPr sz="3150" i="1" spc="179" baseline="2645" dirty="0">
                <a:latin typeface="Cambria"/>
                <a:cs typeface="Cambria"/>
              </a:rPr>
              <a:t>ζ</a:t>
            </a:r>
            <a:r>
              <a:rPr sz="3000" spc="179" baseline="2777" dirty="0">
                <a:latin typeface="Cambria"/>
                <a:cs typeface="Cambria"/>
              </a:rPr>
              <a:t>(</a:t>
            </a:r>
            <a:r>
              <a:rPr sz="3000" spc="-345" baseline="2777" dirty="0">
                <a:latin typeface="Cambria"/>
                <a:cs typeface="Cambria"/>
              </a:rPr>
              <a:t> </a:t>
            </a:r>
            <a:r>
              <a:rPr sz="3000" i="1" baseline="2777" dirty="0">
                <a:latin typeface="Times New Roman"/>
                <a:cs typeface="Times New Roman"/>
              </a:rPr>
              <a:t>x</a:t>
            </a:r>
            <a:r>
              <a:rPr sz="3000" i="1" spc="-172" baseline="2777" dirty="0">
                <a:latin typeface="Times New Roman"/>
                <a:cs typeface="Times New Roman"/>
              </a:rPr>
              <a:t> </a:t>
            </a:r>
            <a:r>
              <a:rPr sz="3000" i="1" baseline="2777" dirty="0">
                <a:latin typeface="Times New Roman"/>
                <a:cs typeface="Times New Roman"/>
              </a:rPr>
              <a:t>,</a:t>
            </a:r>
            <a:r>
              <a:rPr sz="3000" i="1" spc="-247" baseline="2777" dirty="0">
                <a:latin typeface="Times New Roman"/>
                <a:cs typeface="Times New Roman"/>
              </a:rPr>
              <a:t> </a:t>
            </a:r>
            <a:r>
              <a:rPr sz="3000" i="1" baseline="2777" dirty="0">
                <a:latin typeface="Times New Roman"/>
                <a:cs typeface="Times New Roman"/>
              </a:rPr>
              <a:t>N</a:t>
            </a:r>
            <a:r>
              <a:rPr sz="3000" i="1" spc="-292" baseline="2777" dirty="0">
                <a:latin typeface="Times New Roman"/>
                <a:cs typeface="Times New Roman"/>
              </a:rPr>
              <a:t> </a:t>
            </a:r>
            <a:r>
              <a:rPr sz="3000" spc="-75" baseline="2777" dirty="0">
                <a:latin typeface="Cambria"/>
                <a:cs typeface="Cambria"/>
              </a:rPr>
              <a:t>)</a:t>
            </a:r>
            <a:endParaRPr sz="3000" baseline="2777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41520" y="4367889"/>
            <a:ext cx="1456690" cy="8115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>
              <a:lnSpc>
                <a:spcPct val="93300"/>
              </a:lnSpc>
              <a:spcBef>
                <a:spcPts val="244"/>
              </a:spcBef>
              <a:tabLst>
                <a:tab pos="704215" algn="l"/>
              </a:tabLst>
            </a:pPr>
            <a:r>
              <a:rPr sz="1800" spc="-25" dirty="0">
                <a:latin typeface="Microsoft Sans Serif"/>
                <a:cs typeface="Microsoft Sans Serif"/>
              </a:rPr>
              <a:t>For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0" dirty="0">
                <a:latin typeface="Microsoft Sans Serif"/>
                <a:cs typeface="Microsoft Sans Serif"/>
              </a:rPr>
              <a:t>every </a:t>
            </a:r>
            <a:r>
              <a:rPr sz="1800" spc="-10" dirty="0">
                <a:latin typeface="Microsoft Sans Serif"/>
                <a:cs typeface="Microsoft Sans Serif"/>
              </a:rPr>
              <a:t>approximation increases.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41550" y="4367889"/>
            <a:ext cx="3662679" cy="5549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04775" marR="5080" indent="-92710">
              <a:lnSpc>
                <a:spcPts val="2010"/>
              </a:lnSpc>
              <a:spcBef>
                <a:spcPts val="290"/>
              </a:spcBef>
              <a:tabLst>
                <a:tab pos="848360" algn="l"/>
                <a:tab pos="1488440" algn="l"/>
                <a:tab pos="1781810" algn="l"/>
                <a:tab pos="2980690" algn="l"/>
                <a:tab pos="3331845" algn="l"/>
                <a:tab pos="348297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reasonable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approximation,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the </a:t>
            </a:r>
            <a:r>
              <a:rPr sz="1800" spc="-20" dirty="0">
                <a:latin typeface="Microsoft Sans Serif"/>
                <a:cs typeface="Microsoft Sans Serif"/>
              </a:rPr>
              <a:t>error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should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decrease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25" dirty="0">
                <a:latin typeface="Microsoft Sans Serif"/>
                <a:cs typeface="Microsoft Sans Serif"/>
              </a:rPr>
              <a:t>as</a:t>
            </a:r>
            <a:r>
              <a:rPr sz="1800" dirty="0">
                <a:latin typeface="Microsoft Sans Serif"/>
                <a:cs typeface="Microsoft Sans Serif"/>
              </a:rPr>
              <a:t>		</a:t>
            </a:r>
            <a:r>
              <a:rPr sz="1800" spc="-50" dirty="0">
                <a:latin typeface="Microsoft Sans Serif"/>
                <a:cs typeface="Microsoft Sans Serif"/>
              </a:rPr>
              <a:t>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Error</a:t>
            </a:r>
            <a:r>
              <a:rPr spc="-10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802999"/>
            <a:ext cx="9202420" cy="15798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just">
              <a:lnSpc>
                <a:spcPts val="2020"/>
              </a:lnSpc>
              <a:spcBef>
                <a:spcPts val="280"/>
              </a:spcBef>
            </a:pPr>
            <a:r>
              <a:rPr lang="en-US" sz="1800" b="1" spc="-20" dirty="0" err="1">
                <a:latin typeface="Arial"/>
                <a:cs typeface="Arial"/>
              </a:rPr>
              <a:t>b.</a:t>
            </a:r>
            <a:r>
              <a:rPr sz="1800" b="1" spc="-20" dirty="0" err="1">
                <a:latin typeface="Arial"/>
                <a:cs typeface="Arial"/>
              </a:rPr>
              <a:t>Round</a:t>
            </a:r>
            <a:r>
              <a:rPr sz="1800" b="1" spc="-20" dirty="0">
                <a:latin typeface="Arial"/>
                <a:cs typeface="Arial"/>
              </a:rPr>
              <a:t>-</a:t>
            </a:r>
            <a:r>
              <a:rPr sz="1800" b="1" dirty="0">
                <a:latin typeface="Arial"/>
                <a:cs typeface="Arial"/>
              </a:rPr>
              <a:t>off</a:t>
            </a:r>
            <a:r>
              <a:rPr sz="1800" b="1" spc="1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errors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1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This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1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imprecision</a:t>
            </a:r>
            <a:r>
              <a:rPr sz="1800" spc="1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arising</a:t>
            </a:r>
            <a:r>
              <a:rPr sz="1800" spc="1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1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finite</a:t>
            </a:r>
            <a:r>
              <a:rPr sz="1800" spc="1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6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digits</a:t>
            </a:r>
            <a:r>
              <a:rPr sz="1800" spc="1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used</a:t>
            </a:r>
            <a:r>
              <a:rPr sz="1800" spc="14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to </a:t>
            </a:r>
            <a:r>
              <a:rPr sz="1800" dirty="0">
                <a:latin typeface="Microsoft Sans Serif"/>
                <a:cs typeface="Microsoft Sans Serif"/>
              </a:rPr>
              <a:t>store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floating-</a:t>
            </a:r>
            <a:r>
              <a:rPr sz="1800" dirty="0">
                <a:latin typeface="Microsoft Sans Serif"/>
                <a:cs typeface="Microsoft Sans Serif"/>
              </a:rPr>
              <a:t>point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numbers.</a:t>
            </a:r>
            <a:endParaRPr sz="1800" dirty="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93300"/>
              </a:lnSpc>
              <a:spcBef>
                <a:spcPts val="1975"/>
              </a:spcBef>
            </a:pP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overall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round-</a:t>
            </a:r>
            <a:r>
              <a:rPr sz="1800" dirty="0">
                <a:latin typeface="Microsoft Sans Serif"/>
                <a:cs typeface="Microsoft Sans Serif"/>
              </a:rPr>
              <a:t>off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error</a:t>
            </a:r>
            <a:r>
              <a:rPr sz="1800" spc="1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accumulates</a:t>
            </a:r>
            <a:r>
              <a:rPr sz="1800" spc="1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1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computer</a:t>
            </a:r>
            <a:r>
              <a:rPr sz="1800" spc="1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handles</a:t>
            </a:r>
            <a:r>
              <a:rPr sz="1800" spc="1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more</a:t>
            </a:r>
            <a:r>
              <a:rPr sz="1800" spc="1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numbers,</a:t>
            </a:r>
            <a:r>
              <a:rPr sz="1800" spc="1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</a:t>
            </a:r>
            <a:r>
              <a:rPr sz="1800" spc="17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is,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2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number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steps</a:t>
            </a:r>
            <a:r>
              <a:rPr sz="1800" spc="2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2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2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computation</a:t>
            </a:r>
            <a:r>
              <a:rPr sz="1800" spc="2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increases,</a:t>
            </a:r>
            <a:r>
              <a:rPr sz="1800" spc="2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and</a:t>
            </a:r>
            <a:r>
              <a:rPr sz="1800" spc="2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may</a:t>
            </a:r>
            <a:r>
              <a:rPr sz="1800" spc="2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cause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some</a:t>
            </a:r>
            <a:r>
              <a:rPr sz="1800" spc="2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algorithms</a:t>
            </a:r>
            <a:r>
              <a:rPr sz="1800" spc="2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to </a:t>
            </a:r>
            <a:r>
              <a:rPr sz="1800" dirty="0">
                <a:latin typeface="Microsoft Sans Serif"/>
                <a:cs typeface="Microsoft Sans Serif"/>
              </a:rPr>
              <a:t>become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unstable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with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rapid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increase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error.</a:t>
            </a:r>
            <a:endParaRPr sz="18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2489" y="2911200"/>
            <a:ext cx="1543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8039" y="2739750"/>
            <a:ext cx="1691639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u="sng" spc="-532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00" u="sng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000" spc="-352" baseline="33333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Cambria"/>
                <a:cs typeface="Cambria"/>
              </a:rPr>
              <a:t>=</a:t>
            </a:r>
            <a:r>
              <a:rPr sz="2000" spc="45" dirty="0">
                <a:latin typeface="Times New Roman"/>
                <a:cs typeface="Times New Roman"/>
              </a:rPr>
              <a:t>0.33333333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6259" y="3454845"/>
            <a:ext cx="5329555" cy="118618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Microsoft Sans Serif"/>
                <a:cs typeface="Microsoft Sans Serif"/>
              </a:rPr>
              <a:t>Computer </a:t>
            </a:r>
            <a:r>
              <a:rPr sz="1800" spc="-10" dirty="0">
                <a:latin typeface="Microsoft Sans Serif"/>
                <a:cs typeface="Microsoft Sans Serif"/>
              </a:rPr>
              <a:t>representation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575" baseline="-31746" dirty="0">
                <a:latin typeface="Microsoft Sans Serif"/>
                <a:cs typeface="Microsoft Sans Serif"/>
              </a:rPr>
              <a:t>c</a:t>
            </a:r>
            <a:r>
              <a:rPr sz="1575" spc="315" baseline="-31746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exact number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is</a:t>
            </a:r>
            <a:endParaRPr sz="1800">
              <a:latin typeface="Microsoft Sans Serif"/>
              <a:cs typeface="Microsoft Sans Serif"/>
            </a:endParaRPr>
          </a:p>
          <a:p>
            <a:pPr marL="149860" algn="ctr">
              <a:lnSpc>
                <a:spcPts val="2460"/>
              </a:lnSpc>
              <a:spcBef>
                <a:spcPts val="1110"/>
              </a:spcBef>
            </a:pPr>
            <a:r>
              <a:rPr sz="2000" i="1" spc="225" dirty="0">
                <a:latin typeface="Times New Roman"/>
                <a:cs typeface="Times New Roman"/>
              </a:rPr>
              <a:t>x</a:t>
            </a:r>
            <a:r>
              <a:rPr sz="1800" i="1" spc="337" baseline="-20833" dirty="0">
                <a:latin typeface="Times New Roman"/>
                <a:cs typeface="Times New Roman"/>
              </a:rPr>
              <a:t>c</a:t>
            </a:r>
            <a:r>
              <a:rPr sz="2000" spc="225" dirty="0">
                <a:latin typeface="Cambria"/>
                <a:cs typeface="Cambria"/>
              </a:rPr>
              <a:t>=</a:t>
            </a:r>
            <a:r>
              <a:rPr sz="2000" i="1" spc="225" dirty="0">
                <a:latin typeface="Times New Roman"/>
                <a:cs typeface="Times New Roman"/>
              </a:rPr>
              <a:t>x</a:t>
            </a:r>
            <a:r>
              <a:rPr sz="2000" i="1" spc="-275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Cambria"/>
                <a:cs typeface="Cambria"/>
              </a:rPr>
              <a:t>(</a:t>
            </a:r>
            <a:r>
              <a:rPr sz="2000" spc="90" dirty="0">
                <a:latin typeface="Times New Roman"/>
                <a:cs typeface="Times New Roman"/>
              </a:rPr>
              <a:t>1</a:t>
            </a:r>
            <a:r>
              <a:rPr sz="2000" spc="90" dirty="0">
                <a:latin typeface="Cambria"/>
                <a:cs typeface="Cambria"/>
              </a:rPr>
              <a:t>+</a:t>
            </a:r>
            <a:r>
              <a:rPr sz="2100" i="1" spc="90" dirty="0">
                <a:latin typeface="Cambria"/>
                <a:cs typeface="Cambria"/>
              </a:rPr>
              <a:t>ϵ</a:t>
            </a:r>
            <a:r>
              <a:rPr sz="1800" i="1" spc="135" baseline="-20833" dirty="0">
                <a:latin typeface="Times New Roman"/>
                <a:cs typeface="Times New Roman"/>
              </a:rPr>
              <a:t>x</a:t>
            </a:r>
            <a:r>
              <a:rPr sz="1800" i="1" spc="-247" baseline="-20833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103505" algn="ctr">
              <a:lnSpc>
                <a:spcPts val="2460"/>
              </a:lnSpc>
            </a:pPr>
            <a:r>
              <a:rPr sz="3150" i="1" spc="89" baseline="11904" dirty="0">
                <a:latin typeface="Cambria"/>
                <a:cs typeface="Cambria"/>
              </a:rPr>
              <a:t>ϵ</a:t>
            </a:r>
            <a:r>
              <a:rPr sz="1200" i="1" spc="60" dirty="0">
                <a:latin typeface="Times New Roman"/>
                <a:cs typeface="Times New Roman"/>
              </a:rPr>
              <a:t>x</a:t>
            </a:r>
            <a:r>
              <a:rPr sz="1200" i="1" spc="-160" dirty="0">
                <a:latin typeface="Times New Roman"/>
                <a:cs typeface="Times New Roman"/>
              </a:rPr>
              <a:t> </a:t>
            </a:r>
            <a:r>
              <a:rPr sz="3000" spc="112" baseline="12500" dirty="0">
                <a:latin typeface="Cambria"/>
                <a:cs typeface="Cambria"/>
              </a:rPr>
              <a:t>=</a:t>
            </a:r>
            <a:r>
              <a:rPr sz="3150" i="1" spc="112" baseline="11904" dirty="0">
                <a:latin typeface="Cambria"/>
                <a:cs typeface="Cambria"/>
              </a:rPr>
              <a:t>ϵ</a:t>
            </a:r>
            <a:r>
              <a:rPr sz="1200" spc="75" dirty="0">
                <a:latin typeface="Times New Roman"/>
                <a:cs typeface="Times New Roman"/>
              </a:rPr>
              <a:t>approx</a:t>
            </a:r>
            <a:r>
              <a:rPr sz="1200" spc="-155" dirty="0">
                <a:latin typeface="Times New Roman"/>
                <a:cs typeface="Times New Roman"/>
              </a:rPr>
              <a:t> </a:t>
            </a:r>
            <a:r>
              <a:rPr sz="3000" spc="-15" baseline="12500" dirty="0">
                <a:latin typeface="Cambria"/>
                <a:cs typeface="Cambria"/>
              </a:rPr>
              <a:t>+</a:t>
            </a:r>
            <a:r>
              <a:rPr sz="3150" i="1" spc="-15" baseline="11904" dirty="0">
                <a:latin typeface="Cambria"/>
                <a:cs typeface="Cambria"/>
              </a:rPr>
              <a:t>ϵ</a:t>
            </a:r>
            <a:r>
              <a:rPr sz="1200" i="1" spc="-10" dirty="0">
                <a:latin typeface="Times New Roman"/>
                <a:cs typeface="Times New Roman"/>
              </a:rPr>
              <a:t>roundoff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26AAA6-5977-79F1-4222-576666C7F5E2}"/>
                  </a:ext>
                </a:extLst>
              </p:cNvPr>
              <p:cNvSpPr txBox="1"/>
              <p:nvPr/>
            </p:nvSpPr>
            <p:spPr>
              <a:xfrm>
                <a:off x="279400" y="320675"/>
                <a:ext cx="9525000" cy="44024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(c) Truncation Error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When an </a:t>
                </a:r>
                <a:r>
                  <a:rPr lang="en-IN" b="1" dirty="0"/>
                  <a:t>infinite process</a:t>
                </a:r>
                <a:r>
                  <a:rPr lang="en-IN" dirty="0"/>
                  <a:t> (series expansion, iterative method) is cut off after a finite number of terms.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Example:</a:t>
                </a:r>
                <a:br>
                  <a:rPr lang="en-IN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ar-AE" i="0">
                        <a:latin typeface="Cambria Math" panose="02040503050406030204" pitchFamily="18" charset="0"/>
                      </a:rPr>
                      <m:t>+...</m:t>
                    </m:r>
                  </m:oMath>
                </a14:m>
                <a:br>
                  <a:rPr lang="ar-AE" dirty="0"/>
                </a:br>
                <a:r>
                  <a:rPr lang="en-IN" dirty="0"/>
                  <a:t>If we stop after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ar-AE" dirty="0"/>
                  <a:t>, </a:t>
                </a:r>
                <a:r>
                  <a:rPr lang="en-IN" dirty="0"/>
                  <a:t>we have truncation error from neglected higher terms.</a:t>
                </a:r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b="1" dirty="0"/>
                  <a:t>(d) Algorithmic/Propagation Error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Even if each step is done with small errors, after many steps the errors can propagate and amplify.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Example:</a:t>
                </a:r>
                <a:r>
                  <a:rPr lang="en-IN" dirty="0"/>
                  <a:t> Solving differential equations numerically using Euler’s method.</a:t>
                </a:r>
              </a:p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26AAA6-5977-79F1-4222-576666C7F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00" y="320675"/>
                <a:ext cx="9525000" cy="4402487"/>
              </a:xfrm>
              <a:prstGeom prst="rect">
                <a:avLst/>
              </a:prstGeom>
              <a:blipFill>
                <a:blip r:embed="rId2"/>
                <a:stretch>
                  <a:fillRect l="-576" t="-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549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1019F0-25DE-7C90-C8F3-BCC0D0022479}"/>
                  </a:ext>
                </a:extLst>
              </p:cNvPr>
              <p:cNvSpPr txBox="1"/>
              <p:nvPr/>
            </p:nvSpPr>
            <p:spPr>
              <a:xfrm>
                <a:off x="774700" y="625475"/>
                <a:ext cx="6635069" cy="1456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(e) Absolute, Relative &amp; Percentage Error (still apply)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Absolute Error: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=∣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IN" b="0" i="1">
                            <a:latin typeface="Cambria Math" panose="02040503050406030204" pitchFamily="18" charset="0"/>
                          </a:rPr>
                          <m:t>true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nor/>
                          </m:rPr>
                          <a:rPr lang="en-IN" b="0" i="1">
                            <a:latin typeface="Cambria Math" panose="02040503050406030204" pitchFamily="18" charset="0"/>
                          </a:rPr>
                          <m:t>computed</m:t>
                        </m:r>
                      </m:sub>
                    </m:sSub>
                    <m:r>
                      <a:rPr lang="ar-AE" b="0" i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Relative Error: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b="0" i="1">
                                <a:latin typeface="Cambria Math" panose="02040503050406030204" pitchFamily="18" charset="0"/>
                              </a:rPr>
                              <m:t>true</m:t>
                            </m:r>
                          </m:sub>
                        </m:sSub>
                        <m:r>
                          <a:rPr lang="ar-AE" b="0" i="0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Percentage Error: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1019F0-25DE-7C90-C8F3-BCC0D0022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0" y="625475"/>
                <a:ext cx="6635069" cy="1456681"/>
              </a:xfrm>
              <a:prstGeom prst="rect">
                <a:avLst/>
              </a:prstGeom>
              <a:blipFill>
                <a:blip r:embed="rId2"/>
                <a:stretch>
                  <a:fillRect l="-735" t="-2510" b="-58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700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1097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6100" algn="l"/>
              </a:tabLst>
            </a:pPr>
            <a:r>
              <a:rPr spc="-10" dirty="0"/>
              <a:t>Simple</a:t>
            </a:r>
            <a:r>
              <a:rPr dirty="0"/>
              <a:t>	</a:t>
            </a:r>
            <a:r>
              <a:rPr spc="-10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802999"/>
            <a:ext cx="4785360" cy="811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Function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relationship </a:t>
            </a:r>
            <a:r>
              <a:rPr sz="1800" dirty="0">
                <a:latin typeface="Microsoft Sans Serif"/>
                <a:cs typeface="Microsoft Sans Serif"/>
              </a:rPr>
              <a:t>between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two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sets.</a:t>
            </a:r>
            <a:endParaRPr sz="1800">
              <a:latin typeface="Microsoft Sans Serif"/>
              <a:cs typeface="Microsoft Sans Serif"/>
            </a:endParaRPr>
          </a:p>
          <a:p>
            <a:pPr marR="40640" algn="ctr">
              <a:lnSpc>
                <a:spcPct val="10000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---</a:t>
            </a:r>
            <a:r>
              <a:rPr sz="1800" dirty="0">
                <a:latin typeface="Microsoft Sans Serif"/>
                <a:cs typeface="Microsoft Sans Serif"/>
              </a:rPr>
              <a:t>&gt;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{x}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97050" y="1295759"/>
            <a:ext cx="8145780" cy="2654300"/>
            <a:chOff x="1797050" y="1295759"/>
            <a:chExt cx="8145780" cy="26543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7050" y="1798679"/>
              <a:ext cx="2095500" cy="2095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4550" y="1295759"/>
              <a:ext cx="6558280" cy="26542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869439" y="3971649"/>
            <a:ext cx="810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Domain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36856" y="3971649"/>
            <a:ext cx="697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Range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41097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6100" algn="l"/>
              </a:tabLst>
            </a:pPr>
            <a:r>
              <a:rPr spc="-10" dirty="0"/>
              <a:t>Simple</a:t>
            </a:r>
            <a:r>
              <a:rPr dirty="0"/>
              <a:t>	</a:t>
            </a: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264" y="880458"/>
            <a:ext cx="9143374" cy="39617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-202275"/>
            <a:ext cx="4504690" cy="1270000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  <a:tabLst>
                <a:tab pos="1816100" algn="l"/>
              </a:tabLst>
            </a:pPr>
            <a:r>
              <a:rPr spc="-10" dirty="0"/>
              <a:t>Simple</a:t>
            </a:r>
            <a:r>
              <a:rPr dirty="0"/>
              <a:t>	</a:t>
            </a:r>
            <a:r>
              <a:rPr spc="-10" dirty="0"/>
              <a:t>functions</a:t>
            </a:r>
          </a:p>
          <a:p>
            <a:pPr marL="156210">
              <a:lnSpc>
                <a:spcPct val="100000"/>
              </a:lnSpc>
              <a:spcBef>
                <a:spcPts val="880"/>
              </a:spcBef>
            </a:pPr>
            <a:r>
              <a:rPr sz="1800" b="0" dirty="0">
                <a:latin typeface="Microsoft Sans Serif"/>
                <a:cs typeface="Microsoft Sans Serif"/>
              </a:rPr>
              <a:t>Find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the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domain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and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range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of</a:t>
            </a:r>
            <a:r>
              <a:rPr sz="1800" b="0" spc="-1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the</a:t>
            </a:r>
            <a:r>
              <a:rPr sz="1800" b="0" spc="-5" dirty="0">
                <a:latin typeface="Microsoft Sans Serif"/>
                <a:cs typeface="Microsoft Sans Serif"/>
              </a:rPr>
              <a:t> </a:t>
            </a:r>
            <a:r>
              <a:rPr sz="1800" b="0" spc="-10" dirty="0">
                <a:latin typeface="Microsoft Sans Serif"/>
                <a:cs typeface="Microsoft Sans Serif"/>
              </a:rPr>
              <a:t>functions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96309" y="1615800"/>
            <a:ext cx="497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204" dirty="0">
                <a:latin typeface="Times New Roman"/>
                <a:cs typeface="Times New Roman"/>
              </a:rPr>
              <a:t>x</a:t>
            </a:r>
            <a:r>
              <a:rPr sz="2000" spc="204" dirty="0">
                <a:latin typeface="Cambria"/>
                <a:cs typeface="Cambria"/>
              </a:rPr>
              <a:t>−</a:t>
            </a:r>
            <a:r>
              <a:rPr sz="2000" spc="204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89910" y="1444350"/>
            <a:ext cx="130111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906144" algn="l"/>
              </a:tabLst>
            </a:pPr>
            <a:r>
              <a:rPr sz="2000" i="1" spc="380" dirty="0">
                <a:latin typeface="Times New Roman"/>
                <a:cs typeface="Times New Roman"/>
              </a:rPr>
              <a:t>y</a:t>
            </a:r>
            <a:r>
              <a:rPr sz="2000" spc="380" dirty="0">
                <a:latin typeface="Cambria"/>
                <a:cs typeface="Cambria"/>
              </a:rPr>
              <a:t>=</a:t>
            </a:r>
            <a:r>
              <a:rPr sz="3000" u="sng" spc="375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3000" u="sng" spc="-75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3000" u="sng" baseline="33333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spc="245" dirty="0">
                <a:latin typeface="Cambria"/>
                <a:cs typeface="Cambria"/>
              </a:rPr>
              <a:t>−</a:t>
            </a:r>
            <a:r>
              <a:rPr sz="2000" spc="245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44189" y="2418439"/>
            <a:ext cx="36258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295" dirty="0">
                <a:latin typeface="Times New Roman"/>
                <a:cs typeface="Times New Roman"/>
              </a:rPr>
              <a:t>y</a:t>
            </a:r>
            <a:r>
              <a:rPr sz="2000" spc="295" dirty="0">
                <a:latin typeface="Cambria"/>
                <a:cs typeface="Cambria"/>
              </a:rPr>
              <a:t>=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9790" y="2266039"/>
            <a:ext cx="114744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000" i="1" spc="170" dirty="0">
                <a:latin typeface="Times New Roman"/>
                <a:cs typeface="Times New Roman"/>
              </a:rPr>
              <a:t>x</a:t>
            </a:r>
            <a:r>
              <a:rPr sz="1800" spc="254" baseline="46296" dirty="0">
                <a:latin typeface="Times New Roman"/>
                <a:cs typeface="Times New Roman"/>
              </a:rPr>
              <a:t>2</a:t>
            </a:r>
            <a:r>
              <a:rPr sz="2000" spc="170" dirty="0">
                <a:latin typeface="Cambria"/>
                <a:cs typeface="Cambria"/>
              </a:rPr>
              <a:t>−</a:t>
            </a:r>
            <a:r>
              <a:rPr sz="2000" spc="170" dirty="0">
                <a:latin typeface="Times New Roman"/>
                <a:cs typeface="Times New Roman"/>
              </a:rPr>
              <a:t>3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i="1" spc="204" dirty="0">
                <a:latin typeface="Times New Roman"/>
                <a:cs typeface="Times New Roman"/>
              </a:rPr>
              <a:t>x</a:t>
            </a:r>
            <a:r>
              <a:rPr sz="2000" spc="204" dirty="0">
                <a:latin typeface="Cambria"/>
                <a:cs typeface="Cambria"/>
              </a:rPr>
              <a:t>−</a:t>
            </a:r>
            <a:r>
              <a:rPr sz="2000" spc="204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08679" y="2602589"/>
            <a:ext cx="1125220" cy="12700"/>
          </a:xfrm>
          <a:custGeom>
            <a:avLst/>
            <a:gdLst/>
            <a:ahLst/>
            <a:cxnLst/>
            <a:rect l="l" t="t" r="r" b="b"/>
            <a:pathLst>
              <a:path w="1125220" h="12700">
                <a:moveTo>
                  <a:pt x="1125220" y="0"/>
                </a:moveTo>
                <a:lnTo>
                  <a:pt x="0" y="0"/>
                </a:lnTo>
                <a:lnTo>
                  <a:pt x="0" y="12700"/>
                </a:lnTo>
                <a:lnTo>
                  <a:pt x="1125220" y="12700"/>
                </a:lnTo>
                <a:lnTo>
                  <a:pt x="11252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9040" y="2589889"/>
            <a:ext cx="457834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8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Cambria"/>
                <a:cs typeface="Cambria"/>
              </a:rPr>
              <a:t>+</a:t>
            </a:r>
            <a:r>
              <a:rPr sz="2000" spc="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-202275"/>
            <a:ext cx="4154804" cy="1270000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pc="-10" dirty="0"/>
              <a:t>Derivative</a:t>
            </a:r>
          </a:p>
          <a:p>
            <a:pPr marL="83185">
              <a:lnSpc>
                <a:spcPct val="100000"/>
              </a:lnSpc>
              <a:spcBef>
                <a:spcPts val="880"/>
              </a:spcBef>
            </a:pPr>
            <a:r>
              <a:rPr sz="1800" b="0" dirty="0">
                <a:latin typeface="Microsoft Sans Serif"/>
                <a:cs typeface="Microsoft Sans Serif"/>
              </a:rPr>
              <a:t>Derivative</a:t>
            </a:r>
            <a:r>
              <a:rPr sz="1800" b="0" spc="-3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of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a</a:t>
            </a:r>
            <a:r>
              <a:rPr sz="1800" b="0" spc="-2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function</a:t>
            </a:r>
            <a:r>
              <a:rPr sz="1800" b="0" spc="-15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f(x)</a:t>
            </a:r>
            <a:r>
              <a:rPr sz="1800" b="0" spc="-2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is</a:t>
            </a:r>
            <a:r>
              <a:rPr sz="1800" b="0" spc="-20" dirty="0">
                <a:latin typeface="Microsoft Sans Serif"/>
                <a:cs typeface="Microsoft Sans Serif"/>
              </a:rPr>
              <a:t> </a:t>
            </a:r>
            <a:r>
              <a:rPr sz="1800" b="0" dirty="0">
                <a:latin typeface="Microsoft Sans Serif"/>
                <a:cs typeface="Microsoft Sans Serif"/>
              </a:rPr>
              <a:t>defined</a:t>
            </a:r>
            <a:r>
              <a:rPr sz="1800" b="0" spc="-20" dirty="0">
                <a:latin typeface="Microsoft Sans Serif"/>
                <a:cs typeface="Microsoft Sans Serif"/>
              </a:rPr>
              <a:t> </a:t>
            </a:r>
            <a:r>
              <a:rPr sz="1800" b="0" spc="-25" dirty="0">
                <a:latin typeface="Microsoft Sans Serif"/>
                <a:cs typeface="Microsoft Sans Serif"/>
              </a:rPr>
              <a:t>as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87450" y="1135739"/>
            <a:ext cx="4069079" cy="2392680"/>
            <a:chOff x="1187450" y="1135739"/>
            <a:chExt cx="4069079" cy="2392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7450" y="1135739"/>
              <a:ext cx="3995420" cy="2247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20539" y="3167739"/>
              <a:ext cx="935990" cy="360680"/>
            </a:xfrm>
            <a:custGeom>
              <a:avLst/>
              <a:gdLst/>
              <a:ahLst/>
              <a:cxnLst/>
              <a:rect l="l" t="t" r="r" b="b"/>
              <a:pathLst>
                <a:path w="935989" h="360679">
                  <a:moveTo>
                    <a:pt x="935989" y="0"/>
                  </a:moveTo>
                  <a:lnTo>
                    <a:pt x="0" y="0"/>
                  </a:lnTo>
                  <a:lnTo>
                    <a:pt x="0" y="360680"/>
                  </a:lnTo>
                  <a:lnTo>
                    <a:pt x="467360" y="360680"/>
                  </a:lnTo>
                  <a:lnTo>
                    <a:pt x="935989" y="360680"/>
                  </a:lnTo>
                  <a:lnTo>
                    <a:pt x="9359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20539" y="3167739"/>
              <a:ext cx="935990" cy="360680"/>
            </a:xfrm>
            <a:custGeom>
              <a:avLst/>
              <a:gdLst/>
              <a:ahLst/>
              <a:cxnLst/>
              <a:rect l="l" t="t" r="r" b="b"/>
              <a:pathLst>
                <a:path w="935989" h="360679">
                  <a:moveTo>
                    <a:pt x="467360" y="360680"/>
                  </a:moveTo>
                  <a:lnTo>
                    <a:pt x="0" y="360680"/>
                  </a:lnTo>
                  <a:lnTo>
                    <a:pt x="0" y="0"/>
                  </a:lnTo>
                  <a:lnTo>
                    <a:pt x="935989" y="0"/>
                  </a:lnTo>
                  <a:lnTo>
                    <a:pt x="935989" y="360680"/>
                  </a:lnTo>
                  <a:lnTo>
                    <a:pt x="467360" y="36068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7380" y="3305775"/>
            <a:ext cx="4030345" cy="142494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latin typeface="Microsoft Sans Serif"/>
                <a:cs typeface="Microsoft Sans Serif"/>
              </a:rPr>
              <a:t>Find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derivative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of</a:t>
            </a:r>
            <a:endParaRPr sz="1800">
              <a:latin typeface="Microsoft Sans Serif"/>
              <a:cs typeface="Microsoft Sans Serif"/>
            </a:endParaRPr>
          </a:p>
          <a:p>
            <a:pPr marL="1148080">
              <a:lnSpc>
                <a:spcPct val="100000"/>
              </a:lnSpc>
              <a:spcBef>
                <a:spcPts val="1150"/>
              </a:spcBef>
            </a:pPr>
            <a:r>
              <a:rPr sz="2000" i="1" dirty="0">
                <a:latin typeface="Times New Roman"/>
                <a:cs typeface="Times New Roman"/>
              </a:rPr>
              <a:t>f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spc="150" dirty="0">
                <a:latin typeface="Times New Roman"/>
                <a:cs typeface="Times New Roman"/>
              </a:rPr>
              <a:t>x</a:t>
            </a:r>
            <a:r>
              <a:rPr sz="2000" spc="150" dirty="0">
                <a:latin typeface="Cambria"/>
                <a:cs typeface="Cambria"/>
              </a:rPr>
              <a:t>)=</a:t>
            </a:r>
            <a:r>
              <a:rPr sz="2000" spc="150" dirty="0">
                <a:latin typeface="Times New Roman"/>
                <a:cs typeface="Times New Roman"/>
              </a:rPr>
              <a:t>2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1800" baseline="43981" dirty="0">
                <a:latin typeface="Times New Roman"/>
                <a:cs typeface="Times New Roman"/>
              </a:rPr>
              <a:t>2</a:t>
            </a:r>
            <a:r>
              <a:rPr sz="1800" spc="-225" baseline="43981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Cambria"/>
                <a:cs typeface="Cambria"/>
              </a:rPr>
              <a:t>+</a:t>
            </a:r>
            <a:r>
              <a:rPr sz="2000" spc="75" dirty="0">
                <a:latin typeface="Times New Roman"/>
                <a:cs typeface="Times New Roman"/>
              </a:rPr>
              <a:t>3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i="1" spc="229" dirty="0">
                <a:latin typeface="Times New Roman"/>
                <a:cs typeface="Times New Roman"/>
              </a:rPr>
              <a:t>x</a:t>
            </a:r>
            <a:r>
              <a:rPr sz="2000" spc="229" dirty="0">
                <a:latin typeface="Cambria"/>
                <a:cs typeface="Cambria"/>
              </a:rPr>
              <a:t>−</a:t>
            </a:r>
            <a:r>
              <a:rPr sz="2000" spc="229" dirty="0">
                <a:latin typeface="Times New Roman"/>
                <a:cs typeface="Times New Roman"/>
              </a:rPr>
              <a:t>5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at</a:t>
            </a:r>
            <a:r>
              <a:rPr sz="2000" i="1" spc="60" dirty="0">
                <a:latin typeface="Times New Roman"/>
                <a:cs typeface="Times New Roman"/>
              </a:rPr>
              <a:t> </a:t>
            </a:r>
            <a:r>
              <a:rPr sz="2000" i="1" spc="250" dirty="0">
                <a:latin typeface="Times New Roman"/>
                <a:cs typeface="Times New Roman"/>
              </a:rPr>
              <a:t>x</a:t>
            </a:r>
            <a:r>
              <a:rPr sz="2000" spc="250" dirty="0">
                <a:latin typeface="Cambria"/>
                <a:cs typeface="Cambria"/>
              </a:rPr>
              <a:t>=−</a:t>
            </a:r>
            <a:r>
              <a:rPr sz="2000" spc="2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148080">
              <a:lnSpc>
                <a:spcPct val="100000"/>
              </a:lnSpc>
              <a:spcBef>
                <a:spcPts val="1910"/>
              </a:spcBef>
            </a:pPr>
            <a:r>
              <a:rPr sz="2000" i="1" dirty="0">
                <a:latin typeface="Times New Roman"/>
                <a:cs typeface="Times New Roman"/>
              </a:rPr>
              <a:t>f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spc="110" dirty="0">
                <a:latin typeface="Times New Roman"/>
                <a:cs typeface="Times New Roman"/>
              </a:rPr>
              <a:t>x</a:t>
            </a:r>
            <a:r>
              <a:rPr sz="2000" spc="110" dirty="0">
                <a:latin typeface="Cambria"/>
                <a:cs typeface="Cambria"/>
              </a:rPr>
              <a:t>)=</a:t>
            </a:r>
            <a:r>
              <a:rPr sz="2000" spc="110" dirty="0">
                <a:latin typeface="Times New Roman"/>
                <a:cs typeface="Times New Roman"/>
              </a:rPr>
              <a:t>sin</a:t>
            </a:r>
            <a:r>
              <a:rPr sz="2000" spc="110" dirty="0">
                <a:latin typeface="Cambria"/>
                <a:cs typeface="Cambria"/>
              </a:rPr>
              <a:t>(</a:t>
            </a:r>
            <a:r>
              <a:rPr sz="2000" spc="-225" dirty="0">
                <a:latin typeface="Cambria"/>
                <a:cs typeface="Cambria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x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2998" y="153387"/>
            <a:ext cx="3790343" cy="53238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Derivative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1659" y="1307189"/>
            <a:ext cx="1951355" cy="1323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Prove the </a:t>
            </a:r>
            <a:r>
              <a:rPr sz="1800" spc="-10" dirty="0">
                <a:latin typeface="Microsoft Sans Serif"/>
                <a:cs typeface="Microsoft Sans Serif"/>
              </a:rPr>
              <a:t>following</a:t>
            </a:r>
            <a:endParaRPr sz="1800">
              <a:latin typeface="Microsoft Sans Serif"/>
              <a:cs typeface="Microsoft Sans Serif"/>
            </a:endParaRPr>
          </a:p>
          <a:p>
            <a:pPr marL="264795" indent="-252095">
              <a:lnSpc>
                <a:spcPts val="2090"/>
              </a:lnSpc>
              <a:spcBef>
                <a:spcPts val="1870"/>
              </a:spcBef>
              <a:buAutoNum type="arabicPeriod"/>
              <a:tabLst>
                <a:tab pos="264795" algn="l"/>
              </a:tabLst>
            </a:pPr>
            <a:r>
              <a:rPr sz="1800" dirty="0">
                <a:latin typeface="Microsoft Sans Serif"/>
                <a:cs typeface="Microsoft Sans Serif"/>
              </a:rPr>
              <a:t>Power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rule</a:t>
            </a:r>
            <a:endParaRPr sz="1800">
              <a:latin typeface="Microsoft Sans Serif"/>
              <a:cs typeface="Microsoft Sans Serif"/>
            </a:endParaRPr>
          </a:p>
          <a:p>
            <a:pPr marL="264795" indent="-252095">
              <a:lnSpc>
                <a:spcPts val="2014"/>
              </a:lnSpc>
              <a:buAutoNum type="arabicPeriod"/>
              <a:tabLst>
                <a:tab pos="264795" algn="l"/>
              </a:tabLst>
            </a:pPr>
            <a:r>
              <a:rPr sz="1800" dirty="0">
                <a:latin typeface="Microsoft Sans Serif"/>
                <a:cs typeface="Microsoft Sans Serif"/>
              </a:rPr>
              <a:t>Product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rule</a:t>
            </a:r>
            <a:endParaRPr sz="1800">
              <a:latin typeface="Microsoft Sans Serif"/>
              <a:cs typeface="Microsoft Sans Serif"/>
            </a:endParaRPr>
          </a:p>
          <a:p>
            <a:pPr marL="264795" indent="-252095">
              <a:lnSpc>
                <a:spcPts val="2085"/>
              </a:lnSpc>
              <a:buAutoNum type="arabicPeriod"/>
              <a:tabLst>
                <a:tab pos="264795" algn="l"/>
              </a:tabLst>
            </a:pPr>
            <a:r>
              <a:rPr sz="1800" dirty="0">
                <a:latin typeface="Microsoft Sans Serif"/>
                <a:cs typeface="Microsoft Sans Serif"/>
              </a:rPr>
              <a:t>Quotient</a:t>
            </a:r>
            <a:r>
              <a:rPr sz="1800" spc="-7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rule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Integral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480" y="802999"/>
            <a:ext cx="4218940" cy="173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It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 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inverse process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differentiation.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R="85725" algn="ctr">
              <a:lnSpc>
                <a:spcPct val="100000"/>
              </a:lnSpc>
            </a:pPr>
            <a:r>
              <a:rPr sz="3000" i="1" baseline="-36111" dirty="0">
                <a:latin typeface="Times New Roman"/>
                <a:cs typeface="Times New Roman"/>
              </a:rPr>
              <a:t>f</a:t>
            </a:r>
            <a:r>
              <a:rPr sz="3000" i="1" spc="7" baseline="-36111" dirty="0">
                <a:latin typeface="Times New Roman"/>
                <a:cs typeface="Times New Roman"/>
              </a:rPr>
              <a:t> </a:t>
            </a:r>
            <a:r>
              <a:rPr sz="3000" spc="-127" baseline="-36111" dirty="0">
                <a:latin typeface="Cambria"/>
                <a:cs typeface="Cambria"/>
              </a:rPr>
              <a:t>(</a:t>
            </a:r>
            <a:r>
              <a:rPr sz="3000" spc="-337" baseline="-36111" dirty="0">
                <a:latin typeface="Cambria"/>
                <a:cs typeface="Cambria"/>
              </a:rPr>
              <a:t> </a:t>
            </a:r>
            <a:r>
              <a:rPr sz="3000" i="1" baseline="-36111" dirty="0">
                <a:latin typeface="Times New Roman"/>
                <a:cs typeface="Times New Roman"/>
              </a:rPr>
              <a:t>x</a:t>
            </a:r>
            <a:r>
              <a:rPr sz="3000" i="1" spc="-397" baseline="-36111" dirty="0">
                <a:latin typeface="Times New Roman"/>
                <a:cs typeface="Times New Roman"/>
              </a:rPr>
              <a:t> </a:t>
            </a:r>
            <a:r>
              <a:rPr sz="3000" spc="382" baseline="-36111" dirty="0">
                <a:latin typeface="Cambria"/>
                <a:cs typeface="Cambria"/>
              </a:rPr>
              <a:t>)=</a:t>
            </a:r>
            <a:r>
              <a:rPr sz="2000" i="1" u="sng" spc="-3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dF</a:t>
            </a:r>
            <a:r>
              <a:rPr sz="2000" i="1" u="sng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</a:t>
            </a:r>
            <a:r>
              <a:rPr sz="2000" u="sng" spc="-14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L="604520" algn="ctr">
              <a:lnSpc>
                <a:spcPts val="2075"/>
              </a:lnSpc>
              <a:spcBef>
                <a:spcPts val="300"/>
              </a:spcBef>
            </a:pPr>
            <a:r>
              <a:rPr sz="2000" i="1" spc="-25" dirty="0">
                <a:latin typeface="Times New Roman"/>
                <a:cs typeface="Times New Roman"/>
              </a:rPr>
              <a:t>dx</a:t>
            </a:r>
            <a:endParaRPr sz="2000">
              <a:latin typeface="Times New Roman"/>
              <a:cs typeface="Times New Roman"/>
            </a:endParaRPr>
          </a:p>
          <a:p>
            <a:pPr marR="115570" algn="ctr">
              <a:lnSpc>
                <a:spcPts val="3215"/>
              </a:lnSpc>
            </a:pPr>
            <a:r>
              <a:rPr sz="4425" spc="690" baseline="-5649" dirty="0">
                <a:latin typeface="Cambria"/>
                <a:cs typeface="Cambria"/>
              </a:rPr>
              <a:t>∫</a:t>
            </a:r>
            <a:r>
              <a:rPr sz="4425" spc="-480" baseline="-5649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spc="200" dirty="0">
                <a:latin typeface="Times New Roman"/>
                <a:cs typeface="Times New Roman"/>
              </a:rPr>
              <a:t>dx</a:t>
            </a:r>
            <a:r>
              <a:rPr sz="2000" spc="200" dirty="0">
                <a:latin typeface="Cambria"/>
                <a:cs typeface="Cambria"/>
              </a:rPr>
              <a:t>=</a:t>
            </a:r>
            <a:r>
              <a:rPr sz="2000" i="1" spc="200" dirty="0">
                <a:latin typeface="Times New Roman"/>
                <a:cs typeface="Times New Roman"/>
              </a:rPr>
              <a:t>F</a:t>
            </a:r>
            <a:r>
              <a:rPr sz="2000" i="1" spc="-22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spc="55" dirty="0">
                <a:latin typeface="Times New Roman"/>
                <a:cs typeface="Times New Roman"/>
              </a:rPr>
              <a:t>x</a:t>
            </a:r>
            <a:r>
              <a:rPr sz="2000" spc="55" dirty="0">
                <a:latin typeface="Cambria"/>
                <a:cs typeface="Cambria"/>
              </a:rPr>
              <a:t>)+</a:t>
            </a:r>
            <a:r>
              <a:rPr sz="2000" i="1" spc="55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639" y="3863699"/>
            <a:ext cx="3135630" cy="734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07975" algn="ctr">
              <a:lnSpc>
                <a:spcPts val="1005"/>
              </a:lnSpc>
              <a:spcBef>
                <a:spcPts val="120"/>
              </a:spcBef>
            </a:pPr>
            <a:r>
              <a:rPr sz="1200" i="1" spc="100" dirty="0">
                <a:latin typeface="Times New Roman"/>
                <a:cs typeface="Times New Roman"/>
              </a:rPr>
              <a:t>n</a:t>
            </a:r>
            <a:r>
              <a:rPr sz="1200" spc="100" dirty="0">
                <a:latin typeface="Cambria"/>
                <a:cs typeface="Cambria"/>
              </a:rPr>
              <a:t>−</a:t>
            </a:r>
            <a:r>
              <a:rPr sz="1200" spc="1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ts val="3105"/>
              </a:lnSpc>
            </a:pPr>
            <a:r>
              <a:rPr sz="4425" spc="690" baseline="-4708" dirty="0">
                <a:latin typeface="Cambria"/>
                <a:cs typeface="Cambria"/>
              </a:rPr>
              <a:t>∫</a:t>
            </a:r>
            <a:r>
              <a:rPr sz="4425" spc="-494" baseline="-4708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spc="225" dirty="0">
                <a:latin typeface="Times New Roman"/>
                <a:cs typeface="Times New Roman"/>
              </a:rPr>
              <a:t>dx</a:t>
            </a:r>
            <a:r>
              <a:rPr sz="2000" spc="225" dirty="0">
                <a:latin typeface="Cambria"/>
                <a:cs typeface="Cambria"/>
              </a:rPr>
              <a:t>=</a:t>
            </a:r>
            <a:r>
              <a:rPr sz="4425" spc="337" baseline="-4708" dirty="0">
                <a:latin typeface="Cambria"/>
                <a:cs typeface="Cambria"/>
              </a:rPr>
              <a:t>∑</a:t>
            </a:r>
            <a:r>
              <a:rPr sz="4425" spc="-187" baseline="-4708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t</a:t>
            </a:r>
            <a:r>
              <a:rPr sz="2000" i="1" spc="-290" dirty="0">
                <a:latin typeface="Times New Roman"/>
                <a:cs typeface="Times New Roman"/>
              </a:rPr>
              <a:t> </a:t>
            </a:r>
            <a:r>
              <a:rPr sz="1800" spc="-15" baseline="-20833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Cambria"/>
                <a:cs typeface="Cambria"/>
              </a:rPr>
              <a:t>)(</a:t>
            </a:r>
            <a:r>
              <a:rPr sz="2000" spc="-220" dirty="0">
                <a:latin typeface="Cambria"/>
                <a:cs typeface="Cambria"/>
              </a:rPr>
              <a:t> </a:t>
            </a:r>
            <a:r>
              <a:rPr sz="2000" i="1" spc="75" dirty="0">
                <a:latin typeface="Times New Roman"/>
                <a:cs typeface="Times New Roman"/>
              </a:rPr>
              <a:t>x</a:t>
            </a:r>
            <a:r>
              <a:rPr sz="1800" i="1" spc="112" baseline="-20833" dirty="0">
                <a:latin typeface="Times New Roman"/>
                <a:cs typeface="Times New Roman"/>
              </a:rPr>
              <a:t>i</a:t>
            </a:r>
            <a:r>
              <a:rPr sz="1800" spc="112" baseline="-20833" dirty="0">
                <a:latin typeface="Cambria"/>
                <a:cs typeface="Cambria"/>
              </a:rPr>
              <a:t>+</a:t>
            </a:r>
            <a:r>
              <a:rPr sz="1800" spc="-209" baseline="-20833" dirty="0">
                <a:latin typeface="Cambria"/>
                <a:cs typeface="Cambria"/>
              </a:rPr>
              <a:t> </a:t>
            </a:r>
            <a:r>
              <a:rPr sz="1800" spc="277" baseline="-20833" dirty="0">
                <a:latin typeface="Times New Roman"/>
                <a:cs typeface="Times New Roman"/>
              </a:rPr>
              <a:t>1</a:t>
            </a:r>
            <a:r>
              <a:rPr sz="2000" spc="185" dirty="0">
                <a:latin typeface="Cambria"/>
                <a:cs typeface="Cambria"/>
              </a:rPr>
              <a:t>−</a:t>
            </a:r>
            <a:r>
              <a:rPr sz="2000" i="1" spc="185" dirty="0">
                <a:latin typeface="Times New Roman"/>
                <a:cs typeface="Times New Roman"/>
              </a:rPr>
              <a:t>x</a:t>
            </a:r>
            <a:r>
              <a:rPr sz="1800" i="1" spc="277" baseline="-20833" dirty="0">
                <a:latin typeface="Times New Roman"/>
                <a:cs typeface="Times New Roman"/>
              </a:rPr>
              <a:t>i</a:t>
            </a:r>
            <a:r>
              <a:rPr sz="1800" i="1" spc="-262" baseline="-20833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 marR="318135" algn="ctr">
              <a:lnSpc>
                <a:spcPct val="100000"/>
              </a:lnSpc>
              <a:spcBef>
                <a:spcPts val="10"/>
              </a:spcBef>
            </a:pPr>
            <a:r>
              <a:rPr sz="1200" i="1" spc="114" dirty="0">
                <a:latin typeface="Times New Roman"/>
                <a:cs typeface="Times New Roman"/>
              </a:rPr>
              <a:t>i</a:t>
            </a:r>
            <a:r>
              <a:rPr sz="1200" spc="114" dirty="0">
                <a:latin typeface="Cambria"/>
                <a:cs typeface="Cambria"/>
              </a:rPr>
              <a:t>=</a:t>
            </a:r>
            <a:r>
              <a:rPr sz="1200" spc="114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56034" y="917134"/>
            <a:ext cx="4384675" cy="4340225"/>
            <a:chOff x="5156034" y="917134"/>
            <a:chExt cx="4384675" cy="43402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6034" y="917134"/>
              <a:ext cx="4384205" cy="43399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840220" y="2376530"/>
              <a:ext cx="1511300" cy="935990"/>
            </a:xfrm>
            <a:custGeom>
              <a:avLst/>
              <a:gdLst/>
              <a:ahLst/>
              <a:cxnLst/>
              <a:rect l="l" t="t" r="r" b="b"/>
              <a:pathLst>
                <a:path w="1511300" h="935989">
                  <a:moveTo>
                    <a:pt x="1511300" y="0"/>
                  </a:moveTo>
                  <a:lnTo>
                    <a:pt x="0" y="0"/>
                  </a:lnTo>
                  <a:lnTo>
                    <a:pt x="0" y="935990"/>
                  </a:lnTo>
                  <a:lnTo>
                    <a:pt x="755650" y="935990"/>
                  </a:lnTo>
                  <a:lnTo>
                    <a:pt x="1511300" y="935990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40220" y="2376530"/>
              <a:ext cx="1511300" cy="935990"/>
            </a:xfrm>
            <a:custGeom>
              <a:avLst/>
              <a:gdLst/>
              <a:ahLst/>
              <a:cxnLst/>
              <a:rect l="l" t="t" r="r" b="b"/>
              <a:pathLst>
                <a:path w="1511300" h="935989">
                  <a:moveTo>
                    <a:pt x="755650" y="935990"/>
                  </a:moveTo>
                  <a:lnTo>
                    <a:pt x="0" y="935990"/>
                  </a:lnTo>
                  <a:lnTo>
                    <a:pt x="0" y="0"/>
                  </a:lnTo>
                  <a:lnTo>
                    <a:pt x="1511300" y="0"/>
                  </a:lnTo>
                  <a:lnTo>
                    <a:pt x="1511300" y="935990"/>
                  </a:lnTo>
                  <a:lnTo>
                    <a:pt x="755650" y="93599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95439" y="3528420"/>
              <a:ext cx="648970" cy="504190"/>
            </a:xfrm>
            <a:custGeom>
              <a:avLst/>
              <a:gdLst/>
              <a:ahLst/>
              <a:cxnLst/>
              <a:rect l="l" t="t" r="r" b="b"/>
              <a:pathLst>
                <a:path w="648970" h="504189">
                  <a:moveTo>
                    <a:pt x="648969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325119" y="504190"/>
                  </a:lnTo>
                  <a:lnTo>
                    <a:pt x="648969" y="504190"/>
                  </a:lnTo>
                  <a:lnTo>
                    <a:pt x="6489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95439" y="3528420"/>
              <a:ext cx="648970" cy="504190"/>
            </a:xfrm>
            <a:custGeom>
              <a:avLst/>
              <a:gdLst/>
              <a:ahLst/>
              <a:cxnLst/>
              <a:rect l="l" t="t" r="r" b="b"/>
              <a:pathLst>
                <a:path w="648970" h="504189">
                  <a:moveTo>
                    <a:pt x="325119" y="504190"/>
                  </a:moveTo>
                  <a:lnTo>
                    <a:pt x="0" y="504190"/>
                  </a:lnTo>
                  <a:lnTo>
                    <a:pt x="0" y="0"/>
                  </a:lnTo>
                  <a:lnTo>
                    <a:pt x="648969" y="0"/>
                  </a:lnTo>
                  <a:lnTo>
                    <a:pt x="648969" y="504190"/>
                  </a:lnTo>
                  <a:lnTo>
                    <a:pt x="325119" y="50419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95439" y="3059789"/>
              <a:ext cx="900430" cy="504190"/>
            </a:xfrm>
            <a:custGeom>
              <a:avLst/>
              <a:gdLst/>
              <a:ahLst/>
              <a:cxnLst/>
              <a:rect l="l" t="t" r="r" b="b"/>
              <a:pathLst>
                <a:path w="900429" h="504189">
                  <a:moveTo>
                    <a:pt x="900429" y="0"/>
                  </a:moveTo>
                  <a:lnTo>
                    <a:pt x="0" y="0"/>
                  </a:lnTo>
                  <a:lnTo>
                    <a:pt x="0" y="504189"/>
                  </a:lnTo>
                  <a:lnTo>
                    <a:pt x="450850" y="504189"/>
                  </a:lnTo>
                  <a:lnTo>
                    <a:pt x="900429" y="504189"/>
                  </a:lnTo>
                  <a:lnTo>
                    <a:pt x="900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95439" y="3059789"/>
              <a:ext cx="900430" cy="504190"/>
            </a:xfrm>
            <a:custGeom>
              <a:avLst/>
              <a:gdLst/>
              <a:ahLst/>
              <a:cxnLst/>
              <a:rect l="l" t="t" r="r" b="b"/>
              <a:pathLst>
                <a:path w="900429" h="504189">
                  <a:moveTo>
                    <a:pt x="450850" y="504189"/>
                  </a:moveTo>
                  <a:lnTo>
                    <a:pt x="0" y="504189"/>
                  </a:lnTo>
                  <a:lnTo>
                    <a:pt x="0" y="0"/>
                  </a:lnTo>
                  <a:lnTo>
                    <a:pt x="900429" y="0"/>
                  </a:lnTo>
                  <a:lnTo>
                    <a:pt x="900429" y="504189"/>
                  </a:lnTo>
                  <a:lnTo>
                    <a:pt x="450850" y="50418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28510" y="2916279"/>
              <a:ext cx="899160" cy="504190"/>
            </a:xfrm>
            <a:custGeom>
              <a:avLst/>
              <a:gdLst/>
              <a:ahLst/>
              <a:cxnLst/>
              <a:rect l="l" t="t" r="r" b="b"/>
              <a:pathLst>
                <a:path w="899159" h="504189">
                  <a:moveTo>
                    <a:pt x="899160" y="0"/>
                  </a:moveTo>
                  <a:lnTo>
                    <a:pt x="0" y="0"/>
                  </a:lnTo>
                  <a:lnTo>
                    <a:pt x="0" y="504190"/>
                  </a:lnTo>
                  <a:lnTo>
                    <a:pt x="449580" y="504190"/>
                  </a:lnTo>
                  <a:lnTo>
                    <a:pt x="899160" y="504190"/>
                  </a:lnTo>
                  <a:lnTo>
                    <a:pt x="8991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28510" y="2916279"/>
              <a:ext cx="899160" cy="504190"/>
            </a:xfrm>
            <a:custGeom>
              <a:avLst/>
              <a:gdLst/>
              <a:ahLst/>
              <a:cxnLst/>
              <a:rect l="l" t="t" r="r" b="b"/>
              <a:pathLst>
                <a:path w="899159" h="504189">
                  <a:moveTo>
                    <a:pt x="449580" y="504190"/>
                  </a:moveTo>
                  <a:lnTo>
                    <a:pt x="0" y="504190"/>
                  </a:lnTo>
                  <a:lnTo>
                    <a:pt x="0" y="0"/>
                  </a:lnTo>
                  <a:lnTo>
                    <a:pt x="899160" y="0"/>
                  </a:lnTo>
                  <a:lnTo>
                    <a:pt x="899160" y="504190"/>
                  </a:lnTo>
                  <a:lnTo>
                    <a:pt x="449580" y="504190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08010" y="3096620"/>
              <a:ext cx="900430" cy="251460"/>
            </a:xfrm>
            <a:custGeom>
              <a:avLst/>
              <a:gdLst/>
              <a:ahLst/>
              <a:cxnLst/>
              <a:rect l="l" t="t" r="r" b="b"/>
              <a:pathLst>
                <a:path w="900429" h="251460">
                  <a:moveTo>
                    <a:pt x="900430" y="0"/>
                  </a:moveTo>
                  <a:lnTo>
                    <a:pt x="0" y="0"/>
                  </a:lnTo>
                  <a:lnTo>
                    <a:pt x="0" y="251459"/>
                  </a:lnTo>
                  <a:lnTo>
                    <a:pt x="449580" y="251459"/>
                  </a:lnTo>
                  <a:lnTo>
                    <a:pt x="900430" y="251459"/>
                  </a:lnTo>
                  <a:lnTo>
                    <a:pt x="9004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08010" y="3096620"/>
              <a:ext cx="900430" cy="251460"/>
            </a:xfrm>
            <a:custGeom>
              <a:avLst/>
              <a:gdLst/>
              <a:ahLst/>
              <a:cxnLst/>
              <a:rect l="l" t="t" r="r" b="b"/>
              <a:pathLst>
                <a:path w="900429" h="251460">
                  <a:moveTo>
                    <a:pt x="449580" y="251459"/>
                  </a:moveTo>
                  <a:lnTo>
                    <a:pt x="0" y="251459"/>
                  </a:lnTo>
                  <a:lnTo>
                    <a:pt x="0" y="0"/>
                  </a:lnTo>
                  <a:lnTo>
                    <a:pt x="900430" y="0"/>
                  </a:lnTo>
                  <a:lnTo>
                    <a:pt x="900430" y="251459"/>
                  </a:lnTo>
                  <a:lnTo>
                    <a:pt x="449580" y="25145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40220" y="3924660"/>
              <a:ext cx="143510" cy="288290"/>
            </a:xfrm>
            <a:custGeom>
              <a:avLst/>
              <a:gdLst/>
              <a:ahLst/>
              <a:cxnLst/>
              <a:rect l="l" t="t" r="r" b="b"/>
              <a:pathLst>
                <a:path w="143509" h="288289">
                  <a:moveTo>
                    <a:pt x="143509" y="0"/>
                  </a:moveTo>
                  <a:lnTo>
                    <a:pt x="0" y="0"/>
                  </a:lnTo>
                  <a:lnTo>
                    <a:pt x="0" y="288289"/>
                  </a:lnTo>
                  <a:lnTo>
                    <a:pt x="72389" y="288289"/>
                  </a:lnTo>
                  <a:lnTo>
                    <a:pt x="143509" y="288289"/>
                  </a:lnTo>
                  <a:lnTo>
                    <a:pt x="1435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40220" y="3924660"/>
              <a:ext cx="143510" cy="288290"/>
            </a:xfrm>
            <a:custGeom>
              <a:avLst/>
              <a:gdLst/>
              <a:ahLst/>
              <a:cxnLst/>
              <a:rect l="l" t="t" r="r" b="b"/>
              <a:pathLst>
                <a:path w="143509" h="288289">
                  <a:moveTo>
                    <a:pt x="72389" y="288289"/>
                  </a:moveTo>
                  <a:lnTo>
                    <a:pt x="0" y="288289"/>
                  </a:lnTo>
                  <a:lnTo>
                    <a:pt x="0" y="0"/>
                  </a:lnTo>
                  <a:lnTo>
                    <a:pt x="143509" y="0"/>
                  </a:lnTo>
                  <a:lnTo>
                    <a:pt x="143509" y="288289"/>
                  </a:lnTo>
                  <a:lnTo>
                    <a:pt x="72389" y="288289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Integral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802999"/>
            <a:ext cx="2626995" cy="1767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197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Integrate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the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following</a:t>
            </a:r>
            <a:endParaRPr sz="1800">
              <a:latin typeface="Microsoft Sans Serif"/>
              <a:cs typeface="Microsoft Sans Serif"/>
            </a:endParaRPr>
          </a:p>
          <a:p>
            <a:pPr marL="755650">
              <a:lnSpc>
                <a:spcPts val="3350"/>
              </a:lnSpc>
              <a:tabLst>
                <a:tab pos="1402715" algn="l"/>
                <a:tab pos="2028825" algn="l"/>
              </a:tabLst>
            </a:pPr>
            <a:r>
              <a:rPr sz="4425" spc="1064" baseline="-27306" dirty="0">
                <a:latin typeface="Cambria"/>
                <a:cs typeface="Cambria"/>
              </a:rPr>
              <a:t>∫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0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dx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000">
              <a:latin typeface="Times New Roman"/>
              <a:cs typeface="Times New Roman"/>
            </a:endParaRPr>
          </a:p>
          <a:p>
            <a:pPr marL="428625" algn="ctr">
              <a:lnSpc>
                <a:spcPct val="100000"/>
              </a:lnSpc>
              <a:spcBef>
                <a:spcPts val="40"/>
              </a:spcBef>
            </a:pPr>
            <a:r>
              <a:rPr sz="2000" spc="75" dirty="0">
                <a:latin typeface="Times New Roman"/>
                <a:cs typeface="Times New Roman"/>
              </a:rPr>
              <a:t>1</a:t>
            </a:r>
            <a:r>
              <a:rPr sz="2000" spc="75" dirty="0">
                <a:latin typeface="Cambria"/>
                <a:cs typeface="Cambria"/>
              </a:rPr>
              <a:t>+</a:t>
            </a:r>
            <a:r>
              <a:rPr sz="2000" spc="75" dirty="0">
                <a:latin typeface="Times New Roman"/>
                <a:cs typeface="Times New Roman"/>
              </a:rPr>
              <a:t>tan</a:t>
            </a:r>
            <a:r>
              <a:rPr sz="2000" spc="-27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9" dirty="0">
                <a:latin typeface="Cambria"/>
                <a:cs typeface="Cambria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x</a:t>
            </a:r>
            <a:r>
              <a:rPr sz="2000" spc="-25" dirty="0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000">
              <a:latin typeface="Cambria"/>
              <a:cs typeface="Cambria"/>
            </a:endParaRPr>
          </a:p>
          <a:p>
            <a:pPr marL="452755" algn="ctr">
              <a:lnSpc>
                <a:spcPct val="100000"/>
              </a:lnSpc>
            </a:pPr>
            <a:r>
              <a:rPr sz="4425" spc="247" baseline="-4708" dirty="0">
                <a:latin typeface="Cambria"/>
                <a:cs typeface="Cambria"/>
              </a:rPr>
              <a:t>∫</a:t>
            </a:r>
            <a:r>
              <a:rPr sz="2000" spc="165" dirty="0">
                <a:latin typeface="Times New Roman"/>
                <a:cs typeface="Times New Roman"/>
              </a:rPr>
              <a:t>sin</a:t>
            </a:r>
            <a:r>
              <a:rPr sz="1800" spc="247" baseline="48611" dirty="0">
                <a:latin typeface="Times New Roman"/>
                <a:cs typeface="Times New Roman"/>
              </a:rPr>
              <a:t>3</a:t>
            </a:r>
            <a:r>
              <a:rPr sz="1800" spc="-195" baseline="48611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8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dirty="0">
                <a:latin typeface="Times New Roman"/>
                <a:cs typeface="Times New Roman"/>
              </a:rPr>
              <a:t>cos</a:t>
            </a:r>
            <a:r>
              <a:rPr sz="1800" baseline="48611" dirty="0">
                <a:latin typeface="Times New Roman"/>
                <a:cs typeface="Times New Roman"/>
              </a:rPr>
              <a:t>2</a:t>
            </a:r>
            <a:r>
              <a:rPr sz="1800" spc="-209" baseline="48611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7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-185" dirty="0">
                <a:latin typeface="Cambria"/>
                <a:cs typeface="Cambria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dx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Numerical</a:t>
            </a:r>
            <a:r>
              <a:rPr spc="-204" dirty="0"/>
              <a:t> </a:t>
            </a:r>
            <a:r>
              <a:rPr spc="-10" dirty="0"/>
              <a:t>differentiation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9519" y="989689"/>
            <a:ext cx="27736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i="1" baseline="-36111" dirty="0">
                <a:latin typeface="Times New Roman"/>
                <a:cs typeface="Times New Roman"/>
              </a:rPr>
              <a:t>f</a:t>
            </a:r>
            <a:r>
              <a:rPr sz="3000" i="1" spc="120" baseline="-36111" dirty="0">
                <a:latin typeface="Times New Roman"/>
                <a:cs typeface="Times New Roman"/>
              </a:rPr>
              <a:t> </a:t>
            </a:r>
            <a:r>
              <a:rPr sz="3000" i="1" baseline="-36111" dirty="0">
                <a:latin typeface="Times New Roman"/>
                <a:cs typeface="Times New Roman"/>
              </a:rPr>
              <a:t>'</a:t>
            </a:r>
            <a:r>
              <a:rPr sz="3000" i="1" spc="-390" baseline="-36111" dirty="0">
                <a:latin typeface="Times New Roman"/>
                <a:cs typeface="Times New Roman"/>
              </a:rPr>
              <a:t> </a:t>
            </a:r>
            <a:r>
              <a:rPr sz="3000" spc="-127" baseline="-36111" dirty="0">
                <a:latin typeface="Cambria"/>
                <a:cs typeface="Cambria"/>
              </a:rPr>
              <a:t>(</a:t>
            </a:r>
            <a:r>
              <a:rPr sz="3000" spc="-345" baseline="-36111" dirty="0">
                <a:latin typeface="Cambria"/>
                <a:cs typeface="Cambria"/>
              </a:rPr>
              <a:t> </a:t>
            </a:r>
            <a:r>
              <a:rPr sz="3000" i="1" baseline="-36111" dirty="0">
                <a:latin typeface="Times New Roman"/>
                <a:cs typeface="Times New Roman"/>
              </a:rPr>
              <a:t>x</a:t>
            </a:r>
            <a:r>
              <a:rPr sz="3000" i="1" spc="-405" baseline="-36111" dirty="0">
                <a:latin typeface="Times New Roman"/>
                <a:cs typeface="Times New Roman"/>
              </a:rPr>
              <a:t> </a:t>
            </a:r>
            <a:r>
              <a:rPr sz="3000" spc="135" baseline="-36111" dirty="0">
                <a:latin typeface="Cambria"/>
                <a:cs typeface="Cambria"/>
              </a:rPr>
              <a:t>)=</a:t>
            </a:r>
            <a:r>
              <a:rPr sz="3000" spc="135" baseline="-36111" dirty="0">
                <a:latin typeface="Times New Roman"/>
                <a:cs typeface="Times New Roman"/>
              </a:rPr>
              <a:t>lim</a:t>
            </a:r>
            <a:r>
              <a:rPr sz="3000" spc="157" baseline="-36111" dirty="0">
                <a:latin typeface="Times New Roman"/>
                <a:cs typeface="Times New Roman"/>
              </a:rPr>
              <a:t> </a:t>
            </a:r>
            <a:r>
              <a:rPr sz="2000" i="1" u="sng" spc="-2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000" i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</a:t>
            </a:r>
            <a:r>
              <a:rPr sz="2000" u="sng" spc="-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000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)−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</a:t>
            </a:r>
            <a:r>
              <a:rPr sz="2000" u="sng" spc="-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5020" y="1455779"/>
            <a:ext cx="3314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dirty="0">
                <a:latin typeface="Times New Roman"/>
                <a:cs typeface="Times New Roman"/>
              </a:rPr>
              <a:t>h</a:t>
            </a:r>
            <a:r>
              <a:rPr sz="1200" i="1" spc="-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Cambria"/>
                <a:cs typeface="Cambria"/>
              </a:rPr>
              <a:t>→</a:t>
            </a:r>
            <a:r>
              <a:rPr sz="1200" spc="-25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50870" y="1333859"/>
            <a:ext cx="1543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50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9519" y="2250800"/>
            <a:ext cx="281178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i="1" baseline="-34722" dirty="0">
                <a:latin typeface="Times New Roman"/>
                <a:cs typeface="Times New Roman"/>
              </a:rPr>
              <a:t>f</a:t>
            </a:r>
            <a:r>
              <a:rPr sz="3000" i="1" spc="120" baseline="-34722" dirty="0">
                <a:latin typeface="Times New Roman"/>
                <a:cs typeface="Times New Roman"/>
              </a:rPr>
              <a:t> </a:t>
            </a:r>
            <a:r>
              <a:rPr sz="3000" i="1" baseline="-34722" dirty="0">
                <a:latin typeface="Times New Roman"/>
                <a:cs typeface="Times New Roman"/>
              </a:rPr>
              <a:t>'</a:t>
            </a:r>
            <a:r>
              <a:rPr sz="3000" i="1" spc="-390" baseline="-34722" dirty="0">
                <a:latin typeface="Times New Roman"/>
                <a:cs typeface="Times New Roman"/>
              </a:rPr>
              <a:t> </a:t>
            </a:r>
            <a:r>
              <a:rPr sz="3000" spc="-127" baseline="-34722" dirty="0">
                <a:latin typeface="Cambria"/>
                <a:cs typeface="Cambria"/>
              </a:rPr>
              <a:t>(</a:t>
            </a:r>
            <a:r>
              <a:rPr sz="3000" spc="-345" baseline="-34722" dirty="0">
                <a:latin typeface="Cambria"/>
                <a:cs typeface="Cambria"/>
              </a:rPr>
              <a:t> </a:t>
            </a:r>
            <a:r>
              <a:rPr sz="3000" i="1" baseline="-34722" dirty="0">
                <a:latin typeface="Times New Roman"/>
                <a:cs typeface="Times New Roman"/>
              </a:rPr>
              <a:t>x</a:t>
            </a:r>
            <a:r>
              <a:rPr sz="3000" i="1" spc="-405" baseline="-34722" dirty="0">
                <a:latin typeface="Times New Roman"/>
                <a:cs typeface="Times New Roman"/>
              </a:rPr>
              <a:t> </a:t>
            </a:r>
            <a:r>
              <a:rPr sz="3000" spc="135" baseline="-34722" dirty="0">
                <a:latin typeface="Cambria"/>
                <a:cs typeface="Cambria"/>
              </a:rPr>
              <a:t>)=</a:t>
            </a:r>
            <a:r>
              <a:rPr sz="3000" spc="135" baseline="-34722" dirty="0">
                <a:latin typeface="Times New Roman"/>
                <a:cs typeface="Times New Roman"/>
              </a:rPr>
              <a:t>lim</a:t>
            </a:r>
            <a:r>
              <a:rPr sz="3000" spc="157" baseline="-34722" dirty="0">
                <a:latin typeface="Times New Roman"/>
                <a:cs typeface="Times New Roman"/>
              </a:rPr>
              <a:t> </a:t>
            </a:r>
            <a:r>
              <a:rPr sz="2000" i="1" u="sng" spc="-2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 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</a:t>
            </a:r>
            <a:r>
              <a:rPr sz="2000" u="sng" spc="-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)−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</a:t>
            </a:r>
            <a:r>
              <a:rPr sz="2000" u="sng" spc="-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sng" spc="1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2000" i="1" u="sng" spc="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000" u="sng" spc="1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5020" y="2715620"/>
            <a:ext cx="3314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dirty="0">
                <a:latin typeface="Times New Roman"/>
                <a:cs typeface="Times New Roman"/>
              </a:rPr>
              <a:t>h</a:t>
            </a:r>
            <a:r>
              <a:rPr sz="1200" i="1" spc="-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Cambria"/>
                <a:cs typeface="Cambria"/>
              </a:rPr>
              <a:t>→</a:t>
            </a:r>
            <a:r>
              <a:rPr sz="1200" spc="-25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9920" y="2593700"/>
            <a:ext cx="1543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i="1" spc="-50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0929" y="1091289"/>
            <a:ext cx="19234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Forward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difference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00929" y="2387960"/>
            <a:ext cx="20885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Backward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difference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6829" y="3718919"/>
            <a:ext cx="1822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Central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difference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0789" y="3618589"/>
            <a:ext cx="312547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000" i="1" baseline="-34722" dirty="0">
                <a:latin typeface="Times New Roman"/>
                <a:cs typeface="Times New Roman"/>
              </a:rPr>
              <a:t>f</a:t>
            </a:r>
            <a:r>
              <a:rPr sz="3000" i="1" spc="97" baseline="-34722" dirty="0">
                <a:latin typeface="Times New Roman"/>
                <a:cs typeface="Times New Roman"/>
              </a:rPr>
              <a:t> </a:t>
            </a:r>
            <a:r>
              <a:rPr sz="3000" i="1" baseline="-34722" dirty="0">
                <a:latin typeface="Times New Roman"/>
                <a:cs typeface="Times New Roman"/>
              </a:rPr>
              <a:t>'</a:t>
            </a:r>
            <a:r>
              <a:rPr sz="3000" i="1" spc="-367" baseline="-34722" dirty="0">
                <a:latin typeface="Times New Roman"/>
                <a:cs typeface="Times New Roman"/>
              </a:rPr>
              <a:t> </a:t>
            </a:r>
            <a:r>
              <a:rPr sz="3000" spc="-127" baseline="-34722" dirty="0">
                <a:latin typeface="Cambria"/>
                <a:cs typeface="Cambria"/>
              </a:rPr>
              <a:t>(</a:t>
            </a:r>
            <a:r>
              <a:rPr sz="3000" spc="-345" baseline="-34722" dirty="0">
                <a:latin typeface="Cambria"/>
                <a:cs typeface="Cambria"/>
              </a:rPr>
              <a:t> </a:t>
            </a:r>
            <a:r>
              <a:rPr sz="3000" i="1" baseline="-34722" dirty="0">
                <a:latin typeface="Times New Roman"/>
                <a:cs typeface="Times New Roman"/>
              </a:rPr>
              <a:t>x</a:t>
            </a:r>
            <a:r>
              <a:rPr sz="3000" i="1" spc="-419" baseline="-34722" dirty="0">
                <a:latin typeface="Times New Roman"/>
                <a:cs typeface="Times New Roman"/>
              </a:rPr>
              <a:t> </a:t>
            </a:r>
            <a:r>
              <a:rPr sz="3000" spc="142" baseline="-34722" dirty="0">
                <a:latin typeface="Cambria"/>
                <a:cs typeface="Cambria"/>
              </a:rPr>
              <a:t>)=</a:t>
            </a:r>
            <a:r>
              <a:rPr sz="3000" spc="142" baseline="-34722" dirty="0">
                <a:latin typeface="Times New Roman"/>
                <a:cs typeface="Times New Roman"/>
              </a:rPr>
              <a:t>lim</a:t>
            </a:r>
            <a:r>
              <a:rPr sz="3000" spc="157" baseline="-34722" dirty="0">
                <a:latin typeface="Times New Roman"/>
                <a:cs typeface="Times New Roman"/>
              </a:rPr>
              <a:t> </a:t>
            </a:r>
            <a:r>
              <a:rPr sz="2000" i="1" u="sng" spc="-2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 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</a:t>
            </a:r>
            <a:r>
              <a:rPr sz="2000" u="sng" spc="-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+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000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)−</a:t>
            </a:r>
            <a:r>
              <a:rPr sz="2000" i="1" u="sng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2000" i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(</a:t>
            </a:r>
            <a:r>
              <a:rPr sz="2000" u="sng" spc="-229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000" i="1" u="sng" spc="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sng" spc="1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−</a:t>
            </a:r>
            <a:r>
              <a:rPr sz="2000" i="1" u="sng" spc="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</a:t>
            </a:r>
            <a:r>
              <a:rPr sz="2000" u="sng" spc="1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6289" y="4083410"/>
            <a:ext cx="3314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dirty="0">
                <a:latin typeface="Times New Roman"/>
                <a:cs typeface="Times New Roman"/>
              </a:rPr>
              <a:t>h</a:t>
            </a:r>
            <a:r>
              <a:rPr sz="1200" i="1" spc="-1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Cambria"/>
                <a:cs typeface="Cambria"/>
              </a:rPr>
              <a:t>→</a:t>
            </a:r>
            <a:r>
              <a:rPr sz="1200" spc="-25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47389" y="3961489"/>
            <a:ext cx="3155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23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880" y="726799"/>
            <a:ext cx="5724525" cy="263271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000" dirty="0">
                <a:latin typeface="Microsoft Sans Serif"/>
                <a:cs typeface="Microsoft Sans Serif"/>
              </a:rPr>
              <a:t>Calculate 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first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derivative of cos(x)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x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π/3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for</a:t>
            </a:r>
            <a:endParaRPr sz="20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1019"/>
              </a:spcBef>
              <a:buAutoNum type="alphaLcParenR"/>
              <a:tabLst>
                <a:tab pos="309880" algn="l"/>
              </a:tabLst>
            </a:pPr>
            <a:r>
              <a:rPr sz="2000" dirty="0">
                <a:latin typeface="Microsoft Sans Serif"/>
                <a:cs typeface="Microsoft Sans Serif"/>
              </a:rPr>
              <a:t>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0.1</a:t>
            </a:r>
            <a:endParaRPr sz="20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1019"/>
              </a:spcBef>
              <a:buAutoNum type="alphaLcParenR"/>
              <a:tabLst>
                <a:tab pos="309880" algn="l"/>
              </a:tabLst>
            </a:pPr>
            <a:r>
              <a:rPr sz="2000" dirty="0">
                <a:latin typeface="Microsoft Sans Serif"/>
                <a:cs typeface="Microsoft Sans Serif"/>
              </a:rPr>
              <a:t>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0.01</a:t>
            </a:r>
            <a:endParaRPr sz="20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1019"/>
              </a:spcBef>
              <a:buAutoNum type="alphaLcParenR"/>
              <a:tabLst>
                <a:tab pos="295275" algn="l"/>
              </a:tabLst>
            </a:pPr>
            <a:r>
              <a:rPr sz="2000" dirty="0">
                <a:latin typeface="Microsoft Sans Serif"/>
                <a:cs typeface="Microsoft Sans Serif"/>
              </a:rPr>
              <a:t>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0.001</a:t>
            </a:r>
            <a:endParaRPr sz="2000">
              <a:latin typeface="Microsoft Sans Serif"/>
              <a:cs typeface="Microsoft Sans Serif"/>
            </a:endParaRPr>
          </a:p>
          <a:p>
            <a:pPr marL="309880" indent="-297180">
              <a:lnSpc>
                <a:spcPct val="100000"/>
              </a:lnSpc>
              <a:spcBef>
                <a:spcPts val="1019"/>
              </a:spcBef>
              <a:buAutoNum type="alphaLcParenR"/>
              <a:tabLst>
                <a:tab pos="309880" algn="l"/>
              </a:tabLst>
            </a:pPr>
            <a:r>
              <a:rPr sz="2000" dirty="0">
                <a:latin typeface="Microsoft Sans Serif"/>
                <a:cs typeface="Microsoft Sans Serif"/>
              </a:rPr>
              <a:t>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0.0001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000" dirty="0">
                <a:latin typeface="Microsoft Sans Serif"/>
                <a:cs typeface="Microsoft Sans Serif"/>
              </a:rPr>
              <a:t>Also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calculate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error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each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case.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Numerical</a:t>
            </a:r>
            <a:r>
              <a:rPr spc="-204" dirty="0"/>
              <a:t> </a:t>
            </a:r>
            <a:r>
              <a:rPr spc="-10" dirty="0"/>
              <a:t>differentiation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90039" y="3442060"/>
          <a:ext cx="7705088" cy="2117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3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882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h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3822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forward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175260">
                        <a:lnSpc>
                          <a:spcPts val="2010"/>
                        </a:lnSpc>
                        <a:spcBef>
                          <a:spcPts val="39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Error forward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953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backward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08585">
                        <a:lnSpc>
                          <a:spcPts val="2010"/>
                        </a:lnSpc>
                        <a:spcBef>
                          <a:spcPts val="39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Error backward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953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central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207645" marR="322580">
                        <a:lnSpc>
                          <a:spcPts val="2010"/>
                        </a:lnSpc>
                        <a:spcBef>
                          <a:spcPts val="39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Error central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9530" marB="0"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85">
                <a:tc gridSpan="7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0.1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 gridSpan="7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0.01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 gridSpan="7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0.001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 gridSpan="7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spc="-10" dirty="0">
                          <a:latin typeface="Microsoft Sans Serif"/>
                          <a:cs typeface="Microsoft Sans Serif"/>
                        </a:rPr>
                        <a:t>0.0001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3089" y="537569"/>
            <a:ext cx="5577205" cy="311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ts val="2085"/>
              </a:lnSpc>
              <a:spcBef>
                <a:spcPts val="100"/>
              </a:spcBef>
              <a:tabLst>
                <a:tab pos="2238375" algn="l"/>
              </a:tabLst>
            </a:pPr>
            <a:r>
              <a:rPr sz="1800" dirty="0">
                <a:latin typeface="Microsoft Sans Serif"/>
                <a:cs typeface="Microsoft Sans Serif"/>
              </a:rPr>
              <a:t>(cos(x+h)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-cos(x))/h,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x=pi/3</a:t>
            </a:r>
            <a:endParaRPr sz="1800">
              <a:latin typeface="Microsoft Sans Serif"/>
              <a:cs typeface="Microsoft Sans Serif"/>
            </a:endParaRPr>
          </a:p>
          <a:p>
            <a:pPr marL="63500">
              <a:lnSpc>
                <a:spcPts val="2085"/>
              </a:lnSpc>
            </a:pPr>
            <a:r>
              <a:rPr sz="1800" dirty="0">
                <a:latin typeface="Microsoft Sans Serif"/>
                <a:cs typeface="Microsoft Sans Serif"/>
              </a:rPr>
              <a:t>a) </a:t>
            </a:r>
            <a:r>
              <a:rPr sz="1800" spc="-25" dirty="0">
                <a:latin typeface="Microsoft Sans Serif"/>
                <a:cs typeface="Microsoft Sans Serif"/>
              </a:rPr>
              <a:t>0.1</a:t>
            </a:r>
            <a:endParaRPr sz="18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1870"/>
              </a:spcBef>
            </a:pPr>
            <a:r>
              <a:rPr sz="1800" spc="-10" dirty="0">
                <a:latin typeface="Microsoft Sans Serif"/>
                <a:cs typeface="Microsoft Sans Serif"/>
              </a:rPr>
              <a:t>f’_first_principle </a:t>
            </a:r>
            <a:r>
              <a:rPr sz="1800" dirty="0">
                <a:latin typeface="Microsoft Sans Serif"/>
                <a:cs typeface="Microsoft Sans Serif"/>
              </a:rPr>
              <a:t>(x=pi/3)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 (cos(pi/3+0.1)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470" dirty="0">
                <a:latin typeface="Microsoft Sans Serif"/>
                <a:cs typeface="Microsoft Sans Serif"/>
              </a:rPr>
              <a:t>–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cos(pi))/0.1</a:t>
            </a:r>
            <a:endParaRPr sz="1800">
              <a:latin typeface="Microsoft Sans Serif"/>
              <a:cs typeface="Microsoft Sans Serif"/>
            </a:endParaRPr>
          </a:p>
          <a:p>
            <a:pPr marL="63500">
              <a:lnSpc>
                <a:spcPct val="100000"/>
              </a:lnSpc>
              <a:spcBef>
                <a:spcPts val="1880"/>
              </a:spcBef>
            </a:pPr>
            <a:r>
              <a:rPr sz="1800" spc="-10" dirty="0">
                <a:latin typeface="Microsoft Sans Serif"/>
                <a:cs typeface="Microsoft Sans Serif"/>
              </a:rPr>
              <a:t>-0.88956192323</a:t>
            </a:r>
            <a:endParaRPr sz="1800">
              <a:latin typeface="Microsoft Sans Serif"/>
              <a:cs typeface="Microsoft Sans Serif"/>
            </a:endParaRPr>
          </a:p>
          <a:p>
            <a:pPr marL="63500" marR="542925">
              <a:lnSpc>
                <a:spcPct val="186600"/>
              </a:lnSpc>
            </a:pPr>
            <a:r>
              <a:rPr sz="1800" dirty="0">
                <a:latin typeface="Microsoft Sans Serif"/>
                <a:cs typeface="Microsoft Sans Serif"/>
              </a:rPr>
              <a:t>f’_direct(pi)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0" dirty="0">
                <a:latin typeface="Microsoft Sans Serif"/>
                <a:cs typeface="Microsoft Sans Serif"/>
              </a:rPr>
              <a:t> -</a:t>
            </a:r>
            <a:r>
              <a:rPr sz="1800" dirty="0">
                <a:latin typeface="Microsoft Sans Serif"/>
                <a:cs typeface="Microsoft Sans Serif"/>
              </a:rPr>
              <a:t>sin(pi/3)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</a:t>
            </a:r>
            <a:r>
              <a:rPr sz="1575" baseline="31746" dirty="0">
                <a:latin typeface="Microsoft Sans Serif"/>
                <a:cs typeface="Microsoft Sans Serif"/>
              </a:rPr>
              <a:t>0.5</a:t>
            </a:r>
            <a:r>
              <a:rPr sz="1800" dirty="0">
                <a:latin typeface="Microsoft Sans Serif"/>
                <a:cs typeface="Microsoft Sans Serif"/>
              </a:rPr>
              <a:t>/2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-0.86602540378 </a:t>
            </a:r>
            <a:r>
              <a:rPr sz="1800" dirty="0">
                <a:latin typeface="Microsoft Sans Serif"/>
                <a:cs typeface="Microsoft Sans Serif"/>
              </a:rPr>
              <a:t>Error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f’_direct(x=pi/3)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-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f’_first_principle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(x=pi/3)</a:t>
            </a:r>
            <a:endParaRPr sz="1800">
              <a:latin typeface="Microsoft Sans Serif"/>
              <a:cs typeface="Microsoft Sans Serif"/>
            </a:endParaRPr>
          </a:p>
          <a:p>
            <a:pPr marL="638810">
              <a:lnSpc>
                <a:spcPts val="1939"/>
              </a:lnSpc>
            </a:pP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0" dirty="0">
                <a:latin typeface="Microsoft Sans Serif"/>
                <a:cs typeface="Microsoft Sans Serif"/>
              </a:rPr>
              <a:t> -</a:t>
            </a:r>
            <a:r>
              <a:rPr sz="1800" dirty="0">
                <a:latin typeface="Microsoft Sans Serif"/>
                <a:cs typeface="Microsoft Sans Serif"/>
              </a:rPr>
              <a:t>0.86602540378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+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0.88956192323</a:t>
            </a:r>
            <a:endParaRPr sz="1800">
              <a:latin typeface="Microsoft Sans Serif"/>
              <a:cs typeface="Microsoft Sans Serif"/>
            </a:endParaRPr>
          </a:p>
          <a:p>
            <a:pPr marL="638810">
              <a:lnSpc>
                <a:spcPts val="2090"/>
              </a:lnSpc>
            </a:pP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-0.02353651945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036" y="1091289"/>
            <a:ext cx="3623147" cy="9279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Numerical</a:t>
            </a:r>
            <a:r>
              <a:rPr spc="-204" dirty="0"/>
              <a:t> </a:t>
            </a:r>
            <a:r>
              <a:rPr spc="-10" dirty="0"/>
              <a:t>integration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38090" y="1166219"/>
            <a:ext cx="1100455" cy="1181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indent="-297180">
              <a:lnSpc>
                <a:spcPts val="2320"/>
              </a:lnSpc>
              <a:spcBef>
                <a:spcPts val="100"/>
              </a:spcBef>
              <a:buAutoNum type="alphaLcParenR"/>
              <a:tabLst>
                <a:tab pos="309880" algn="l"/>
              </a:tabLst>
            </a:pPr>
            <a:r>
              <a:rPr sz="2000" spc="-25" dirty="0">
                <a:latin typeface="Microsoft Sans Serif"/>
                <a:cs typeface="Microsoft Sans Serif"/>
              </a:rPr>
              <a:t>0.1</a:t>
            </a:r>
            <a:endParaRPr sz="2000">
              <a:latin typeface="Microsoft Sans Serif"/>
              <a:cs typeface="Microsoft Sans Serif"/>
            </a:endParaRPr>
          </a:p>
          <a:p>
            <a:pPr marL="309880" indent="-297180">
              <a:lnSpc>
                <a:spcPts val="2235"/>
              </a:lnSpc>
              <a:buAutoNum type="alphaLcParenR"/>
              <a:tabLst>
                <a:tab pos="309880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0.01</a:t>
            </a:r>
            <a:endParaRPr sz="2000">
              <a:latin typeface="Microsoft Sans Serif"/>
              <a:cs typeface="Microsoft Sans Serif"/>
            </a:endParaRPr>
          </a:p>
          <a:p>
            <a:pPr marL="295275" indent="-282575">
              <a:lnSpc>
                <a:spcPts val="2230"/>
              </a:lnSpc>
              <a:buAutoNum type="alphaLcParenR"/>
              <a:tabLst>
                <a:tab pos="295275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0.001</a:t>
            </a:r>
            <a:endParaRPr sz="2000">
              <a:latin typeface="Microsoft Sans Serif"/>
              <a:cs typeface="Microsoft Sans Serif"/>
            </a:endParaRPr>
          </a:p>
          <a:p>
            <a:pPr marL="309880" indent="-297180">
              <a:lnSpc>
                <a:spcPts val="2315"/>
              </a:lnSpc>
              <a:buAutoNum type="alphaLcParenR"/>
              <a:tabLst>
                <a:tab pos="309880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0.0001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8090" y="2583539"/>
            <a:ext cx="37744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Also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calculate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error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each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case.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1590" y="120812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1590" y="645520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12690" y="698859"/>
            <a:ext cx="455168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latin typeface="Microsoft Sans Serif"/>
                <a:cs typeface="Microsoft Sans Serif"/>
              </a:rPr>
              <a:t>Integrate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4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following</a:t>
            </a:r>
            <a:r>
              <a:rPr sz="2000" spc="-114" dirty="0">
                <a:latin typeface="Microsoft Sans Serif"/>
                <a:cs typeface="Microsoft Sans Serif"/>
              </a:rPr>
              <a:t> </a:t>
            </a:r>
            <a:r>
              <a:rPr sz="4425" spc="262" baseline="-10357" dirty="0">
                <a:latin typeface="Cambria"/>
                <a:cs typeface="Cambria"/>
              </a:rPr>
              <a:t>∫</a:t>
            </a:r>
            <a:r>
              <a:rPr sz="3000" spc="262" baseline="-8333" dirty="0">
                <a:latin typeface="Times New Roman"/>
                <a:cs typeface="Times New Roman"/>
              </a:rPr>
              <a:t>cos</a:t>
            </a:r>
            <a:r>
              <a:rPr sz="3000" spc="-419" baseline="-8333" dirty="0">
                <a:latin typeface="Times New Roman"/>
                <a:cs typeface="Times New Roman"/>
              </a:rPr>
              <a:t> </a:t>
            </a:r>
            <a:r>
              <a:rPr sz="3000" spc="-127" baseline="-8333" dirty="0">
                <a:latin typeface="Cambria"/>
                <a:cs typeface="Cambria"/>
              </a:rPr>
              <a:t>(</a:t>
            </a:r>
            <a:r>
              <a:rPr sz="3000" spc="-345" baseline="-8333" dirty="0">
                <a:latin typeface="Cambria"/>
                <a:cs typeface="Cambria"/>
              </a:rPr>
              <a:t> </a:t>
            </a:r>
            <a:r>
              <a:rPr sz="3000" i="1" baseline="-8333" dirty="0">
                <a:latin typeface="Times New Roman"/>
                <a:cs typeface="Times New Roman"/>
              </a:rPr>
              <a:t>x</a:t>
            </a:r>
            <a:r>
              <a:rPr sz="3000" baseline="-8333" dirty="0">
                <a:latin typeface="Cambria"/>
                <a:cs typeface="Cambria"/>
              </a:rPr>
              <a:t>)</a:t>
            </a:r>
            <a:r>
              <a:rPr sz="3000" spc="-345" baseline="-8333" dirty="0">
                <a:latin typeface="Cambria"/>
                <a:cs typeface="Cambria"/>
              </a:rPr>
              <a:t> </a:t>
            </a:r>
            <a:r>
              <a:rPr sz="3000" i="1" baseline="-8333" dirty="0">
                <a:latin typeface="Times New Roman"/>
                <a:cs typeface="Times New Roman"/>
              </a:rPr>
              <a:t>dx</a:t>
            </a:r>
            <a:r>
              <a:rPr sz="3000" i="1" spc="15" baseline="-8333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4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w</a:t>
            </a:r>
            <a:r>
              <a:rPr sz="1725" spc="-37" baseline="-31400" dirty="0">
                <a:latin typeface="Microsoft Sans Serif"/>
                <a:cs typeface="Microsoft Sans Serif"/>
              </a:rPr>
              <a:t>i</a:t>
            </a:r>
            <a:endParaRPr sz="1725" baseline="-3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3569" y="347507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569" y="291373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42820" y="3456029"/>
            <a:ext cx="27432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90" dirty="0">
                <a:latin typeface="Times New Roman"/>
                <a:cs typeface="Times New Roman"/>
              </a:rPr>
              <a:t>i</a:t>
            </a:r>
            <a:r>
              <a:rPr sz="1200" spc="90" dirty="0">
                <a:latin typeface="Cambria"/>
                <a:cs typeface="Cambria"/>
              </a:rPr>
              <a:t>=</a:t>
            </a:r>
            <a:r>
              <a:rPr sz="1200" spc="9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9810" y="2932789"/>
            <a:ext cx="18034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25" dirty="0"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0859" y="3005179"/>
            <a:ext cx="897509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spc="262" baseline="-4708" dirty="0">
                <a:latin typeface="Cambria"/>
                <a:cs typeface="Cambria"/>
              </a:rPr>
              <a:t>∫</a:t>
            </a:r>
            <a:r>
              <a:rPr sz="2000" spc="175" dirty="0">
                <a:latin typeface="Times New Roman"/>
                <a:cs typeface="Times New Roman"/>
              </a:rPr>
              <a:t>cos</a:t>
            </a:r>
            <a:r>
              <a:rPr sz="2000" spc="-250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00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-204" dirty="0">
                <a:latin typeface="Cambria"/>
                <a:cs typeface="Cambria"/>
              </a:rPr>
              <a:t> </a:t>
            </a:r>
            <a:r>
              <a:rPr sz="2000" i="1" spc="185" dirty="0">
                <a:latin typeface="Times New Roman"/>
                <a:cs typeface="Times New Roman"/>
              </a:rPr>
              <a:t>dx</a:t>
            </a:r>
            <a:r>
              <a:rPr sz="2000" spc="185" dirty="0">
                <a:latin typeface="Cambria"/>
                <a:cs typeface="Cambria"/>
              </a:rPr>
              <a:t>=</a:t>
            </a:r>
            <a:r>
              <a:rPr sz="2000" i="1" spc="185" dirty="0">
                <a:latin typeface="Times New Roman"/>
                <a:cs typeface="Times New Roman"/>
              </a:rPr>
              <a:t>w</a:t>
            </a:r>
            <a:r>
              <a:rPr sz="2000" i="1" spc="-250" dirty="0">
                <a:latin typeface="Times New Roman"/>
                <a:cs typeface="Times New Roman"/>
              </a:rPr>
              <a:t> </a:t>
            </a:r>
            <a:r>
              <a:rPr sz="4425" spc="375" baseline="-4708" dirty="0">
                <a:latin typeface="Cambria"/>
                <a:cs typeface="Cambria"/>
              </a:rPr>
              <a:t>∑</a:t>
            </a:r>
            <a:r>
              <a:rPr sz="4425" spc="-240" baseline="-4708" dirty="0">
                <a:latin typeface="Cambria"/>
                <a:cs typeface="Cambria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spc="-12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-254" baseline="-20833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Cambria"/>
                <a:cs typeface="Cambria"/>
              </a:rPr>
              <a:t>)=</a:t>
            </a:r>
            <a:r>
              <a:rPr sz="2000" i="1" spc="110" dirty="0">
                <a:latin typeface="Times New Roman"/>
                <a:cs typeface="Times New Roman"/>
              </a:rPr>
              <a:t>w</a:t>
            </a:r>
            <a:r>
              <a:rPr sz="2000" spc="110" dirty="0">
                <a:latin typeface="Cambria"/>
                <a:cs typeface="Cambria"/>
              </a:rPr>
              <a:t>∗(</a:t>
            </a:r>
            <a:r>
              <a:rPr sz="2000" spc="110" dirty="0">
                <a:latin typeface="Times New Roman"/>
                <a:cs typeface="Times New Roman"/>
              </a:rPr>
              <a:t>cos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Cambria"/>
                <a:cs typeface="Cambria"/>
              </a:rPr>
              <a:t>(</a:t>
            </a:r>
            <a:r>
              <a:rPr sz="2000" spc="55" dirty="0">
                <a:latin typeface="Times New Roman"/>
                <a:cs typeface="Times New Roman"/>
              </a:rPr>
              <a:t>0</a:t>
            </a:r>
            <a:r>
              <a:rPr sz="2000" spc="55" dirty="0">
                <a:latin typeface="Cambria"/>
                <a:cs typeface="Cambria"/>
              </a:rPr>
              <a:t>)+</a:t>
            </a:r>
            <a:r>
              <a:rPr sz="2000" spc="55" dirty="0">
                <a:latin typeface="Times New Roman"/>
                <a:cs typeface="Times New Roman"/>
              </a:rPr>
              <a:t>cos</a:t>
            </a:r>
            <a:r>
              <a:rPr sz="2000" spc="55" dirty="0">
                <a:latin typeface="Cambria"/>
                <a:cs typeface="Cambria"/>
              </a:rPr>
              <a:t>(</a:t>
            </a:r>
            <a:r>
              <a:rPr sz="2000" spc="55" dirty="0">
                <a:latin typeface="Times New Roman"/>
                <a:cs typeface="Times New Roman"/>
              </a:rPr>
              <a:t>0.1</a:t>
            </a:r>
            <a:r>
              <a:rPr sz="2000" spc="55" dirty="0">
                <a:latin typeface="Cambria"/>
                <a:cs typeface="Cambria"/>
              </a:rPr>
              <a:t>)+</a:t>
            </a:r>
            <a:r>
              <a:rPr sz="2000" spc="55" dirty="0">
                <a:latin typeface="Times New Roman"/>
                <a:cs typeface="Times New Roman"/>
              </a:rPr>
              <a:t>cos</a:t>
            </a:r>
            <a:r>
              <a:rPr sz="2000" spc="55" dirty="0">
                <a:latin typeface="Cambria"/>
                <a:cs typeface="Cambria"/>
              </a:rPr>
              <a:t>(</a:t>
            </a:r>
            <a:r>
              <a:rPr sz="2000" spc="55" dirty="0">
                <a:latin typeface="Times New Roman"/>
                <a:cs typeface="Times New Roman"/>
              </a:rPr>
              <a:t>0.2</a:t>
            </a:r>
            <a:r>
              <a:rPr sz="2000" spc="55" dirty="0">
                <a:latin typeface="Cambria"/>
                <a:cs typeface="Cambria"/>
              </a:rPr>
              <a:t>)+</a:t>
            </a:r>
            <a:r>
              <a:rPr sz="2000" spc="55" dirty="0">
                <a:latin typeface="Times New Roman"/>
                <a:cs typeface="Times New Roman"/>
              </a:rPr>
              <a:t>cos</a:t>
            </a:r>
            <a:r>
              <a:rPr sz="2000" spc="55" dirty="0">
                <a:latin typeface="Cambria"/>
                <a:cs typeface="Cambria"/>
              </a:rPr>
              <a:t>(</a:t>
            </a:r>
            <a:r>
              <a:rPr sz="2000" spc="55" dirty="0">
                <a:latin typeface="Times New Roman"/>
                <a:cs typeface="Times New Roman"/>
              </a:rPr>
              <a:t>0.3</a:t>
            </a:r>
            <a:r>
              <a:rPr sz="2000" spc="55" dirty="0">
                <a:latin typeface="Cambria"/>
                <a:cs typeface="Cambria"/>
              </a:rPr>
              <a:t>)+</a:t>
            </a:r>
            <a:r>
              <a:rPr sz="2000" spc="55" dirty="0">
                <a:latin typeface="Times New Roman"/>
                <a:cs typeface="Times New Roman"/>
              </a:rPr>
              <a:t>....</a:t>
            </a:r>
            <a:r>
              <a:rPr sz="2000" spc="55" dirty="0">
                <a:latin typeface="Cambria"/>
                <a:cs typeface="Cambria"/>
              </a:rPr>
              <a:t>+</a:t>
            </a:r>
            <a:r>
              <a:rPr sz="2000" spc="55" dirty="0">
                <a:latin typeface="Times New Roman"/>
                <a:cs typeface="Times New Roman"/>
              </a:rPr>
              <a:t>cos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0.9</a:t>
            </a:r>
            <a:r>
              <a:rPr sz="2000" spc="-10" dirty="0">
                <a:latin typeface="Cambria"/>
                <a:cs typeface="Cambria"/>
              </a:rPr>
              <a:t>))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3569" y="441233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3569" y="384972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42820" y="4393289"/>
            <a:ext cx="27432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90" dirty="0">
                <a:latin typeface="Times New Roman"/>
                <a:cs typeface="Times New Roman"/>
              </a:rPr>
              <a:t>i</a:t>
            </a:r>
            <a:r>
              <a:rPr sz="1200" spc="90" dirty="0">
                <a:latin typeface="Cambria"/>
                <a:cs typeface="Cambria"/>
              </a:rPr>
              <a:t>=</a:t>
            </a:r>
            <a:r>
              <a:rPr sz="1200" spc="9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9810" y="3868779"/>
            <a:ext cx="18034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25" dirty="0"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0859" y="3942439"/>
            <a:ext cx="809879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spc="254" baseline="-3766" dirty="0">
                <a:latin typeface="Cambria"/>
                <a:cs typeface="Cambria"/>
              </a:rPr>
              <a:t>∫</a:t>
            </a:r>
            <a:r>
              <a:rPr sz="2000" spc="170" dirty="0">
                <a:latin typeface="Times New Roman"/>
                <a:cs typeface="Times New Roman"/>
              </a:rPr>
              <a:t>cos</a:t>
            </a:r>
            <a:r>
              <a:rPr sz="2000" spc="170" dirty="0">
                <a:latin typeface="Cambria"/>
                <a:cs typeface="Cambria"/>
              </a:rPr>
              <a:t>(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i="1" spc="185" dirty="0">
                <a:latin typeface="Times New Roman"/>
                <a:cs typeface="Times New Roman"/>
              </a:rPr>
              <a:t>dx</a:t>
            </a:r>
            <a:r>
              <a:rPr sz="2000" spc="185" dirty="0">
                <a:latin typeface="Cambria"/>
                <a:cs typeface="Cambria"/>
              </a:rPr>
              <a:t>=</a:t>
            </a:r>
            <a:r>
              <a:rPr sz="2000" i="1" spc="185" dirty="0">
                <a:latin typeface="Times New Roman"/>
                <a:cs typeface="Times New Roman"/>
              </a:rPr>
              <a:t>w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4425" spc="375" baseline="-3766" dirty="0">
                <a:latin typeface="Cambria"/>
                <a:cs typeface="Cambria"/>
              </a:rPr>
              <a:t>∑</a:t>
            </a:r>
            <a:r>
              <a:rPr sz="4425" spc="112" baseline="-3766" dirty="0">
                <a:latin typeface="Cambria"/>
                <a:cs typeface="Cambria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spc="3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-157" baseline="-20833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Cambria"/>
                <a:cs typeface="Cambria"/>
              </a:rPr>
              <a:t>)=</a:t>
            </a:r>
            <a:r>
              <a:rPr sz="2000" i="1" spc="110" dirty="0">
                <a:latin typeface="Times New Roman"/>
                <a:cs typeface="Times New Roman"/>
              </a:rPr>
              <a:t>w</a:t>
            </a:r>
            <a:r>
              <a:rPr sz="2000" spc="110" dirty="0">
                <a:latin typeface="Cambria"/>
                <a:cs typeface="Cambria"/>
              </a:rPr>
              <a:t>∗(</a:t>
            </a:r>
            <a:r>
              <a:rPr sz="2000" spc="110" dirty="0">
                <a:latin typeface="Times New Roman"/>
                <a:cs typeface="Times New Roman"/>
              </a:rPr>
              <a:t>cos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dirty="0">
                <a:latin typeface="Times New Roman"/>
                <a:cs typeface="Times New Roman"/>
              </a:rPr>
              <a:t>0.1</a:t>
            </a:r>
            <a:r>
              <a:rPr sz="2000" dirty="0">
                <a:latin typeface="Cambria"/>
                <a:cs typeface="Cambria"/>
              </a:rPr>
              <a:t>)+</a:t>
            </a:r>
            <a:r>
              <a:rPr sz="2000" dirty="0">
                <a:latin typeface="Times New Roman"/>
                <a:cs typeface="Times New Roman"/>
              </a:rPr>
              <a:t>cos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dirty="0">
                <a:latin typeface="Times New Roman"/>
                <a:cs typeface="Times New Roman"/>
              </a:rPr>
              <a:t>0.2</a:t>
            </a:r>
            <a:r>
              <a:rPr sz="2000" dirty="0">
                <a:latin typeface="Cambria"/>
                <a:cs typeface="Cambria"/>
              </a:rPr>
              <a:t>)+</a:t>
            </a:r>
            <a:r>
              <a:rPr sz="2000" dirty="0">
                <a:latin typeface="Times New Roman"/>
                <a:cs typeface="Times New Roman"/>
              </a:rPr>
              <a:t>cos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0.3</a:t>
            </a:r>
            <a:r>
              <a:rPr sz="2000" spc="-10" dirty="0">
                <a:latin typeface="Cambria"/>
                <a:cs typeface="Cambria"/>
              </a:rPr>
              <a:t>)+</a:t>
            </a:r>
            <a:r>
              <a:rPr sz="2000" spc="-10" dirty="0">
                <a:latin typeface="Times New Roman"/>
                <a:cs typeface="Times New Roman"/>
              </a:rPr>
              <a:t>....</a:t>
            </a:r>
            <a:r>
              <a:rPr sz="2000" spc="-10" dirty="0">
                <a:latin typeface="Cambria"/>
                <a:cs typeface="Cambria"/>
              </a:rPr>
              <a:t>+</a:t>
            </a:r>
            <a:r>
              <a:rPr sz="2000" spc="-10" dirty="0">
                <a:latin typeface="Times New Roman"/>
                <a:cs typeface="Times New Roman"/>
              </a:rPr>
              <a:t>cos</a:t>
            </a:r>
            <a:r>
              <a:rPr sz="2000" spc="-10" dirty="0">
                <a:latin typeface="Cambria"/>
                <a:cs typeface="Cambria"/>
              </a:rPr>
              <a:t>(</a:t>
            </a:r>
            <a:r>
              <a:rPr sz="2000" spc="-10" dirty="0">
                <a:latin typeface="Times New Roman"/>
                <a:cs typeface="Times New Roman"/>
              </a:rPr>
              <a:t>1.0</a:t>
            </a:r>
            <a:r>
              <a:rPr sz="2000" spc="-10" dirty="0">
                <a:latin typeface="Cambria"/>
                <a:cs typeface="Cambria"/>
              </a:rPr>
              <a:t>))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400" y="5312769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60400" y="4750160"/>
            <a:ext cx="10287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5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79650" y="5293719"/>
            <a:ext cx="27305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i="1" spc="85" dirty="0">
                <a:latin typeface="Times New Roman"/>
                <a:cs typeface="Times New Roman"/>
              </a:rPr>
              <a:t>i</a:t>
            </a:r>
            <a:r>
              <a:rPr sz="1200" spc="85" dirty="0">
                <a:latin typeface="Cambria"/>
                <a:cs typeface="Cambria"/>
              </a:rPr>
              <a:t>=</a:t>
            </a:r>
            <a:r>
              <a:rPr sz="1200" spc="85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26639" y="4769210"/>
            <a:ext cx="18034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25" dirty="0">
                <a:latin typeface="Times New Roman"/>
                <a:cs typeface="Times New Roman"/>
              </a:rPr>
              <a:t>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7690" y="4842869"/>
            <a:ext cx="843470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spc="262" baseline="-3766" dirty="0">
                <a:latin typeface="Cambria"/>
                <a:cs typeface="Cambria"/>
              </a:rPr>
              <a:t>∫</a:t>
            </a:r>
            <a:r>
              <a:rPr sz="2000" spc="175" dirty="0">
                <a:latin typeface="Times New Roman"/>
                <a:cs typeface="Times New Roman"/>
              </a:rPr>
              <a:t>cos</a:t>
            </a:r>
            <a:r>
              <a:rPr sz="2000" spc="-22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19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Cambria"/>
                <a:cs typeface="Cambria"/>
              </a:rPr>
              <a:t>)</a:t>
            </a:r>
            <a:r>
              <a:rPr sz="2000" spc="-180" dirty="0">
                <a:latin typeface="Cambria"/>
                <a:cs typeface="Cambria"/>
              </a:rPr>
              <a:t> </a:t>
            </a:r>
            <a:r>
              <a:rPr sz="2000" i="1" spc="185" dirty="0">
                <a:latin typeface="Times New Roman"/>
                <a:cs typeface="Times New Roman"/>
              </a:rPr>
              <a:t>dx</a:t>
            </a:r>
            <a:r>
              <a:rPr sz="2000" spc="185" dirty="0">
                <a:latin typeface="Cambria"/>
                <a:cs typeface="Cambria"/>
              </a:rPr>
              <a:t>=</a:t>
            </a:r>
            <a:r>
              <a:rPr sz="2000" i="1" spc="185" dirty="0">
                <a:latin typeface="Times New Roman"/>
                <a:cs typeface="Times New Roman"/>
              </a:rPr>
              <a:t>w</a:t>
            </a:r>
            <a:r>
              <a:rPr sz="2000" i="1" spc="-229" dirty="0">
                <a:latin typeface="Times New Roman"/>
                <a:cs typeface="Times New Roman"/>
              </a:rPr>
              <a:t> </a:t>
            </a:r>
            <a:r>
              <a:rPr sz="4425" spc="375" baseline="-3766" dirty="0">
                <a:latin typeface="Cambria"/>
                <a:cs typeface="Cambria"/>
              </a:rPr>
              <a:t>∑</a:t>
            </a:r>
            <a:r>
              <a:rPr sz="4425" spc="-165" baseline="-3766" dirty="0">
                <a:latin typeface="Cambria"/>
                <a:cs typeface="Cambria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1800" i="1" baseline="-20833" dirty="0">
                <a:latin typeface="Times New Roman"/>
                <a:cs typeface="Times New Roman"/>
              </a:rPr>
              <a:t>i</a:t>
            </a:r>
            <a:r>
              <a:rPr sz="1800" i="1" spc="-240" baseline="-20833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Cambria"/>
                <a:cs typeface="Cambria"/>
              </a:rPr>
              <a:t>)=</a:t>
            </a:r>
            <a:r>
              <a:rPr sz="2000" i="1" spc="110" dirty="0">
                <a:latin typeface="Times New Roman"/>
                <a:cs typeface="Times New Roman"/>
              </a:rPr>
              <a:t>w</a:t>
            </a:r>
            <a:r>
              <a:rPr sz="2000" spc="110" dirty="0">
                <a:latin typeface="Cambria"/>
                <a:cs typeface="Cambria"/>
              </a:rPr>
              <a:t>∗(</a:t>
            </a:r>
            <a:r>
              <a:rPr sz="2000" spc="110" dirty="0">
                <a:latin typeface="Times New Roman"/>
                <a:cs typeface="Times New Roman"/>
              </a:rPr>
              <a:t>cos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Cambria"/>
                <a:cs typeface="Cambria"/>
              </a:rPr>
              <a:t>)+</a:t>
            </a:r>
            <a:r>
              <a:rPr sz="2000" dirty="0">
                <a:latin typeface="Times New Roman"/>
                <a:cs typeface="Times New Roman"/>
              </a:rPr>
              <a:t>cos</a:t>
            </a:r>
            <a:r>
              <a:rPr sz="2000" dirty="0">
                <a:latin typeface="Cambria"/>
                <a:cs typeface="Cambria"/>
              </a:rPr>
              <a:t>(</a:t>
            </a:r>
            <a:r>
              <a:rPr sz="2000" dirty="0">
                <a:latin typeface="Times New Roman"/>
                <a:cs typeface="Times New Roman"/>
              </a:rPr>
              <a:t>0.1</a:t>
            </a:r>
            <a:r>
              <a:rPr sz="2000" dirty="0">
                <a:latin typeface="Cambria"/>
                <a:cs typeface="Cambria"/>
              </a:rPr>
              <a:t>))/</a:t>
            </a:r>
            <a:r>
              <a:rPr sz="2000" spc="-195" dirty="0">
                <a:latin typeface="Cambria"/>
                <a:cs typeface="Cambria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2</a:t>
            </a:r>
            <a:r>
              <a:rPr sz="2000" spc="45" dirty="0">
                <a:latin typeface="Cambria"/>
                <a:cs typeface="Cambria"/>
              </a:rPr>
              <a:t>+(</a:t>
            </a:r>
            <a:r>
              <a:rPr sz="2000" spc="45" dirty="0">
                <a:latin typeface="Times New Roman"/>
                <a:cs typeface="Times New Roman"/>
              </a:rPr>
              <a:t>cos</a:t>
            </a:r>
            <a:r>
              <a:rPr sz="2000" spc="45" dirty="0">
                <a:latin typeface="Cambria"/>
                <a:cs typeface="Cambria"/>
              </a:rPr>
              <a:t>(</a:t>
            </a:r>
            <a:r>
              <a:rPr sz="2000" spc="45" dirty="0">
                <a:latin typeface="Times New Roman"/>
                <a:cs typeface="Times New Roman"/>
              </a:rPr>
              <a:t>0.1</a:t>
            </a:r>
            <a:r>
              <a:rPr sz="2000" spc="45" dirty="0">
                <a:latin typeface="Cambria"/>
                <a:cs typeface="Cambria"/>
              </a:rPr>
              <a:t>)+</a:t>
            </a:r>
            <a:r>
              <a:rPr sz="2000" spc="45" dirty="0">
                <a:latin typeface="Times New Roman"/>
                <a:cs typeface="Times New Roman"/>
              </a:rPr>
              <a:t>cos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Cambria"/>
                <a:cs typeface="Cambria"/>
              </a:rPr>
              <a:t>(</a:t>
            </a:r>
            <a:r>
              <a:rPr sz="2000" spc="-60" dirty="0">
                <a:latin typeface="Times New Roman"/>
                <a:cs typeface="Times New Roman"/>
              </a:rPr>
              <a:t>0.2</a:t>
            </a:r>
            <a:r>
              <a:rPr sz="2000" spc="-60" dirty="0">
                <a:latin typeface="Cambria"/>
                <a:cs typeface="Cambria"/>
              </a:rPr>
              <a:t>))/</a:t>
            </a:r>
            <a:r>
              <a:rPr sz="2000" spc="-210" dirty="0">
                <a:latin typeface="Cambria"/>
                <a:cs typeface="Cambria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2</a:t>
            </a:r>
            <a:r>
              <a:rPr sz="2000" spc="50" dirty="0">
                <a:latin typeface="Cambria"/>
                <a:cs typeface="Cambria"/>
              </a:rPr>
              <a:t>+</a:t>
            </a:r>
            <a:r>
              <a:rPr sz="2000" spc="50" dirty="0">
                <a:latin typeface="Times New Roman"/>
                <a:cs typeface="Times New Roman"/>
              </a:rPr>
              <a:t>..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9736" y="480419"/>
            <a:ext cx="3623147" cy="9279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5420" y="2379070"/>
            <a:ext cx="93345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i="1" spc="-5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6860" y="2360020"/>
            <a:ext cx="245745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i="1" spc="80" dirty="0">
                <a:latin typeface="Times New Roman"/>
                <a:cs typeface="Times New Roman"/>
              </a:rPr>
              <a:t>i</a:t>
            </a:r>
            <a:r>
              <a:rPr sz="1050" spc="80" dirty="0">
                <a:latin typeface="Cambria"/>
                <a:cs typeface="Cambria"/>
              </a:rPr>
              <a:t>=</a:t>
            </a:r>
            <a:r>
              <a:rPr sz="1050" spc="8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5420" y="1892659"/>
            <a:ext cx="1530985" cy="188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449705" algn="l"/>
              </a:tabLst>
            </a:pPr>
            <a:r>
              <a:rPr sz="1575" i="1" spc="-75" baseline="2645" dirty="0">
                <a:latin typeface="Times New Roman"/>
                <a:cs typeface="Times New Roman"/>
              </a:rPr>
              <a:t>b</a:t>
            </a:r>
            <a:r>
              <a:rPr sz="1575" i="1" baseline="2645" dirty="0">
                <a:latin typeface="Times New Roman"/>
                <a:cs typeface="Times New Roman"/>
              </a:rPr>
              <a:t>	</a:t>
            </a:r>
            <a:r>
              <a:rPr sz="1050" i="1" spc="-50" dirty="0">
                <a:latin typeface="Times New Roman"/>
                <a:cs typeface="Times New Roman"/>
              </a:rPr>
              <a:t>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870" y="1962509"/>
            <a:ext cx="972566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900" b="0" spc="607" baseline="-5341" dirty="0">
                <a:latin typeface="Cambria"/>
                <a:cs typeface="Cambria"/>
              </a:rPr>
              <a:t>∫</a:t>
            </a:r>
            <a:r>
              <a:rPr sz="3900" b="0" spc="-412" baseline="-5341" dirty="0">
                <a:latin typeface="Cambria"/>
                <a:cs typeface="Cambria"/>
              </a:rPr>
              <a:t> </a:t>
            </a:r>
            <a:r>
              <a:rPr sz="1800" b="0" i="1" dirty="0">
                <a:latin typeface="Times New Roman"/>
                <a:cs typeface="Times New Roman"/>
              </a:rPr>
              <a:t>f</a:t>
            </a:r>
            <a:r>
              <a:rPr sz="1800" b="0" i="1" spc="-25" dirty="0">
                <a:latin typeface="Times New Roman"/>
                <a:cs typeface="Times New Roman"/>
              </a:rPr>
              <a:t> </a:t>
            </a:r>
            <a:r>
              <a:rPr sz="1800" b="0" spc="-90" dirty="0">
                <a:latin typeface="Cambria"/>
                <a:cs typeface="Cambria"/>
              </a:rPr>
              <a:t>(</a:t>
            </a:r>
            <a:r>
              <a:rPr sz="1800" b="0" spc="-175" dirty="0">
                <a:latin typeface="Cambria"/>
                <a:cs typeface="Cambria"/>
              </a:rPr>
              <a:t> </a:t>
            </a:r>
            <a:r>
              <a:rPr sz="1800" b="0" i="1" dirty="0">
                <a:latin typeface="Times New Roman"/>
                <a:cs typeface="Times New Roman"/>
              </a:rPr>
              <a:t>x</a:t>
            </a:r>
            <a:r>
              <a:rPr sz="1800" b="0" dirty="0">
                <a:latin typeface="Cambria"/>
                <a:cs typeface="Cambria"/>
              </a:rPr>
              <a:t>)</a:t>
            </a:r>
            <a:r>
              <a:rPr sz="1800" b="0" spc="-160" dirty="0">
                <a:latin typeface="Cambria"/>
                <a:cs typeface="Cambria"/>
              </a:rPr>
              <a:t> </a:t>
            </a:r>
            <a:r>
              <a:rPr sz="1800" b="0" i="1" spc="195" dirty="0">
                <a:latin typeface="Times New Roman"/>
                <a:cs typeface="Times New Roman"/>
              </a:rPr>
              <a:t>dx</a:t>
            </a:r>
            <a:r>
              <a:rPr sz="1800" b="0" spc="195" dirty="0">
                <a:latin typeface="Cambria"/>
                <a:cs typeface="Cambria"/>
              </a:rPr>
              <a:t>=</a:t>
            </a:r>
            <a:r>
              <a:rPr sz="1800" b="0" i="1" spc="195" dirty="0">
                <a:latin typeface="Times New Roman"/>
                <a:cs typeface="Times New Roman"/>
              </a:rPr>
              <a:t>w</a:t>
            </a:r>
            <a:r>
              <a:rPr sz="1800" b="0" spc="195" dirty="0">
                <a:latin typeface="Cambria"/>
                <a:cs typeface="Cambria"/>
              </a:rPr>
              <a:t>∗</a:t>
            </a:r>
            <a:r>
              <a:rPr sz="3900" b="0" spc="292" baseline="-5341" dirty="0">
                <a:latin typeface="Cambria"/>
                <a:cs typeface="Cambria"/>
              </a:rPr>
              <a:t>∑</a:t>
            </a:r>
            <a:r>
              <a:rPr sz="3900" b="0" spc="-217" baseline="-5341" dirty="0">
                <a:latin typeface="Cambria"/>
                <a:cs typeface="Cambria"/>
              </a:rPr>
              <a:t> </a:t>
            </a:r>
            <a:r>
              <a:rPr sz="1800" b="0" i="1" dirty="0">
                <a:latin typeface="Times New Roman"/>
                <a:cs typeface="Times New Roman"/>
              </a:rPr>
              <a:t>f</a:t>
            </a:r>
            <a:r>
              <a:rPr sz="1800" b="0" i="1" spc="-30" dirty="0">
                <a:latin typeface="Times New Roman"/>
                <a:cs typeface="Times New Roman"/>
              </a:rPr>
              <a:t> </a:t>
            </a:r>
            <a:r>
              <a:rPr sz="1800" b="0" spc="-90" dirty="0">
                <a:latin typeface="Cambria"/>
                <a:cs typeface="Cambria"/>
              </a:rPr>
              <a:t>(</a:t>
            </a:r>
            <a:r>
              <a:rPr sz="1800" b="0" spc="-170" dirty="0">
                <a:latin typeface="Cambria"/>
                <a:cs typeface="Cambria"/>
              </a:rPr>
              <a:t> </a:t>
            </a:r>
            <a:r>
              <a:rPr sz="1800" b="0" i="1" spc="100" dirty="0">
                <a:latin typeface="Times New Roman"/>
                <a:cs typeface="Times New Roman"/>
              </a:rPr>
              <a:t>x</a:t>
            </a:r>
            <a:r>
              <a:rPr sz="1575" b="0" i="1" spc="150" baseline="-23809" dirty="0">
                <a:latin typeface="Times New Roman"/>
                <a:cs typeface="Times New Roman"/>
              </a:rPr>
              <a:t>i</a:t>
            </a:r>
            <a:r>
              <a:rPr sz="1800" b="0" spc="100" dirty="0">
                <a:latin typeface="Cambria"/>
                <a:cs typeface="Cambria"/>
              </a:rPr>
              <a:t>)=</a:t>
            </a:r>
            <a:r>
              <a:rPr sz="1800" b="0" i="1" spc="100" dirty="0">
                <a:latin typeface="Times New Roman"/>
                <a:cs typeface="Times New Roman"/>
              </a:rPr>
              <a:t>w</a:t>
            </a:r>
            <a:r>
              <a:rPr sz="1800" b="0" spc="100" dirty="0">
                <a:latin typeface="Cambria"/>
                <a:cs typeface="Cambria"/>
              </a:rPr>
              <a:t>∗((</a:t>
            </a:r>
            <a:r>
              <a:rPr sz="1800" b="0" i="1" spc="100" dirty="0">
                <a:latin typeface="Times New Roman"/>
                <a:cs typeface="Times New Roman"/>
              </a:rPr>
              <a:t>f</a:t>
            </a:r>
            <a:r>
              <a:rPr sz="1800" b="0" i="1" spc="-30" dirty="0">
                <a:latin typeface="Times New Roman"/>
                <a:cs typeface="Times New Roman"/>
              </a:rPr>
              <a:t> </a:t>
            </a:r>
            <a:r>
              <a:rPr sz="1800" b="0" spc="55" dirty="0">
                <a:latin typeface="Cambria"/>
                <a:cs typeface="Cambria"/>
              </a:rPr>
              <a:t>(</a:t>
            </a:r>
            <a:r>
              <a:rPr sz="1800" b="0" i="1" spc="55" dirty="0">
                <a:latin typeface="Times New Roman"/>
                <a:cs typeface="Times New Roman"/>
              </a:rPr>
              <a:t>a</a:t>
            </a:r>
            <a:r>
              <a:rPr sz="1800" b="0" spc="55" dirty="0">
                <a:latin typeface="Cambria"/>
                <a:cs typeface="Cambria"/>
              </a:rPr>
              <a:t>)+</a:t>
            </a:r>
            <a:r>
              <a:rPr sz="1800" b="0" i="1" spc="55" dirty="0">
                <a:latin typeface="Times New Roman"/>
                <a:cs typeface="Times New Roman"/>
              </a:rPr>
              <a:t>f</a:t>
            </a:r>
            <a:r>
              <a:rPr sz="1800" b="0" i="1" spc="-2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Cambria"/>
                <a:cs typeface="Cambria"/>
              </a:rPr>
              <a:t>(</a:t>
            </a:r>
            <a:r>
              <a:rPr sz="1800" b="0" i="1" dirty="0">
                <a:latin typeface="Times New Roman"/>
                <a:cs typeface="Times New Roman"/>
              </a:rPr>
              <a:t>a</a:t>
            </a:r>
            <a:r>
              <a:rPr sz="1800" b="0" i="1" spc="-285" dirty="0">
                <a:latin typeface="Times New Roman"/>
                <a:cs typeface="Times New Roman"/>
              </a:rPr>
              <a:t> </a:t>
            </a:r>
            <a:r>
              <a:rPr sz="1800" b="0" spc="85" dirty="0">
                <a:latin typeface="Cambria"/>
                <a:cs typeface="Cambria"/>
              </a:rPr>
              <a:t>+</a:t>
            </a:r>
            <a:r>
              <a:rPr sz="1800" b="0" i="1" spc="85" dirty="0">
                <a:latin typeface="Times New Roman"/>
                <a:cs typeface="Times New Roman"/>
              </a:rPr>
              <a:t>w</a:t>
            </a:r>
            <a:r>
              <a:rPr sz="1800" b="0" i="1" spc="-285" dirty="0">
                <a:latin typeface="Times New Roman"/>
                <a:cs typeface="Times New Roman"/>
              </a:rPr>
              <a:t> </a:t>
            </a:r>
            <a:r>
              <a:rPr sz="1800" b="0" spc="-175" dirty="0">
                <a:latin typeface="Cambria"/>
                <a:cs typeface="Cambria"/>
              </a:rPr>
              <a:t>))/</a:t>
            </a:r>
            <a:r>
              <a:rPr sz="1800" b="0" spc="-215" dirty="0">
                <a:latin typeface="Cambria"/>
                <a:cs typeface="Cambria"/>
              </a:rPr>
              <a:t> </a:t>
            </a:r>
            <a:r>
              <a:rPr sz="1800" b="0" spc="55" dirty="0">
                <a:latin typeface="Times New Roman"/>
                <a:cs typeface="Times New Roman"/>
              </a:rPr>
              <a:t>2</a:t>
            </a:r>
            <a:r>
              <a:rPr sz="1800" b="0" spc="55" dirty="0">
                <a:latin typeface="Cambria"/>
                <a:cs typeface="Cambria"/>
              </a:rPr>
              <a:t>+(</a:t>
            </a:r>
            <a:r>
              <a:rPr sz="1800" b="0" i="1" spc="55" dirty="0">
                <a:latin typeface="Times New Roman"/>
                <a:cs typeface="Times New Roman"/>
              </a:rPr>
              <a:t>f</a:t>
            </a:r>
            <a:r>
              <a:rPr sz="1800" b="0" i="1" spc="60" dirty="0">
                <a:latin typeface="Times New Roman"/>
                <a:cs typeface="Times New Roman"/>
              </a:rPr>
              <a:t> </a:t>
            </a:r>
            <a:r>
              <a:rPr sz="1800" b="0" spc="-25" dirty="0">
                <a:latin typeface="Cambria"/>
                <a:cs typeface="Cambria"/>
              </a:rPr>
              <a:t>(</a:t>
            </a:r>
            <a:r>
              <a:rPr sz="1800" b="0" i="1" spc="-25" dirty="0">
                <a:latin typeface="Times New Roman"/>
                <a:cs typeface="Times New Roman"/>
              </a:rPr>
              <a:t>a</a:t>
            </a:r>
            <a:r>
              <a:rPr sz="1800" b="0" i="1" spc="-290" dirty="0">
                <a:latin typeface="Times New Roman"/>
                <a:cs typeface="Times New Roman"/>
              </a:rPr>
              <a:t> </a:t>
            </a:r>
            <a:r>
              <a:rPr sz="1800" b="0" spc="85" dirty="0">
                <a:latin typeface="Cambria"/>
                <a:cs typeface="Cambria"/>
              </a:rPr>
              <a:t>+</a:t>
            </a:r>
            <a:r>
              <a:rPr sz="1800" b="0" i="1" spc="85" dirty="0">
                <a:latin typeface="Times New Roman"/>
                <a:cs typeface="Times New Roman"/>
              </a:rPr>
              <a:t>w</a:t>
            </a:r>
            <a:r>
              <a:rPr sz="1800" b="0" i="1" spc="-285" dirty="0">
                <a:latin typeface="Times New Roman"/>
                <a:cs typeface="Times New Roman"/>
              </a:rPr>
              <a:t> </a:t>
            </a:r>
            <a:r>
              <a:rPr sz="1800" b="0" spc="55" dirty="0">
                <a:latin typeface="Cambria"/>
                <a:cs typeface="Cambria"/>
              </a:rPr>
              <a:t>)+</a:t>
            </a:r>
            <a:r>
              <a:rPr sz="1800" b="0" i="1" spc="55" dirty="0">
                <a:latin typeface="Times New Roman"/>
                <a:cs typeface="Times New Roman"/>
              </a:rPr>
              <a:t>f</a:t>
            </a:r>
            <a:r>
              <a:rPr sz="1800" b="0" i="1" spc="-2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Cambria"/>
                <a:cs typeface="Cambria"/>
              </a:rPr>
              <a:t>(</a:t>
            </a:r>
            <a:r>
              <a:rPr sz="1800" b="0" i="1" dirty="0">
                <a:latin typeface="Times New Roman"/>
                <a:cs typeface="Times New Roman"/>
              </a:rPr>
              <a:t>a</a:t>
            </a:r>
            <a:r>
              <a:rPr sz="1800" b="0" i="1" spc="-285" dirty="0">
                <a:latin typeface="Times New Roman"/>
                <a:cs typeface="Times New Roman"/>
              </a:rPr>
              <a:t> </a:t>
            </a:r>
            <a:r>
              <a:rPr sz="1800" b="0" spc="50" dirty="0">
                <a:latin typeface="Cambria"/>
                <a:cs typeface="Cambria"/>
              </a:rPr>
              <a:t>+</a:t>
            </a:r>
            <a:r>
              <a:rPr sz="1800" b="0" spc="50" dirty="0">
                <a:latin typeface="Times New Roman"/>
                <a:cs typeface="Times New Roman"/>
              </a:rPr>
              <a:t>2</a:t>
            </a:r>
            <a:r>
              <a:rPr sz="1800" b="0" spc="-200" dirty="0">
                <a:latin typeface="Times New Roman"/>
                <a:cs typeface="Times New Roman"/>
              </a:rPr>
              <a:t> </a:t>
            </a:r>
            <a:r>
              <a:rPr sz="1800" b="0" i="1" spc="-20" dirty="0">
                <a:latin typeface="Times New Roman"/>
                <a:cs typeface="Times New Roman"/>
              </a:rPr>
              <a:t>w</a:t>
            </a:r>
            <a:r>
              <a:rPr sz="1800" b="0" i="1" spc="-290" dirty="0">
                <a:latin typeface="Times New Roman"/>
                <a:cs typeface="Times New Roman"/>
              </a:rPr>
              <a:t> </a:t>
            </a:r>
            <a:r>
              <a:rPr sz="1800" b="0" spc="-150" dirty="0">
                <a:latin typeface="Cambria"/>
                <a:cs typeface="Cambria"/>
              </a:rPr>
              <a:t>))/</a:t>
            </a:r>
            <a:r>
              <a:rPr sz="1800" b="0" spc="-215" dirty="0">
                <a:latin typeface="Cambria"/>
                <a:cs typeface="Cambria"/>
              </a:rPr>
              <a:t> </a:t>
            </a:r>
            <a:r>
              <a:rPr sz="1800" b="0" spc="55" dirty="0">
                <a:latin typeface="Times New Roman"/>
                <a:cs typeface="Times New Roman"/>
              </a:rPr>
              <a:t>2</a:t>
            </a:r>
            <a:r>
              <a:rPr sz="1800" b="0" spc="55" dirty="0">
                <a:latin typeface="Cambria"/>
                <a:cs typeface="Cambria"/>
              </a:rPr>
              <a:t>+(</a:t>
            </a:r>
            <a:r>
              <a:rPr sz="1800" b="0" i="1" spc="55" dirty="0">
                <a:latin typeface="Times New Roman"/>
                <a:cs typeface="Times New Roman"/>
              </a:rPr>
              <a:t>f</a:t>
            </a:r>
            <a:r>
              <a:rPr sz="1800" b="0" i="1" spc="-25" dirty="0">
                <a:latin typeface="Times New Roman"/>
                <a:cs typeface="Times New Roman"/>
              </a:rPr>
              <a:t> </a:t>
            </a:r>
            <a:r>
              <a:rPr sz="1800" b="0" dirty="0">
                <a:latin typeface="Cambria"/>
                <a:cs typeface="Cambria"/>
              </a:rPr>
              <a:t>(</a:t>
            </a:r>
            <a:r>
              <a:rPr sz="1800" b="0" i="1" dirty="0">
                <a:latin typeface="Times New Roman"/>
                <a:cs typeface="Times New Roman"/>
              </a:rPr>
              <a:t>a</a:t>
            </a:r>
            <a:r>
              <a:rPr sz="1800" b="0" i="1" spc="-285" dirty="0">
                <a:latin typeface="Times New Roman"/>
                <a:cs typeface="Times New Roman"/>
              </a:rPr>
              <a:t> </a:t>
            </a:r>
            <a:r>
              <a:rPr sz="1800" b="0" spc="55" dirty="0">
                <a:latin typeface="Cambria"/>
                <a:cs typeface="Cambria"/>
              </a:rPr>
              <a:t>+</a:t>
            </a:r>
            <a:r>
              <a:rPr sz="1800" b="0" spc="55" dirty="0">
                <a:latin typeface="Times New Roman"/>
                <a:cs typeface="Times New Roman"/>
              </a:rPr>
              <a:t>2</a:t>
            </a:r>
            <a:r>
              <a:rPr sz="1800" b="0" spc="-210" dirty="0">
                <a:latin typeface="Times New Roman"/>
                <a:cs typeface="Times New Roman"/>
              </a:rPr>
              <a:t> </a:t>
            </a:r>
            <a:r>
              <a:rPr sz="1800" b="0" i="1" spc="-20" dirty="0">
                <a:latin typeface="Times New Roman"/>
                <a:cs typeface="Times New Roman"/>
              </a:rPr>
              <a:t>w</a:t>
            </a:r>
            <a:r>
              <a:rPr sz="1800" b="0" i="1" spc="-290" dirty="0">
                <a:latin typeface="Times New Roman"/>
                <a:cs typeface="Times New Roman"/>
              </a:rPr>
              <a:t> </a:t>
            </a:r>
            <a:r>
              <a:rPr sz="1800" b="0" spc="55" dirty="0">
                <a:latin typeface="Cambria"/>
                <a:cs typeface="Cambria"/>
              </a:rPr>
              <a:t>)+</a:t>
            </a:r>
            <a:r>
              <a:rPr sz="1800" b="0" i="1" spc="55" dirty="0">
                <a:latin typeface="Times New Roman"/>
                <a:cs typeface="Times New Roman"/>
              </a:rPr>
              <a:t>f</a:t>
            </a:r>
            <a:r>
              <a:rPr sz="1800" b="0" i="1" spc="50" dirty="0">
                <a:latin typeface="Times New Roman"/>
                <a:cs typeface="Times New Roman"/>
              </a:rPr>
              <a:t> </a:t>
            </a:r>
            <a:r>
              <a:rPr sz="1800" b="0" spc="-20" dirty="0">
                <a:latin typeface="Cambria"/>
                <a:cs typeface="Cambria"/>
              </a:rPr>
              <a:t>(</a:t>
            </a:r>
            <a:r>
              <a:rPr sz="1800" b="0" i="1" spc="-20" dirty="0">
                <a:latin typeface="Times New Roman"/>
                <a:cs typeface="Times New Roman"/>
              </a:rPr>
              <a:t>a</a:t>
            </a:r>
            <a:r>
              <a:rPr sz="1800" b="0" i="1" spc="-285" dirty="0">
                <a:latin typeface="Times New Roman"/>
                <a:cs typeface="Times New Roman"/>
              </a:rPr>
              <a:t> </a:t>
            </a:r>
            <a:r>
              <a:rPr sz="1800" b="0" spc="50" dirty="0">
                <a:latin typeface="Cambria"/>
                <a:cs typeface="Cambria"/>
              </a:rPr>
              <a:t>+</a:t>
            </a:r>
            <a:r>
              <a:rPr sz="1800" b="0" spc="50" dirty="0">
                <a:latin typeface="Times New Roman"/>
                <a:cs typeface="Times New Roman"/>
              </a:rPr>
              <a:t>3</a:t>
            </a:r>
            <a:r>
              <a:rPr sz="1800" b="0" spc="-130" dirty="0">
                <a:latin typeface="Times New Roman"/>
                <a:cs typeface="Times New Roman"/>
              </a:rPr>
              <a:t> </a:t>
            </a:r>
            <a:r>
              <a:rPr sz="1800" b="0" i="1" spc="-20" dirty="0">
                <a:latin typeface="Times New Roman"/>
                <a:cs typeface="Times New Roman"/>
              </a:rPr>
              <a:t>w</a:t>
            </a:r>
            <a:r>
              <a:rPr sz="1800" b="0" i="1" spc="-285" dirty="0">
                <a:latin typeface="Times New Roman"/>
                <a:cs typeface="Times New Roman"/>
              </a:rPr>
              <a:t> </a:t>
            </a:r>
            <a:r>
              <a:rPr sz="1800" b="0" spc="-175" dirty="0">
                <a:latin typeface="Cambria"/>
                <a:cs typeface="Cambria"/>
              </a:rPr>
              <a:t>))/</a:t>
            </a:r>
            <a:r>
              <a:rPr sz="1800" b="0" spc="-215" dirty="0">
                <a:latin typeface="Cambria"/>
                <a:cs typeface="Cambria"/>
              </a:rPr>
              <a:t> </a:t>
            </a:r>
            <a:r>
              <a:rPr sz="1800" b="0" spc="-10" dirty="0">
                <a:latin typeface="Times New Roman"/>
                <a:cs typeface="Times New Roman"/>
              </a:rPr>
              <a:t>2</a:t>
            </a:r>
            <a:r>
              <a:rPr sz="1800" b="0" spc="-10" dirty="0">
                <a:latin typeface="Cambria"/>
                <a:cs typeface="Cambria"/>
              </a:rPr>
              <a:t>+</a:t>
            </a:r>
            <a:r>
              <a:rPr sz="1800" b="0" spc="-10" dirty="0">
                <a:latin typeface="Times New Roman"/>
                <a:cs typeface="Times New Roman"/>
              </a:rPr>
              <a:t>...</a:t>
            </a:r>
            <a:r>
              <a:rPr sz="1800" b="0" spc="-10" dirty="0">
                <a:latin typeface="Cambria"/>
                <a:cs typeface="Cambria"/>
              </a:rPr>
              <a:t>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3270" y="2531470"/>
            <a:ext cx="3421379" cy="734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28240">
              <a:lnSpc>
                <a:spcPts val="1005"/>
              </a:lnSpc>
              <a:spcBef>
                <a:spcPts val="120"/>
              </a:spcBef>
            </a:pPr>
            <a:r>
              <a:rPr sz="1200" i="1" spc="100" dirty="0">
                <a:latin typeface="Times New Roman"/>
                <a:cs typeface="Times New Roman"/>
              </a:rPr>
              <a:t>n</a:t>
            </a:r>
            <a:r>
              <a:rPr sz="1200" spc="100" dirty="0">
                <a:latin typeface="Cambria"/>
                <a:cs typeface="Cambria"/>
              </a:rPr>
              <a:t>−</a:t>
            </a:r>
            <a:r>
              <a:rPr sz="1200" spc="1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ts val="3105"/>
              </a:lnSpc>
            </a:pPr>
            <a:r>
              <a:rPr sz="2000" spc="175" dirty="0">
                <a:latin typeface="Cambria"/>
                <a:cs typeface="Cambria"/>
              </a:rPr>
              <a:t>=</a:t>
            </a:r>
            <a:r>
              <a:rPr sz="2000" i="1" spc="175" dirty="0">
                <a:latin typeface="Times New Roman"/>
                <a:cs typeface="Times New Roman"/>
              </a:rPr>
              <a:t>w</a:t>
            </a:r>
            <a:r>
              <a:rPr sz="2000" spc="175" dirty="0">
                <a:latin typeface="Cambria"/>
                <a:cs typeface="Cambria"/>
              </a:rPr>
              <a:t>∗((</a:t>
            </a:r>
            <a:r>
              <a:rPr sz="2000" i="1" spc="175" dirty="0">
                <a:latin typeface="Times New Roman"/>
                <a:cs typeface="Times New Roman"/>
              </a:rPr>
              <a:t>f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Cambria"/>
                <a:cs typeface="Cambria"/>
              </a:rPr>
              <a:t>(</a:t>
            </a:r>
            <a:r>
              <a:rPr sz="2000" i="1" spc="80" dirty="0">
                <a:latin typeface="Times New Roman"/>
                <a:cs typeface="Times New Roman"/>
              </a:rPr>
              <a:t>a</a:t>
            </a:r>
            <a:r>
              <a:rPr sz="2000" spc="80" dirty="0">
                <a:latin typeface="Cambria"/>
                <a:cs typeface="Cambria"/>
              </a:rPr>
              <a:t>)+</a:t>
            </a:r>
            <a:r>
              <a:rPr sz="2000" i="1" spc="80" dirty="0">
                <a:latin typeface="Times New Roman"/>
                <a:cs typeface="Times New Roman"/>
              </a:rPr>
              <a:t>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Cambria"/>
                <a:cs typeface="Cambria"/>
              </a:rPr>
              <a:t>(</a:t>
            </a:r>
            <a:r>
              <a:rPr sz="2000" i="1" spc="-60" dirty="0">
                <a:latin typeface="Times New Roman"/>
                <a:cs typeface="Times New Roman"/>
              </a:rPr>
              <a:t>b</a:t>
            </a:r>
            <a:r>
              <a:rPr sz="2000" spc="-60" dirty="0">
                <a:latin typeface="Cambria"/>
                <a:cs typeface="Cambria"/>
              </a:rPr>
              <a:t>))/</a:t>
            </a:r>
            <a:r>
              <a:rPr sz="2000" spc="-250" dirty="0">
                <a:latin typeface="Cambria"/>
                <a:cs typeface="Cambria"/>
              </a:rPr>
              <a:t> </a:t>
            </a:r>
            <a:r>
              <a:rPr sz="2000" spc="170" dirty="0">
                <a:latin typeface="Times New Roman"/>
                <a:cs typeface="Times New Roman"/>
              </a:rPr>
              <a:t>2</a:t>
            </a:r>
            <a:r>
              <a:rPr sz="2000" spc="170" dirty="0">
                <a:latin typeface="Cambria"/>
                <a:cs typeface="Cambria"/>
              </a:rPr>
              <a:t>+</a:t>
            </a:r>
            <a:r>
              <a:rPr sz="4425" spc="254" baseline="-5649" dirty="0">
                <a:latin typeface="Cambria"/>
                <a:cs typeface="Cambria"/>
              </a:rPr>
              <a:t>∑</a:t>
            </a:r>
            <a:r>
              <a:rPr sz="4425" spc="-337" baseline="-5649" dirty="0">
                <a:latin typeface="Cambria"/>
                <a:cs typeface="Cambria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f </a:t>
            </a:r>
            <a:r>
              <a:rPr sz="2000" spc="-85" dirty="0">
                <a:latin typeface="Cambria"/>
                <a:cs typeface="Cambria"/>
              </a:rPr>
              <a:t>(</a:t>
            </a:r>
            <a:r>
              <a:rPr sz="2000" spc="-229" dirty="0">
                <a:latin typeface="Cambria"/>
                <a:cs typeface="Cambria"/>
              </a:rPr>
              <a:t> </a:t>
            </a:r>
            <a:r>
              <a:rPr sz="2000" i="1" spc="75" dirty="0">
                <a:latin typeface="Times New Roman"/>
                <a:cs typeface="Times New Roman"/>
              </a:rPr>
              <a:t>x</a:t>
            </a:r>
            <a:r>
              <a:rPr sz="1800" i="1" spc="112" baseline="-25462" dirty="0">
                <a:latin typeface="Times New Roman"/>
                <a:cs typeface="Times New Roman"/>
              </a:rPr>
              <a:t>i</a:t>
            </a:r>
            <a:r>
              <a:rPr sz="1800" i="1" spc="-277" baseline="-25462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Cambria"/>
                <a:cs typeface="Cambria"/>
              </a:rPr>
              <a:t>))</a:t>
            </a:r>
            <a:endParaRPr sz="2000">
              <a:latin typeface="Cambria"/>
              <a:cs typeface="Cambria"/>
            </a:endParaRPr>
          </a:p>
          <a:p>
            <a:pPr marL="2438400">
              <a:lnSpc>
                <a:spcPct val="100000"/>
              </a:lnSpc>
              <a:spcBef>
                <a:spcPts val="10"/>
              </a:spcBef>
            </a:pPr>
            <a:r>
              <a:rPr sz="1200" i="1" spc="114" dirty="0">
                <a:latin typeface="Times New Roman"/>
                <a:cs typeface="Times New Roman"/>
              </a:rPr>
              <a:t>i</a:t>
            </a:r>
            <a:r>
              <a:rPr sz="1200" spc="114" dirty="0">
                <a:latin typeface="Cambria"/>
                <a:cs typeface="Cambria"/>
              </a:rPr>
              <a:t>=</a:t>
            </a:r>
            <a:r>
              <a:rPr sz="1200" spc="114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269" y="802999"/>
            <a:ext cx="2978785" cy="28600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matplotlib.pyplot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9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np.linspace(-</a:t>
            </a:r>
            <a:r>
              <a:rPr sz="1800" spc="-10" dirty="0">
                <a:latin typeface="Microsoft Sans Serif"/>
                <a:cs typeface="Microsoft Sans Serif"/>
              </a:rPr>
              <a:t>5,5,100)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20"/>
              </a:lnSpc>
            </a:pP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2*x+1</a:t>
            </a:r>
            <a:endParaRPr sz="1800">
              <a:latin typeface="Microsoft Sans Serif"/>
              <a:cs typeface="Microsoft Sans Serif"/>
            </a:endParaRPr>
          </a:p>
          <a:p>
            <a:pPr marL="12700" marR="216535">
              <a:lnSpc>
                <a:spcPct val="93300"/>
              </a:lnSpc>
              <a:spcBef>
                <a:spcPts val="75"/>
              </a:spcBef>
            </a:pP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y,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label='y=2x+1') </a:t>
            </a:r>
            <a:r>
              <a:rPr sz="1800" dirty="0">
                <a:latin typeface="Microsoft Sans Serif"/>
                <a:cs typeface="Microsoft Sans Serif"/>
              </a:rPr>
              <a:t>plt.title('Graph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y=2x+1') plt.xlabel('x')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39"/>
              </a:lnSpc>
            </a:pPr>
            <a:r>
              <a:rPr sz="1800" spc="-10" dirty="0">
                <a:latin typeface="Microsoft Sans Serif"/>
                <a:cs typeface="Microsoft Sans Serif"/>
              </a:rPr>
              <a:t>plt.ylabel('y')</a:t>
            </a:r>
            <a:endParaRPr sz="1800">
              <a:latin typeface="Microsoft Sans Serif"/>
              <a:cs typeface="Microsoft Sans Serif"/>
            </a:endParaRPr>
          </a:p>
          <a:p>
            <a:pPr marL="12700" marR="354330">
              <a:lnSpc>
                <a:spcPts val="2010"/>
              </a:lnSpc>
              <a:spcBef>
                <a:spcPts val="125"/>
              </a:spcBef>
            </a:pPr>
            <a:r>
              <a:rPr sz="1800" spc="-10" dirty="0">
                <a:latin typeface="Microsoft Sans Serif"/>
                <a:cs typeface="Microsoft Sans Serif"/>
              </a:rPr>
              <a:t>plt.legend(loc='upper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left') plt.grid()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80"/>
              </a:lnSpc>
            </a:pPr>
            <a:r>
              <a:rPr sz="1800" spc="-10" dirty="0">
                <a:latin typeface="Microsoft Sans Serif"/>
                <a:cs typeface="Microsoft Sans Serif"/>
              </a:rPr>
              <a:t>plt.show()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380" y="924919"/>
            <a:ext cx="3636645" cy="26035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662940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matplotlib.pyplot</a:t>
            </a:r>
            <a:r>
              <a:rPr sz="1800" dirty="0">
                <a:latin typeface="Microsoft Sans Serif"/>
                <a:cs typeface="Microsoft Sans Serif"/>
              </a:rPr>
              <a:t>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 numpy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Microsoft Sans Serif"/>
                <a:cs typeface="Microsoft Sans Serif"/>
              </a:rPr>
              <a:t>fig 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plt.figure()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4"/>
              </a:lnSpc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np.linspace(-5,5,100)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ct val="93300"/>
              </a:lnSpc>
              <a:spcBef>
                <a:spcPts val="70"/>
              </a:spcBef>
            </a:pP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2*x+1,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'-</a:t>
            </a:r>
            <a:r>
              <a:rPr sz="1800" dirty="0">
                <a:latin typeface="Microsoft Sans Serif"/>
                <a:cs typeface="Microsoft Sans Serif"/>
              </a:rPr>
              <a:t>r',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label='y=2x+1') </a:t>
            </a: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2*x-1,'-</a:t>
            </a:r>
            <a:r>
              <a:rPr sz="1800" dirty="0">
                <a:latin typeface="Microsoft Sans Serif"/>
                <a:cs typeface="Microsoft Sans Serif"/>
              </a:rPr>
              <a:t>.g',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label='y=2x-</a:t>
            </a:r>
            <a:r>
              <a:rPr sz="1800" spc="-25" dirty="0">
                <a:latin typeface="Microsoft Sans Serif"/>
                <a:cs typeface="Microsoft Sans Serif"/>
              </a:rPr>
              <a:t>1') </a:t>
            </a: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2*x+3,':b',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label='y=2x+3') </a:t>
            </a:r>
            <a:r>
              <a:rPr sz="1800" dirty="0">
                <a:latin typeface="Microsoft Sans Serif"/>
                <a:cs typeface="Microsoft Sans Serif"/>
              </a:rPr>
              <a:t>plt.plot(x, </a:t>
            </a:r>
            <a:r>
              <a:rPr sz="1800" spc="-10" dirty="0">
                <a:latin typeface="Microsoft Sans Serif"/>
                <a:cs typeface="Microsoft Sans Serif"/>
              </a:rPr>
              <a:t>2*x-3,'--</a:t>
            </a:r>
            <a:r>
              <a:rPr sz="1800" dirty="0">
                <a:latin typeface="Microsoft Sans Serif"/>
                <a:cs typeface="Microsoft Sans Serif"/>
              </a:rPr>
              <a:t>m', </a:t>
            </a:r>
            <a:r>
              <a:rPr sz="1800" spc="-10" dirty="0">
                <a:latin typeface="Microsoft Sans Serif"/>
                <a:cs typeface="Microsoft Sans Serif"/>
              </a:rPr>
              <a:t>label='y=2x-</a:t>
            </a:r>
            <a:r>
              <a:rPr sz="1800" spc="-25" dirty="0">
                <a:latin typeface="Microsoft Sans Serif"/>
                <a:cs typeface="Microsoft Sans Serif"/>
              </a:rPr>
              <a:t>3') </a:t>
            </a:r>
            <a:r>
              <a:rPr sz="1800" spc="-10" dirty="0">
                <a:latin typeface="Microsoft Sans Serif"/>
                <a:cs typeface="Microsoft Sans Serif"/>
              </a:rPr>
              <a:t>plt.legend(loc='upper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left')</a:t>
            </a:r>
            <a:r>
              <a:rPr sz="1800" spc="5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plt.show()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500" y="852530"/>
            <a:ext cx="4055110" cy="439547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1081405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matplotlib.pyplot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00"/>
              </a:lnSpc>
            </a:pPr>
            <a:r>
              <a:rPr sz="1800" dirty="0">
                <a:latin typeface="Microsoft Sans Serif"/>
                <a:cs typeface="Microsoft Sans Serif"/>
              </a:rPr>
              <a:t>fig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plt.figure()</a:t>
            </a:r>
            <a:endParaRPr sz="1800">
              <a:latin typeface="Microsoft Sans Serif"/>
              <a:cs typeface="Microsoft Sans Serif"/>
            </a:endParaRPr>
          </a:p>
          <a:p>
            <a:pPr marL="12700" marR="1198880">
              <a:lnSpc>
                <a:spcPts val="2020"/>
              </a:lnSpc>
              <a:spcBef>
                <a:spcPts val="110"/>
              </a:spcBef>
            </a:pPr>
            <a:r>
              <a:rPr sz="1800" dirty="0">
                <a:latin typeface="Microsoft Sans Serif"/>
                <a:cs typeface="Microsoft Sans Serif"/>
              </a:rPr>
              <a:t>ax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fig.add_subplot(1,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1,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1)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np.linspace(-5,5,100)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spc="-10" dirty="0">
                <a:latin typeface="Microsoft Sans Serif"/>
                <a:cs typeface="Microsoft Sans Serif"/>
              </a:rPr>
              <a:t>ax.spines['left'].set_position('center')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ct val="93300"/>
              </a:lnSpc>
              <a:spcBef>
                <a:spcPts val="75"/>
              </a:spcBef>
            </a:pPr>
            <a:r>
              <a:rPr sz="1800" spc="-10" dirty="0">
                <a:latin typeface="Microsoft Sans Serif"/>
                <a:cs typeface="Microsoft Sans Serif"/>
              </a:rPr>
              <a:t>ax.spines['bottom'].set_position('center') ax.spines['right'].set_color('none') ax.spines['top'].set_color('none') ax.xaxis.set_ticks_position('bottom') ax.yaxis.set_ticks_position('left') </a:t>
            </a: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2*x+1,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'r',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label='y=2x+1') </a:t>
            </a: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2*x-</a:t>
            </a:r>
            <a:r>
              <a:rPr sz="1800" dirty="0">
                <a:latin typeface="Microsoft Sans Serif"/>
                <a:cs typeface="Microsoft Sans Serif"/>
              </a:rPr>
              <a:t>1,'g',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label='y=2x-</a:t>
            </a:r>
            <a:r>
              <a:rPr sz="1800" spc="-25" dirty="0">
                <a:latin typeface="Microsoft Sans Serif"/>
                <a:cs typeface="Microsoft Sans Serif"/>
              </a:rPr>
              <a:t>1') </a:t>
            </a: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2*x+3,'b',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label='y=2x+3') </a:t>
            </a: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2*x-</a:t>
            </a:r>
            <a:r>
              <a:rPr sz="1800" dirty="0">
                <a:latin typeface="Microsoft Sans Serif"/>
                <a:cs typeface="Microsoft Sans Serif"/>
              </a:rPr>
              <a:t>3,'k',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label='y=2x-</a:t>
            </a:r>
            <a:r>
              <a:rPr sz="1800" spc="-25" dirty="0">
                <a:latin typeface="Microsoft Sans Serif"/>
                <a:cs typeface="Microsoft Sans Serif"/>
              </a:rPr>
              <a:t>3') </a:t>
            </a:r>
            <a:r>
              <a:rPr sz="1800" spc="-10" dirty="0">
                <a:latin typeface="Microsoft Sans Serif"/>
                <a:cs typeface="Microsoft Sans Serif"/>
              </a:rPr>
              <a:t>plt.legend(loc='upper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left')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10"/>
              </a:lnSpc>
            </a:pPr>
            <a:r>
              <a:rPr sz="1800" spc="-10" dirty="0">
                <a:latin typeface="Microsoft Sans Serif"/>
                <a:cs typeface="Microsoft Sans Serif"/>
              </a:rPr>
              <a:t>plt.show()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659" y="985880"/>
            <a:ext cx="3120390" cy="234696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14605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0" dirty="0">
                <a:latin typeface="Microsoft Sans Serif"/>
                <a:cs typeface="Microsoft Sans Serif"/>
              </a:rPr>
              <a:t> matplotlib.pyplot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 numpy as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 marR="455930">
              <a:lnSpc>
                <a:spcPts val="2020"/>
              </a:lnSpc>
              <a:spcBef>
                <a:spcPts val="201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np.linspace(-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2,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100) 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**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0" dirty="0"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020"/>
              </a:lnSpc>
              <a:spcBef>
                <a:spcPts val="2010"/>
              </a:spcBef>
            </a:pPr>
            <a:r>
              <a:rPr sz="1800" dirty="0">
                <a:latin typeface="Microsoft Sans Serif"/>
                <a:cs typeface="Microsoft Sans Serif"/>
              </a:rPr>
              <a:t>fig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plt.figure(figsize</a:t>
            </a:r>
            <a:r>
              <a:rPr sz="1800" dirty="0">
                <a:latin typeface="Microsoft Sans Serif"/>
                <a:cs typeface="Microsoft Sans Serif"/>
              </a:rPr>
              <a:t> 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(10,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5)) </a:t>
            </a: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8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y)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64"/>
              </a:lnSpc>
            </a:pPr>
            <a:r>
              <a:rPr sz="1800" spc="-10" dirty="0">
                <a:latin typeface="Microsoft Sans Serif"/>
                <a:cs typeface="Microsoft Sans Serif"/>
              </a:rPr>
              <a:t>plt.show()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947780"/>
            <a:ext cx="3045460" cy="209168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7112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matplotlib.pyplot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 marR="506730">
              <a:lnSpc>
                <a:spcPts val="2020"/>
              </a:lnSpc>
              <a:spcBef>
                <a:spcPts val="201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np.linspace(-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6,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50) 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np.cos(x)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'b',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label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='cos(x)')</a:t>
            </a:r>
            <a:endParaRPr sz="1800">
              <a:latin typeface="Microsoft Sans Serif"/>
              <a:cs typeface="Microsoft Sans Serif"/>
            </a:endParaRPr>
          </a:p>
          <a:p>
            <a:pPr marL="12700" marR="1289685">
              <a:lnSpc>
                <a:spcPts val="2020"/>
              </a:lnSpc>
              <a:spcBef>
                <a:spcPts val="114"/>
              </a:spcBef>
            </a:pPr>
            <a:r>
              <a:rPr sz="1800" spc="-20" dirty="0">
                <a:latin typeface="Microsoft Sans Serif"/>
                <a:cs typeface="Microsoft Sans Serif"/>
              </a:rPr>
              <a:t>plt.xlabel('x-</a:t>
            </a:r>
            <a:r>
              <a:rPr sz="1800" spc="-10" dirty="0">
                <a:latin typeface="Microsoft Sans Serif"/>
                <a:cs typeface="Microsoft Sans Serif"/>
              </a:rPr>
              <a:t>axis') </a:t>
            </a:r>
            <a:r>
              <a:rPr sz="1800" spc="-20" dirty="0">
                <a:latin typeface="Microsoft Sans Serif"/>
                <a:cs typeface="Microsoft Sans Serif"/>
              </a:rPr>
              <a:t>plt.ylabel('y-</a:t>
            </a:r>
            <a:r>
              <a:rPr sz="1800" spc="-10" dirty="0">
                <a:latin typeface="Microsoft Sans Serif"/>
                <a:cs typeface="Microsoft Sans Serif"/>
              </a:rPr>
              <a:t>axis')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947780"/>
            <a:ext cx="3056890" cy="209168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8255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matplotlib.pyplot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 marR="341630">
              <a:lnSpc>
                <a:spcPts val="2020"/>
              </a:lnSpc>
              <a:spcBef>
                <a:spcPts val="201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np.linspace(0,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1000) 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np.exp(x)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'b',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label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='exp(x)')</a:t>
            </a:r>
            <a:endParaRPr sz="1800">
              <a:latin typeface="Microsoft Sans Serif"/>
              <a:cs typeface="Microsoft Sans Serif"/>
            </a:endParaRPr>
          </a:p>
          <a:p>
            <a:pPr marL="12700" marR="1301750">
              <a:lnSpc>
                <a:spcPts val="2020"/>
              </a:lnSpc>
              <a:spcBef>
                <a:spcPts val="114"/>
              </a:spcBef>
            </a:pPr>
            <a:r>
              <a:rPr sz="1800" spc="-20" dirty="0">
                <a:latin typeface="Microsoft Sans Serif"/>
                <a:cs typeface="Microsoft Sans Serif"/>
              </a:rPr>
              <a:t>plt.xlabel('x-</a:t>
            </a:r>
            <a:r>
              <a:rPr sz="1800" spc="-10" dirty="0">
                <a:latin typeface="Microsoft Sans Serif"/>
                <a:cs typeface="Microsoft Sans Serif"/>
              </a:rPr>
              <a:t>axis') </a:t>
            </a:r>
            <a:r>
              <a:rPr sz="1800" spc="-20" dirty="0">
                <a:latin typeface="Microsoft Sans Serif"/>
                <a:cs typeface="Microsoft Sans Serif"/>
              </a:rPr>
              <a:t>plt.ylabel('y-</a:t>
            </a:r>
            <a:r>
              <a:rPr sz="1800" spc="-10" dirty="0">
                <a:latin typeface="Microsoft Sans Serif"/>
                <a:cs typeface="Microsoft Sans Serif"/>
              </a:rPr>
              <a:t>axis')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947780"/>
            <a:ext cx="2979420" cy="209168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matplotlib.pyplot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 marR="11430">
              <a:lnSpc>
                <a:spcPts val="2020"/>
              </a:lnSpc>
              <a:spcBef>
                <a:spcPts val="201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np.linspace(1,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100,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1000) 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np.log(x)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'b',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label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='ln(x)')</a:t>
            </a:r>
            <a:endParaRPr sz="1800">
              <a:latin typeface="Microsoft Sans Serif"/>
              <a:cs typeface="Microsoft Sans Serif"/>
            </a:endParaRPr>
          </a:p>
          <a:p>
            <a:pPr marL="12700" marR="1223645">
              <a:lnSpc>
                <a:spcPts val="2020"/>
              </a:lnSpc>
              <a:spcBef>
                <a:spcPts val="114"/>
              </a:spcBef>
            </a:pPr>
            <a:r>
              <a:rPr sz="1800" spc="-20" dirty="0">
                <a:latin typeface="Microsoft Sans Serif"/>
                <a:cs typeface="Microsoft Sans Serif"/>
              </a:rPr>
              <a:t>plt.xlabel('x-</a:t>
            </a:r>
            <a:r>
              <a:rPr sz="1800" spc="-10" dirty="0">
                <a:latin typeface="Microsoft Sans Serif"/>
                <a:cs typeface="Microsoft Sans Serif"/>
              </a:rPr>
              <a:t>axis') </a:t>
            </a:r>
            <a:r>
              <a:rPr sz="1800" spc="-20" dirty="0">
                <a:latin typeface="Microsoft Sans Serif"/>
                <a:cs typeface="Microsoft Sans Serif"/>
              </a:rPr>
              <a:t>plt.ylabel('y-</a:t>
            </a:r>
            <a:r>
              <a:rPr sz="1800" spc="-10" dirty="0">
                <a:latin typeface="Microsoft Sans Serif"/>
                <a:cs typeface="Microsoft Sans Serif"/>
              </a:rPr>
              <a:t>axis')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947780"/>
            <a:ext cx="2993390" cy="209168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19050">
              <a:lnSpc>
                <a:spcPts val="2010"/>
              </a:lnSpc>
              <a:spcBef>
                <a:spcPts val="29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matplotlib.pyplot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plt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</a:t>
            </a:r>
            <a:endParaRPr sz="1800">
              <a:latin typeface="Microsoft Sans Serif"/>
              <a:cs typeface="Microsoft Sans Serif"/>
            </a:endParaRPr>
          </a:p>
          <a:p>
            <a:pPr marL="12700" marR="25400">
              <a:lnSpc>
                <a:spcPts val="2020"/>
              </a:lnSpc>
              <a:spcBef>
                <a:spcPts val="201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np.linspace(1,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100,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1000) </a:t>
            </a: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np.log10(x)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895"/>
              </a:lnSpc>
            </a:pPr>
            <a:r>
              <a:rPr sz="1800" dirty="0">
                <a:latin typeface="Microsoft Sans Serif"/>
                <a:cs typeface="Microsoft Sans Serif"/>
              </a:rPr>
              <a:t>plt.plot(x,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'b',</a:t>
            </a:r>
            <a:r>
              <a:rPr sz="1800" spc="-5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label</a:t>
            </a:r>
            <a:r>
              <a:rPr sz="1800" spc="-7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='log(x)')</a:t>
            </a:r>
            <a:endParaRPr sz="1800">
              <a:latin typeface="Microsoft Sans Serif"/>
              <a:cs typeface="Microsoft Sans Serif"/>
            </a:endParaRPr>
          </a:p>
          <a:p>
            <a:pPr marL="12700" marR="1238250">
              <a:lnSpc>
                <a:spcPts val="2020"/>
              </a:lnSpc>
              <a:spcBef>
                <a:spcPts val="114"/>
              </a:spcBef>
            </a:pPr>
            <a:r>
              <a:rPr sz="1800" spc="-20" dirty="0">
                <a:latin typeface="Microsoft Sans Serif"/>
                <a:cs typeface="Microsoft Sans Serif"/>
              </a:rPr>
              <a:t>plt.xlabel('x-</a:t>
            </a:r>
            <a:r>
              <a:rPr sz="1800" spc="-10" dirty="0">
                <a:latin typeface="Microsoft Sans Serif"/>
                <a:cs typeface="Microsoft Sans Serif"/>
              </a:rPr>
              <a:t>axis') </a:t>
            </a:r>
            <a:r>
              <a:rPr sz="1800" spc="-20" dirty="0">
                <a:latin typeface="Microsoft Sans Serif"/>
                <a:cs typeface="Microsoft Sans Serif"/>
              </a:rPr>
              <a:t>plt.ylabel('y-</a:t>
            </a:r>
            <a:r>
              <a:rPr sz="1800" spc="-10" dirty="0">
                <a:latin typeface="Microsoft Sans Serif"/>
                <a:cs typeface="Microsoft Sans Serif"/>
              </a:rPr>
              <a:t>axis')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Functions</a:t>
            </a:r>
            <a:r>
              <a:rPr spc="-70" dirty="0"/>
              <a:t> </a:t>
            </a:r>
            <a:r>
              <a:rPr dirty="0"/>
              <a:t>-</a:t>
            </a:r>
            <a:r>
              <a:rPr spc="-5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947780"/>
            <a:ext cx="2635885" cy="209168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610235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statistics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Microsoft Sans Serif"/>
                <a:cs typeface="Microsoft Sans Serif"/>
              </a:rPr>
              <a:t>data1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4,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5,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9,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2]</a:t>
            </a:r>
            <a:endParaRPr sz="1800">
              <a:latin typeface="Microsoft Sans Serif"/>
              <a:cs typeface="Microsoft Sans Serif"/>
            </a:endParaRPr>
          </a:p>
          <a:p>
            <a:pPr marL="12700" marR="5715">
              <a:lnSpc>
                <a:spcPct val="186600"/>
              </a:lnSpc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statistics.mean(data1) </a:t>
            </a:r>
            <a:r>
              <a:rPr sz="1800" dirty="0">
                <a:latin typeface="Microsoft Sans Serif"/>
                <a:cs typeface="Microsoft Sans Serif"/>
              </a:rPr>
              <a:t>print("Mean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:",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x)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-</a:t>
            </a:r>
            <a:r>
              <a:rPr spc="-1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947780"/>
            <a:ext cx="3128645" cy="18351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1102995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statistics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1964"/>
              </a:lnSpc>
            </a:pP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statistics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mean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1800" dirty="0">
                <a:latin typeface="Microsoft Sans Serif"/>
                <a:cs typeface="Microsoft Sans Serif"/>
              </a:rPr>
              <a:t>data1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4,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5,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9,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2]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1800" dirty="0">
                <a:latin typeface="Microsoft Sans Serif"/>
                <a:cs typeface="Microsoft Sans Serif"/>
              </a:rPr>
              <a:t>print("Mean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:",</a:t>
            </a:r>
            <a:r>
              <a:rPr sz="1800" spc="-10" dirty="0">
                <a:latin typeface="Microsoft Sans Serif"/>
                <a:cs typeface="Microsoft Sans Serif"/>
              </a:rPr>
              <a:t> mean(data1))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-</a:t>
            </a:r>
            <a:r>
              <a:rPr spc="-1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2780" y="947780"/>
            <a:ext cx="5766435" cy="15798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3740785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numpy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as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np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statistics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Microsoft Sans Serif"/>
                <a:cs typeface="Microsoft Sans Serif"/>
              </a:rPr>
              <a:t>data1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[1,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3,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4,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5,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7,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9,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2]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  <a:tabLst>
                <a:tab pos="3192145" algn="l"/>
              </a:tabLst>
            </a:pPr>
            <a:r>
              <a:rPr sz="1800" dirty="0">
                <a:latin typeface="Microsoft Sans Serif"/>
                <a:cs typeface="Microsoft Sans Serif"/>
              </a:rPr>
              <a:t>print("Median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-10" dirty="0">
                <a:latin typeface="Microsoft Sans Serif"/>
                <a:cs typeface="Microsoft Sans Serif"/>
              </a:rPr>
              <a:t> data-</a:t>
            </a:r>
            <a:r>
              <a:rPr sz="1800" dirty="0">
                <a:latin typeface="Microsoft Sans Serif"/>
                <a:cs typeface="Microsoft Sans Serif"/>
              </a:rPr>
              <a:t>set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is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",</a:t>
            </a:r>
            <a:r>
              <a:rPr sz="1800" dirty="0">
                <a:latin typeface="Microsoft Sans Serif"/>
                <a:cs typeface="Microsoft Sans Serif"/>
              </a:rPr>
              <a:t>	</a:t>
            </a:r>
            <a:r>
              <a:rPr sz="1800" spc="-10" dirty="0">
                <a:latin typeface="Microsoft Sans Serif"/>
                <a:cs typeface="Microsoft Sans Serif"/>
              </a:rPr>
              <a:t>statistics.median(data1)))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-</a:t>
            </a:r>
            <a:r>
              <a:rPr spc="-1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</a:t>
            </a:r>
            <a:r>
              <a:rPr spc="-65" dirty="0"/>
              <a:t> </a:t>
            </a:r>
            <a:r>
              <a:rPr spc="-10" dirty="0"/>
              <a:t>statistics</a:t>
            </a: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/>
              <a:t>set1</a:t>
            </a:r>
            <a:r>
              <a:rPr spc="-15" dirty="0"/>
              <a:t> </a:t>
            </a:r>
            <a:r>
              <a:rPr dirty="0"/>
              <a:t>=[1,</a:t>
            </a:r>
            <a:r>
              <a:rPr spc="15" dirty="0"/>
              <a:t> </a:t>
            </a:r>
            <a:r>
              <a:rPr dirty="0"/>
              <a:t>2,</a:t>
            </a:r>
            <a:r>
              <a:rPr spc="5" dirty="0"/>
              <a:t> </a:t>
            </a:r>
            <a:r>
              <a:rPr dirty="0"/>
              <a:t>3,</a:t>
            </a:r>
            <a:r>
              <a:rPr spc="15" dirty="0"/>
              <a:t> </a:t>
            </a:r>
            <a:r>
              <a:rPr dirty="0"/>
              <a:t>3,</a:t>
            </a:r>
            <a:r>
              <a:rPr spc="20" dirty="0"/>
              <a:t> </a:t>
            </a:r>
            <a:r>
              <a:rPr dirty="0"/>
              <a:t>4,</a:t>
            </a:r>
            <a:r>
              <a:rPr spc="15" dirty="0"/>
              <a:t> </a:t>
            </a:r>
            <a:r>
              <a:rPr dirty="0"/>
              <a:t>4,</a:t>
            </a:r>
            <a:r>
              <a:rPr spc="15" dirty="0"/>
              <a:t> </a:t>
            </a:r>
            <a:r>
              <a:rPr dirty="0"/>
              <a:t>4,</a:t>
            </a:r>
            <a:r>
              <a:rPr spc="15" dirty="0"/>
              <a:t> </a:t>
            </a:r>
            <a:r>
              <a:rPr dirty="0"/>
              <a:t>5,</a:t>
            </a:r>
            <a:r>
              <a:rPr spc="15" dirty="0"/>
              <a:t> </a:t>
            </a:r>
            <a:r>
              <a:rPr dirty="0"/>
              <a:t>5,</a:t>
            </a:r>
            <a:r>
              <a:rPr spc="20" dirty="0"/>
              <a:t> </a:t>
            </a:r>
            <a:r>
              <a:rPr spc="-25" dirty="0"/>
              <a:t>6]</a:t>
            </a: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/>
              <a:t>print("Mode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given</a:t>
            </a:r>
            <a:r>
              <a:rPr spc="-2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set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:",</a:t>
            </a:r>
            <a:r>
              <a:rPr spc="-5" dirty="0"/>
              <a:t> </a:t>
            </a:r>
            <a:r>
              <a:rPr spc="-10" dirty="0"/>
              <a:t>(statistics.mode(set1)))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-</a:t>
            </a:r>
            <a:r>
              <a:rPr spc="-15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89475" algn="l"/>
              </a:tabLst>
            </a:pPr>
            <a:r>
              <a:rPr dirty="0"/>
              <a:t>Central</a:t>
            </a:r>
            <a:r>
              <a:rPr spc="-130" dirty="0"/>
              <a:t> </a:t>
            </a:r>
            <a:r>
              <a:rPr spc="-10" dirty="0"/>
              <a:t>tendencies</a:t>
            </a:r>
            <a:r>
              <a:rPr dirty="0"/>
              <a:t>	-</a:t>
            </a:r>
            <a:r>
              <a:rPr spc="-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import</a:t>
            </a:r>
            <a:r>
              <a:rPr spc="-65" dirty="0"/>
              <a:t> </a:t>
            </a:r>
            <a:r>
              <a:rPr spc="-10" dirty="0"/>
              <a:t>statistics</a:t>
            </a: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/>
              <a:t>sample</a:t>
            </a:r>
            <a:r>
              <a:rPr spc="5" dirty="0"/>
              <a:t> </a:t>
            </a:r>
            <a:r>
              <a:rPr dirty="0"/>
              <a:t>=</a:t>
            </a:r>
            <a:r>
              <a:rPr spc="15" dirty="0"/>
              <a:t> </a:t>
            </a:r>
            <a:r>
              <a:rPr dirty="0"/>
              <a:t>[1,</a:t>
            </a:r>
            <a:r>
              <a:rPr spc="10" dirty="0"/>
              <a:t> </a:t>
            </a:r>
            <a:r>
              <a:rPr dirty="0"/>
              <a:t>2,</a:t>
            </a:r>
            <a:r>
              <a:rPr spc="5" dirty="0"/>
              <a:t> </a:t>
            </a:r>
            <a:r>
              <a:rPr dirty="0"/>
              <a:t>3,</a:t>
            </a:r>
            <a:r>
              <a:rPr spc="10" dirty="0"/>
              <a:t> </a:t>
            </a:r>
            <a:r>
              <a:rPr dirty="0"/>
              <a:t>4,</a:t>
            </a:r>
            <a:r>
              <a:rPr spc="5" dirty="0"/>
              <a:t> </a:t>
            </a:r>
            <a:r>
              <a:rPr spc="-25" dirty="0"/>
              <a:t>5]</a:t>
            </a: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dirty="0"/>
              <a:t>print("Standard</a:t>
            </a:r>
            <a:r>
              <a:rPr spc="-35" dirty="0"/>
              <a:t> </a:t>
            </a:r>
            <a:r>
              <a:rPr dirty="0"/>
              <a:t>Deviation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sample</a:t>
            </a:r>
            <a:r>
              <a:rPr spc="-35" dirty="0"/>
              <a:t> </a:t>
            </a:r>
            <a:r>
              <a:rPr dirty="0"/>
              <a:t>is:"</a:t>
            </a:r>
            <a:r>
              <a:rPr spc="-35" dirty="0"/>
              <a:t> </a:t>
            </a:r>
            <a:r>
              <a:rPr dirty="0"/>
              <a:t>,</a:t>
            </a:r>
            <a:r>
              <a:rPr spc="-30" dirty="0"/>
              <a:t> </a:t>
            </a:r>
            <a:r>
              <a:rPr spc="-10" dirty="0"/>
              <a:t>(statistics.stdev(sample)))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65036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1510" algn="l"/>
              </a:tabLst>
            </a:pPr>
            <a:r>
              <a:rPr dirty="0"/>
              <a:t>Random</a:t>
            </a:r>
            <a:r>
              <a:rPr spc="-125" dirty="0"/>
              <a:t> </a:t>
            </a:r>
            <a:r>
              <a:rPr spc="-10" dirty="0"/>
              <a:t>numbers</a:t>
            </a:r>
            <a:r>
              <a:rPr dirty="0"/>
              <a:t>	-</a:t>
            </a:r>
            <a:r>
              <a:rPr spc="-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018899"/>
            <a:ext cx="3268345" cy="8115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numpy.random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rand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</a:t>
            </a:r>
            <a:r>
              <a:rPr sz="1800" spc="-10" dirty="0">
                <a:latin typeface="Microsoft Sans Serif"/>
                <a:cs typeface="Microsoft Sans Serif"/>
              </a:rPr>
              <a:t>range(10):</a:t>
            </a:r>
            <a:endParaRPr sz="1800">
              <a:latin typeface="Microsoft Sans Serif"/>
              <a:cs typeface="Microsoft Sans Serif"/>
            </a:endParaRPr>
          </a:p>
          <a:p>
            <a:pPr marL="76200">
              <a:lnSpc>
                <a:spcPts val="1964"/>
              </a:lnSpc>
            </a:pPr>
            <a:r>
              <a:rPr sz="1800" spc="-10" dirty="0">
                <a:latin typeface="Microsoft Sans Serif"/>
                <a:cs typeface="Microsoft Sans Serif"/>
              </a:rPr>
              <a:t>print(rand())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2790" y="2603860"/>
            <a:ext cx="3507740" cy="81153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12700" marR="5080">
              <a:lnSpc>
                <a:spcPct val="93300"/>
              </a:lnSpc>
              <a:spcBef>
                <a:spcPts val="244"/>
              </a:spcBef>
            </a:pP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numpy.random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randint </a:t>
            </a: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</a:t>
            </a:r>
            <a:r>
              <a:rPr sz="1800" spc="-10" dirty="0">
                <a:latin typeface="Microsoft Sans Serif"/>
                <a:cs typeface="Microsoft Sans Serif"/>
              </a:rPr>
              <a:t>range(10): print(randint(0,10))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59" y="46080"/>
            <a:ext cx="65036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1510" algn="l"/>
              </a:tabLst>
            </a:pPr>
            <a:r>
              <a:rPr dirty="0"/>
              <a:t>Random</a:t>
            </a:r>
            <a:r>
              <a:rPr spc="-125" dirty="0"/>
              <a:t> </a:t>
            </a:r>
            <a:r>
              <a:rPr spc="-10" dirty="0"/>
              <a:t>numbers</a:t>
            </a:r>
            <a:r>
              <a:rPr dirty="0"/>
              <a:t>	-</a:t>
            </a:r>
            <a:r>
              <a:rPr spc="-1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1018899"/>
            <a:ext cx="3268345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from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numpy.random</a:t>
            </a:r>
            <a:r>
              <a:rPr sz="1800" spc="-3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import</a:t>
            </a:r>
            <a:r>
              <a:rPr sz="1800" spc="-25" dirty="0">
                <a:latin typeface="Microsoft Sans Serif"/>
                <a:cs typeface="Microsoft Sans Serif"/>
              </a:rPr>
              <a:t> </a:t>
            </a:r>
            <a:r>
              <a:rPr sz="1800" spc="-20" dirty="0">
                <a:latin typeface="Microsoft Sans Serif"/>
                <a:cs typeface="Microsoft Sans Serif"/>
              </a:rPr>
              <a:t>rand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ts val="2090"/>
              </a:lnSpc>
              <a:spcBef>
                <a:spcPts val="1870"/>
              </a:spcBef>
            </a:pPr>
            <a:r>
              <a:rPr sz="1800" spc="-20" dirty="0">
                <a:latin typeface="Microsoft Sans Serif"/>
                <a:cs typeface="Microsoft Sans Serif"/>
              </a:rPr>
              <a:t>l=[]</a:t>
            </a:r>
            <a:endParaRPr sz="1800">
              <a:latin typeface="Microsoft Sans Serif"/>
              <a:cs typeface="Microsoft Sans Serif"/>
            </a:endParaRPr>
          </a:p>
          <a:p>
            <a:pPr marL="76200" marR="1512570" indent="-63500">
              <a:lnSpc>
                <a:spcPts val="2020"/>
              </a:lnSpc>
              <a:spcBef>
                <a:spcPts val="115"/>
              </a:spcBef>
            </a:pPr>
            <a:r>
              <a:rPr sz="1800" dirty="0">
                <a:latin typeface="Microsoft Sans Serif"/>
                <a:cs typeface="Microsoft Sans Serif"/>
              </a:rPr>
              <a:t>for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in </a:t>
            </a:r>
            <a:r>
              <a:rPr sz="1800" spc="-10" dirty="0">
                <a:latin typeface="Microsoft Sans Serif"/>
                <a:cs typeface="Microsoft Sans Serif"/>
              </a:rPr>
              <a:t>range(10): l.append(rand())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9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Microsoft Sans Serif"/>
                <a:cs typeface="Microsoft Sans Serif"/>
              </a:rPr>
              <a:t>print(l)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2258695">
              <a:lnSpc>
                <a:spcPts val="2020"/>
              </a:lnSpc>
              <a:spcBef>
                <a:spcPts val="5"/>
              </a:spcBef>
            </a:pPr>
            <a:r>
              <a:rPr sz="1800" spc="-10" dirty="0">
                <a:latin typeface="Microsoft Sans Serif"/>
                <a:cs typeface="Microsoft Sans Serif"/>
              </a:rPr>
              <a:t>plt.plot(l) plt.show()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</TotalTime>
  <Words>3235</Words>
  <Application>Microsoft Office PowerPoint</Application>
  <PresentationFormat>Custom</PresentationFormat>
  <Paragraphs>406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Cambria</vt:lpstr>
      <vt:lpstr>Cambria Math</vt:lpstr>
      <vt:lpstr>Microsoft Sans Serif</vt:lpstr>
      <vt:lpstr>Times New Roman</vt:lpstr>
      <vt:lpstr>Office Theme</vt:lpstr>
      <vt:lpstr>Module 3: Mathematical Physics II</vt:lpstr>
      <vt:lpstr>Sequential numbers</vt:lpstr>
      <vt:lpstr>Random numbers</vt:lpstr>
      <vt:lpstr>Probability Probability is the possibility of occurrence of an event or outcome.</vt:lpstr>
      <vt:lpstr>Probability</vt:lpstr>
      <vt:lpstr>Random numbers Random numbers generated in the computer are pseudo-random numbers.</vt:lpstr>
      <vt:lpstr>Randomness</vt:lpstr>
      <vt:lpstr>Random variable</vt:lpstr>
      <vt:lpstr>Random variable</vt:lpstr>
      <vt:lpstr>Random variable</vt:lpstr>
      <vt:lpstr>Central limit theorem</vt:lpstr>
      <vt:lpstr>Central tendencies and dispersion</vt:lpstr>
      <vt:lpstr>Central tendencies and dispersion</vt:lpstr>
      <vt:lpstr>PowerPoint Presentation</vt:lpstr>
      <vt:lpstr>Central tendencies and dispersion</vt:lpstr>
      <vt:lpstr>PowerPoint Presentation</vt:lpstr>
      <vt:lpstr>Central tendencies and dispersion</vt:lpstr>
      <vt:lpstr>Frequency distribution</vt:lpstr>
      <vt:lpstr>Frequency distribution</vt:lpstr>
      <vt:lpstr>Frequency distribution</vt:lpstr>
      <vt:lpstr>Frequency distribution</vt:lpstr>
      <vt:lpstr>Frequency distribution</vt:lpstr>
      <vt:lpstr>Frequency distribution</vt:lpstr>
      <vt:lpstr>Error analysis</vt:lpstr>
      <vt:lpstr>Error analysis</vt:lpstr>
      <vt:lpstr>PowerPoint Presentation</vt:lpstr>
      <vt:lpstr>PowerPoint Presentation</vt:lpstr>
      <vt:lpstr>Simple functions</vt:lpstr>
      <vt:lpstr>Simple functions</vt:lpstr>
      <vt:lpstr>Simple functions Find the domain and range of the functions</vt:lpstr>
      <vt:lpstr>Derivative Derivative of a function f(x) is defined as</vt:lpstr>
      <vt:lpstr>Derivative</vt:lpstr>
      <vt:lpstr>Integral</vt:lpstr>
      <vt:lpstr>Integral</vt:lpstr>
      <vt:lpstr>Numerical differentiation</vt:lpstr>
      <vt:lpstr>Numerical differentiation</vt:lpstr>
      <vt:lpstr>PowerPoint Presentation</vt:lpstr>
      <vt:lpstr>Numerical integration</vt:lpstr>
      <vt:lpstr>∫ f ( x) dx=w∗∑ f ( xi)=w∗((f (a)+f (a +w ))/ 2+(f (a +w )+f (a +2 w ))/ 2+(f (a +2 w )+f (a +3 w ))/ 2+...)</vt:lpstr>
      <vt:lpstr>Functions - Python</vt:lpstr>
      <vt:lpstr>Functions - Python</vt:lpstr>
      <vt:lpstr>Functions - Python</vt:lpstr>
      <vt:lpstr>Functions - Python</vt:lpstr>
      <vt:lpstr>Functions - Python</vt:lpstr>
      <vt:lpstr>Functions - Python</vt:lpstr>
      <vt:lpstr>Functions - Python</vt:lpstr>
      <vt:lpstr>Functions - Python</vt:lpstr>
      <vt:lpstr>Central tendencies - Python</vt:lpstr>
      <vt:lpstr>Central tendencies - Python</vt:lpstr>
      <vt:lpstr>Central tendencies - Python</vt:lpstr>
      <vt:lpstr>Central tendencies - Python</vt:lpstr>
      <vt:lpstr>Central tendencies - Python</vt:lpstr>
      <vt:lpstr>Random numbers - Python</vt:lpstr>
      <vt:lpstr>Random numbers -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shweta mukherjee</cp:lastModifiedBy>
  <cp:revision>4</cp:revision>
  <dcterms:created xsi:type="dcterms:W3CDTF">2025-09-22T04:34:30Z</dcterms:created>
  <dcterms:modified xsi:type="dcterms:W3CDTF">2025-09-26T04:40:16Z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2021-03-28T00:00:00Z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6.0</vt:lpwstr>
  </property>
  <property fmtid="{D5CDD505-2E9C-101B-9397-08002B2CF9AE}" pid="5" name="LastSaved">
    <vt:filetime>2021-03-28T00:00:00Z</vt:filetime>
  </property>
</Properties>
</file>