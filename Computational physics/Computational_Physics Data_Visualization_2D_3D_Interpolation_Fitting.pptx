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72" r:id="rId4"/>
    <p:sldId id="273" r:id="rId5"/>
    <p:sldId id="274" r:id="rId6"/>
    <p:sldId id="287" r:id="rId7"/>
    <p:sldId id="289" r:id="rId8"/>
    <p:sldId id="258" r:id="rId9"/>
    <p:sldId id="278" r:id="rId10"/>
    <p:sldId id="279" r:id="rId11"/>
    <p:sldId id="280" r:id="rId12"/>
    <p:sldId id="269" r:id="rId13"/>
    <p:sldId id="271" r:id="rId14"/>
    <p:sldId id="275" r:id="rId15"/>
    <p:sldId id="276" r:id="rId16"/>
    <p:sldId id="277" r:id="rId17"/>
    <p:sldId id="294" r:id="rId18"/>
    <p:sldId id="295" r:id="rId19"/>
    <p:sldId id="283" r:id="rId20"/>
    <p:sldId id="259" r:id="rId21"/>
    <p:sldId id="270" r:id="rId22"/>
    <p:sldId id="260" r:id="rId23"/>
    <p:sldId id="261" r:id="rId24"/>
    <p:sldId id="262" r:id="rId25"/>
    <p:sldId id="263" r:id="rId26"/>
    <p:sldId id="281" r:id="rId27"/>
    <p:sldId id="282" r:id="rId28"/>
    <p:sldId id="286" r:id="rId29"/>
    <p:sldId id="296" r:id="rId30"/>
    <p:sldId id="297" r:id="rId31"/>
    <p:sldId id="298" r:id="rId32"/>
    <p:sldId id="284" r:id="rId33"/>
    <p:sldId id="290" r:id="rId34"/>
    <p:sldId id="291" r:id="rId35"/>
    <p:sldId id="292" r:id="rId36"/>
    <p:sldId id="288" r:id="rId37"/>
    <p:sldId id="293" r:id="rId38"/>
    <p:sldId id="264" r:id="rId39"/>
    <p:sldId id="265" r:id="rId40"/>
    <p:sldId id="266" r:id="rId41"/>
    <p:sldId id="267" r:id="rId42"/>
    <p:sldId id="268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4B400-0B28-4FA7-ABBC-815F7B3663A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D3DE7-F4EE-4CE5-829F-E4EBD7A3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615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D3DE7-F4EE-4CE5-829F-E4EBD7A30A5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36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1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 Shweta Mukherjee</a:t>
            </a:r>
          </a:p>
          <a:p>
            <a:r>
              <a:rPr lang="en-IN" dirty="0"/>
              <a:t>VIT Bhopal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Importance of data visualization in scientific &amp; engineering studies</a:t>
            </a:r>
          </a:p>
          <a:p>
            <a:r>
              <a:t>• Role of plotting in understanding data trends</a:t>
            </a:r>
          </a:p>
          <a:p>
            <a:r>
              <a:t>• Applications: research, engineering, business analytics,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2E53B0-DB3E-37BB-C5A1-70DFCF08E2BF}"/>
              </a:ext>
            </a:extLst>
          </p:cNvPr>
          <p:cNvSpPr txBox="1"/>
          <p:nvPr/>
        </p:nvSpPr>
        <p:spPr>
          <a:xfrm>
            <a:off x="314632" y="615304"/>
            <a:ext cx="88293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Fundamentals of computations</a:t>
            </a:r>
          </a:p>
          <a:p>
            <a:r>
              <a:rPr lang="en-US" dirty="0"/>
              <a:t>A programming language generally has following components</a:t>
            </a:r>
          </a:p>
          <a:p>
            <a:endParaRPr lang="en-US" dirty="0"/>
          </a:p>
          <a:p>
            <a:r>
              <a:rPr lang="en-US" dirty="0"/>
              <a:t>1. Data type: Object defined in the program will have some basic characteristic</a:t>
            </a:r>
          </a:p>
          <a:p>
            <a:endParaRPr lang="en-US" dirty="0"/>
          </a:p>
          <a:p>
            <a:r>
              <a:rPr lang="en-US" dirty="0"/>
              <a:t>Example: real or integer.</a:t>
            </a:r>
          </a:p>
          <a:p>
            <a:endParaRPr lang="en-US" dirty="0"/>
          </a:p>
          <a:p>
            <a:r>
              <a:rPr lang="en-US" dirty="0"/>
              <a:t>2. Data structure: Data can be represented in complex form</a:t>
            </a:r>
          </a:p>
          <a:p>
            <a:endParaRPr lang="en-US" dirty="0"/>
          </a:p>
          <a:p>
            <a:r>
              <a:rPr lang="en-US" dirty="0"/>
              <a:t>Example: Arrays.</a:t>
            </a:r>
          </a:p>
          <a:p>
            <a:endParaRPr lang="en-US" dirty="0"/>
          </a:p>
          <a:p>
            <a:r>
              <a:rPr lang="en-US" dirty="0"/>
              <a:t>3. Variables: Place to store the data or values</a:t>
            </a:r>
          </a:p>
          <a:p>
            <a:endParaRPr lang="en-US" dirty="0"/>
          </a:p>
          <a:p>
            <a:r>
              <a:rPr lang="en-US" dirty="0"/>
              <a:t>4. Assignments: It is a statement that sets and/or re-sets the value stored in the variable</a:t>
            </a:r>
          </a:p>
          <a:p>
            <a:endParaRPr lang="en-US" dirty="0"/>
          </a:p>
          <a:p>
            <a:r>
              <a:rPr lang="en-US" dirty="0"/>
              <a:t>Example: a=3+1.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6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E91BA3-057A-6029-C95C-22F2B36BDCCE}"/>
              </a:ext>
            </a:extLst>
          </p:cNvPr>
          <p:cNvSpPr txBox="1"/>
          <p:nvPr/>
        </p:nvSpPr>
        <p:spPr>
          <a:xfrm>
            <a:off x="521109" y="1723298"/>
            <a:ext cx="79837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Function: It is a command that accomplish a specific task. It generally takes an</a:t>
            </a:r>
          </a:p>
          <a:p>
            <a:r>
              <a:rPr lang="en-US" dirty="0"/>
              <a:t>argument and return a value</a:t>
            </a:r>
          </a:p>
          <a:p>
            <a:endParaRPr lang="en-US" dirty="0"/>
          </a:p>
          <a:p>
            <a:r>
              <a:rPr lang="en-US" dirty="0"/>
              <a:t>Example: print “hello world” ---&gt; hello world</a:t>
            </a:r>
          </a:p>
          <a:p>
            <a:endParaRPr lang="en-US" dirty="0"/>
          </a:p>
          <a:p>
            <a:r>
              <a:rPr lang="en-US" dirty="0"/>
              <a:t>6. Control structure: Control structures are specific commands that dictate which</a:t>
            </a:r>
          </a:p>
          <a:p>
            <a:r>
              <a:rPr lang="en-US" dirty="0"/>
              <a:t>part of the program the computer will executed next.</a:t>
            </a:r>
          </a:p>
          <a:p>
            <a:endParaRPr lang="en-US" dirty="0"/>
          </a:p>
          <a:p>
            <a:r>
              <a:rPr lang="en-US" dirty="0"/>
              <a:t>Example: If command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13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BFC7AE-3DED-9C12-F9E7-48A5FF963974}"/>
              </a:ext>
            </a:extLst>
          </p:cNvPr>
          <p:cNvSpPr txBox="1"/>
          <p:nvPr/>
        </p:nvSpPr>
        <p:spPr>
          <a:xfrm>
            <a:off x="688258" y="245916"/>
            <a:ext cx="64352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/>
              <a:t>Data</a:t>
            </a:r>
          </a:p>
          <a:p>
            <a:endParaRPr lang="en-IN" sz="2400" dirty="0"/>
          </a:p>
          <a:p>
            <a:r>
              <a:rPr lang="en-IN" sz="2400" dirty="0"/>
              <a:t>Data is/are a set of values of qualitative or quantitative variables.</a:t>
            </a:r>
          </a:p>
          <a:p>
            <a:endParaRPr lang="en-IN" sz="2400" dirty="0"/>
          </a:p>
          <a:p>
            <a:r>
              <a:rPr lang="en-IN" sz="2400" dirty="0"/>
              <a:t>Data in itself has a little meaning.</a:t>
            </a:r>
          </a:p>
          <a:p>
            <a:endParaRPr lang="en-IN" sz="2400" dirty="0"/>
          </a:p>
          <a:p>
            <a:r>
              <a:rPr lang="en-IN" sz="2400" b="1" i="1" u="sng" dirty="0"/>
              <a:t>Information</a:t>
            </a:r>
          </a:p>
          <a:p>
            <a:endParaRPr lang="en-IN" sz="2400" dirty="0"/>
          </a:p>
          <a:p>
            <a:r>
              <a:rPr lang="en-IN" sz="2400" dirty="0"/>
              <a:t>Information is obtained via post-processing of data.</a:t>
            </a:r>
          </a:p>
          <a:p>
            <a:endParaRPr lang="en-IN" sz="2400" dirty="0"/>
          </a:p>
          <a:p>
            <a:r>
              <a:rPr lang="en-IN" sz="2400" dirty="0"/>
              <a:t>Information has a specific meaning to it.</a:t>
            </a:r>
          </a:p>
          <a:p>
            <a:endParaRPr lang="en-IN" sz="2400" dirty="0"/>
          </a:p>
          <a:p>
            <a:r>
              <a:rPr lang="en-IN" sz="2400" dirty="0"/>
              <a:t>Information is specific to the requirement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82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DCC92-6E8B-11A1-3493-8602A1372C34}"/>
              </a:ext>
            </a:extLst>
          </p:cNvPr>
          <p:cNvSpPr txBox="1"/>
          <p:nvPr/>
        </p:nvSpPr>
        <p:spPr>
          <a:xfrm>
            <a:off x="240890" y="176243"/>
            <a:ext cx="866221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Qualitative (Categorical) Data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Definition: Non-numerical, describes qualities or categories.</a:t>
            </a:r>
          </a:p>
          <a:p>
            <a:endParaRPr lang="en-US" dirty="0"/>
          </a:p>
          <a:p>
            <a:r>
              <a:rPr lang="en-US" dirty="0" err="1"/>
              <a:t>Types:Nominal</a:t>
            </a:r>
            <a:r>
              <a:rPr lang="en-US" dirty="0"/>
              <a:t>: Labels without any order.</a:t>
            </a:r>
          </a:p>
          <a:p>
            <a:r>
              <a:rPr lang="en-US" dirty="0"/>
              <a:t>Examples: Gender (Male/Female), Colors (Red, Blue, Green).</a:t>
            </a:r>
          </a:p>
          <a:p>
            <a:endParaRPr lang="en-US" dirty="0"/>
          </a:p>
          <a:p>
            <a:r>
              <a:rPr lang="en-US" dirty="0"/>
              <a:t>Ordinal: Categories with a meaningful order but no fixed difference.</a:t>
            </a:r>
          </a:p>
          <a:p>
            <a:r>
              <a:rPr lang="en-US" dirty="0"/>
              <a:t>Examples: Rank in a race (1st, 2nd, 3rd), Education level (High school, Graduate, Postgraduate).</a:t>
            </a:r>
          </a:p>
          <a:p>
            <a:endParaRPr lang="en-US" dirty="0"/>
          </a:p>
          <a:p>
            <a:r>
              <a:rPr lang="en-US" dirty="0"/>
              <a:t>2. Quantitative (Numerical) </a:t>
            </a:r>
            <a:r>
              <a:rPr lang="en-US" dirty="0" err="1"/>
              <a:t>DataDefinition</a:t>
            </a:r>
            <a:r>
              <a:rPr lang="en-US" dirty="0"/>
              <a:t>: Numerical values, measurable.</a:t>
            </a:r>
          </a:p>
          <a:p>
            <a:endParaRPr lang="en-US" dirty="0"/>
          </a:p>
          <a:p>
            <a:r>
              <a:rPr lang="en-US" dirty="0"/>
              <a:t>Types: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Discrete Data: Countable, integers only.</a:t>
            </a:r>
          </a:p>
          <a:p>
            <a:endParaRPr lang="en-US" dirty="0"/>
          </a:p>
          <a:p>
            <a:r>
              <a:rPr lang="en-US" dirty="0"/>
              <a:t>Examples: Number of students in a class, number of cars in parking.</a:t>
            </a:r>
          </a:p>
          <a:p>
            <a:endParaRPr lang="en-US" dirty="0"/>
          </a:p>
          <a:p>
            <a:r>
              <a:rPr lang="en-US" dirty="0"/>
              <a:t>Continuous Data: Can take any real value within a range.</a:t>
            </a:r>
          </a:p>
          <a:p>
            <a:r>
              <a:rPr lang="en-US" dirty="0"/>
              <a:t>Examples: Temperature, height, weight, voltage, current.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94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918C6-E960-71F4-B3BA-595F874FBA92}"/>
              </a:ext>
            </a:extLst>
          </p:cNvPr>
          <p:cNvSpPr txBox="1"/>
          <p:nvPr/>
        </p:nvSpPr>
        <p:spPr>
          <a:xfrm>
            <a:off x="304801" y="540774"/>
            <a:ext cx="66318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Example of different types of data</a:t>
            </a:r>
          </a:p>
          <a:p>
            <a:endParaRPr lang="en-US" b="1" i="1" u="sng" dirty="0"/>
          </a:p>
          <a:p>
            <a:r>
              <a:rPr lang="en-US" b="1" i="1" u="sng" dirty="0"/>
              <a:t>For each variable below, identify whether it is ordinal,</a:t>
            </a:r>
          </a:p>
          <a:p>
            <a:r>
              <a:rPr lang="en-US" b="1" i="1" u="sng" dirty="0"/>
              <a:t>categorical, or numeric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Height of a person.(Numeric)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Education level (High School, Bachelor’s, Master’s, PhD)(Ordinal).</a:t>
            </a:r>
          </a:p>
          <a:p>
            <a:endParaRPr lang="en-US" dirty="0"/>
          </a:p>
          <a:p>
            <a:r>
              <a:rPr lang="en-US" dirty="0"/>
              <a:t>3. Favorite color (Red, Blue, Green, etc.)(Categorical).</a:t>
            </a:r>
          </a:p>
          <a:p>
            <a:endParaRPr lang="en-US" dirty="0"/>
          </a:p>
          <a:p>
            <a:r>
              <a:rPr lang="en-US" dirty="0"/>
              <a:t>4. Income in rupees per month (Numerical).</a:t>
            </a:r>
          </a:p>
          <a:p>
            <a:endParaRPr lang="en-US" dirty="0"/>
          </a:p>
          <a:p>
            <a:r>
              <a:rPr lang="en-US" dirty="0"/>
              <a:t>In which of these cases we can use histogram? (For Numeric 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74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(2D)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plots, scatter plots, bar charts, histograms</a:t>
            </a:r>
          </a:p>
          <a:p>
            <a:r>
              <a:t>• Use in representing variables vs. time, frequency, or categories</a:t>
            </a:r>
          </a:p>
          <a:p>
            <a:r>
              <a:t>• Example: Temperature variation with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B4E56-B648-C8AA-CCCC-659B36797BE1}"/>
              </a:ext>
            </a:extLst>
          </p:cNvPr>
          <p:cNvSpPr txBox="1"/>
          <p:nvPr/>
        </p:nvSpPr>
        <p:spPr>
          <a:xfrm>
            <a:off x="353961" y="753802"/>
            <a:ext cx="768882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Data visualization</a:t>
            </a:r>
          </a:p>
          <a:p>
            <a:r>
              <a:rPr lang="en-US" sz="2800" b="1" i="1" dirty="0"/>
              <a:t>Plotting</a:t>
            </a:r>
          </a:p>
          <a:p>
            <a:endParaRPr lang="en-US" sz="2400" dirty="0"/>
          </a:p>
          <a:p>
            <a:r>
              <a:rPr lang="en-US" sz="2400" dirty="0"/>
              <a:t>A plot is a graphical technique for representing a data</a:t>
            </a:r>
          </a:p>
          <a:p>
            <a:r>
              <a:rPr lang="en-US" sz="2400" dirty="0"/>
              <a:t>set, exhibiting the relationship between two or more</a:t>
            </a:r>
          </a:p>
          <a:p>
            <a:r>
              <a:rPr lang="en-US" sz="2400" dirty="0"/>
              <a:t>variables.</a:t>
            </a:r>
          </a:p>
          <a:p>
            <a:endParaRPr lang="en-US" sz="2400" dirty="0"/>
          </a:p>
          <a:p>
            <a:r>
              <a:rPr lang="en-US" sz="2400" dirty="0"/>
              <a:t>They are an important post processing method.</a:t>
            </a:r>
          </a:p>
          <a:p>
            <a:endParaRPr lang="en-US" sz="2400" dirty="0"/>
          </a:p>
          <a:p>
            <a:r>
              <a:rPr lang="en-US" sz="2400" dirty="0"/>
              <a:t>Data sets can graphically be represented in various</a:t>
            </a:r>
          </a:p>
          <a:p>
            <a:r>
              <a:rPr lang="en-US" sz="2400" dirty="0"/>
              <a:t>forms</a:t>
            </a:r>
          </a:p>
          <a:p>
            <a:endParaRPr lang="en-US" sz="2400" dirty="0"/>
          </a:p>
          <a:p>
            <a:r>
              <a:rPr lang="en-US" sz="2400" dirty="0"/>
              <a:t>Line chart</a:t>
            </a:r>
          </a:p>
          <a:p>
            <a:r>
              <a:rPr lang="en-US" sz="2400" dirty="0"/>
              <a:t>Pie chart</a:t>
            </a:r>
          </a:p>
          <a:p>
            <a:r>
              <a:rPr lang="en-US" sz="2400" dirty="0"/>
              <a:t>Log plot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778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AC3520-0F89-FE1C-B9B5-885E88B808A8}"/>
              </a:ext>
            </a:extLst>
          </p:cNvPr>
          <p:cNvSpPr txBox="1"/>
          <p:nvPr/>
        </p:nvSpPr>
        <p:spPr>
          <a:xfrm>
            <a:off x="88490" y="1446299"/>
            <a:ext cx="67695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 chart</a:t>
            </a:r>
          </a:p>
          <a:p>
            <a:endParaRPr lang="en-US" dirty="0"/>
          </a:p>
          <a:p>
            <a:r>
              <a:rPr lang="en-US" dirty="0"/>
              <a:t>Also known as line plot or curve plot or</a:t>
            </a:r>
          </a:p>
          <a:p>
            <a:r>
              <a:rPr lang="en-US" dirty="0"/>
              <a:t>line graph.</a:t>
            </a:r>
          </a:p>
          <a:p>
            <a:endParaRPr lang="en-US" dirty="0"/>
          </a:p>
          <a:p>
            <a:r>
              <a:rPr lang="en-US" dirty="0"/>
              <a:t>This displays information as a series of</a:t>
            </a:r>
          </a:p>
          <a:p>
            <a:r>
              <a:rPr lang="en-US" dirty="0"/>
              <a:t>data points called 'markers'.</a:t>
            </a:r>
          </a:p>
          <a:p>
            <a:endParaRPr lang="en-US" dirty="0"/>
          </a:p>
          <a:p>
            <a:r>
              <a:rPr lang="en-US" dirty="0"/>
              <a:t>A line chart is often used to visualize a</a:t>
            </a:r>
          </a:p>
          <a:p>
            <a:r>
              <a:rPr lang="en-US" dirty="0"/>
              <a:t>trend in data.</a:t>
            </a:r>
          </a:p>
          <a:p>
            <a:endParaRPr lang="en-US" dirty="0"/>
          </a:p>
          <a:p>
            <a:r>
              <a:rPr lang="en-US" dirty="0"/>
              <a:t>A multi-line chart can be used to compare</a:t>
            </a:r>
          </a:p>
          <a:p>
            <a:r>
              <a:rPr lang="en-US" dirty="0"/>
              <a:t>the behavior of same variables in different</a:t>
            </a:r>
          </a:p>
          <a:p>
            <a:r>
              <a:rPr lang="en-US" dirty="0"/>
              <a:t>environments or conditions.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AD2F9-0DF4-333D-02E2-84AB492D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097" y="1927737"/>
            <a:ext cx="39624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9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05DFD-2FC4-60F7-85B1-F587641AEA13}"/>
              </a:ext>
            </a:extLst>
          </p:cNvPr>
          <p:cNvSpPr txBox="1"/>
          <p:nvPr/>
        </p:nvSpPr>
        <p:spPr>
          <a:xfrm>
            <a:off x="368710" y="70583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visualization</a:t>
            </a:r>
          </a:p>
          <a:p>
            <a:endParaRPr lang="en-US" dirty="0"/>
          </a:p>
          <a:p>
            <a:r>
              <a:rPr lang="en-US" dirty="0"/>
              <a:t>Bar Graphs</a:t>
            </a:r>
          </a:p>
          <a:p>
            <a:endParaRPr lang="en-US" dirty="0"/>
          </a:p>
          <a:p>
            <a:r>
              <a:rPr lang="en-US" dirty="0"/>
              <a:t>Bar graph or bar chart shows the comparison</a:t>
            </a:r>
          </a:p>
          <a:p>
            <a:r>
              <a:rPr lang="en-US" dirty="0"/>
              <a:t>between the discreet categories.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6EB0B-6044-C566-8D98-34F7FEFE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83" y="558348"/>
            <a:ext cx="3603523" cy="3082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AEF12D-8C9F-F6AB-4994-A5BA627A1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48" y="3788243"/>
            <a:ext cx="3476625" cy="2200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6C42B9-2710-E8FD-BDA8-DE151664D314}"/>
              </a:ext>
            </a:extLst>
          </p:cNvPr>
          <p:cNvSpPr txBox="1"/>
          <p:nvPr/>
        </p:nvSpPr>
        <p:spPr>
          <a:xfrm>
            <a:off x="245806" y="402998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Pie Chart</a:t>
            </a:r>
          </a:p>
          <a:p>
            <a:endParaRPr lang="en-US" dirty="0"/>
          </a:p>
          <a:p>
            <a:r>
              <a:rPr lang="en-US" dirty="0"/>
              <a:t>It is a circular statistical graph, with each slice</a:t>
            </a:r>
          </a:p>
          <a:p>
            <a:r>
              <a:rPr lang="en-US" dirty="0"/>
              <a:t>representing the numerical proportion of the</a:t>
            </a:r>
          </a:p>
          <a:p>
            <a:r>
              <a:rPr lang="en-US" dirty="0"/>
              <a:t>category.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579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406437-A280-C4A6-4AED-8C099AAED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88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9FED28-3224-6A40-FCE7-0283CFE30B0C}"/>
              </a:ext>
            </a:extLst>
          </p:cNvPr>
          <p:cNvSpPr txBox="1"/>
          <p:nvPr/>
        </p:nvSpPr>
        <p:spPr>
          <a:xfrm>
            <a:off x="2286000" y="2000297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Data plotting - Python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endParaRPr lang="en-IN" dirty="0"/>
          </a:p>
          <a:p>
            <a:r>
              <a:rPr lang="en-IN" dirty="0"/>
              <a:t>x = [1,2,3,4]</a:t>
            </a:r>
          </a:p>
          <a:p>
            <a:endParaRPr lang="en-IN" dirty="0"/>
          </a:p>
          <a:p>
            <a:r>
              <a:rPr lang="en-IN" dirty="0"/>
              <a:t>y = [1,2,3,4]</a:t>
            </a:r>
          </a:p>
          <a:p>
            <a:r>
              <a:rPr lang="en-IN" dirty="0" err="1"/>
              <a:t>plt.plot</a:t>
            </a:r>
            <a:r>
              <a:rPr lang="en-IN" dirty="0"/>
              <a:t>(x, y)</a:t>
            </a:r>
          </a:p>
          <a:p>
            <a:endParaRPr lang="en-IN" dirty="0"/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35298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0899B-0F9C-3BB2-F5FD-5E1BCCA8C437}"/>
              </a:ext>
            </a:extLst>
          </p:cNvPr>
          <p:cNvSpPr txBox="1"/>
          <p:nvPr/>
        </p:nvSpPr>
        <p:spPr>
          <a:xfrm>
            <a:off x="1465006" y="1723298"/>
            <a:ext cx="53929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/>
              <a:t>Data plotting - Python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endParaRPr lang="en-IN" dirty="0"/>
          </a:p>
          <a:p>
            <a:r>
              <a:rPr lang="en-IN" dirty="0"/>
              <a:t>x = [1,2,3,4]</a:t>
            </a:r>
          </a:p>
          <a:p>
            <a:endParaRPr lang="en-IN" dirty="0"/>
          </a:p>
          <a:p>
            <a:r>
              <a:rPr lang="en-IN" dirty="0"/>
              <a:t>y = [1,2,3,4]</a:t>
            </a:r>
          </a:p>
          <a:p>
            <a:r>
              <a:rPr lang="en-IN" dirty="0" err="1"/>
              <a:t>plt.plot</a:t>
            </a:r>
            <a:r>
              <a:rPr lang="en-IN" dirty="0"/>
              <a:t>(x, y)</a:t>
            </a:r>
          </a:p>
          <a:p>
            <a:endParaRPr lang="en-IN" dirty="0"/>
          </a:p>
          <a:p>
            <a:r>
              <a:rPr lang="en-IN" dirty="0" err="1"/>
              <a:t>plt.xlabel</a:t>
            </a:r>
            <a:r>
              <a:rPr lang="en-IN" dirty="0"/>
              <a:t>('x - axis')</a:t>
            </a:r>
          </a:p>
          <a:p>
            <a:r>
              <a:rPr lang="en-IN" dirty="0" err="1"/>
              <a:t>plt.ylabel</a:t>
            </a:r>
            <a:r>
              <a:rPr lang="en-IN" dirty="0"/>
              <a:t>('y - axis')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64362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32D26F-229F-7878-B585-848D5D5C1BB4}"/>
              </a:ext>
            </a:extLst>
          </p:cNvPr>
          <p:cNvSpPr txBox="1"/>
          <p:nvPr/>
        </p:nvSpPr>
        <p:spPr>
          <a:xfrm>
            <a:off x="2286000" y="172329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u="sng" dirty="0"/>
              <a:t>Data plotting - Python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x = [1,2,3,4]</a:t>
            </a:r>
          </a:p>
          <a:p>
            <a:endParaRPr lang="en-IN" dirty="0"/>
          </a:p>
          <a:p>
            <a:r>
              <a:rPr lang="en-IN" dirty="0"/>
              <a:t>y = [1,2,3,4]</a:t>
            </a:r>
          </a:p>
          <a:p>
            <a:endParaRPr lang="en-IN" dirty="0"/>
          </a:p>
          <a:p>
            <a:r>
              <a:rPr lang="en-IN" dirty="0" err="1"/>
              <a:t>plt.plot</a:t>
            </a:r>
            <a:r>
              <a:rPr lang="en-IN" dirty="0"/>
              <a:t>(x, y)</a:t>
            </a:r>
          </a:p>
          <a:p>
            <a:r>
              <a:rPr lang="en-IN" dirty="0" err="1"/>
              <a:t>plt.xlabel</a:t>
            </a:r>
            <a:r>
              <a:rPr lang="en-IN" dirty="0"/>
              <a:t>('x – axis')</a:t>
            </a:r>
          </a:p>
          <a:p>
            <a:r>
              <a:rPr lang="en-IN" dirty="0" err="1"/>
              <a:t>plt.ylabel</a:t>
            </a:r>
            <a:r>
              <a:rPr lang="en-IN" dirty="0"/>
              <a:t>('y – axis')</a:t>
            </a:r>
          </a:p>
          <a:p>
            <a:endParaRPr lang="en-IN" dirty="0"/>
          </a:p>
          <a:p>
            <a:r>
              <a:rPr lang="en-IN" dirty="0" err="1"/>
              <a:t>plt.title</a:t>
            </a:r>
            <a:r>
              <a:rPr lang="en-IN" dirty="0"/>
              <a:t>('My first graph')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61145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7A29ED-EDB4-709B-B413-4013756BE238}"/>
              </a:ext>
            </a:extLst>
          </p:cNvPr>
          <p:cNvSpPr txBox="1"/>
          <p:nvPr/>
        </p:nvSpPr>
        <p:spPr>
          <a:xfrm>
            <a:off x="2286000" y="172329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/>
              <a:t>Data plotting - Python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x = [1,2,3,4]</a:t>
            </a:r>
          </a:p>
          <a:p>
            <a:r>
              <a:rPr lang="en-IN" dirty="0"/>
              <a:t>y = [1,2,3,4]</a:t>
            </a:r>
          </a:p>
          <a:p>
            <a:r>
              <a:rPr lang="en-IN" dirty="0" err="1"/>
              <a:t>plt.plot</a:t>
            </a:r>
            <a:r>
              <a:rPr lang="en-IN" dirty="0"/>
              <a:t>(x, y, </a:t>
            </a:r>
            <a:r>
              <a:rPr lang="en-IN" dirty="0" err="1"/>
              <a:t>color</a:t>
            </a:r>
            <a:r>
              <a:rPr lang="en-IN" dirty="0"/>
              <a:t>='green', </a:t>
            </a:r>
            <a:r>
              <a:rPr lang="en-IN" dirty="0" err="1"/>
              <a:t>linestyle</a:t>
            </a:r>
            <a:r>
              <a:rPr lang="en-IN" dirty="0"/>
              <a:t>='dashed', linewidth = 3,</a:t>
            </a:r>
          </a:p>
          <a:p>
            <a:r>
              <a:rPr lang="en-IN" dirty="0"/>
              <a:t>marker='o', </a:t>
            </a:r>
            <a:r>
              <a:rPr lang="en-IN" dirty="0" err="1"/>
              <a:t>markerfacecolor</a:t>
            </a:r>
            <a:r>
              <a:rPr lang="en-IN" dirty="0"/>
              <a:t>='blue', </a:t>
            </a:r>
            <a:r>
              <a:rPr lang="en-IN" dirty="0" err="1"/>
              <a:t>markersize</a:t>
            </a:r>
            <a:r>
              <a:rPr lang="en-IN" dirty="0"/>
              <a:t>=12)</a:t>
            </a:r>
          </a:p>
          <a:p>
            <a:r>
              <a:rPr lang="en-IN" dirty="0" err="1"/>
              <a:t>plt.xlabel</a:t>
            </a:r>
            <a:r>
              <a:rPr lang="en-IN" dirty="0"/>
              <a:t>('x – axis')</a:t>
            </a:r>
          </a:p>
          <a:p>
            <a:r>
              <a:rPr lang="en-IN" dirty="0" err="1"/>
              <a:t>plt.ylabel</a:t>
            </a:r>
            <a:r>
              <a:rPr lang="en-IN" dirty="0"/>
              <a:t>('y – axis')</a:t>
            </a:r>
          </a:p>
          <a:p>
            <a:r>
              <a:rPr lang="en-IN" dirty="0" err="1"/>
              <a:t>plt.title</a:t>
            </a:r>
            <a:r>
              <a:rPr lang="en-IN" dirty="0"/>
              <a:t>('My first graph')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00837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E7136-EC1E-5F4A-1539-5BDDA56265D0}"/>
              </a:ext>
            </a:extLst>
          </p:cNvPr>
          <p:cNvSpPr txBox="1"/>
          <p:nvPr/>
        </p:nvSpPr>
        <p:spPr>
          <a:xfrm>
            <a:off x="2286000" y="172329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y1 = [1,2,3,4]</a:t>
            </a:r>
          </a:p>
          <a:p>
            <a:r>
              <a:rPr lang="en-IN" dirty="0"/>
              <a:t>y2 = [1,2,3,4]</a:t>
            </a:r>
          </a:p>
          <a:p>
            <a:r>
              <a:rPr lang="en-IN" dirty="0" err="1"/>
              <a:t>tick_label</a:t>
            </a:r>
            <a:r>
              <a:rPr lang="en-IN" dirty="0"/>
              <a:t> = ['one', 'two', 'three', 'four']</a:t>
            </a:r>
          </a:p>
          <a:p>
            <a:r>
              <a:rPr lang="en-IN" dirty="0" err="1"/>
              <a:t>plt.bar</a:t>
            </a:r>
            <a:r>
              <a:rPr lang="en-IN" dirty="0"/>
              <a:t>(</a:t>
            </a:r>
            <a:r>
              <a:rPr lang="en-IN" dirty="0" err="1"/>
              <a:t>np.arange</a:t>
            </a:r>
            <a:r>
              <a:rPr lang="en-IN" dirty="0"/>
              <a:t>(</a:t>
            </a:r>
            <a:r>
              <a:rPr lang="en-IN" dirty="0" err="1"/>
              <a:t>len</a:t>
            </a:r>
            <a:r>
              <a:rPr lang="en-IN" dirty="0"/>
              <a:t>(y1))-0.2,y1,tick_label = </a:t>
            </a:r>
            <a:r>
              <a:rPr lang="en-IN" dirty="0" err="1"/>
              <a:t>tick_label</a:t>
            </a:r>
            <a:r>
              <a:rPr lang="en-IN" dirty="0"/>
              <a:t>, width=0.4)</a:t>
            </a:r>
          </a:p>
          <a:p>
            <a:r>
              <a:rPr lang="en-IN" dirty="0" err="1"/>
              <a:t>plt.bar</a:t>
            </a:r>
            <a:r>
              <a:rPr lang="en-IN" dirty="0"/>
              <a:t>(</a:t>
            </a:r>
            <a:r>
              <a:rPr lang="en-IN" dirty="0" err="1"/>
              <a:t>np.arange</a:t>
            </a:r>
            <a:r>
              <a:rPr lang="en-IN" dirty="0"/>
              <a:t>(</a:t>
            </a:r>
            <a:r>
              <a:rPr lang="en-IN" dirty="0" err="1"/>
              <a:t>len</a:t>
            </a:r>
            <a:r>
              <a:rPr lang="en-IN" dirty="0"/>
              <a:t>(y2))+0.2,y2,tick_label = </a:t>
            </a:r>
            <a:r>
              <a:rPr lang="en-IN" dirty="0" err="1"/>
              <a:t>tick_label</a:t>
            </a:r>
            <a:r>
              <a:rPr lang="en-IN" dirty="0"/>
              <a:t>, width=0.4)</a:t>
            </a:r>
          </a:p>
          <a:p>
            <a:r>
              <a:rPr lang="en-IN" dirty="0" err="1"/>
              <a:t>plt.title</a:t>
            </a:r>
            <a:r>
              <a:rPr lang="en-IN" dirty="0"/>
              <a:t>('my bar chart')</a:t>
            </a:r>
          </a:p>
          <a:p>
            <a:r>
              <a:rPr lang="en-IN" dirty="0" err="1"/>
              <a:t>plt.legend</a:t>
            </a:r>
            <a:r>
              <a:rPr lang="en-IN" dirty="0"/>
              <a:t>(labels=['</a:t>
            </a:r>
            <a:r>
              <a:rPr lang="en-IN" dirty="0" err="1"/>
              <a:t>a','b</a:t>
            </a:r>
            <a:r>
              <a:rPr lang="en-IN" dirty="0"/>
              <a:t>'])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38485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67A320-C59C-2530-EFDB-89B52424E945}"/>
              </a:ext>
            </a:extLst>
          </p:cNvPr>
          <p:cNvSpPr txBox="1"/>
          <p:nvPr/>
        </p:nvSpPr>
        <p:spPr>
          <a:xfrm>
            <a:off x="1519084" y="485282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ages =[2,5,70,40,30,45,50,45,43,40,44,60,7,13,57,18,90,77,32,21,20,40]</a:t>
            </a:r>
          </a:p>
          <a:p>
            <a:r>
              <a:rPr lang="en-IN" dirty="0"/>
              <a:t>range = (0, 100)</a:t>
            </a:r>
          </a:p>
          <a:p>
            <a:r>
              <a:rPr lang="en-IN" dirty="0"/>
              <a:t>bins = 10</a:t>
            </a:r>
          </a:p>
          <a:p>
            <a:r>
              <a:rPr lang="en-IN" dirty="0" err="1"/>
              <a:t>plt.hist</a:t>
            </a:r>
            <a:r>
              <a:rPr lang="en-IN" dirty="0"/>
              <a:t>(ages, bins, range)</a:t>
            </a:r>
          </a:p>
          <a:p>
            <a:r>
              <a:rPr lang="en-IN" dirty="0" err="1"/>
              <a:t>plt.xlabel</a:t>
            </a:r>
            <a:r>
              <a:rPr lang="en-IN" dirty="0"/>
              <a:t>('age')</a:t>
            </a:r>
          </a:p>
          <a:p>
            <a:r>
              <a:rPr lang="en-IN" dirty="0" err="1"/>
              <a:t>plt.ylabel</a:t>
            </a:r>
            <a:r>
              <a:rPr lang="en-IN" dirty="0"/>
              <a:t>('# of people')</a:t>
            </a:r>
          </a:p>
          <a:p>
            <a:r>
              <a:rPr lang="en-IN" dirty="0" err="1"/>
              <a:t>plt.title</a:t>
            </a:r>
            <a:r>
              <a:rPr lang="en-IN" dirty="0"/>
              <a:t>('My histogram')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8071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520B3-7050-D4DE-4772-94CC112D0E87}"/>
              </a:ext>
            </a:extLst>
          </p:cNvPr>
          <p:cNvSpPr txBox="1"/>
          <p:nvPr/>
        </p:nvSpPr>
        <p:spPr>
          <a:xfrm>
            <a:off x="142567" y="58846"/>
            <a:ext cx="885886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numpy.polynomial.polynomial</a:t>
            </a:r>
            <a:r>
              <a:rPr lang="en-IN" dirty="0"/>
              <a:t> import Polynomial</a:t>
            </a:r>
          </a:p>
          <a:p>
            <a:endParaRPr lang="en-IN" dirty="0"/>
          </a:p>
          <a:p>
            <a:r>
              <a:rPr lang="en-IN" dirty="0"/>
              <a:t># Sample data</a:t>
            </a:r>
          </a:p>
          <a:p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([0, 1, 2, 3, 4, 5])</a:t>
            </a:r>
          </a:p>
          <a:p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([2.1, 2.9, 7.2, 20.1, 50.3, 120.5])</a:t>
            </a:r>
          </a:p>
          <a:p>
            <a:endParaRPr lang="en-IN" dirty="0"/>
          </a:p>
          <a:p>
            <a:r>
              <a:rPr lang="en-IN" dirty="0"/>
              <a:t># Fit polynomial of degree 2</a:t>
            </a:r>
          </a:p>
          <a:p>
            <a:r>
              <a:rPr lang="en-IN" dirty="0" err="1"/>
              <a:t>coeffs</a:t>
            </a:r>
            <a:r>
              <a:rPr lang="en-IN" dirty="0"/>
              <a:t> = </a:t>
            </a:r>
            <a:r>
              <a:rPr lang="en-IN" dirty="0" err="1"/>
              <a:t>np.polyfit</a:t>
            </a:r>
            <a:r>
              <a:rPr lang="en-IN" dirty="0"/>
              <a:t>(x, y, 2)  # Quadratic</a:t>
            </a:r>
          </a:p>
          <a:p>
            <a:r>
              <a:rPr lang="en-IN" dirty="0"/>
              <a:t>p = np.poly1d(</a:t>
            </a:r>
            <a:r>
              <a:rPr lang="en-IN" dirty="0" err="1"/>
              <a:t>coeffs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Generate smooth curve</a:t>
            </a:r>
          </a:p>
          <a:p>
            <a:r>
              <a:rPr lang="en-IN" dirty="0" err="1"/>
              <a:t>x_fit</a:t>
            </a:r>
            <a:r>
              <a:rPr lang="en-IN" dirty="0"/>
              <a:t> = </a:t>
            </a:r>
            <a:r>
              <a:rPr lang="en-IN" dirty="0" err="1"/>
              <a:t>np.linspace</a:t>
            </a:r>
            <a:r>
              <a:rPr lang="en-IN" dirty="0"/>
              <a:t>(min(x), max(x), 100)</a:t>
            </a:r>
          </a:p>
          <a:p>
            <a:r>
              <a:rPr lang="en-IN" dirty="0" err="1"/>
              <a:t>y_fit</a:t>
            </a:r>
            <a:r>
              <a:rPr lang="en-IN" dirty="0"/>
              <a:t> = p(</a:t>
            </a:r>
            <a:r>
              <a:rPr lang="en-IN" dirty="0" err="1"/>
              <a:t>x_fit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Plot</a:t>
            </a:r>
          </a:p>
          <a:p>
            <a:r>
              <a:rPr lang="en-IN" dirty="0" err="1"/>
              <a:t>plt.scatter</a:t>
            </a:r>
            <a:r>
              <a:rPr lang="en-IN" dirty="0"/>
              <a:t>(x, y, </a:t>
            </a:r>
            <a:r>
              <a:rPr lang="en-IN" dirty="0" err="1"/>
              <a:t>color</a:t>
            </a:r>
            <a:r>
              <a:rPr lang="en-IN" dirty="0"/>
              <a:t>="red", label="Data Points")</a:t>
            </a:r>
          </a:p>
          <a:p>
            <a:r>
              <a:rPr lang="en-IN" dirty="0" err="1"/>
              <a:t>plt.plot</a:t>
            </a:r>
            <a:r>
              <a:rPr lang="en-IN" dirty="0"/>
              <a:t>(</a:t>
            </a:r>
            <a:r>
              <a:rPr lang="en-IN" dirty="0" err="1"/>
              <a:t>x_fit</a:t>
            </a:r>
            <a:r>
              <a:rPr lang="en-IN" dirty="0"/>
              <a:t>, </a:t>
            </a:r>
            <a:r>
              <a:rPr lang="en-IN" dirty="0" err="1"/>
              <a:t>y_fit</a:t>
            </a:r>
            <a:r>
              <a:rPr lang="en-IN" dirty="0"/>
              <a:t>, </a:t>
            </a:r>
            <a:r>
              <a:rPr lang="en-IN" dirty="0" err="1"/>
              <a:t>color</a:t>
            </a:r>
            <a:r>
              <a:rPr lang="en-IN" dirty="0"/>
              <a:t>="blue", label="Fitted Curve")</a:t>
            </a:r>
          </a:p>
          <a:p>
            <a:r>
              <a:rPr lang="en-IN" dirty="0" err="1"/>
              <a:t>plt.legend</a:t>
            </a:r>
            <a:r>
              <a:rPr lang="en-IN" dirty="0"/>
              <a:t>()</a:t>
            </a:r>
          </a:p>
          <a:p>
            <a:r>
              <a:rPr lang="en-IN" dirty="0" err="1"/>
              <a:t>plt.xlabel</a:t>
            </a:r>
            <a:r>
              <a:rPr lang="en-IN" dirty="0"/>
              <a:t>("X")</a:t>
            </a:r>
          </a:p>
          <a:p>
            <a:r>
              <a:rPr lang="en-IN" dirty="0" err="1"/>
              <a:t>plt.ylabel</a:t>
            </a:r>
            <a:r>
              <a:rPr lang="en-IN" dirty="0"/>
              <a:t>("Y")</a:t>
            </a:r>
          </a:p>
          <a:p>
            <a:r>
              <a:rPr lang="en-IN" dirty="0" err="1"/>
              <a:t>plt.title</a:t>
            </a:r>
            <a:r>
              <a:rPr lang="en-IN" dirty="0"/>
              <a:t>("Polynomial Curve Fitting")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01507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(3D)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Surface plots, 3D scatter plots, contour plots, wireframe plots</a:t>
            </a:r>
          </a:p>
          <a:p>
            <a:r>
              <a:t>• Used in multi-variable analysis</a:t>
            </a:r>
          </a:p>
          <a:p>
            <a:r>
              <a:t>• Example: Temperature distribution across a surface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308B2E-D7BC-B122-808A-86C6391B6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18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Plotting &amp; Data Interpretation (2D)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trends: increasing, decreasing, oscillatory</a:t>
            </a:r>
          </a:p>
          <a:p>
            <a:r>
              <a:t>• Relationship between dependent &amp; independent variables</a:t>
            </a:r>
          </a:p>
          <a:p>
            <a:r>
              <a:t>• Outlier detection in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Plotting &amp; Data Interpretation (3D)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patterns in multi-variable datasets</a:t>
            </a:r>
          </a:p>
          <a:p>
            <a:r>
              <a:t>• Peaks, valleys, gradients in 3D surfaces</a:t>
            </a:r>
          </a:p>
          <a:p>
            <a:r>
              <a:t>• Example: Pressure vs Temperature vs Volume (ideal gas law visualization)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Estimating unknown data points within a known range</a:t>
            </a:r>
          </a:p>
          <a:p>
            <a:r>
              <a:t>• Methods:</a:t>
            </a:r>
          </a:p>
          <a:p>
            <a:r>
              <a:t>   - Linear interpolation</a:t>
            </a:r>
          </a:p>
          <a:p>
            <a:r>
              <a:t>   - Polynomial interpolation</a:t>
            </a:r>
          </a:p>
          <a:p>
            <a:r>
              <a:t>   - Spline interpolation</a:t>
            </a:r>
          </a:p>
          <a:p>
            <a:r>
              <a:t>• Applications: Missing data filling, graphics,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Approximating data using mathematical functions</a:t>
            </a:r>
          </a:p>
          <a:p>
            <a:r>
              <a:t>• Types:</a:t>
            </a:r>
          </a:p>
          <a:p>
            <a:r>
              <a:t>   - Linear fitting (y = mx + c)</a:t>
            </a:r>
          </a:p>
          <a:p>
            <a:r>
              <a:t>   - Nonlinear fitting (exponential, logarithmic, polynomial)</a:t>
            </a:r>
          </a:p>
          <a:p>
            <a:r>
              <a:t>• Applications: predictive modeling, scientific curve fitting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E4FDF2-36A3-6A22-48AE-2A3A198A7D4E}"/>
              </a:ext>
            </a:extLst>
          </p:cNvPr>
          <p:cNvSpPr txBox="1"/>
          <p:nvPr/>
        </p:nvSpPr>
        <p:spPr>
          <a:xfrm>
            <a:off x="98323" y="699941"/>
            <a:ext cx="675967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CURVE 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Curve fitting is a method used to find the mathematical function (curve) that best describes the relationship between a set of given data points. It’s widely used in science, engineering, and data analysis to model real-world phenomena.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🔑 Key Points of Curve Fitting: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approximate the underlying relationship between variables.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predict unknown values.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smooth noisy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Curve 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Fits data to a straight line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 = ax + 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Nonlinear 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Fits data to a curve (e.g., polynomial, exponential, logarithmic, Gaussian, sine).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Polynomial 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Fits data with a polynomial equation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 = a0 + a1x + a2x² + …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92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B08845-9C97-7FAC-BD7C-49C494414A30}"/>
              </a:ext>
            </a:extLst>
          </p:cNvPr>
          <p:cNvSpPr txBox="1"/>
          <p:nvPr/>
        </p:nvSpPr>
        <p:spPr>
          <a:xfrm>
            <a:off x="462116" y="1584799"/>
            <a:ext cx="63958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Goodness of Fit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R² (coefficient of determination)</a:t>
            </a:r>
            <a:r>
              <a:rPr lang="en-US" dirty="0"/>
              <a:t>: Indicates how well the curve fits the data (closer to 1 = better fit).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Error metrics</a:t>
            </a:r>
            <a:r>
              <a:rPr lang="en-US" dirty="0"/>
              <a:t>: RMSE (Root Mean Square Error), MAE (Mean Absolute Error).</a:t>
            </a:r>
          </a:p>
          <a:p>
            <a:r>
              <a:rPr lang="en-US" b="1" dirty="0"/>
              <a:t>4.Methods: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Least Squares Method</a:t>
            </a:r>
            <a:r>
              <a:rPr lang="en-US" dirty="0"/>
              <a:t>: Most common, minimizes the sum of squared errors between data points and fitted curve.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2. Optimization methods</a:t>
            </a:r>
            <a:r>
              <a:rPr lang="en-US" dirty="0"/>
              <a:t>: Used for nonlinear or complex models.</a:t>
            </a:r>
          </a:p>
        </p:txBody>
      </p:sp>
    </p:spTree>
    <p:extLst>
      <p:ext uri="{BB962C8B-B14F-4D97-AF65-F5344CB8AC3E}">
        <p14:creationId xmlns:p14="http://schemas.microsoft.com/office/powerpoint/2010/main" val="3059463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50BE1-FCE9-64A1-126B-F6BD8788ED36}"/>
              </a:ext>
            </a:extLst>
          </p:cNvPr>
          <p:cNvSpPr txBox="1"/>
          <p:nvPr/>
        </p:nvSpPr>
        <p:spPr>
          <a:xfrm>
            <a:off x="953728" y="430637"/>
            <a:ext cx="56584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Types of Curve 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Linear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Polynomial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Exponential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Power Law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Logistic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Gaussian Fit</a:t>
            </a:r>
          </a:p>
        </p:txBody>
      </p:sp>
    </p:spTree>
    <p:extLst>
      <p:ext uri="{BB962C8B-B14F-4D97-AF65-F5344CB8AC3E}">
        <p14:creationId xmlns:p14="http://schemas.microsoft.com/office/powerpoint/2010/main" val="380218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8EA41-E02E-35B9-7592-AA8EE344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971353"/>
            <a:ext cx="5106542" cy="15555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F61FC5-30C0-954B-F8F6-BD41102F9920}"/>
              </a:ext>
            </a:extLst>
          </p:cNvPr>
          <p:cNvSpPr txBox="1"/>
          <p:nvPr/>
        </p:nvSpPr>
        <p:spPr>
          <a:xfrm>
            <a:off x="1696064" y="3757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Linear fitting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4B0DA6-5236-51A3-85CF-C8B98CA7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044" y="2653748"/>
            <a:ext cx="2103596" cy="950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B12E99-8221-11E4-BA5A-1087AB0A2F63}"/>
              </a:ext>
            </a:extLst>
          </p:cNvPr>
          <p:cNvSpPr txBox="1"/>
          <p:nvPr/>
        </p:nvSpPr>
        <p:spPr>
          <a:xfrm>
            <a:off x="1696064" y="360409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What values of ‘a’ and ‘b’ are most appropriate?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EBD17A-E568-7CF2-8B7F-673694E77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626" y="4250429"/>
            <a:ext cx="6042991" cy="11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28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5E3AA-DB73-0BFE-F161-A06C9558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818" y="884583"/>
            <a:ext cx="4017928" cy="3037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E63ADB-A02D-2375-AB82-D97698507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809" y="3776870"/>
            <a:ext cx="4832937" cy="129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78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69C23-4F04-07E5-1A41-F8A7460BB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43" y="610022"/>
            <a:ext cx="3441739" cy="1497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C46A04-979B-393D-41AA-AD7D7F7B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359" y="2851614"/>
            <a:ext cx="1551333" cy="577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C8501-F8CA-52E8-E3B2-A454D4673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17" y="3835588"/>
            <a:ext cx="1154619" cy="5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68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0243DB-29F5-10CB-9BE2-99BFAB1A624A}"/>
              </a:ext>
            </a:extLst>
          </p:cNvPr>
          <p:cNvSpPr txBox="1"/>
          <p:nvPr/>
        </p:nvSpPr>
        <p:spPr>
          <a:xfrm>
            <a:off x="663677" y="234730"/>
            <a:ext cx="80378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Linear Fit (Straight Line)Model:𝑦=𝑎+𝑏𝑥</a:t>
            </a:r>
          </a:p>
          <a:p>
            <a:endParaRPr lang="en-US" dirty="0"/>
          </a:p>
          <a:p>
            <a:r>
              <a:rPr lang="en-US" dirty="0" err="1"/>
              <a:t>Example:Data</a:t>
            </a:r>
            <a:r>
              <a:rPr lang="en-US" dirty="0"/>
              <a:t>:</a:t>
            </a:r>
          </a:p>
          <a:p>
            <a:r>
              <a:rPr lang="en-US" dirty="0"/>
              <a:t>𝑥=[1,2,3,4,5]</a:t>
            </a:r>
          </a:p>
          <a:p>
            <a:r>
              <a:rPr lang="en-US" dirty="0"/>
              <a:t>𝑦=[2.2,2.8,3.6,4.5,5.1]</a:t>
            </a:r>
          </a:p>
          <a:p>
            <a:endParaRPr lang="en-US" dirty="0"/>
          </a:p>
          <a:p>
            <a:r>
              <a:rPr lang="en-US" dirty="0"/>
              <a:t>Best-fit line (least squares):</a:t>
            </a:r>
          </a:p>
          <a:p>
            <a:r>
              <a:rPr lang="en-US" dirty="0"/>
              <a:t>𝑦=1.1+0.8𝑥</a:t>
            </a:r>
          </a:p>
          <a:p>
            <a:endParaRPr lang="en-US" dirty="0"/>
          </a:p>
          <a:p>
            <a:r>
              <a:rPr lang="en-US" b="1" dirty="0"/>
              <a:t>2. Polynomial Fit</a:t>
            </a:r>
          </a:p>
          <a:p>
            <a:r>
              <a:rPr lang="en-US" dirty="0"/>
              <a:t>Model:</a:t>
            </a:r>
          </a:p>
          <a:p>
            <a:r>
              <a:rPr lang="en-US" dirty="0"/>
              <a:t>y=a0+a1x+a2x2+⋯+</a:t>
            </a:r>
            <a:r>
              <a:rPr lang="en-US" dirty="0" err="1"/>
              <a:t>anxn</a:t>
            </a:r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Data of projectile motion can be fitted with a </a:t>
            </a:r>
            <a:r>
              <a:rPr lang="en-US" b="1" dirty="0"/>
              <a:t>quadratic polynomial</a:t>
            </a:r>
            <a:r>
              <a:rPr lang="en-US" dirty="0"/>
              <a:t>:</a:t>
            </a:r>
          </a:p>
          <a:p>
            <a:r>
              <a:rPr lang="en-US" dirty="0"/>
              <a:t>y=12.5+8.3x−4.9x2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B0A58-AC69-F17B-5B24-3BDA8FC97579}"/>
              </a:ext>
            </a:extLst>
          </p:cNvPr>
          <p:cNvSpPr txBox="1"/>
          <p:nvPr/>
        </p:nvSpPr>
        <p:spPr>
          <a:xfrm>
            <a:off x="663677" y="4636191"/>
            <a:ext cx="72414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3.Exponential Fit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Model:</a:t>
            </a:r>
            <a:r>
              <a:rPr lang="en-IN" dirty="0"/>
              <a:t> y=</a:t>
            </a:r>
            <a:r>
              <a:rPr lang="en-IN" dirty="0" err="1"/>
              <a:t>aebxy</a:t>
            </a:r>
            <a:r>
              <a:rPr lang="en-IN" dirty="0"/>
              <a:t> = ae^{</a:t>
            </a:r>
            <a:r>
              <a:rPr lang="en-IN" dirty="0" err="1"/>
              <a:t>bx</a:t>
            </a:r>
            <a:r>
              <a:rPr lang="en-IN" dirty="0"/>
              <a:t>}y=</a:t>
            </a:r>
            <a:r>
              <a:rPr lang="en-IN" dirty="0" err="1"/>
              <a:t>aebx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Radioactive decay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Equation: N(t)=N0e−</a:t>
            </a:r>
            <a:r>
              <a:rPr lang="el-GR" dirty="0"/>
              <a:t>λ</a:t>
            </a:r>
            <a:r>
              <a:rPr lang="en-IN" dirty="0" err="1"/>
              <a:t>tN</a:t>
            </a:r>
            <a:r>
              <a:rPr lang="en-IN" dirty="0"/>
              <a:t>(t) =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Applications: Population decay, chemical reactions</a:t>
            </a:r>
          </a:p>
        </p:txBody>
      </p:sp>
    </p:spTree>
    <p:extLst>
      <p:ext uri="{BB962C8B-B14F-4D97-AF65-F5344CB8AC3E}">
        <p14:creationId xmlns:p14="http://schemas.microsoft.com/office/powerpoint/2010/main" val="1268402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52D163-4E3D-E3D7-3C88-13B10F4E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6" y="521110"/>
            <a:ext cx="8111612" cy="633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36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D4FAC6-C7B8-3A7B-2B0F-2E7B56C3F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093470"/>
            <a:ext cx="7482348" cy="467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08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D5D9B8-8A11-5FD1-25AE-08B87A14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16" y="653279"/>
            <a:ext cx="5487924" cy="311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65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F3FA0A-9380-23D0-1345-6DCD35DAB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38" y="438150"/>
            <a:ext cx="6859524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88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5D7C11-89FC-1C21-781A-858D885DC5DA}"/>
              </a:ext>
            </a:extLst>
          </p:cNvPr>
          <p:cNvSpPr txBox="1"/>
          <p:nvPr/>
        </p:nvSpPr>
        <p:spPr>
          <a:xfrm>
            <a:off x="1140542" y="202689"/>
            <a:ext cx="61107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Interpolation</a:t>
            </a:r>
            <a:r>
              <a:rPr lang="en-US" dirty="0"/>
              <a:t> is a mathematical method of estimating </a:t>
            </a:r>
            <a:r>
              <a:rPr lang="en-US" b="1" dirty="0"/>
              <a:t>unknown values of a function</a:t>
            </a:r>
            <a:r>
              <a:rPr lang="en-US" dirty="0"/>
              <a:t> for points lying </a:t>
            </a:r>
            <a:r>
              <a:rPr lang="en-US" b="1" dirty="0"/>
              <a:t>within the range of known data points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If we know values of a function f(x) at some discrete points, interpolation helps us estimate f(x) at other intermediate points.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 descr="Interpolation (Definition, Formula) | Calculation with Examples">
            <a:extLst>
              <a:ext uri="{FF2B5EF4-FFF2-40B4-BE49-F238E27FC236}">
                <a16:creationId xmlns:a16="http://schemas.microsoft.com/office/drawing/2014/main" id="{53FC6DCA-154F-F506-0265-1C359C0F74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5" r="12098"/>
          <a:stretch>
            <a:fillRect/>
          </a:stretch>
        </p:blipFill>
        <p:spPr bwMode="auto">
          <a:xfrm>
            <a:off x="3578942" y="2645799"/>
            <a:ext cx="2497393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632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 vs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Interpolation</a:t>
            </a:r>
          </a:p>
          <a:p>
            <a:endParaRPr/>
          </a:p>
          <a:p>
            <a:r>
              <a:t>• Passes through all data points</a:t>
            </a:r>
          </a:p>
          <a:p>
            <a:r>
              <a:t>• Zero error at known points</a:t>
            </a:r>
          </a:p>
          <a:p>
            <a:r>
              <a:t>• Used for missing data recovery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Fitting</a:t>
            </a:r>
          </a:p>
          <a:p>
            <a:endParaRPr/>
          </a:p>
          <a:p>
            <a:r>
              <a:t>• Best approximation (not all points)</a:t>
            </a:r>
          </a:p>
          <a:p>
            <a:r>
              <a:t>• May have residual errors</a:t>
            </a:r>
          </a:p>
          <a:p>
            <a:r>
              <a:t>• Used for trend modeling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for Visualization &amp;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Python: Matplotlib, NumPy, SciPy, Plotly</a:t>
            </a:r>
          </a:p>
          <a:p>
            <a:r>
              <a:t>• MATLAB: plot(), surf(), polyfit()</a:t>
            </a:r>
          </a:p>
          <a:p>
            <a:r>
              <a:t>• Excel: charts, trendlines</a:t>
            </a:r>
          </a:p>
          <a:p>
            <a:r>
              <a:t>• Other software: R, Origin, Tableau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Experimental data of stress vs strain</a:t>
            </a:r>
          </a:p>
          <a:p>
            <a:r>
              <a:t>• Visualization: 2D stress-strain curve</a:t>
            </a:r>
          </a:p>
          <a:p>
            <a:r>
              <a:t>• Fitting: Linear (Young’s modulus) or nonlinear (plastic region)</a:t>
            </a:r>
          </a:p>
          <a:p>
            <a:r>
              <a:t>• Interpolation: Missing stress values at intermediate strains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visualization simplifies complex data</a:t>
            </a:r>
          </a:p>
          <a:p>
            <a:r>
              <a:t>• 2D &amp; 3D plots help in pattern recognition</a:t>
            </a:r>
          </a:p>
          <a:p>
            <a:r>
              <a:t>• Interpolation → missing data estimation</a:t>
            </a:r>
          </a:p>
          <a:p>
            <a:r>
              <a:t>• Fitting → modeling and prediction</a:t>
            </a:r>
          </a:p>
          <a:p>
            <a:r>
              <a:t>• Essential skills in data science &amp; engineering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Books:</a:t>
            </a:r>
          </a:p>
          <a:p>
            <a:r>
              <a:t>• Data Visualization: A Practical Introduction – Kieran Healy</a:t>
            </a:r>
          </a:p>
          <a:p>
            <a:r>
              <a:t>• Numerical Methods for Engineers – Chapra &amp; Canale</a:t>
            </a:r>
          </a:p>
          <a:p>
            <a:endParaRPr/>
          </a:p>
          <a:p>
            <a:r>
              <a:t>Tools: Python (Matplotlib, SciPy), MATLAB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1979</Words>
  <Application>Microsoft Office PowerPoint</Application>
  <PresentationFormat>On-screen Show (4:3)</PresentationFormat>
  <Paragraphs>320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Unicode MS</vt:lpstr>
      <vt:lpstr>Calibri</vt:lpstr>
      <vt:lpstr>Times New Roman</vt:lpstr>
      <vt:lpstr>Wingdings</vt:lpstr>
      <vt:lpstr>Office Theme</vt:lpstr>
      <vt:lpstr>Module 1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Visualization (2D)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Visualization (3D)</vt:lpstr>
      <vt:lpstr>PowerPoint Presentation</vt:lpstr>
      <vt:lpstr>Plotting &amp; Data Interpretation (2D)</vt:lpstr>
      <vt:lpstr>Plotting &amp; Data Interpretation (3D)</vt:lpstr>
      <vt:lpstr>Data Interpolation</vt:lpstr>
      <vt:lpstr>Data 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Interpolation vs Fitting</vt:lpstr>
      <vt:lpstr>Tools for Visualization &amp; Fitting</vt:lpstr>
      <vt:lpstr>Case Study Example</vt:lpstr>
      <vt:lpstr>Conclusion</vt:lpstr>
      <vt:lpstr>References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shweta mukherjee</cp:lastModifiedBy>
  <cp:revision>11</cp:revision>
  <dcterms:created xsi:type="dcterms:W3CDTF">2013-01-27T09:14:16Z</dcterms:created>
  <dcterms:modified xsi:type="dcterms:W3CDTF">2025-09-05T05:52:36Z</dcterms:modified>
  <cp:category/>
</cp:coreProperties>
</file>