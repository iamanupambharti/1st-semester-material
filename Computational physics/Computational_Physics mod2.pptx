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313" r:id="rId19"/>
    <p:sldId id="31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314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</p:sldIdLst>
  <p:sldSz cx="10083800" cy="5670550"/>
  <p:notesSz cx="10083800" cy="56705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4" d="100"/>
          <a:sy n="94" d="100"/>
        </p:scale>
        <p:origin x="864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65759" y="19410"/>
            <a:ext cx="4589145" cy="661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12570" y="3175508"/>
            <a:ext cx="7058660" cy="14176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4190" y="1304226"/>
            <a:ext cx="4386453" cy="37425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93157" y="1304226"/>
            <a:ext cx="4386453" cy="37425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65759" y="46080"/>
            <a:ext cx="7181215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35953" y="895393"/>
            <a:ext cx="5153025" cy="38925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28492" y="5273611"/>
            <a:ext cx="3226816" cy="28352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4190" y="5273611"/>
            <a:ext cx="2319274" cy="28352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60336" y="5273611"/>
            <a:ext cx="2319274" cy="28352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jp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0.jp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9.jpg"/><Relationship Id="rId5" Type="http://schemas.openxmlformats.org/officeDocument/2006/relationships/image" Target="../media/image28.jpg"/><Relationship Id="rId4" Type="http://schemas.openxmlformats.org/officeDocument/2006/relationships/image" Target="../media/image27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jp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g"/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4.png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93800" y="1926950"/>
            <a:ext cx="769493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27225" algn="l"/>
              </a:tabLst>
            </a:pPr>
            <a:r>
              <a:rPr spc="-10" dirty="0"/>
              <a:t>Module</a:t>
            </a:r>
            <a:r>
              <a:rPr dirty="0"/>
              <a:t>	2</a:t>
            </a:r>
            <a:r>
              <a:rPr b="0" dirty="0">
                <a:latin typeface="Microsoft Sans Serif"/>
                <a:cs typeface="Microsoft Sans Serif"/>
              </a:rPr>
              <a:t>:</a:t>
            </a:r>
            <a:r>
              <a:rPr b="0" spc="-60" dirty="0">
                <a:latin typeface="Microsoft Sans Serif"/>
                <a:cs typeface="Microsoft Sans Serif"/>
              </a:rPr>
              <a:t> </a:t>
            </a:r>
            <a:r>
              <a:rPr b="0" spc="-10" dirty="0">
                <a:latin typeface="Microsoft Sans Serif"/>
                <a:cs typeface="Microsoft Sans Serif"/>
              </a:rPr>
              <a:t>Mathematical</a:t>
            </a:r>
            <a:r>
              <a:rPr b="0" spc="-60" dirty="0">
                <a:latin typeface="Microsoft Sans Serif"/>
                <a:cs typeface="Microsoft Sans Serif"/>
              </a:rPr>
              <a:t> </a:t>
            </a:r>
            <a:r>
              <a:rPr b="0" dirty="0">
                <a:latin typeface="Microsoft Sans Serif"/>
                <a:cs typeface="Microsoft Sans Serif"/>
              </a:rPr>
              <a:t>Physics</a:t>
            </a:r>
            <a:r>
              <a:rPr b="0" spc="-60" dirty="0">
                <a:latin typeface="Microsoft Sans Serif"/>
                <a:cs typeface="Microsoft Sans Serif"/>
              </a:rPr>
              <a:t> </a:t>
            </a:r>
            <a:r>
              <a:rPr b="0" spc="-50" dirty="0">
                <a:latin typeface="Microsoft Sans Serif"/>
                <a:cs typeface="Microsoft Sans Serif"/>
              </a:rPr>
              <a:t>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5759" y="46080"/>
            <a:ext cx="430911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74495" algn="l"/>
              </a:tabLst>
            </a:pPr>
            <a:r>
              <a:rPr spc="-10" dirty="0"/>
              <a:t>Frame</a:t>
            </a:r>
            <a:r>
              <a:rPr dirty="0"/>
              <a:t>	of</a:t>
            </a:r>
            <a:r>
              <a:rPr spc="-10" dirty="0"/>
              <a:t> refrence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1211" y="1559462"/>
            <a:ext cx="3463326" cy="19717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30217" y="790978"/>
            <a:ext cx="4294122" cy="409473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Scalar</a:t>
            </a:r>
            <a:r>
              <a:rPr spc="-85" dirty="0"/>
              <a:t> </a:t>
            </a:r>
            <a:r>
              <a:rPr dirty="0"/>
              <a:t>and</a:t>
            </a:r>
            <a:r>
              <a:rPr spc="-90" dirty="0"/>
              <a:t> </a:t>
            </a:r>
            <a:r>
              <a:rPr spc="-10" dirty="0"/>
              <a:t>vector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34480" y="1044300"/>
            <a:ext cx="2975237" cy="2769504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74053" y="895393"/>
          <a:ext cx="5153025" cy="38925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387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74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64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b="1" spc="-10" dirty="0">
                          <a:latin typeface="Arial"/>
                          <a:cs typeface="Arial"/>
                        </a:rPr>
                        <a:t>Scalar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540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b="1" spc="-10" dirty="0">
                          <a:latin typeface="Arial"/>
                          <a:cs typeface="Arial"/>
                        </a:rPr>
                        <a:t>Vector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540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1060">
                <a:tc>
                  <a:txBody>
                    <a:bodyPr/>
                    <a:lstStyle/>
                    <a:p>
                      <a:pPr marL="90170" marR="81280" algn="just">
                        <a:lnSpc>
                          <a:spcPct val="93300"/>
                        </a:lnSpc>
                        <a:spcBef>
                          <a:spcPts val="345"/>
                        </a:spcBef>
                      </a:pP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Scalar</a:t>
                      </a:r>
                      <a:r>
                        <a:rPr sz="1800" spc="210" dirty="0">
                          <a:latin typeface="Microsoft Sans Serif"/>
                          <a:cs typeface="Microsoft Sans Serif"/>
                        </a:rPr>
                        <a:t>   </a:t>
                      </a: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quantity</a:t>
                      </a:r>
                      <a:r>
                        <a:rPr sz="1800" spc="210" dirty="0">
                          <a:latin typeface="Microsoft Sans Serif"/>
                          <a:cs typeface="Microsoft Sans Serif"/>
                        </a:rPr>
                        <a:t>   </a:t>
                      </a:r>
                      <a:r>
                        <a:rPr sz="1800" spc="-25" dirty="0">
                          <a:latin typeface="Microsoft Sans Serif"/>
                          <a:cs typeface="Microsoft Sans Serif"/>
                        </a:rPr>
                        <a:t>has </a:t>
                      </a: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only</a:t>
                      </a:r>
                      <a:r>
                        <a:rPr sz="1800" spc="1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magnitude,</a:t>
                      </a:r>
                      <a:r>
                        <a:rPr sz="1800" spc="10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but</a:t>
                      </a:r>
                      <a:r>
                        <a:rPr sz="1800" spc="10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spc="-25" dirty="0">
                          <a:latin typeface="Microsoft Sans Serif"/>
                          <a:cs typeface="Microsoft Sans Serif"/>
                        </a:rPr>
                        <a:t>no </a:t>
                      </a:r>
                      <a:r>
                        <a:rPr sz="1800" spc="-10" dirty="0">
                          <a:latin typeface="Microsoft Sans Serif"/>
                          <a:cs typeface="Microsoft Sans Serif"/>
                        </a:rPr>
                        <a:t>direction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381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 marR="81280" algn="just">
                        <a:lnSpc>
                          <a:spcPct val="93300"/>
                        </a:lnSpc>
                        <a:spcBef>
                          <a:spcPts val="345"/>
                        </a:spcBef>
                      </a:pP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Vector</a:t>
                      </a:r>
                      <a:r>
                        <a:rPr sz="1800" spc="200" dirty="0">
                          <a:latin typeface="Microsoft Sans Serif"/>
                          <a:cs typeface="Microsoft Sans Serif"/>
                        </a:rPr>
                        <a:t>   </a:t>
                      </a: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quantity</a:t>
                      </a:r>
                      <a:r>
                        <a:rPr sz="1800" spc="204" dirty="0">
                          <a:latin typeface="Microsoft Sans Serif"/>
                          <a:cs typeface="Microsoft Sans Serif"/>
                        </a:rPr>
                        <a:t>   </a:t>
                      </a:r>
                      <a:r>
                        <a:rPr sz="1800" spc="-25" dirty="0">
                          <a:latin typeface="Microsoft Sans Serif"/>
                          <a:cs typeface="Microsoft Sans Serif"/>
                        </a:rPr>
                        <a:t>has </a:t>
                      </a: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both</a:t>
                      </a:r>
                      <a:r>
                        <a:rPr sz="1800" spc="409" dirty="0">
                          <a:latin typeface="Microsoft Sans Serif"/>
                          <a:cs typeface="Microsoft Sans Serif"/>
                        </a:rPr>
                        <a:t>  </a:t>
                      </a: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magnitude</a:t>
                      </a:r>
                      <a:r>
                        <a:rPr sz="1800" spc="409" dirty="0">
                          <a:latin typeface="Microsoft Sans Serif"/>
                          <a:cs typeface="Microsoft Sans Serif"/>
                        </a:rPr>
                        <a:t>  </a:t>
                      </a:r>
                      <a:r>
                        <a:rPr sz="1800" spc="-25" dirty="0">
                          <a:latin typeface="Microsoft Sans Serif"/>
                          <a:cs typeface="Microsoft Sans Serif"/>
                        </a:rPr>
                        <a:t>and </a:t>
                      </a:r>
                      <a:r>
                        <a:rPr sz="1800" spc="-10" dirty="0">
                          <a:latin typeface="Microsoft Sans Serif"/>
                          <a:cs typeface="Microsoft Sans Serif"/>
                        </a:rPr>
                        <a:t>direction.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381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1694">
                <a:tc>
                  <a:txBody>
                    <a:bodyPr/>
                    <a:lstStyle/>
                    <a:p>
                      <a:pPr marL="90170" marR="81280" algn="just">
                        <a:lnSpc>
                          <a:spcPts val="2020"/>
                        </a:lnSpc>
                        <a:spcBef>
                          <a:spcPts val="384"/>
                        </a:spcBef>
                      </a:pP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Scalar</a:t>
                      </a:r>
                      <a:r>
                        <a:rPr sz="1800" spc="4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quantities</a:t>
                      </a:r>
                      <a:r>
                        <a:rPr sz="1800" spc="4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spc="-10" dirty="0">
                          <a:latin typeface="Microsoft Sans Serif"/>
                          <a:cs typeface="Microsoft Sans Serif"/>
                        </a:rPr>
                        <a:t>follow </a:t>
                      </a: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the</a:t>
                      </a:r>
                      <a:r>
                        <a:rPr sz="1800" spc="204" dirty="0">
                          <a:latin typeface="Microsoft Sans Serif"/>
                          <a:cs typeface="Microsoft Sans Serif"/>
                        </a:rPr>
                        <a:t>  </a:t>
                      </a: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rules</a:t>
                      </a:r>
                      <a:r>
                        <a:rPr sz="1800" spc="210" dirty="0">
                          <a:latin typeface="Microsoft Sans Serif"/>
                          <a:cs typeface="Microsoft Sans Serif"/>
                        </a:rPr>
                        <a:t>  </a:t>
                      </a: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of</a:t>
                      </a:r>
                      <a:r>
                        <a:rPr sz="1800" spc="204" dirty="0">
                          <a:latin typeface="Microsoft Sans Serif"/>
                          <a:cs typeface="Microsoft Sans Serif"/>
                        </a:rPr>
                        <a:t>  </a:t>
                      </a:r>
                      <a:r>
                        <a:rPr sz="1800" spc="-10" dirty="0">
                          <a:latin typeface="Microsoft Sans Serif"/>
                          <a:cs typeface="Microsoft Sans Serif"/>
                        </a:rPr>
                        <a:t>ordinary algebra.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8894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 marR="82550" algn="just">
                        <a:lnSpc>
                          <a:spcPts val="2020"/>
                        </a:lnSpc>
                        <a:spcBef>
                          <a:spcPts val="384"/>
                        </a:spcBef>
                      </a:pP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Vector</a:t>
                      </a:r>
                      <a:r>
                        <a:rPr sz="1800" spc="26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quantity</a:t>
                      </a:r>
                      <a:r>
                        <a:rPr sz="1800" spc="28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spc="-10" dirty="0">
                          <a:latin typeface="Microsoft Sans Serif"/>
                          <a:cs typeface="Microsoft Sans Serif"/>
                        </a:rPr>
                        <a:t>follows </a:t>
                      </a: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the</a:t>
                      </a:r>
                      <a:r>
                        <a:rPr sz="1800" spc="470" dirty="0">
                          <a:latin typeface="Microsoft Sans Serif"/>
                          <a:cs typeface="Microsoft Sans Serif"/>
                        </a:rPr>
                        <a:t>  </a:t>
                      </a: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rules</a:t>
                      </a:r>
                      <a:r>
                        <a:rPr sz="1800" spc="470" dirty="0">
                          <a:latin typeface="Microsoft Sans Serif"/>
                          <a:cs typeface="Microsoft Sans Serif"/>
                        </a:rPr>
                        <a:t>  </a:t>
                      </a: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of</a:t>
                      </a:r>
                      <a:r>
                        <a:rPr sz="1800" spc="470" dirty="0">
                          <a:latin typeface="Microsoft Sans Serif"/>
                          <a:cs typeface="Microsoft Sans Serif"/>
                        </a:rPr>
                        <a:t>  </a:t>
                      </a:r>
                      <a:r>
                        <a:rPr sz="1800" spc="-10" dirty="0">
                          <a:latin typeface="Microsoft Sans Serif"/>
                          <a:cs typeface="Microsoft Sans Serif"/>
                        </a:rPr>
                        <a:t>vector algebra.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8894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2330">
                <a:tc>
                  <a:txBody>
                    <a:bodyPr/>
                    <a:lstStyle/>
                    <a:p>
                      <a:pPr marL="90170" marR="82550">
                        <a:lnSpc>
                          <a:spcPts val="2020"/>
                        </a:lnSpc>
                        <a:spcBef>
                          <a:spcPts val="384"/>
                        </a:spcBef>
                        <a:tabLst>
                          <a:tab pos="972185" algn="l"/>
                          <a:tab pos="1297940" algn="l"/>
                          <a:tab pos="2042160" algn="l"/>
                        </a:tabLst>
                      </a:pPr>
                      <a:r>
                        <a:rPr sz="1800" spc="-10" dirty="0">
                          <a:latin typeface="Microsoft Sans Serif"/>
                          <a:cs typeface="Microsoft Sans Serif"/>
                        </a:rPr>
                        <a:t>Divison</a:t>
                      </a: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	</a:t>
                      </a:r>
                      <a:r>
                        <a:rPr sz="1800" spc="-25" dirty="0">
                          <a:latin typeface="Microsoft Sans Serif"/>
                          <a:cs typeface="Microsoft Sans Serif"/>
                        </a:rPr>
                        <a:t>of</a:t>
                      </a: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	</a:t>
                      </a:r>
                      <a:r>
                        <a:rPr sz="1800" spc="-10" dirty="0">
                          <a:latin typeface="Microsoft Sans Serif"/>
                          <a:cs typeface="Microsoft Sans Serif"/>
                        </a:rPr>
                        <a:t>scalar</a:t>
                      </a: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	</a:t>
                      </a:r>
                      <a:r>
                        <a:rPr sz="1800" spc="-20" dirty="0">
                          <a:latin typeface="Microsoft Sans Serif"/>
                          <a:cs typeface="Microsoft Sans Serif"/>
                        </a:rPr>
                        <a:t>with </a:t>
                      </a: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scalar</a:t>
                      </a:r>
                      <a:r>
                        <a:rPr sz="1800" spc="-2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is</a:t>
                      </a:r>
                      <a:r>
                        <a:rPr sz="1800" spc="-2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spc="-10" dirty="0">
                          <a:latin typeface="Microsoft Sans Serif"/>
                          <a:cs typeface="Microsoft Sans Serif"/>
                        </a:rPr>
                        <a:t>permitted.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8894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 marR="81280" algn="just">
                        <a:lnSpc>
                          <a:spcPct val="93300"/>
                        </a:lnSpc>
                        <a:spcBef>
                          <a:spcPts val="345"/>
                        </a:spcBef>
                      </a:pP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Division</a:t>
                      </a:r>
                      <a:r>
                        <a:rPr sz="1800" spc="220" dirty="0">
                          <a:latin typeface="Microsoft Sans Serif"/>
                          <a:cs typeface="Microsoft Sans Serif"/>
                        </a:rPr>
                        <a:t>  </a:t>
                      </a: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between</a:t>
                      </a:r>
                      <a:r>
                        <a:rPr sz="1800" spc="225" dirty="0">
                          <a:latin typeface="Microsoft Sans Serif"/>
                          <a:cs typeface="Microsoft Sans Serif"/>
                        </a:rPr>
                        <a:t>  </a:t>
                      </a:r>
                      <a:r>
                        <a:rPr sz="1800" spc="-25" dirty="0">
                          <a:latin typeface="Microsoft Sans Serif"/>
                          <a:cs typeface="Microsoft Sans Serif"/>
                        </a:rPr>
                        <a:t>the </a:t>
                      </a: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vectors</a:t>
                      </a:r>
                      <a:r>
                        <a:rPr sz="1800" spc="409" dirty="0">
                          <a:latin typeface="Microsoft Sans Serif"/>
                          <a:cs typeface="Microsoft Sans Serif"/>
                        </a:rPr>
                        <a:t>     </a:t>
                      </a: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is</a:t>
                      </a:r>
                      <a:r>
                        <a:rPr sz="1800" spc="415" dirty="0">
                          <a:latin typeface="Microsoft Sans Serif"/>
                          <a:cs typeface="Microsoft Sans Serif"/>
                        </a:rPr>
                        <a:t>     </a:t>
                      </a:r>
                      <a:r>
                        <a:rPr sz="1800" spc="-25" dirty="0">
                          <a:latin typeface="Microsoft Sans Serif"/>
                          <a:cs typeface="Microsoft Sans Serif"/>
                        </a:rPr>
                        <a:t>not </a:t>
                      </a:r>
                      <a:r>
                        <a:rPr sz="1800" spc="-10" dirty="0">
                          <a:latin typeface="Microsoft Sans Serif"/>
                          <a:cs typeface="Microsoft Sans Serif"/>
                        </a:rPr>
                        <a:t>permitted.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381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1060">
                <a:tc>
                  <a:txBody>
                    <a:bodyPr/>
                    <a:lstStyle/>
                    <a:p>
                      <a:pPr marL="90170" marR="120650">
                        <a:lnSpc>
                          <a:spcPts val="2010"/>
                        </a:lnSpc>
                        <a:spcBef>
                          <a:spcPts val="390"/>
                        </a:spcBef>
                        <a:tabLst>
                          <a:tab pos="1439545" algn="l"/>
                        </a:tabLst>
                      </a:pPr>
                      <a:r>
                        <a:rPr sz="1800" spc="-10" dirty="0">
                          <a:latin typeface="Microsoft Sans Serif"/>
                          <a:cs typeface="Microsoft Sans Serif"/>
                        </a:rPr>
                        <a:t>Example:</a:t>
                      </a: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	</a:t>
                      </a:r>
                      <a:r>
                        <a:rPr sz="1800" spc="-10" dirty="0">
                          <a:latin typeface="Microsoft Sans Serif"/>
                          <a:cs typeface="Microsoft Sans Serif"/>
                        </a:rPr>
                        <a:t>Mass, </a:t>
                      </a: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length,</a:t>
                      </a:r>
                      <a:r>
                        <a:rPr sz="1800" spc="-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and</a:t>
                      </a:r>
                      <a:r>
                        <a:rPr sz="1800" spc="-2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energy</a:t>
                      </a:r>
                      <a:r>
                        <a:rPr sz="1800" spc="-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spc="-20" dirty="0">
                          <a:latin typeface="Microsoft Sans Serif"/>
                          <a:cs typeface="Microsoft Sans Serif"/>
                        </a:rPr>
                        <a:t>etc.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953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 marR="81280" algn="just">
                        <a:lnSpc>
                          <a:spcPct val="93300"/>
                        </a:lnSpc>
                        <a:spcBef>
                          <a:spcPts val="345"/>
                        </a:spcBef>
                        <a:tabLst>
                          <a:tab pos="1798320" algn="l"/>
                        </a:tabLst>
                      </a:pPr>
                      <a:r>
                        <a:rPr sz="1800" spc="-10" dirty="0">
                          <a:latin typeface="Microsoft Sans Serif"/>
                          <a:cs typeface="Microsoft Sans Serif"/>
                        </a:rPr>
                        <a:t>Example:</a:t>
                      </a: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	</a:t>
                      </a:r>
                      <a:r>
                        <a:rPr sz="1800" spc="-10" dirty="0">
                          <a:latin typeface="Microsoft Sans Serif"/>
                          <a:cs typeface="Microsoft Sans Serif"/>
                        </a:rPr>
                        <a:t>Force, </a:t>
                      </a: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displacement,</a:t>
                      </a:r>
                      <a:r>
                        <a:rPr sz="1800" spc="390" dirty="0">
                          <a:latin typeface="Microsoft Sans Serif"/>
                          <a:cs typeface="Microsoft Sans Serif"/>
                        </a:rPr>
                        <a:t>     </a:t>
                      </a:r>
                      <a:r>
                        <a:rPr sz="1800" spc="-25" dirty="0">
                          <a:latin typeface="Microsoft Sans Serif"/>
                          <a:cs typeface="Microsoft Sans Serif"/>
                        </a:rPr>
                        <a:t>and </a:t>
                      </a: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weight</a:t>
                      </a: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spc="-20" dirty="0">
                          <a:latin typeface="Microsoft Sans Serif"/>
                          <a:cs typeface="Microsoft Sans Serif"/>
                        </a:rPr>
                        <a:t>etc.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381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4530" y="963019"/>
            <a:ext cx="2915920" cy="116078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6644" y="2560679"/>
            <a:ext cx="3618215" cy="24384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65759" y="46080"/>
            <a:ext cx="458914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85010" algn="l"/>
              </a:tabLst>
            </a:pPr>
            <a:r>
              <a:rPr spc="-10" dirty="0"/>
              <a:t>Vectors</a:t>
            </a:r>
            <a:r>
              <a:rPr dirty="0"/>
              <a:t>	</a:t>
            </a:r>
            <a:r>
              <a:rPr spc="-10" dirty="0"/>
              <a:t>opreations</a:t>
            </a: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831346" y="1284599"/>
            <a:ext cx="4956076" cy="3012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85010" algn="l"/>
              </a:tabLst>
            </a:pPr>
            <a:r>
              <a:rPr spc="-10" dirty="0"/>
              <a:t>Vectors</a:t>
            </a:r>
            <a:r>
              <a:rPr dirty="0"/>
              <a:t>	</a:t>
            </a:r>
            <a:r>
              <a:rPr spc="-10" dirty="0"/>
              <a:t>opreations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56185" y="2390164"/>
            <a:ext cx="4247296" cy="256353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4350" y="1403709"/>
            <a:ext cx="4165600" cy="33147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452359" y="650599"/>
            <a:ext cx="759459" cy="136017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621020" y="1013819"/>
            <a:ext cx="136144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latin typeface="Microsoft Sans Serif"/>
                <a:cs typeface="Microsoft Sans Serif"/>
              </a:rPr>
              <a:t>Unit</a:t>
            </a:r>
            <a:r>
              <a:rPr sz="2200" spc="-40" dirty="0">
                <a:latin typeface="Microsoft Sans Serif"/>
                <a:cs typeface="Microsoft Sans Serif"/>
              </a:rPr>
              <a:t> </a:t>
            </a:r>
            <a:r>
              <a:rPr sz="2200" spc="-10" dirty="0">
                <a:latin typeface="Microsoft Sans Serif"/>
                <a:cs typeface="Microsoft Sans Serif"/>
              </a:rPr>
              <a:t>vector</a:t>
            </a:r>
            <a:endParaRPr sz="22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5759" y="46080"/>
            <a:ext cx="458914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85010" algn="l"/>
              </a:tabLst>
            </a:pPr>
            <a:r>
              <a:rPr spc="-10" dirty="0"/>
              <a:t>Vectors</a:t>
            </a:r>
            <a:r>
              <a:rPr dirty="0"/>
              <a:t>	</a:t>
            </a:r>
            <a:r>
              <a:rPr spc="-10" dirty="0"/>
              <a:t>operations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47700" y="1227179"/>
            <a:ext cx="4876800" cy="933450"/>
            <a:chOff x="647700" y="1227179"/>
            <a:chExt cx="4876800" cy="9334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7700" y="1227179"/>
              <a:ext cx="4876800" cy="93345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276350" y="1803759"/>
              <a:ext cx="1008380" cy="356870"/>
            </a:xfrm>
            <a:custGeom>
              <a:avLst/>
              <a:gdLst/>
              <a:ahLst/>
              <a:cxnLst/>
              <a:rect l="l" t="t" r="r" b="b"/>
              <a:pathLst>
                <a:path w="1008380" h="356869">
                  <a:moveTo>
                    <a:pt x="1008380" y="0"/>
                  </a:moveTo>
                  <a:lnTo>
                    <a:pt x="0" y="0"/>
                  </a:lnTo>
                  <a:lnTo>
                    <a:pt x="0" y="356869"/>
                  </a:lnTo>
                  <a:lnTo>
                    <a:pt x="504189" y="356869"/>
                  </a:lnTo>
                  <a:lnTo>
                    <a:pt x="1008380" y="356869"/>
                  </a:lnTo>
                  <a:lnTo>
                    <a:pt x="10083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276350" y="1803759"/>
              <a:ext cx="1008380" cy="356870"/>
            </a:xfrm>
            <a:custGeom>
              <a:avLst/>
              <a:gdLst/>
              <a:ahLst/>
              <a:cxnLst/>
              <a:rect l="l" t="t" r="r" b="b"/>
              <a:pathLst>
                <a:path w="1008380" h="356869">
                  <a:moveTo>
                    <a:pt x="504189" y="356869"/>
                  </a:moveTo>
                  <a:lnTo>
                    <a:pt x="0" y="356869"/>
                  </a:lnTo>
                  <a:lnTo>
                    <a:pt x="0" y="0"/>
                  </a:lnTo>
                  <a:lnTo>
                    <a:pt x="1008380" y="0"/>
                  </a:lnTo>
                  <a:lnTo>
                    <a:pt x="1008380" y="356869"/>
                  </a:lnTo>
                  <a:lnTo>
                    <a:pt x="504189" y="356869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31357" y="903593"/>
            <a:ext cx="2689528" cy="282838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4718" y="2427329"/>
            <a:ext cx="4758325" cy="26810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5759" y="46080"/>
            <a:ext cx="458914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85010" algn="l"/>
              </a:tabLst>
            </a:pPr>
            <a:r>
              <a:rPr spc="-10" dirty="0"/>
              <a:t>Vectors</a:t>
            </a:r>
            <a:r>
              <a:rPr dirty="0"/>
              <a:t>	</a:t>
            </a:r>
            <a:r>
              <a:rPr spc="-10" dirty="0"/>
              <a:t>operations</a:t>
            </a:r>
          </a:p>
        </p:txBody>
      </p:sp>
      <p:sp>
        <p:nvSpPr>
          <p:cNvPr id="3" name="object 3"/>
          <p:cNvSpPr/>
          <p:nvPr/>
        </p:nvSpPr>
        <p:spPr>
          <a:xfrm>
            <a:off x="2592070" y="2376529"/>
            <a:ext cx="2015489" cy="1727200"/>
          </a:xfrm>
          <a:custGeom>
            <a:avLst/>
            <a:gdLst/>
            <a:ahLst/>
            <a:cxnLst/>
            <a:rect l="l" t="t" r="r" b="b"/>
            <a:pathLst>
              <a:path w="2015489" h="1727200">
                <a:moveTo>
                  <a:pt x="1295400" y="0"/>
                </a:moveTo>
                <a:lnTo>
                  <a:pt x="0" y="1295400"/>
                </a:lnTo>
              </a:path>
              <a:path w="2015489" h="1727200">
                <a:moveTo>
                  <a:pt x="0" y="1295400"/>
                </a:moveTo>
                <a:lnTo>
                  <a:pt x="2015490" y="1727200"/>
                </a:lnTo>
              </a:path>
              <a:path w="2015489" h="1727200">
                <a:moveTo>
                  <a:pt x="1295400" y="0"/>
                </a:moveTo>
                <a:lnTo>
                  <a:pt x="2015490" y="172720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302510" y="3462380"/>
            <a:ext cx="21209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50" dirty="0">
                <a:latin typeface="Microsoft Sans Serif"/>
                <a:cs typeface="Microsoft Sans Serif"/>
              </a:rPr>
              <a:t>A</a:t>
            </a:r>
            <a:endParaRPr sz="22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91639" y="3850999"/>
            <a:ext cx="161480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latin typeface="Microsoft Sans Serif"/>
                <a:cs typeface="Microsoft Sans Serif"/>
              </a:rPr>
              <a:t>(1+2√3,</a:t>
            </a:r>
            <a:r>
              <a:rPr sz="2200" spc="-3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1,</a:t>
            </a:r>
            <a:r>
              <a:rPr sz="2200" spc="-35" dirty="0">
                <a:latin typeface="Microsoft Sans Serif"/>
                <a:cs typeface="Microsoft Sans Serif"/>
              </a:rPr>
              <a:t> </a:t>
            </a:r>
            <a:r>
              <a:rPr sz="2200" spc="-25" dirty="0">
                <a:latin typeface="Microsoft Sans Serif"/>
                <a:cs typeface="Microsoft Sans Serif"/>
              </a:rPr>
              <a:t>2)</a:t>
            </a:r>
            <a:endParaRPr sz="22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9269" y="870310"/>
            <a:ext cx="8844280" cy="154813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 marR="5080">
              <a:lnSpc>
                <a:spcPts val="2460"/>
              </a:lnSpc>
              <a:spcBef>
                <a:spcPts val="330"/>
              </a:spcBef>
              <a:tabLst>
                <a:tab pos="721995" algn="l"/>
                <a:tab pos="1275080" algn="l"/>
                <a:tab pos="1664970" algn="l"/>
                <a:tab pos="2043430" algn="l"/>
                <a:tab pos="2124075" algn="l"/>
                <a:tab pos="2577465" algn="l"/>
                <a:tab pos="3345179" algn="l"/>
                <a:tab pos="3671570" algn="l"/>
                <a:tab pos="4007485" algn="l"/>
                <a:tab pos="4544695" algn="l"/>
                <a:tab pos="5093335" algn="l"/>
                <a:tab pos="5191125" algn="l"/>
                <a:tab pos="5853430" algn="l"/>
                <a:tab pos="6194425" algn="l"/>
                <a:tab pos="6390005" algn="l"/>
                <a:tab pos="6572884" algn="l"/>
                <a:tab pos="6788150" algn="l"/>
                <a:tab pos="7043420" algn="l"/>
                <a:tab pos="7108190" algn="l"/>
                <a:tab pos="7515225" algn="l"/>
                <a:tab pos="7892415" algn="l"/>
                <a:tab pos="8175625" algn="l"/>
                <a:tab pos="8364220" algn="l"/>
              </a:tabLst>
            </a:pPr>
            <a:r>
              <a:rPr sz="2200" spc="-20" dirty="0">
                <a:latin typeface="Microsoft Sans Serif"/>
                <a:cs typeface="Microsoft Sans Serif"/>
              </a:rPr>
              <a:t>Find</a:t>
            </a:r>
            <a:r>
              <a:rPr sz="2200" dirty="0">
                <a:latin typeface="Microsoft Sans Serif"/>
                <a:cs typeface="Microsoft Sans Serif"/>
              </a:rPr>
              <a:t>	</a:t>
            </a:r>
            <a:r>
              <a:rPr sz="2200" spc="-25" dirty="0">
                <a:latin typeface="Microsoft Sans Serif"/>
                <a:cs typeface="Microsoft Sans Serif"/>
              </a:rPr>
              <a:t>the</a:t>
            </a:r>
            <a:r>
              <a:rPr sz="2200" dirty="0">
                <a:latin typeface="Microsoft Sans Serif"/>
                <a:cs typeface="Microsoft Sans Serif"/>
              </a:rPr>
              <a:t>	</a:t>
            </a:r>
            <a:r>
              <a:rPr sz="2200" spc="-20" dirty="0">
                <a:latin typeface="Microsoft Sans Serif"/>
                <a:cs typeface="Microsoft Sans Serif"/>
              </a:rPr>
              <a:t>angle</a:t>
            </a:r>
            <a:r>
              <a:rPr sz="2200" dirty="0">
                <a:latin typeface="Microsoft Sans Serif"/>
                <a:cs typeface="Microsoft Sans Serif"/>
              </a:rPr>
              <a:t>		</a:t>
            </a:r>
            <a:r>
              <a:rPr sz="2200" spc="-10" dirty="0">
                <a:latin typeface="Microsoft Sans Serif"/>
                <a:cs typeface="Microsoft Sans Serif"/>
              </a:rPr>
              <a:t>between</a:t>
            </a:r>
            <a:r>
              <a:rPr sz="2200" dirty="0">
                <a:latin typeface="Microsoft Sans Serif"/>
                <a:cs typeface="Microsoft Sans Serif"/>
              </a:rPr>
              <a:t>	</a:t>
            </a:r>
            <a:r>
              <a:rPr sz="2200" spc="-20" dirty="0">
                <a:latin typeface="Microsoft Sans Serif"/>
                <a:cs typeface="Microsoft Sans Serif"/>
              </a:rPr>
              <a:t>side</a:t>
            </a:r>
            <a:r>
              <a:rPr sz="2200" dirty="0">
                <a:latin typeface="Microsoft Sans Serif"/>
                <a:cs typeface="Microsoft Sans Serif"/>
              </a:rPr>
              <a:t>	</a:t>
            </a:r>
            <a:r>
              <a:rPr sz="2200" spc="-25" dirty="0">
                <a:latin typeface="Microsoft Sans Serif"/>
                <a:cs typeface="Microsoft Sans Serif"/>
              </a:rPr>
              <a:t>AC</a:t>
            </a:r>
            <a:r>
              <a:rPr sz="2200" dirty="0">
                <a:latin typeface="Microsoft Sans Serif"/>
                <a:cs typeface="Microsoft Sans Serif"/>
              </a:rPr>
              <a:t>	</a:t>
            </a:r>
            <a:r>
              <a:rPr sz="2200" spc="-49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and		</a:t>
            </a:r>
            <a:r>
              <a:rPr sz="2200" spc="-20" dirty="0">
                <a:latin typeface="Microsoft Sans Serif"/>
                <a:cs typeface="Microsoft Sans Serif"/>
              </a:rPr>
              <a:t>side</a:t>
            </a:r>
            <a:r>
              <a:rPr sz="2200" dirty="0">
                <a:latin typeface="Microsoft Sans Serif"/>
                <a:cs typeface="Microsoft Sans Serif"/>
              </a:rPr>
              <a:t>	</a:t>
            </a:r>
            <a:r>
              <a:rPr sz="2200" spc="-25" dirty="0">
                <a:latin typeface="Microsoft Sans Serif"/>
                <a:cs typeface="Microsoft Sans Serif"/>
              </a:rPr>
              <a:t>AB</a:t>
            </a:r>
            <a:r>
              <a:rPr sz="2200" dirty="0">
                <a:latin typeface="Microsoft Sans Serif"/>
                <a:cs typeface="Microsoft Sans Serif"/>
              </a:rPr>
              <a:t>	</a:t>
            </a:r>
            <a:r>
              <a:rPr sz="2200" spc="-25" dirty="0">
                <a:latin typeface="Microsoft Sans Serif"/>
                <a:cs typeface="Microsoft Sans Serif"/>
              </a:rPr>
              <a:t>of</a:t>
            </a:r>
            <a:r>
              <a:rPr sz="2200" dirty="0">
                <a:latin typeface="Microsoft Sans Serif"/>
                <a:cs typeface="Microsoft Sans Serif"/>
              </a:rPr>
              <a:t>	</a:t>
            </a:r>
            <a:r>
              <a:rPr sz="2200" spc="-50" dirty="0">
                <a:latin typeface="Microsoft Sans Serif"/>
                <a:cs typeface="Microsoft Sans Serif"/>
              </a:rPr>
              <a:t>a</a:t>
            </a:r>
            <a:r>
              <a:rPr sz="2200" dirty="0">
                <a:latin typeface="Microsoft Sans Serif"/>
                <a:cs typeface="Microsoft Sans Serif"/>
              </a:rPr>
              <a:t>		</a:t>
            </a:r>
            <a:r>
              <a:rPr sz="2200" spc="-10" dirty="0">
                <a:latin typeface="Microsoft Sans Serif"/>
                <a:cs typeface="Microsoft Sans Serif"/>
              </a:rPr>
              <a:t>triangle</a:t>
            </a:r>
            <a:r>
              <a:rPr sz="2200" dirty="0">
                <a:latin typeface="Microsoft Sans Serif"/>
                <a:cs typeface="Microsoft Sans Serif"/>
              </a:rPr>
              <a:t>	</a:t>
            </a:r>
            <a:r>
              <a:rPr sz="2200" spc="-20" dirty="0">
                <a:latin typeface="Microsoft Sans Serif"/>
                <a:cs typeface="Microsoft Sans Serif"/>
              </a:rPr>
              <a:t>ABC. </a:t>
            </a:r>
            <a:r>
              <a:rPr sz="2200" spc="-10" dirty="0">
                <a:latin typeface="Microsoft Sans Serif"/>
                <a:cs typeface="Microsoft Sans Serif"/>
              </a:rPr>
              <a:t>Coordinates</a:t>
            </a:r>
            <a:r>
              <a:rPr sz="2200" dirty="0">
                <a:latin typeface="Microsoft Sans Serif"/>
                <a:cs typeface="Microsoft Sans Serif"/>
              </a:rPr>
              <a:t>	</a:t>
            </a:r>
            <a:r>
              <a:rPr sz="2200" spc="-25" dirty="0">
                <a:latin typeface="Microsoft Sans Serif"/>
                <a:cs typeface="Microsoft Sans Serif"/>
              </a:rPr>
              <a:t>of</a:t>
            </a:r>
            <a:r>
              <a:rPr sz="2200" dirty="0">
                <a:latin typeface="Microsoft Sans Serif"/>
                <a:cs typeface="Microsoft Sans Serif"/>
              </a:rPr>
              <a:t>	</a:t>
            </a:r>
            <a:r>
              <a:rPr sz="2200" spc="-25" dirty="0">
                <a:latin typeface="Microsoft Sans Serif"/>
                <a:cs typeface="Microsoft Sans Serif"/>
              </a:rPr>
              <a:t>the</a:t>
            </a:r>
            <a:r>
              <a:rPr sz="2200" dirty="0">
                <a:latin typeface="Microsoft Sans Serif"/>
                <a:cs typeface="Microsoft Sans Serif"/>
              </a:rPr>
              <a:t>	</a:t>
            </a:r>
            <a:r>
              <a:rPr sz="2200" spc="-10" dirty="0">
                <a:latin typeface="Microsoft Sans Serif"/>
                <a:cs typeface="Microsoft Sans Serif"/>
              </a:rPr>
              <a:t>vertices</a:t>
            </a:r>
            <a:r>
              <a:rPr sz="2200" dirty="0">
                <a:latin typeface="Microsoft Sans Serif"/>
                <a:cs typeface="Microsoft Sans Serif"/>
              </a:rPr>
              <a:t>	</a:t>
            </a:r>
            <a:r>
              <a:rPr sz="2200" spc="-10" dirty="0">
                <a:latin typeface="Microsoft Sans Serif"/>
                <a:cs typeface="Microsoft Sans Serif"/>
              </a:rPr>
              <a:t>A,B,C</a:t>
            </a:r>
            <a:r>
              <a:rPr sz="2200" dirty="0">
                <a:latin typeface="Microsoft Sans Serif"/>
                <a:cs typeface="Microsoft Sans Serif"/>
              </a:rPr>
              <a:t>	</a:t>
            </a:r>
            <a:r>
              <a:rPr sz="2200" spc="-25" dirty="0">
                <a:latin typeface="Microsoft Sans Serif"/>
                <a:cs typeface="Microsoft Sans Serif"/>
              </a:rPr>
              <a:t>are</a:t>
            </a:r>
            <a:r>
              <a:rPr sz="2200" dirty="0">
                <a:latin typeface="Microsoft Sans Serif"/>
                <a:cs typeface="Microsoft Sans Serif"/>
              </a:rPr>
              <a:t>	</a:t>
            </a:r>
            <a:r>
              <a:rPr sz="2200" spc="-10" dirty="0">
                <a:latin typeface="Microsoft Sans Serif"/>
                <a:cs typeface="Microsoft Sans Serif"/>
              </a:rPr>
              <a:t>(1+2√3,</a:t>
            </a:r>
            <a:r>
              <a:rPr sz="2200" dirty="0">
                <a:latin typeface="Microsoft Sans Serif"/>
                <a:cs typeface="Microsoft Sans Serif"/>
              </a:rPr>
              <a:t>	</a:t>
            </a:r>
            <a:r>
              <a:rPr sz="2200" spc="-25" dirty="0">
                <a:latin typeface="Microsoft Sans Serif"/>
                <a:cs typeface="Microsoft Sans Serif"/>
              </a:rPr>
              <a:t>1,</a:t>
            </a:r>
            <a:r>
              <a:rPr sz="2200" dirty="0">
                <a:latin typeface="Microsoft Sans Serif"/>
                <a:cs typeface="Microsoft Sans Serif"/>
              </a:rPr>
              <a:t>	</a:t>
            </a:r>
            <a:r>
              <a:rPr sz="2200" spc="-25" dirty="0">
                <a:latin typeface="Microsoft Sans Serif"/>
                <a:cs typeface="Microsoft Sans Serif"/>
              </a:rPr>
              <a:t>2),</a:t>
            </a:r>
            <a:r>
              <a:rPr sz="2200" dirty="0">
                <a:latin typeface="Microsoft Sans Serif"/>
                <a:cs typeface="Microsoft Sans Serif"/>
              </a:rPr>
              <a:t>	</a:t>
            </a:r>
            <a:r>
              <a:rPr sz="2200" spc="-25" dirty="0">
                <a:latin typeface="Microsoft Sans Serif"/>
                <a:cs typeface="Microsoft Sans Serif"/>
              </a:rPr>
              <a:t>(1,</a:t>
            </a:r>
            <a:r>
              <a:rPr sz="2200" dirty="0">
                <a:latin typeface="Microsoft Sans Serif"/>
                <a:cs typeface="Microsoft Sans Serif"/>
              </a:rPr>
              <a:t>	</a:t>
            </a:r>
            <a:r>
              <a:rPr sz="2200" spc="-25" dirty="0">
                <a:latin typeface="Microsoft Sans Serif"/>
                <a:cs typeface="Microsoft Sans Serif"/>
              </a:rPr>
              <a:t>1,</a:t>
            </a:r>
            <a:r>
              <a:rPr sz="2200" dirty="0">
                <a:latin typeface="Microsoft Sans Serif"/>
                <a:cs typeface="Microsoft Sans Serif"/>
              </a:rPr>
              <a:t>	</a:t>
            </a:r>
            <a:r>
              <a:rPr sz="2200" spc="-25" dirty="0">
                <a:latin typeface="Microsoft Sans Serif"/>
                <a:cs typeface="Microsoft Sans Serif"/>
              </a:rPr>
              <a:t>2),</a:t>
            </a:r>
            <a:r>
              <a:rPr sz="2200" dirty="0">
                <a:latin typeface="Microsoft Sans Serif"/>
                <a:cs typeface="Microsoft Sans Serif"/>
              </a:rPr>
              <a:t>	</a:t>
            </a:r>
            <a:r>
              <a:rPr sz="2200" spc="-25" dirty="0">
                <a:latin typeface="Microsoft Sans Serif"/>
                <a:cs typeface="Microsoft Sans Serif"/>
              </a:rPr>
              <a:t>and</a:t>
            </a:r>
            <a:endParaRPr sz="2200">
              <a:latin typeface="Microsoft Sans Serif"/>
              <a:cs typeface="Microsoft Sans Serif"/>
            </a:endParaRPr>
          </a:p>
          <a:p>
            <a:pPr marL="12700">
              <a:lnSpc>
                <a:spcPts val="2410"/>
              </a:lnSpc>
            </a:pPr>
            <a:r>
              <a:rPr sz="2200" dirty="0">
                <a:latin typeface="Microsoft Sans Serif"/>
                <a:cs typeface="Microsoft Sans Serif"/>
              </a:rPr>
              <a:t>(1,3,2)</a:t>
            </a:r>
            <a:r>
              <a:rPr sz="2200" spc="-60" dirty="0">
                <a:latin typeface="Microsoft Sans Serif"/>
                <a:cs typeface="Microsoft Sans Serif"/>
              </a:rPr>
              <a:t> </a:t>
            </a:r>
            <a:r>
              <a:rPr sz="2200" spc="-10" dirty="0">
                <a:latin typeface="Microsoft Sans Serif"/>
                <a:cs typeface="Microsoft Sans Serif"/>
              </a:rPr>
              <a:t>respectively.</a:t>
            </a:r>
            <a:endParaRPr sz="2200">
              <a:latin typeface="Microsoft Sans Serif"/>
              <a:cs typeface="Microsoft Sans Serif"/>
            </a:endParaRPr>
          </a:p>
          <a:p>
            <a:pPr marR="1043305" algn="ctr">
              <a:lnSpc>
                <a:spcPct val="100000"/>
              </a:lnSpc>
              <a:spcBef>
                <a:spcPts val="1789"/>
              </a:spcBef>
            </a:pPr>
            <a:r>
              <a:rPr sz="2200" dirty="0">
                <a:latin typeface="Microsoft Sans Serif"/>
                <a:cs typeface="Microsoft Sans Serif"/>
              </a:rPr>
              <a:t>B</a:t>
            </a:r>
            <a:r>
              <a:rPr sz="2200" spc="-95" dirty="0">
                <a:latin typeface="Microsoft Sans Serif"/>
                <a:cs typeface="Microsoft Sans Serif"/>
              </a:rPr>
              <a:t> </a:t>
            </a:r>
            <a:r>
              <a:rPr sz="3300" baseline="1262" dirty="0">
                <a:latin typeface="Microsoft Sans Serif"/>
                <a:cs typeface="Microsoft Sans Serif"/>
              </a:rPr>
              <a:t>(1,</a:t>
            </a:r>
            <a:r>
              <a:rPr sz="3300" spc="7" baseline="1262" dirty="0">
                <a:latin typeface="Microsoft Sans Serif"/>
                <a:cs typeface="Microsoft Sans Serif"/>
              </a:rPr>
              <a:t> </a:t>
            </a:r>
            <a:r>
              <a:rPr sz="3300" baseline="1262" dirty="0">
                <a:latin typeface="Microsoft Sans Serif"/>
                <a:cs typeface="Microsoft Sans Serif"/>
              </a:rPr>
              <a:t>1,</a:t>
            </a:r>
            <a:r>
              <a:rPr sz="3300" spc="15" baseline="1262" dirty="0">
                <a:latin typeface="Microsoft Sans Serif"/>
                <a:cs typeface="Microsoft Sans Serif"/>
              </a:rPr>
              <a:t> </a:t>
            </a:r>
            <a:r>
              <a:rPr sz="3300" spc="-37" baseline="1262" dirty="0">
                <a:latin typeface="Microsoft Sans Serif"/>
                <a:cs typeface="Microsoft Sans Serif"/>
              </a:rPr>
              <a:t>2)</a:t>
            </a:r>
            <a:endParaRPr sz="3300" baseline="1262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325620" y="4066899"/>
            <a:ext cx="833119" cy="692150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12700" marR="5080" indent="215900">
              <a:lnSpc>
                <a:spcPts val="2610"/>
              </a:lnSpc>
              <a:spcBef>
                <a:spcPts val="210"/>
              </a:spcBef>
            </a:pPr>
            <a:r>
              <a:rPr sz="2200" spc="-50" dirty="0">
                <a:latin typeface="Microsoft Sans Serif"/>
                <a:cs typeface="Microsoft Sans Serif"/>
              </a:rPr>
              <a:t>C </a:t>
            </a:r>
            <a:r>
              <a:rPr sz="2200" spc="-10" dirty="0">
                <a:latin typeface="Microsoft Sans Serif"/>
                <a:cs typeface="Microsoft Sans Serif"/>
              </a:rPr>
              <a:t>(1,3,2)</a:t>
            </a:r>
            <a:endParaRPr sz="22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5759" y="46080"/>
            <a:ext cx="458914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85010" algn="l"/>
              </a:tabLst>
            </a:pPr>
            <a:r>
              <a:rPr spc="-10" dirty="0"/>
              <a:t>Vectors</a:t>
            </a:r>
            <a:r>
              <a:rPr dirty="0"/>
              <a:t>	</a:t>
            </a:r>
            <a:r>
              <a:rPr spc="-10" dirty="0"/>
              <a:t>operations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75590" y="1439269"/>
            <a:ext cx="9582150" cy="2880360"/>
            <a:chOff x="275590" y="1439269"/>
            <a:chExt cx="9582150" cy="288036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71110" y="1439269"/>
              <a:ext cx="4786552" cy="288036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5590" y="1691999"/>
              <a:ext cx="4800600" cy="23622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5759" y="46080"/>
            <a:ext cx="458914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85010" algn="l"/>
              </a:tabLst>
            </a:pPr>
            <a:r>
              <a:rPr spc="-10" dirty="0"/>
              <a:t>Vectors</a:t>
            </a:r>
            <a:r>
              <a:rPr dirty="0"/>
              <a:t>	</a:t>
            </a:r>
            <a:r>
              <a:rPr spc="-10" dirty="0"/>
              <a:t>operations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36962" y="1068635"/>
            <a:ext cx="5982757" cy="383331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5759" y="-122483"/>
            <a:ext cx="9340850" cy="1545590"/>
          </a:xfrm>
          <a:prstGeom prst="rect">
            <a:avLst/>
          </a:prstGeom>
        </p:spPr>
        <p:txBody>
          <a:bodyPr vert="horz" wrap="square" lIns="0" tIns="180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25"/>
              </a:spcBef>
              <a:tabLst>
                <a:tab pos="1985010" algn="l"/>
              </a:tabLst>
            </a:pPr>
            <a:r>
              <a:rPr spc="-10" dirty="0"/>
              <a:t>Vectors</a:t>
            </a:r>
            <a:r>
              <a:rPr dirty="0"/>
              <a:t>	</a:t>
            </a:r>
            <a:r>
              <a:rPr spc="-10" dirty="0"/>
              <a:t>operations</a:t>
            </a:r>
          </a:p>
          <a:p>
            <a:pPr marL="12700" marR="5080">
              <a:lnSpc>
                <a:spcPts val="2470"/>
              </a:lnSpc>
              <a:spcBef>
                <a:spcPts val="955"/>
              </a:spcBef>
            </a:pPr>
            <a:r>
              <a:rPr sz="2200" b="0" dirty="0">
                <a:latin typeface="Microsoft Sans Serif"/>
                <a:cs typeface="Microsoft Sans Serif"/>
              </a:rPr>
              <a:t>Find</a:t>
            </a:r>
            <a:r>
              <a:rPr sz="2200" b="0" spc="315" dirty="0">
                <a:latin typeface="Microsoft Sans Serif"/>
                <a:cs typeface="Microsoft Sans Serif"/>
              </a:rPr>
              <a:t> </a:t>
            </a:r>
            <a:r>
              <a:rPr sz="2200" b="0" dirty="0">
                <a:latin typeface="Microsoft Sans Serif"/>
                <a:cs typeface="Microsoft Sans Serif"/>
              </a:rPr>
              <a:t>area</a:t>
            </a:r>
            <a:r>
              <a:rPr sz="2200" b="0" spc="320" dirty="0">
                <a:latin typeface="Microsoft Sans Serif"/>
                <a:cs typeface="Microsoft Sans Serif"/>
              </a:rPr>
              <a:t> </a:t>
            </a:r>
            <a:r>
              <a:rPr sz="2200" b="0" dirty="0">
                <a:latin typeface="Microsoft Sans Serif"/>
                <a:cs typeface="Microsoft Sans Serif"/>
              </a:rPr>
              <a:t>vector</a:t>
            </a:r>
            <a:r>
              <a:rPr sz="2200" b="0" spc="310" dirty="0">
                <a:latin typeface="Microsoft Sans Serif"/>
                <a:cs typeface="Microsoft Sans Serif"/>
              </a:rPr>
              <a:t> </a:t>
            </a:r>
            <a:r>
              <a:rPr sz="2200" b="0" dirty="0">
                <a:latin typeface="Microsoft Sans Serif"/>
                <a:cs typeface="Microsoft Sans Serif"/>
              </a:rPr>
              <a:t>and</a:t>
            </a:r>
            <a:r>
              <a:rPr sz="2200" b="0" spc="315" dirty="0">
                <a:latin typeface="Microsoft Sans Serif"/>
                <a:cs typeface="Microsoft Sans Serif"/>
              </a:rPr>
              <a:t> </a:t>
            </a:r>
            <a:r>
              <a:rPr sz="2200" b="0" dirty="0">
                <a:latin typeface="Microsoft Sans Serif"/>
                <a:cs typeface="Microsoft Sans Serif"/>
              </a:rPr>
              <a:t>area</a:t>
            </a:r>
            <a:r>
              <a:rPr sz="2200" b="0" spc="310" dirty="0">
                <a:latin typeface="Microsoft Sans Serif"/>
                <a:cs typeface="Microsoft Sans Serif"/>
              </a:rPr>
              <a:t> </a:t>
            </a:r>
            <a:r>
              <a:rPr sz="2200" b="0" dirty="0">
                <a:latin typeface="Microsoft Sans Serif"/>
                <a:cs typeface="Microsoft Sans Serif"/>
              </a:rPr>
              <a:t>that</a:t>
            </a:r>
            <a:r>
              <a:rPr sz="2200" b="0" spc="320" dirty="0">
                <a:latin typeface="Microsoft Sans Serif"/>
                <a:cs typeface="Microsoft Sans Serif"/>
              </a:rPr>
              <a:t> </a:t>
            </a:r>
            <a:r>
              <a:rPr sz="2200" b="0" dirty="0">
                <a:latin typeface="Microsoft Sans Serif"/>
                <a:cs typeface="Microsoft Sans Serif"/>
              </a:rPr>
              <a:t>is</a:t>
            </a:r>
            <a:r>
              <a:rPr sz="2200" b="0" spc="315" dirty="0">
                <a:latin typeface="Microsoft Sans Serif"/>
                <a:cs typeface="Microsoft Sans Serif"/>
              </a:rPr>
              <a:t> </a:t>
            </a:r>
            <a:r>
              <a:rPr sz="2200" b="0" dirty="0">
                <a:latin typeface="Microsoft Sans Serif"/>
                <a:cs typeface="Microsoft Sans Serif"/>
              </a:rPr>
              <a:t>orthogonal</a:t>
            </a:r>
            <a:r>
              <a:rPr sz="2200" b="0" spc="320" dirty="0">
                <a:latin typeface="Microsoft Sans Serif"/>
                <a:cs typeface="Microsoft Sans Serif"/>
              </a:rPr>
              <a:t> </a:t>
            </a:r>
            <a:r>
              <a:rPr sz="2200" b="0" dirty="0">
                <a:latin typeface="Microsoft Sans Serif"/>
                <a:cs typeface="Microsoft Sans Serif"/>
              </a:rPr>
              <a:t>to</a:t>
            </a:r>
            <a:r>
              <a:rPr sz="2200" b="0" spc="310" dirty="0">
                <a:latin typeface="Microsoft Sans Serif"/>
                <a:cs typeface="Microsoft Sans Serif"/>
              </a:rPr>
              <a:t> </a:t>
            </a:r>
            <a:r>
              <a:rPr sz="2200" b="0" dirty="0">
                <a:latin typeface="Microsoft Sans Serif"/>
                <a:cs typeface="Microsoft Sans Serif"/>
              </a:rPr>
              <a:t>the</a:t>
            </a:r>
            <a:r>
              <a:rPr sz="2200" b="0" spc="315" dirty="0">
                <a:latin typeface="Microsoft Sans Serif"/>
                <a:cs typeface="Microsoft Sans Serif"/>
              </a:rPr>
              <a:t> </a:t>
            </a:r>
            <a:r>
              <a:rPr sz="2200" b="0" dirty="0">
                <a:latin typeface="Microsoft Sans Serif"/>
                <a:cs typeface="Microsoft Sans Serif"/>
              </a:rPr>
              <a:t>plane</a:t>
            </a:r>
            <a:r>
              <a:rPr sz="2200" b="0" spc="315" dirty="0">
                <a:latin typeface="Microsoft Sans Serif"/>
                <a:cs typeface="Microsoft Sans Serif"/>
              </a:rPr>
              <a:t> </a:t>
            </a:r>
            <a:r>
              <a:rPr sz="2200" b="0" dirty="0">
                <a:latin typeface="Microsoft Sans Serif"/>
                <a:cs typeface="Microsoft Sans Serif"/>
              </a:rPr>
              <a:t>containing</a:t>
            </a:r>
            <a:r>
              <a:rPr sz="2200" b="0" spc="320" dirty="0">
                <a:latin typeface="Microsoft Sans Serif"/>
                <a:cs typeface="Microsoft Sans Serif"/>
              </a:rPr>
              <a:t> </a:t>
            </a:r>
            <a:r>
              <a:rPr sz="2200" b="0" spc="-25" dirty="0">
                <a:latin typeface="Microsoft Sans Serif"/>
                <a:cs typeface="Microsoft Sans Serif"/>
              </a:rPr>
              <a:t>the </a:t>
            </a:r>
            <a:r>
              <a:rPr sz="2200" b="0" dirty="0">
                <a:latin typeface="Microsoft Sans Serif"/>
                <a:cs typeface="Microsoft Sans Serif"/>
              </a:rPr>
              <a:t>points</a:t>
            </a:r>
            <a:r>
              <a:rPr sz="2200" b="0" spc="-70" dirty="0">
                <a:latin typeface="Microsoft Sans Serif"/>
                <a:cs typeface="Microsoft Sans Serif"/>
              </a:rPr>
              <a:t> </a:t>
            </a:r>
            <a:r>
              <a:rPr sz="2200" b="0" dirty="0">
                <a:latin typeface="Microsoft Sans Serif"/>
                <a:cs typeface="Microsoft Sans Serif"/>
              </a:rPr>
              <a:t>P=(3,0,1),</a:t>
            </a:r>
            <a:r>
              <a:rPr sz="2200" b="0" spc="-75" dirty="0">
                <a:latin typeface="Microsoft Sans Serif"/>
                <a:cs typeface="Microsoft Sans Serif"/>
              </a:rPr>
              <a:t> </a:t>
            </a:r>
            <a:r>
              <a:rPr sz="2200" b="0" dirty="0">
                <a:latin typeface="Microsoft Sans Serif"/>
                <a:cs typeface="Microsoft Sans Serif"/>
              </a:rPr>
              <a:t>Q=(4,−2,1),</a:t>
            </a:r>
            <a:r>
              <a:rPr sz="2200" b="0" spc="-65" dirty="0">
                <a:latin typeface="Microsoft Sans Serif"/>
                <a:cs typeface="Microsoft Sans Serif"/>
              </a:rPr>
              <a:t> </a:t>
            </a:r>
            <a:r>
              <a:rPr sz="2200" b="0" dirty="0">
                <a:latin typeface="Microsoft Sans Serif"/>
                <a:cs typeface="Microsoft Sans Serif"/>
              </a:rPr>
              <a:t>and</a:t>
            </a:r>
            <a:r>
              <a:rPr sz="2200" b="0" spc="-70" dirty="0">
                <a:latin typeface="Microsoft Sans Serif"/>
                <a:cs typeface="Microsoft Sans Serif"/>
              </a:rPr>
              <a:t> </a:t>
            </a:r>
            <a:r>
              <a:rPr sz="2200" b="0" spc="-10" dirty="0">
                <a:latin typeface="Microsoft Sans Serif"/>
                <a:cs typeface="Microsoft Sans Serif"/>
              </a:rPr>
              <a:t>R=(5,3,−1).</a:t>
            </a:r>
            <a:endParaRPr sz="22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231389" y="2160629"/>
            <a:ext cx="1871980" cy="2160270"/>
          </a:xfrm>
          <a:custGeom>
            <a:avLst/>
            <a:gdLst/>
            <a:ahLst/>
            <a:cxnLst/>
            <a:rect l="l" t="t" r="r" b="b"/>
            <a:pathLst>
              <a:path w="1871979" h="2160270">
                <a:moveTo>
                  <a:pt x="1871980" y="2160270"/>
                </a:moveTo>
                <a:lnTo>
                  <a:pt x="0" y="1583690"/>
                </a:lnTo>
              </a:path>
              <a:path w="1871979" h="2160270">
                <a:moveTo>
                  <a:pt x="864870" y="0"/>
                </a:moveTo>
                <a:lnTo>
                  <a:pt x="0" y="158369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68680" y="3635099"/>
            <a:ext cx="109283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latin typeface="Microsoft Sans Serif"/>
                <a:cs typeface="Microsoft Sans Serif"/>
              </a:rPr>
              <a:t>P</a:t>
            </a:r>
            <a:r>
              <a:rPr sz="2200" spc="-5" dirty="0">
                <a:latin typeface="Microsoft Sans Serif"/>
                <a:cs typeface="Microsoft Sans Serif"/>
              </a:rPr>
              <a:t> </a:t>
            </a:r>
            <a:r>
              <a:rPr sz="2200" spc="-10" dirty="0">
                <a:latin typeface="Microsoft Sans Serif"/>
                <a:cs typeface="Microsoft Sans Serif"/>
              </a:rPr>
              <a:t>(3,0,1)</a:t>
            </a:r>
            <a:endParaRPr sz="22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41929" y="1806299"/>
            <a:ext cx="128905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latin typeface="Microsoft Sans Serif"/>
                <a:cs typeface="Microsoft Sans Serif"/>
              </a:rPr>
              <a:t>Q</a:t>
            </a:r>
            <a:r>
              <a:rPr sz="2200" spc="-10" dirty="0">
                <a:latin typeface="Microsoft Sans Serif"/>
                <a:cs typeface="Microsoft Sans Serif"/>
              </a:rPr>
              <a:t> (4,−2,1)</a:t>
            </a:r>
            <a:endParaRPr sz="22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49420" y="4254860"/>
            <a:ext cx="127508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latin typeface="Microsoft Sans Serif"/>
                <a:cs typeface="Microsoft Sans Serif"/>
              </a:rPr>
              <a:t>R</a:t>
            </a:r>
            <a:r>
              <a:rPr sz="2200" spc="20" dirty="0">
                <a:latin typeface="Microsoft Sans Serif"/>
                <a:cs typeface="Microsoft Sans Serif"/>
              </a:rPr>
              <a:t> </a:t>
            </a:r>
            <a:r>
              <a:rPr sz="2200" spc="-10" dirty="0">
                <a:latin typeface="Microsoft Sans Serif"/>
                <a:cs typeface="Microsoft Sans Serif"/>
              </a:rPr>
              <a:t>(5,3,−1)</a:t>
            </a:r>
            <a:endParaRPr sz="22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96840" algn="l"/>
              </a:tabLst>
            </a:pPr>
            <a:r>
              <a:rPr dirty="0"/>
              <a:t>Gradient,</a:t>
            </a:r>
            <a:r>
              <a:rPr spc="-175" dirty="0"/>
              <a:t> </a:t>
            </a:r>
            <a:r>
              <a:rPr spc="-10" dirty="0"/>
              <a:t>divergence</a:t>
            </a:r>
            <a:r>
              <a:rPr dirty="0"/>
              <a:t>	and</a:t>
            </a:r>
            <a:r>
              <a:rPr spc="-60" dirty="0"/>
              <a:t> </a:t>
            </a:r>
            <a:r>
              <a:rPr spc="-20" dirty="0"/>
              <a:t>curl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27879" y="1068429"/>
            <a:ext cx="4876800" cy="397129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6769" y="936350"/>
            <a:ext cx="2628900" cy="88518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4700" y="2130150"/>
            <a:ext cx="3477260" cy="110998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804670" y="3635099"/>
            <a:ext cx="120840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i="1" dirty="0">
                <a:latin typeface="Arial"/>
                <a:cs typeface="Arial"/>
              </a:rPr>
              <a:t>f</a:t>
            </a:r>
            <a:r>
              <a:rPr sz="2200" i="1" spc="-10" dirty="0">
                <a:latin typeface="Arial"/>
                <a:cs typeface="Arial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is</a:t>
            </a:r>
            <a:r>
              <a:rPr sz="2200" spc="20" dirty="0">
                <a:latin typeface="Microsoft Sans Serif"/>
                <a:cs typeface="Microsoft Sans Serif"/>
              </a:rPr>
              <a:t> </a:t>
            </a:r>
            <a:r>
              <a:rPr sz="2200" spc="-10" dirty="0">
                <a:latin typeface="Microsoft Sans Serif"/>
                <a:cs typeface="Microsoft Sans Serif"/>
              </a:rPr>
              <a:t>scalar</a:t>
            </a:r>
            <a:endParaRPr sz="22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96840" algn="l"/>
              </a:tabLst>
            </a:pPr>
            <a:r>
              <a:rPr dirty="0"/>
              <a:t>Gradient,</a:t>
            </a:r>
            <a:r>
              <a:rPr spc="-175" dirty="0"/>
              <a:t> </a:t>
            </a:r>
            <a:r>
              <a:rPr spc="-10" dirty="0"/>
              <a:t>divergence</a:t>
            </a:r>
            <a:r>
              <a:rPr dirty="0"/>
              <a:t>	and</a:t>
            </a:r>
            <a:r>
              <a:rPr spc="-60" dirty="0"/>
              <a:t> </a:t>
            </a:r>
            <a:r>
              <a:rPr spc="-20" dirty="0"/>
              <a:t>curl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9280" y="1018899"/>
            <a:ext cx="3767454" cy="2348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Microsoft Sans Serif"/>
                <a:cs typeface="Microsoft Sans Serif"/>
              </a:rPr>
              <a:t>φ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=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x</a:t>
            </a:r>
            <a:r>
              <a:rPr sz="1575" baseline="31746" dirty="0">
                <a:latin typeface="Microsoft Sans Serif"/>
                <a:cs typeface="Microsoft Sans Serif"/>
              </a:rPr>
              <a:t>3</a:t>
            </a:r>
            <a:r>
              <a:rPr sz="1800" dirty="0">
                <a:latin typeface="Microsoft Sans Serif"/>
                <a:cs typeface="Microsoft Sans Serif"/>
              </a:rPr>
              <a:t>yz</a:t>
            </a:r>
            <a:r>
              <a:rPr sz="1575" baseline="31746" dirty="0">
                <a:latin typeface="Microsoft Sans Serif"/>
                <a:cs typeface="Microsoft Sans Serif"/>
              </a:rPr>
              <a:t>3</a:t>
            </a:r>
            <a:r>
              <a:rPr sz="1575" spc="315" baseline="31746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and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b="1" dirty="0">
                <a:latin typeface="Arial"/>
                <a:cs typeface="Arial"/>
              </a:rPr>
              <a:t>A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=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xz</a:t>
            </a:r>
            <a:r>
              <a:rPr sz="1800" spc="30" dirty="0">
                <a:latin typeface="Microsoft Sans Serif"/>
                <a:cs typeface="Microsoft Sans Serif"/>
              </a:rPr>
              <a:t> </a:t>
            </a:r>
            <a:r>
              <a:rPr sz="1800" b="1" dirty="0">
                <a:latin typeface="Arial"/>
                <a:cs typeface="Arial"/>
              </a:rPr>
              <a:t>i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spc="470" dirty="0">
                <a:latin typeface="Microsoft Sans Serif"/>
                <a:cs typeface="Microsoft Sans Serif"/>
              </a:rPr>
              <a:t>–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y</a:t>
            </a:r>
            <a:r>
              <a:rPr sz="1575" baseline="31746" dirty="0">
                <a:latin typeface="Microsoft Sans Serif"/>
                <a:cs typeface="Microsoft Sans Serif"/>
              </a:rPr>
              <a:t>2</a:t>
            </a:r>
            <a:r>
              <a:rPr sz="1575" spc="7" baseline="31746" dirty="0">
                <a:latin typeface="Microsoft Sans Serif"/>
                <a:cs typeface="Microsoft Sans Serif"/>
              </a:rPr>
              <a:t> </a:t>
            </a:r>
            <a:r>
              <a:rPr sz="1800" b="1" dirty="0">
                <a:latin typeface="Arial"/>
                <a:cs typeface="Arial"/>
              </a:rPr>
              <a:t>j </a:t>
            </a:r>
            <a:r>
              <a:rPr sz="1800" dirty="0">
                <a:latin typeface="Microsoft Sans Serif"/>
                <a:cs typeface="Microsoft Sans Serif"/>
              </a:rPr>
              <a:t>+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2x</a:t>
            </a:r>
            <a:r>
              <a:rPr sz="1575" baseline="31746" dirty="0">
                <a:latin typeface="Microsoft Sans Serif"/>
                <a:cs typeface="Microsoft Sans Serif"/>
              </a:rPr>
              <a:t>2</a:t>
            </a:r>
            <a:r>
              <a:rPr sz="1800" dirty="0">
                <a:latin typeface="Microsoft Sans Serif"/>
                <a:cs typeface="Microsoft Sans Serif"/>
              </a:rPr>
              <a:t>y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b="1" spc="-50" dirty="0">
                <a:latin typeface="Arial"/>
                <a:cs typeface="Arial"/>
              </a:rPr>
              <a:t>k</a:t>
            </a:r>
            <a:endParaRPr sz="1800">
              <a:latin typeface="Arial"/>
              <a:cs typeface="Arial"/>
            </a:endParaRPr>
          </a:p>
          <a:p>
            <a:pPr marL="76200">
              <a:lnSpc>
                <a:spcPct val="100000"/>
              </a:lnSpc>
              <a:spcBef>
                <a:spcPts val="1870"/>
              </a:spcBef>
            </a:pPr>
            <a:r>
              <a:rPr sz="1800" spc="-10" dirty="0">
                <a:latin typeface="Microsoft Sans Serif"/>
                <a:cs typeface="Microsoft Sans Serif"/>
              </a:rPr>
              <a:t>Evaluate</a:t>
            </a:r>
            <a:endParaRPr sz="1800">
              <a:latin typeface="Microsoft Sans Serif"/>
              <a:cs typeface="Microsoft Sans Serif"/>
            </a:endParaRPr>
          </a:p>
          <a:p>
            <a:pPr marL="417830" indent="-341630">
              <a:lnSpc>
                <a:spcPct val="100000"/>
              </a:lnSpc>
              <a:spcBef>
                <a:spcPts val="1880"/>
              </a:spcBef>
              <a:buFont typeface="Microsoft Sans Serif"/>
              <a:buAutoNum type="alphaLcParenBoth"/>
              <a:tabLst>
                <a:tab pos="417830" algn="l"/>
              </a:tabLst>
            </a:pPr>
            <a:r>
              <a:rPr sz="1800" spc="-25" dirty="0">
                <a:latin typeface="PMingLiU-ExtB"/>
                <a:cs typeface="PMingLiU-ExtB"/>
              </a:rPr>
              <a:t>❑</a:t>
            </a:r>
            <a:r>
              <a:rPr sz="1800" spc="-25" dirty="0">
                <a:latin typeface="Microsoft Sans Serif"/>
                <a:cs typeface="Microsoft Sans Serif"/>
              </a:rPr>
              <a:t>φ</a:t>
            </a:r>
            <a:endParaRPr sz="1800">
              <a:latin typeface="Microsoft Sans Serif"/>
              <a:cs typeface="Microsoft Sans Serif"/>
            </a:endParaRPr>
          </a:p>
          <a:p>
            <a:pPr marL="417830" indent="-341630">
              <a:lnSpc>
                <a:spcPct val="100000"/>
              </a:lnSpc>
              <a:spcBef>
                <a:spcPts val="1870"/>
              </a:spcBef>
              <a:buFont typeface="Microsoft Sans Serif"/>
              <a:buAutoNum type="alphaLcParenBoth"/>
              <a:tabLst>
                <a:tab pos="417830" algn="l"/>
              </a:tabLst>
            </a:pPr>
            <a:r>
              <a:rPr sz="1800" dirty="0">
                <a:latin typeface="PMingLiU-ExtB"/>
                <a:cs typeface="PMingLiU-ExtB"/>
              </a:rPr>
              <a:t>❑.</a:t>
            </a:r>
            <a:r>
              <a:rPr sz="1800" spc="-5" dirty="0">
                <a:latin typeface="PMingLiU-ExtB"/>
                <a:cs typeface="PMingLiU-ExtB"/>
              </a:rPr>
              <a:t> </a:t>
            </a:r>
            <a:r>
              <a:rPr sz="1800" b="1" spc="-50" dirty="0">
                <a:latin typeface="Arial"/>
                <a:cs typeface="Arial"/>
              </a:rPr>
              <a:t>A</a:t>
            </a:r>
            <a:endParaRPr sz="1800">
              <a:latin typeface="Arial"/>
              <a:cs typeface="Arial"/>
            </a:endParaRPr>
          </a:p>
          <a:p>
            <a:pPr marL="405130" indent="-328930">
              <a:lnSpc>
                <a:spcPct val="100000"/>
              </a:lnSpc>
              <a:spcBef>
                <a:spcPts val="1870"/>
              </a:spcBef>
              <a:buFont typeface="Microsoft Sans Serif"/>
              <a:buAutoNum type="alphaLcParenBoth"/>
              <a:tabLst>
                <a:tab pos="405130" algn="l"/>
              </a:tabLst>
            </a:pPr>
            <a:r>
              <a:rPr sz="1800" dirty="0">
                <a:latin typeface="PMingLiU-ExtB"/>
                <a:cs typeface="PMingLiU-ExtB"/>
              </a:rPr>
              <a:t>❑x</a:t>
            </a:r>
            <a:r>
              <a:rPr sz="1800" spc="-5" dirty="0">
                <a:latin typeface="PMingLiU-ExtB"/>
                <a:cs typeface="PMingLiU-ExtB"/>
              </a:rPr>
              <a:t> </a:t>
            </a:r>
            <a:r>
              <a:rPr sz="1800" b="1" spc="-50" dirty="0">
                <a:latin typeface="Arial"/>
                <a:cs typeface="Arial"/>
              </a:rPr>
              <a:t>A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67410" y="787506"/>
            <a:ext cx="4079875" cy="2177415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85090" algn="ctr">
              <a:lnSpc>
                <a:spcPct val="100000"/>
              </a:lnSpc>
              <a:spcBef>
                <a:spcPts val="300"/>
              </a:spcBef>
            </a:pPr>
            <a:r>
              <a:rPr sz="2400" b="1" i="1" spc="229" dirty="0">
                <a:latin typeface="Times New Roman"/>
                <a:cs typeface="Times New Roman"/>
              </a:rPr>
              <a:t>F</a:t>
            </a:r>
            <a:r>
              <a:rPr sz="2400" spc="229" dirty="0">
                <a:latin typeface="Georgia"/>
                <a:cs typeface="Georgia"/>
              </a:rPr>
              <a:t>=</a:t>
            </a:r>
            <a:r>
              <a:rPr sz="2400" i="1" spc="229" dirty="0">
                <a:latin typeface="Times New Roman"/>
                <a:cs typeface="Times New Roman"/>
              </a:rPr>
              <a:t>F</a:t>
            </a:r>
            <a:r>
              <a:rPr sz="2100" i="1" spc="345" baseline="-23809" dirty="0">
                <a:latin typeface="Times New Roman"/>
                <a:cs typeface="Times New Roman"/>
              </a:rPr>
              <a:t>x</a:t>
            </a:r>
            <a:r>
              <a:rPr sz="2100" i="1" spc="-22" baseline="-23809" dirty="0">
                <a:latin typeface="Times New Roman"/>
                <a:cs typeface="Times New Roman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i</a:t>
            </a:r>
            <a:r>
              <a:rPr sz="2400" b="1" i="1" spc="-350" dirty="0">
                <a:latin typeface="Times New Roman"/>
                <a:cs typeface="Times New Roman"/>
              </a:rPr>
              <a:t> </a:t>
            </a:r>
            <a:r>
              <a:rPr sz="2400" spc="-160" dirty="0">
                <a:latin typeface="Georgia"/>
                <a:cs typeface="Georgia"/>
              </a:rPr>
              <a:t>+</a:t>
            </a:r>
            <a:r>
              <a:rPr sz="2400" spc="-254" dirty="0">
                <a:latin typeface="Georgia"/>
                <a:cs typeface="Georgia"/>
              </a:rPr>
              <a:t> </a:t>
            </a:r>
            <a:r>
              <a:rPr sz="2400" i="1" spc="-20" dirty="0">
                <a:latin typeface="Times New Roman"/>
                <a:cs typeface="Times New Roman"/>
              </a:rPr>
              <a:t>F</a:t>
            </a:r>
            <a:r>
              <a:rPr sz="2400" i="1" spc="-254" dirty="0">
                <a:latin typeface="Times New Roman"/>
                <a:cs typeface="Times New Roman"/>
              </a:rPr>
              <a:t> </a:t>
            </a:r>
            <a:r>
              <a:rPr sz="2100" i="1" baseline="-23809" dirty="0">
                <a:latin typeface="Times New Roman"/>
                <a:cs typeface="Times New Roman"/>
              </a:rPr>
              <a:t>y</a:t>
            </a:r>
            <a:r>
              <a:rPr sz="2100" i="1" spc="667" baseline="-23809" dirty="0">
                <a:latin typeface="Times New Roman"/>
                <a:cs typeface="Times New Roman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j</a:t>
            </a:r>
            <a:r>
              <a:rPr sz="2400" b="1" i="1" spc="-355" dirty="0">
                <a:latin typeface="Times New Roman"/>
                <a:cs typeface="Times New Roman"/>
              </a:rPr>
              <a:t> </a:t>
            </a:r>
            <a:r>
              <a:rPr sz="2400" spc="-160" dirty="0">
                <a:latin typeface="Georgia"/>
                <a:cs typeface="Georgia"/>
              </a:rPr>
              <a:t>+</a:t>
            </a:r>
            <a:r>
              <a:rPr sz="2400" spc="-320" dirty="0">
                <a:latin typeface="Georgia"/>
                <a:cs typeface="Georgia"/>
              </a:rPr>
              <a:t> </a:t>
            </a:r>
            <a:r>
              <a:rPr sz="2400" i="1" spc="125" dirty="0">
                <a:latin typeface="Times New Roman"/>
                <a:cs typeface="Times New Roman"/>
              </a:rPr>
              <a:t>F</a:t>
            </a:r>
            <a:r>
              <a:rPr sz="2100" i="1" spc="187" baseline="-23809" dirty="0">
                <a:latin typeface="Times New Roman"/>
                <a:cs typeface="Times New Roman"/>
              </a:rPr>
              <a:t>z</a:t>
            </a:r>
            <a:r>
              <a:rPr sz="2100" i="1" spc="89" baseline="-23809" dirty="0">
                <a:latin typeface="Times New Roman"/>
                <a:cs typeface="Times New Roman"/>
              </a:rPr>
              <a:t> </a:t>
            </a:r>
            <a:r>
              <a:rPr sz="2400" b="1" i="1" spc="-50" dirty="0">
                <a:latin typeface="Times New Roman"/>
                <a:cs typeface="Times New Roman"/>
              </a:rPr>
              <a:t>k</a:t>
            </a:r>
            <a:endParaRPr sz="2400">
              <a:latin typeface="Times New Roman"/>
              <a:cs typeface="Times New Roman"/>
            </a:endParaRPr>
          </a:p>
          <a:p>
            <a:pPr marL="74930" algn="ctr">
              <a:lnSpc>
                <a:spcPts val="2500"/>
              </a:lnSpc>
              <a:spcBef>
                <a:spcPts val="200"/>
              </a:spcBef>
            </a:pPr>
            <a:r>
              <a:rPr sz="2400" i="1" spc="-20" dirty="0">
                <a:latin typeface="Times New Roman"/>
                <a:cs typeface="Times New Roman"/>
              </a:rPr>
              <a:t>d</a:t>
            </a:r>
            <a:r>
              <a:rPr sz="2400" i="1" spc="-210" dirty="0">
                <a:latin typeface="Times New Roman"/>
                <a:cs typeface="Times New Roman"/>
              </a:rPr>
              <a:t> </a:t>
            </a:r>
            <a:r>
              <a:rPr sz="2400" b="1" i="1" spc="155" dirty="0">
                <a:latin typeface="Times New Roman"/>
                <a:cs typeface="Times New Roman"/>
              </a:rPr>
              <a:t>r</a:t>
            </a:r>
            <a:r>
              <a:rPr sz="2400" spc="155" dirty="0">
                <a:latin typeface="Georgia"/>
                <a:cs typeface="Georgia"/>
              </a:rPr>
              <a:t>=</a:t>
            </a:r>
            <a:r>
              <a:rPr sz="2400" i="1" spc="155" dirty="0">
                <a:latin typeface="Times New Roman"/>
                <a:cs typeface="Times New Roman"/>
              </a:rPr>
              <a:t>dx</a:t>
            </a:r>
            <a:r>
              <a:rPr sz="2400" i="1" spc="-150" dirty="0">
                <a:latin typeface="Times New Roman"/>
                <a:cs typeface="Times New Roman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i</a:t>
            </a:r>
            <a:r>
              <a:rPr sz="2400" b="1" i="1" spc="-3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Georgia"/>
                <a:cs typeface="Georgia"/>
              </a:rPr>
              <a:t>+</a:t>
            </a:r>
            <a:r>
              <a:rPr sz="2400" i="1" dirty="0">
                <a:latin typeface="Times New Roman"/>
                <a:cs typeface="Times New Roman"/>
              </a:rPr>
              <a:t>dy</a:t>
            </a:r>
            <a:r>
              <a:rPr sz="2400" i="1" spc="229" dirty="0">
                <a:latin typeface="Times New Roman"/>
                <a:cs typeface="Times New Roman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j</a:t>
            </a:r>
            <a:r>
              <a:rPr sz="2400" b="1" i="1" spc="-36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Georgia"/>
                <a:cs typeface="Georgia"/>
              </a:rPr>
              <a:t>+</a:t>
            </a:r>
            <a:r>
              <a:rPr sz="2400" i="1" spc="-10" dirty="0">
                <a:latin typeface="Times New Roman"/>
                <a:cs typeface="Times New Roman"/>
              </a:rPr>
              <a:t>dz</a:t>
            </a:r>
            <a:r>
              <a:rPr sz="2400" i="1" spc="-175" dirty="0">
                <a:latin typeface="Times New Roman"/>
                <a:cs typeface="Times New Roman"/>
              </a:rPr>
              <a:t> </a:t>
            </a:r>
            <a:r>
              <a:rPr sz="2400" b="1" i="1" spc="-50" dirty="0">
                <a:latin typeface="Times New Roman"/>
                <a:cs typeface="Times New Roman"/>
              </a:rPr>
              <a:t>k</a:t>
            </a:r>
            <a:endParaRPr sz="2400">
              <a:latin typeface="Times New Roman"/>
              <a:cs typeface="Times New Roman"/>
            </a:endParaRPr>
          </a:p>
          <a:p>
            <a:pPr marL="42545" algn="ctr">
              <a:lnSpc>
                <a:spcPts val="3820"/>
              </a:lnSpc>
            </a:pPr>
            <a:r>
              <a:rPr sz="5250" spc="390" baseline="-4761" dirty="0">
                <a:latin typeface="Georgia"/>
                <a:cs typeface="Georgia"/>
              </a:rPr>
              <a:t>∫</a:t>
            </a:r>
            <a:r>
              <a:rPr sz="5250" spc="-690" baseline="-4761" dirty="0">
                <a:latin typeface="Georgia"/>
                <a:cs typeface="Georgia"/>
              </a:rPr>
              <a:t> </a:t>
            </a:r>
            <a:r>
              <a:rPr sz="2400" b="1" i="1" spc="-25" dirty="0">
                <a:latin typeface="Times New Roman"/>
                <a:cs typeface="Times New Roman"/>
              </a:rPr>
              <a:t>F</a:t>
            </a:r>
            <a:r>
              <a:rPr sz="2400" b="1" i="1" spc="-235" dirty="0">
                <a:latin typeface="Times New Roman"/>
                <a:cs typeface="Times New Roman"/>
              </a:rPr>
              <a:t> </a:t>
            </a:r>
            <a:r>
              <a:rPr sz="2400" i="1" spc="-10" dirty="0">
                <a:latin typeface="Times New Roman"/>
                <a:cs typeface="Times New Roman"/>
              </a:rPr>
              <a:t>.</a:t>
            </a:r>
            <a:r>
              <a:rPr sz="2400" i="1" spc="-295" dirty="0">
                <a:latin typeface="Times New Roman"/>
                <a:cs typeface="Times New Roman"/>
              </a:rPr>
              <a:t> </a:t>
            </a:r>
            <a:r>
              <a:rPr sz="2400" i="1" spc="-20" dirty="0">
                <a:latin typeface="Times New Roman"/>
                <a:cs typeface="Times New Roman"/>
              </a:rPr>
              <a:t>d</a:t>
            </a:r>
            <a:r>
              <a:rPr sz="2400" i="1" spc="-135" dirty="0">
                <a:latin typeface="Times New Roman"/>
                <a:cs typeface="Times New Roman"/>
              </a:rPr>
              <a:t> </a:t>
            </a:r>
            <a:r>
              <a:rPr sz="2400" b="1" i="1" spc="204" dirty="0">
                <a:latin typeface="Times New Roman"/>
                <a:cs typeface="Times New Roman"/>
              </a:rPr>
              <a:t>r</a:t>
            </a:r>
            <a:r>
              <a:rPr sz="2400" spc="204" dirty="0">
                <a:latin typeface="Georgia"/>
                <a:cs typeface="Georgia"/>
              </a:rPr>
              <a:t>=</a:t>
            </a:r>
            <a:r>
              <a:rPr sz="5250" spc="307" baseline="-4761" dirty="0">
                <a:latin typeface="Georgia"/>
                <a:cs typeface="Georgia"/>
              </a:rPr>
              <a:t>∫</a:t>
            </a:r>
            <a:r>
              <a:rPr sz="5250" spc="-690" baseline="-4761" dirty="0">
                <a:latin typeface="Georgia"/>
                <a:cs typeface="Georgia"/>
              </a:rPr>
              <a:t> </a:t>
            </a:r>
            <a:r>
              <a:rPr sz="2400" i="1" spc="130" dirty="0">
                <a:latin typeface="Times New Roman"/>
                <a:cs typeface="Times New Roman"/>
              </a:rPr>
              <a:t>F</a:t>
            </a:r>
            <a:r>
              <a:rPr sz="2100" i="1" spc="195" baseline="-21825" dirty="0">
                <a:latin typeface="Times New Roman"/>
                <a:cs typeface="Times New Roman"/>
              </a:rPr>
              <a:t>x</a:t>
            </a:r>
            <a:r>
              <a:rPr sz="2100" i="1" spc="-7" baseline="-21825" dirty="0">
                <a:latin typeface="Times New Roman"/>
                <a:cs typeface="Times New Roman"/>
              </a:rPr>
              <a:t> </a:t>
            </a:r>
            <a:r>
              <a:rPr sz="2400" i="1" spc="-20" dirty="0">
                <a:latin typeface="Times New Roman"/>
                <a:cs typeface="Times New Roman"/>
              </a:rPr>
              <a:t>dx</a:t>
            </a:r>
            <a:r>
              <a:rPr sz="2400" i="1" spc="-305" dirty="0">
                <a:latin typeface="Times New Roman"/>
                <a:cs typeface="Times New Roman"/>
              </a:rPr>
              <a:t> </a:t>
            </a:r>
            <a:r>
              <a:rPr sz="2400" spc="-160" dirty="0">
                <a:latin typeface="Georgia"/>
                <a:cs typeface="Georgia"/>
              </a:rPr>
              <a:t>+</a:t>
            </a:r>
            <a:r>
              <a:rPr sz="2400" spc="-320" dirty="0">
                <a:latin typeface="Georgia"/>
                <a:cs typeface="Georgia"/>
              </a:rPr>
              <a:t> </a:t>
            </a:r>
            <a:r>
              <a:rPr sz="2400" i="1" spc="-20" dirty="0">
                <a:latin typeface="Times New Roman"/>
                <a:cs typeface="Times New Roman"/>
              </a:rPr>
              <a:t>F</a:t>
            </a:r>
            <a:r>
              <a:rPr sz="2400" i="1" spc="-250" dirty="0">
                <a:latin typeface="Times New Roman"/>
                <a:cs typeface="Times New Roman"/>
              </a:rPr>
              <a:t> </a:t>
            </a:r>
            <a:r>
              <a:rPr sz="2100" i="1" baseline="-21825" dirty="0">
                <a:latin typeface="Times New Roman"/>
                <a:cs typeface="Times New Roman"/>
              </a:rPr>
              <a:t>y</a:t>
            </a:r>
            <a:r>
              <a:rPr sz="2100" i="1" spc="104" baseline="-21825" dirty="0">
                <a:latin typeface="Times New Roman"/>
                <a:cs typeface="Times New Roman"/>
              </a:rPr>
              <a:t> </a:t>
            </a:r>
            <a:r>
              <a:rPr sz="2400" i="1" spc="-20" dirty="0">
                <a:latin typeface="Times New Roman"/>
                <a:cs typeface="Times New Roman"/>
              </a:rPr>
              <a:t>dy</a:t>
            </a:r>
            <a:r>
              <a:rPr sz="2400" i="1" spc="-375" dirty="0">
                <a:latin typeface="Times New Roman"/>
                <a:cs typeface="Times New Roman"/>
              </a:rPr>
              <a:t> </a:t>
            </a:r>
            <a:r>
              <a:rPr sz="2400" spc="-160" dirty="0">
                <a:latin typeface="Georgia"/>
                <a:cs typeface="Georgia"/>
              </a:rPr>
              <a:t>+</a:t>
            </a:r>
            <a:r>
              <a:rPr sz="2400" spc="-320" dirty="0">
                <a:latin typeface="Georgia"/>
                <a:cs typeface="Georgia"/>
              </a:rPr>
              <a:t> </a:t>
            </a:r>
            <a:r>
              <a:rPr sz="2400" i="1" spc="125" dirty="0">
                <a:latin typeface="Times New Roman"/>
                <a:cs typeface="Times New Roman"/>
              </a:rPr>
              <a:t>F</a:t>
            </a:r>
            <a:r>
              <a:rPr sz="2100" i="1" spc="187" baseline="-21825" dirty="0">
                <a:latin typeface="Times New Roman"/>
                <a:cs typeface="Times New Roman"/>
              </a:rPr>
              <a:t>z</a:t>
            </a:r>
            <a:r>
              <a:rPr sz="2100" i="1" baseline="-21825" dirty="0">
                <a:latin typeface="Times New Roman"/>
                <a:cs typeface="Times New Roman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dz</a:t>
            </a:r>
            <a:endParaRPr sz="2400">
              <a:latin typeface="Times New Roman"/>
              <a:cs typeface="Times New Roman"/>
            </a:endParaRPr>
          </a:p>
          <a:p>
            <a:pPr marL="193040">
              <a:lnSpc>
                <a:spcPct val="100000"/>
              </a:lnSpc>
              <a:spcBef>
                <a:spcPts val="150"/>
              </a:spcBef>
              <a:tabLst>
                <a:tab pos="1430655" algn="l"/>
              </a:tabLst>
            </a:pPr>
            <a:r>
              <a:rPr sz="1400" i="1" spc="-50" dirty="0">
                <a:latin typeface="Times New Roman"/>
                <a:cs typeface="Times New Roman"/>
              </a:rPr>
              <a:t>c</a:t>
            </a:r>
            <a:r>
              <a:rPr sz="1400" i="1" dirty="0">
                <a:latin typeface="Times New Roman"/>
                <a:cs typeface="Times New Roman"/>
              </a:rPr>
              <a:t>	</a:t>
            </a:r>
            <a:r>
              <a:rPr sz="1400" i="1" spc="-50" dirty="0">
                <a:latin typeface="Times New Roman"/>
                <a:cs typeface="Times New Roman"/>
              </a:rPr>
              <a:t>c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4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800" dirty="0">
                <a:latin typeface="Microsoft Sans Serif"/>
                <a:cs typeface="Microsoft Sans Serif"/>
              </a:rPr>
              <a:t>For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b="1" dirty="0">
                <a:latin typeface="Arial"/>
                <a:cs typeface="Arial"/>
              </a:rPr>
              <a:t>F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=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(2xy+z</a:t>
            </a:r>
            <a:r>
              <a:rPr sz="1575" baseline="31746" dirty="0">
                <a:latin typeface="Microsoft Sans Serif"/>
                <a:cs typeface="Microsoft Sans Serif"/>
              </a:rPr>
              <a:t>3</a:t>
            </a:r>
            <a:r>
              <a:rPr sz="1800" dirty="0">
                <a:latin typeface="Microsoft Sans Serif"/>
                <a:cs typeface="Microsoft Sans Serif"/>
              </a:rPr>
              <a:t>)</a:t>
            </a:r>
            <a:r>
              <a:rPr sz="1800" b="1" dirty="0">
                <a:latin typeface="Arial"/>
                <a:cs typeface="Arial"/>
              </a:rPr>
              <a:t>i </a:t>
            </a:r>
            <a:r>
              <a:rPr sz="1800" dirty="0">
                <a:latin typeface="Microsoft Sans Serif"/>
                <a:cs typeface="Microsoft Sans Serif"/>
              </a:rPr>
              <a:t>+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(x</a:t>
            </a:r>
            <a:r>
              <a:rPr sz="1575" baseline="31746" dirty="0">
                <a:latin typeface="Microsoft Sans Serif"/>
                <a:cs typeface="Microsoft Sans Serif"/>
              </a:rPr>
              <a:t>2</a:t>
            </a:r>
            <a:r>
              <a:rPr sz="1800" dirty="0">
                <a:latin typeface="Microsoft Sans Serif"/>
                <a:cs typeface="Microsoft Sans Serif"/>
              </a:rPr>
              <a:t>+2y)</a:t>
            </a:r>
            <a:r>
              <a:rPr sz="1800" b="1" dirty="0">
                <a:latin typeface="Arial"/>
                <a:cs typeface="Arial"/>
              </a:rPr>
              <a:t>j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+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(3xz</a:t>
            </a:r>
            <a:r>
              <a:rPr sz="1575" spc="-15" baseline="31746" dirty="0">
                <a:latin typeface="Microsoft Sans Serif"/>
                <a:cs typeface="Microsoft Sans Serif"/>
              </a:rPr>
              <a:t>2</a:t>
            </a:r>
            <a:r>
              <a:rPr sz="1800" spc="-10" dirty="0">
                <a:latin typeface="Microsoft Sans Serif"/>
                <a:cs typeface="Microsoft Sans Serif"/>
              </a:rPr>
              <a:t>-</a:t>
            </a:r>
            <a:r>
              <a:rPr sz="1800" spc="-20" dirty="0">
                <a:latin typeface="Microsoft Sans Serif"/>
                <a:cs typeface="Microsoft Sans Serif"/>
              </a:rPr>
              <a:t>2)</a:t>
            </a:r>
            <a:r>
              <a:rPr sz="1800" b="1" spc="-20" dirty="0">
                <a:latin typeface="Arial"/>
                <a:cs typeface="Arial"/>
              </a:rPr>
              <a:t>k,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28029" y="924670"/>
            <a:ext cx="3747770" cy="297483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05510" y="3176629"/>
            <a:ext cx="9753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Microsoft Sans Serif"/>
                <a:cs typeface="Microsoft Sans Serif"/>
              </a:rPr>
              <a:t>Calculate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5510" y="3485239"/>
            <a:ext cx="4056379" cy="50419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96670">
              <a:lnSpc>
                <a:spcPts val="1630"/>
              </a:lnSpc>
              <a:spcBef>
                <a:spcPts val="130"/>
              </a:spcBef>
            </a:pPr>
            <a:r>
              <a:rPr sz="1400" i="1" spc="-50" dirty="0">
                <a:latin typeface="Times New Roman"/>
                <a:cs typeface="Times New Roman"/>
              </a:rPr>
              <a:t>c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ts val="2110"/>
              </a:lnSpc>
            </a:pPr>
            <a:r>
              <a:rPr sz="1800" i="1" dirty="0">
                <a:latin typeface="Arial"/>
                <a:cs typeface="Arial"/>
              </a:rPr>
              <a:t>C</a:t>
            </a:r>
            <a:r>
              <a:rPr sz="1800" i="1" spc="-35" dirty="0">
                <a:latin typeface="Arial"/>
                <a:cs typeface="Arial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is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path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joining</a:t>
            </a:r>
            <a:r>
              <a:rPr sz="1800" spc="-10" dirty="0">
                <a:latin typeface="Microsoft Sans Serif"/>
                <a:cs typeface="Microsoft Sans Serif"/>
              </a:rPr>
              <a:t> (1,-</a:t>
            </a:r>
            <a:r>
              <a:rPr sz="1800" dirty="0">
                <a:latin typeface="Microsoft Sans Serif"/>
                <a:cs typeface="Microsoft Sans Serif"/>
              </a:rPr>
              <a:t>1,1), and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(2,1,2)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04389" y="2937870"/>
            <a:ext cx="1020444" cy="5575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5250" spc="390" baseline="-4761" dirty="0">
                <a:latin typeface="Georgia"/>
                <a:cs typeface="Georgia"/>
              </a:rPr>
              <a:t>∫</a:t>
            </a:r>
            <a:r>
              <a:rPr sz="5250" spc="-690" baseline="-4761" dirty="0">
                <a:latin typeface="Georgia"/>
                <a:cs typeface="Georgia"/>
              </a:rPr>
              <a:t> </a:t>
            </a:r>
            <a:r>
              <a:rPr sz="2400" b="1" i="1" spc="-25" dirty="0">
                <a:latin typeface="Times New Roman"/>
                <a:cs typeface="Times New Roman"/>
              </a:rPr>
              <a:t>F</a:t>
            </a:r>
            <a:r>
              <a:rPr sz="2400" b="1" i="1" spc="-240" dirty="0">
                <a:latin typeface="Times New Roman"/>
                <a:cs typeface="Times New Roman"/>
              </a:rPr>
              <a:t> </a:t>
            </a:r>
            <a:r>
              <a:rPr sz="2400" i="1" spc="-10" dirty="0">
                <a:latin typeface="Times New Roman"/>
                <a:cs typeface="Times New Roman"/>
              </a:rPr>
              <a:t>.</a:t>
            </a:r>
            <a:r>
              <a:rPr sz="2400" i="1" spc="-295" dirty="0">
                <a:latin typeface="Times New Roman"/>
                <a:cs typeface="Times New Roman"/>
              </a:rPr>
              <a:t> </a:t>
            </a:r>
            <a:r>
              <a:rPr sz="2400" i="1" spc="-20" dirty="0">
                <a:latin typeface="Times New Roman"/>
                <a:cs typeface="Times New Roman"/>
              </a:rPr>
              <a:t>d</a:t>
            </a:r>
            <a:r>
              <a:rPr sz="2400" i="1" spc="-140" dirty="0">
                <a:latin typeface="Times New Roman"/>
                <a:cs typeface="Times New Roman"/>
              </a:rPr>
              <a:t> </a:t>
            </a:r>
            <a:r>
              <a:rPr sz="2400" b="1" i="1" spc="-50" dirty="0">
                <a:latin typeface="Times New Roman"/>
                <a:cs typeface="Times New Roman"/>
              </a:rPr>
              <a:t>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Integral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9590" y="706479"/>
            <a:ext cx="1920239" cy="1416050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2200" dirty="0">
                <a:latin typeface="Microsoft Sans Serif"/>
                <a:cs typeface="Microsoft Sans Serif"/>
              </a:rPr>
              <a:t>3a</a:t>
            </a:r>
            <a:r>
              <a:rPr sz="2200" spc="1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-</a:t>
            </a:r>
            <a:r>
              <a:rPr sz="2200" spc="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b</a:t>
            </a:r>
            <a:r>
              <a:rPr sz="2200" spc="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=</a:t>
            </a:r>
            <a:r>
              <a:rPr sz="2200" spc="10" dirty="0">
                <a:latin typeface="Microsoft Sans Serif"/>
                <a:cs typeface="Microsoft Sans Serif"/>
              </a:rPr>
              <a:t> </a:t>
            </a:r>
            <a:r>
              <a:rPr sz="2200" spc="-50" dirty="0">
                <a:latin typeface="Microsoft Sans Serif"/>
                <a:cs typeface="Microsoft Sans Serif"/>
              </a:rPr>
              <a:t>7</a:t>
            </a:r>
            <a:endParaRPr sz="22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2200" spc="-10" dirty="0">
                <a:latin typeface="Microsoft Sans Serif"/>
                <a:cs typeface="Microsoft Sans Serif"/>
              </a:rPr>
              <a:t>-</a:t>
            </a:r>
            <a:r>
              <a:rPr sz="2200" dirty="0">
                <a:latin typeface="Microsoft Sans Serif"/>
                <a:cs typeface="Microsoft Sans Serif"/>
              </a:rPr>
              <a:t>a</a:t>
            </a:r>
            <a:r>
              <a:rPr sz="2200" spc="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+</a:t>
            </a:r>
            <a:r>
              <a:rPr sz="2200" spc="1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7b</a:t>
            </a:r>
            <a:r>
              <a:rPr sz="2200" spc="1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-</a:t>
            </a:r>
            <a:r>
              <a:rPr sz="2200" spc="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6c</a:t>
            </a:r>
            <a:r>
              <a:rPr sz="2200" spc="1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=</a:t>
            </a:r>
            <a:r>
              <a:rPr sz="2200" spc="15" dirty="0">
                <a:latin typeface="Microsoft Sans Serif"/>
                <a:cs typeface="Microsoft Sans Serif"/>
              </a:rPr>
              <a:t> </a:t>
            </a:r>
            <a:r>
              <a:rPr sz="2200" spc="-50" dirty="0">
                <a:latin typeface="Microsoft Sans Serif"/>
                <a:cs typeface="Microsoft Sans Serif"/>
              </a:rPr>
              <a:t>2</a:t>
            </a:r>
            <a:endParaRPr sz="22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2200" spc="-10" dirty="0">
                <a:latin typeface="Microsoft Sans Serif"/>
                <a:cs typeface="Microsoft Sans Serif"/>
              </a:rPr>
              <a:t>-</a:t>
            </a:r>
            <a:r>
              <a:rPr sz="2200" dirty="0">
                <a:latin typeface="Microsoft Sans Serif"/>
                <a:cs typeface="Microsoft Sans Serif"/>
              </a:rPr>
              <a:t>3b</a:t>
            </a:r>
            <a:r>
              <a:rPr sz="2200" spc="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+</a:t>
            </a:r>
            <a:r>
              <a:rPr sz="2200" spc="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4c</a:t>
            </a:r>
            <a:r>
              <a:rPr sz="2200" spc="1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=</a:t>
            </a:r>
            <a:r>
              <a:rPr sz="2200" spc="10" dirty="0">
                <a:latin typeface="Microsoft Sans Serif"/>
                <a:cs typeface="Microsoft Sans Serif"/>
              </a:rPr>
              <a:t> </a:t>
            </a:r>
            <a:r>
              <a:rPr sz="2200" spc="-50" dirty="0">
                <a:latin typeface="Microsoft Sans Serif"/>
                <a:cs typeface="Microsoft Sans Serif"/>
              </a:rPr>
              <a:t>0</a:t>
            </a:r>
            <a:endParaRPr sz="22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5759" y="46080"/>
            <a:ext cx="151955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Matrix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997959" y="598529"/>
            <a:ext cx="2315845" cy="1416050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10"/>
              </a:spcBef>
              <a:tabLst>
                <a:tab pos="323215" algn="l"/>
                <a:tab pos="804545" algn="l"/>
                <a:tab pos="1347470" algn="l"/>
                <a:tab pos="2124075" algn="l"/>
              </a:tabLst>
            </a:pPr>
            <a:r>
              <a:rPr sz="2200" spc="-50" dirty="0">
                <a:latin typeface="Microsoft Sans Serif"/>
                <a:cs typeface="Microsoft Sans Serif"/>
              </a:rPr>
              <a:t>3</a:t>
            </a:r>
            <a:r>
              <a:rPr sz="2200" dirty="0">
                <a:latin typeface="Microsoft Sans Serif"/>
                <a:cs typeface="Microsoft Sans Serif"/>
              </a:rPr>
              <a:t>	</a:t>
            </a:r>
            <a:r>
              <a:rPr sz="2200" spc="-20" dirty="0">
                <a:latin typeface="Microsoft Sans Serif"/>
                <a:cs typeface="Microsoft Sans Serif"/>
              </a:rPr>
              <a:t>-</a:t>
            </a:r>
            <a:r>
              <a:rPr sz="2200" spc="-50" dirty="0">
                <a:latin typeface="Microsoft Sans Serif"/>
                <a:cs typeface="Microsoft Sans Serif"/>
              </a:rPr>
              <a:t>1</a:t>
            </a:r>
            <a:r>
              <a:rPr sz="2200" dirty="0">
                <a:latin typeface="Microsoft Sans Serif"/>
                <a:cs typeface="Microsoft Sans Serif"/>
              </a:rPr>
              <a:t>	</a:t>
            </a:r>
            <a:r>
              <a:rPr sz="2200" spc="-50" dirty="0">
                <a:latin typeface="Microsoft Sans Serif"/>
                <a:cs typeface="Microsoft Sans Serif"/>
              </a:rPr>
              <a:t>0</a:t>
            </a:r>
            <a:r>
              <a:rPr sz="2200" dirty="0">
                <a:latin typeface="Microsoft Sans Serif"/>
                <a:cs typeface="Microsoft Sans Serif"/>
              </a:rPr>
              <a:t>	</a:t>
            </a:r>
            <a:r>
              <a:rPr sz="2200" spc="-50" dirty="0">
                <a:latin typeface="Microsoft Sans Serif"/>
                <a:cs typeface="Microsoft Sans Serif"/>
              </a:rPr>
              <a:t>a</a:t>
            </a:r>
            <a:r>
              <a:rPr sz="2200" dirty="0">
                <a:latin typeface="Microsoft Sans Serif"/>
                <a:cs typeface="Microsoft Sans Serif"/>
              </a:rPr>
              <a:t>	</a:t>
            </a:r>
            <a:r>
              <a:rPr sz="2200" spc="-50" dirty="0">
                <a:latin typeface="Microsoft Sans Serif"/>
                <a:cs typeface="Microsoft Sans Serif"/>
              </a:rPr>
              <a:t>7</a:t>
            </a:r>
            <a:endParaRPr sz="22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  <a:tabLst>
                <a:tab pos="415925" algn="l"/>
                <a:tab pos="1362710" algn="l"/>
                <a:tab pos="1751330" algn="l"/>
                <a:tab pos="2146935" algn="l"/>
              </a:tabLst>
            </a:pPr>
            <a:r>
              <a:rPr sz="2200" spc="-20" dirty="0">
                <a:latin typeface="Microsoft Sans Serif"/>
                <a:cs typeface="Microsoft Sans Serif"/>
              </a:rPr>
              <a:t>-</a:t>
            </a:r>
            <a:r>
              <a:rPr sz="2200" spc="-60" dirty="0">
                <a:latin typeface="Microsoft Sans Serif"/>
                <a:cs typeface="Microsoft Sans Serif"/>
              </a:rPr>
              <a:t>1</a:t>
            </a:r>
            <a:r>
              <a:rPr sz="2200" dirty="0">
                <a:latin typeface="Microsoft Sans Serif"/>
                <a:cs typeface="Microsoft Sans Serif"/>
              </a:rPr>
              <a:t>	7</a:t>
            </a:r>
            <a:r>
              <a:rPr sz="2200" spc="2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-</a:t>
            </a:r>
            <a:r>
              <a:rPr sz="2200" spc="10" dirty="0">
                <a:latin typeface="Microsoft Sans Serif"/>
                <a:cs typeface="Microsoft Sans Serif"/>
              </a:rPr>
              <a:t> </a:t>
            </a:r>
            <a:r>
              <a:rPr sz="2200" spc="-50" dirty="0">
                <a:latin typeface="Microsoft Sans Serif"/>
                <a:cs typeface="Microsoft Sans Serif"/>
              </a:rPr>
              <a:t>6</a:t>
            </a:r>
            <a:r>
              <a:rPr sz="2200" dirty="0">
                <a:latin typeface="Microsoft Sans Serif"/>
                <a:cs typeface="Microsoft Sans Serif"/>
              </a:rPr>
              <a:t>	</a:t>
            </a:r>
            <a:r>
              <a:rPr sz="2200" spc="-50" dirty="0">
                <a:latin typeface="Microsoft Sans Serif"/>
                <a:cs typeface="Microsoft Sans Serif"/>
              </a:rPr>
              <a:t>b</a:t>
            </a:r>
            <a:r>
              <a:rPr sz="2200" dirty="0">
                <a:latin typeface="Microsoft Sans Serif"/>
                <a:cs typeface="Microsoft Sans Serif"/>
              </a:rPr>
              <a:t>	</a:t>
            </a:r>
            <a:r>
              <a:rPr sz="2200" spc="-50" dirty="0">
                <a:latin typeface="Microsoft Sans Serif"/>
                <a:cs typeface="Microsoft Sans Serif"/>
              </a:rPr>
              <a:t>=</a:t>
            </a:r>
            <a:r>
              <a:rPr sz="2200" dirty="0">
                <a:latin typeface="Microsoft Sans Serif"/>
                <a:cs typeface="Microsoft Sans Serif"/>
              </a:rPr>
              <a:t>	</a:t>
            </a:r>
            <a:r>
              <a:rPr sz="2200" spc="-50" dirty="0">
                <a:latin typeface="Microsoft Sans Serif"/>
                <a:cs typeface="Microsoft Sans Serif"/>
              </a:rPr>
              <a:t>2</a:t>
            </a:r>
            <a:endParaRPr sz="22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  <a:tabLst>
                <a:tab pos="323215" algn="l"/>
                <a:tab pos="804545" algn="l"/>
                <a:tab pos="1347470" algn="l"/>
                <a:tab pos="2108835" algn="l"/>
              </a:tabLst>
            </a:pPr>
            <a:r>
              <a:rPr sz="2200" spc="-50" dirty="0">
                <a:latin typeface="Microsoft Sans Serif"/>
                <a:cs typeface="Microsoft Sans Serif"/>
              </a:rPr>
              <a:t>0</a:t>
            </a:r>
            <a:r>
              <a:rPr sz="2200" dirty="0">
                <a:latin typeface="Microsoft Sans Serif"/>
                <a:cs typeface="Microsoft Sans Serif"/>
              </a:rPr>
              <a:t>	</a:t>
            </a:r>
            <a:r>
              <a:rPr sz="2200" spc="-20" dirty="0">
                <a:latin typeface="Microsoft Sans Serif"/>
                <a:cs typeface="Microsoft Sans Serif"/>
              </a:rPr>
              <a:t>-</a:t>
            </a:r>
            <a:r>
              <a:rPr sz="2200" spc="-50" dirty="0">
                <a:latin typeface="Microsoft Sans Serif"/>
                <a:cs typeface="Microsoft Sans Serif"/>
              </a:rPr>
              <a:t>3</a:t>
            </a:r>
            <a:r>
              <a:rPr sz="2200" dirty="0">
                <a:latin typeface="Microsoft Sans Serif"/>
                <a:cs typeface="Microsoft Sans Serif"/>
              </a:rPr>
              <a:t>	</a:t>
            </a:r>
            <a:r>
              <a:rPr sz="2200" spc="-50" dirty="0">
                <a:latin typeface="Microsoft Sans Serif"/>
                <a:cs typeface="Microsoft Sans Serif"/>
              </a:rPr>
              <a:t>4</a:t>
            </a:r>
            <a:r>
              <a:rPr sz="2200" dirty="0">
                <a:latin typeface="Microsoft Sans Serif"/>
                <a:cs typeface="Microsoft Sans Serif"/>
              </a:rPr>
              <a:t>	</a:t>
            </a:r>
            <a:r>
              <a:rPr sz="2200" spc="-50" dirty="0">
                <a:latin typeface="Microsoft Sans Serif"/>
                <a:cs typeface="Microsoft Sans Serif"/>
              </a:rPr>
              <a:t>c</a:t>
            </a:r>
            <a:r>
              <a:rPr sz="2200" dirty="0">
                <a:latin typeface="Microsoft Sans Serif"/>
                <a:cs typeface="Microsoft Sans Serif"/>
              </a:rPr>
              <a:t>	</a:t>
            </a:r>
            <a:r>
              <a:rPr sz="2200" spc="-50" dirty="0">
                <a:latin typeface="Microsoft Sans Serif"/>
                <a:cs typeface="Microsoft Sans Serif"/>
              </a:rPr>
              <a:t>0</a:t>
            </a:r>
            <a:endParaRPr sz="2200">
              <a:latin typeface="Microsoft Sans Serif"/>
              <a:cs typeface="Microsoft Sans Serif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664460" y="1332589"/>
            <a:ext cx="791210" cy="215900"/>
            <a:chOff x="2664460" y="1332589"/>
            <a:chExt cx="791210" cy="215900"/>
          </a:xfrm>
        </p:grpSpPr>
        <p:sp>
          <p:nvSpPr>
            <p:cNvPr id="6" name="object 6"/>
            <p:cNvSpPr/>
            <p:nvPr/>
          </p:nvSpPr>
          <p:spPr>
            <a:xfrm>
              <a:off x="2664460" y="1440539"/>
              <a:ext cx="481330" cy="0"/>
            </a:xfrm>
            <a:custGeom>
              <a:avLst/>
              <a:gdLst/>
              <a:ahLst/>
              <a:cxnLst/>
              <a:rect l="l" t="t" r="r" b="b"/>
              <a:pathLst>
                <a:path w="481330">
                  <a:moveTo>
                    <a:pt x="0" y="0"/>
                  </a:moveTo>
                  <a:lnTo>
                    <a:pt x="481329" y="0"/>
                  </a:lnTo>
                </a:path>
              </a:pathLst>
            </a:custGeom>
            <a:ln w="35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131820" y="1332589"/>
              <a:ext cx="323850" cy="215900"/>
            </a:xfrm>
            <a:custGeom>
              <a:avLst/>
              <a:gdLst/>
              <a:ahLst/>
              <a:cxnLst/>
              <a:rect l="l" t="t" r="r" b="b"/>
              <a:pathLst>
                <a:path w="323850" h="215900">
                  <a:moveTo>
                    <a:pt x="0" y="0"/>
                  </a:moveTo>
                  <a:lnTo>
                    <a:pt x="0" y="215900"/>
                  </a:lnTo>
                  <a:lnTo>
                    <a:pt x="323850" y="1079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3816350" y="756009"/>
            <a:ext cx="214629" cy="1258570"/>
          </a:xfrm>
          <a:custGeom>
            <a:avLst/>
            <a:gdLst/>
            <a:ahLst/>
            <a:cxnLst/>
            <a:rect l="l" t="t" r="r" b="b"/>
            <a:pathLst>
              <a:path w="214629" h="1258570">
                <a:moveTo>
                  <a:pt x="214629" y="0"/>
                </a:moveTo>
                <a:lnTo>
                  <a:pt x="168750" y="6294"/>
                </a:lnTo>
                <a:lnTo>
                  <a:pt x="124870" y="23918"/>
                </a:lnTo>
                <a:lnTo>
                  <a:pt x="84834" y="50985"/>
                </a:lnTo>
                <a:lnTo>
                  <a:pt x="50485" y="85604"/>
                </a:lnTo>
                <a:lnTo>
                  <a:pt x="23667" y="125889"/>
                </a:lnTo>
                <a:lnTo>
                  <a:pt x="6224" y="169950"/>
                </a:lnTo>
                <a:lnTo>
                  <a:pt x="0" y="215900"/>
                </a:lnTo>
                <a:lnTo>
                  <a:pt x="0" y="1042669"/>
                </a:lnTo>
                <a:lnTo>
                  <a:pt x="6224" y="1088619"/>
                </a:lnTo>
                <a:lnTo>
                  <a:pt x="23667" y="1132680"/>
                </a:lnTo>
                <a:lnTo>
                  <a:pt x="50485" y="1172965"/>
                </a:lnTo>
                <a:lnTo>
                  <a:pt x="84834" y="1207584"/>
                </a:lnTo>
                <a:lnTo>
                  <a:pt x="124870" y="1234651"/>
                </a:lnTo>
                <a:lnTo>
                  <a:pt x="168750" y="1252275"/>
                </a:lnTo>
                <a:lnTo>
                  <a:pt x="214629" y="1258569"/>
                </a:lnTo>
              </a:path>
            </a:pathLst>
          </a:custGeom>
          <a:ln w="3175">
            <a:solidFill>
              <a:srgbClr val="3364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4932679" y="756009"/>
            <a:ext cx="215900" cy="1258570"/>
            <a:chOff x="4932679" y="756009"/>
            <a:chExt cx="215900" cy="1258570"/>
          </a:xfrm>
        </p:grpSpPr>
        <p:sp>
          <p:nvSpPr>
            <p:cNvPr id="10" name="object 10"/>
            <p:cNvSpPr/>
            <p:nvPr/>
          </p:nvSpPr>
          <p:spPr>
            <a:xfrm>
              <a:off x="5148579" y="2014579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64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932679" y="756009"/>
              <a:ext cx="215900" cy="1258570"/>
            </a:xfrm>
            <a:custGeom>
              <a:avLst/>
              <a:gdLst/>
              <a:ahLst/>
              <a:cxnLst/>
              <a:rect l="l" t="t" r="r" b="b"/>
              <a:pathLst>
                <a:path w="215900" h="1258570">
                  <a:moveTo>
                    <a:pt x="0" y="1258569"/>
                  </a:moveTo>
                  <a:lnTo>
                    <a:pt x="45949" y="1252275"/>
                  </a:lnTo>
                  <a:lnTo>
                    <a:pt x="90010" y="1234651"/>
                  </a:lnTo>
                  <a:lnTo>
                    <a:pt x="130295" y="1207584"/>
                  </a:lnTo>
                  <a:lnTo>
                    <a:pt x="164914" y="1172965"/>
                  </a:lnTo>
                  <a:lnTo>
                    <a:pt x="191981" y="1132680"/>
                  </a:lnTo>
                  <a:lnTo>
                    <a:pt x="209605" y="1088619"/>
                  </a:lnTo>
                  <a:lnTo>
                    <a:pt x="215900" y="1042669"/>
                  </a:lnTo>
                  <a:lnTo>
                    <a:pt x="215900" y="215900"/>
                  </a:lnTo>
                  <a:lnTo>
                    <a:pt x="209605" y="169950"/>
                  </a:lnTo>
                  <a:lnTo>
                    <a:pt x="191981" y="125889"/>
                  </a:lnTo>
                  <a:lnTo>
                    <a:pt x="164914" y="85604"/>
                  </a:lnTo>
                  <a:lnTo>
                    <a:pt x="130295" y="50985"/>
                  </a:lnTo>
                  <a:lnTo>
                    <a:pt x="90010" y="23918"/>
                  </a:lnTo>
                  <a:lnTo>
                    <a:pt x="45949" y="6294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3364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148579" y="2014579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64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/>
          <p:nvPr/>
        </p:nvSpPr>
        <p:spPr>
          <a:xfrm>
            <a:off x="5219700" y="756009"/>
            <a:ext cx="80010" cy="1258570"/>
          </a:xfrm>
          <a:custGeom>
            <a:avLst/>
            <a:gdLst/>
            <a:ahLst/>
            <a:cxnLst/>
            <a:rect l="l" t="t" r="r" b="b"/>
            <a:pathLst>
              <a:path w="80010" h="1258570">
                <a:moveTo>
                  <a:pt x="80010" y="0"/>
                </a:moveTo>
                <a:lnTo>
                  <a:pt x="34838" y="44907"/>
                </a:lnTo>
                <a:lnTo>
                  <a:pt x="16824" y="93268"/>
                </a:lnTo>
                <a:lnTo>
                  <a:pt x="4541" y="151993"/>
                </a:lnTo>
                <a:lnTo>
                  <a:pt x="0" y="215900"/>
                </a:lnTo>
                <a:lnTo>
                  <a:pt x="0" y="1042669"/>
                </a:lnTo>
                <a:lnTo>
                  <a:pt x="4541" y="1106576"/>
                </a:lnTo>
                <a:lnTo>
                  <a:pt x="16824" y="1165301"/>
                </a:lnTo>
                <a:lnTo>
                  <a:pt x="34838" y="1213662"/>
                </a:lnTo>
                <a:lnTo>
                  <a:pt x="56570" y="1246479"/>
                </a:lnTo>
                <a:lnTo>
                  <a:pt x="80010" y="1258569"/>
                </a:lnTo>
              </a:path>
            </a:pathLst>
          </a:custGeom>
          <a:ln w="3175">
            <a:solidFill>
              <a:srgbClr val="3364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4" name="object 14"/>
          <p:cNvGrpSpPr/>
          <p:nvPr/>
        </p:nvGrpSpPr>
        <p:grpSpPr>
          <a:xfrm>
            <a:off x="5608320" y="756009"/>
            <a:ext cx="80010" cy="1258570"/>
            <a:chOff x="5608320" y="756009"/>
            <a:chExt cx="80010" cy="1258570"/>
          </a:xfrm>
        </p:grpSpPr>
        <p:sp>
          <p:nvSpPr>
            <p:cNvPr id="15" name="object 15"/>
            <p:cNvSpPr/>
            <p:nvPr/>
          </p:nvSpPr>
          <p:spPr>
            <a:xfrm>
              <a:off x="5688330" y="2014579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64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608320" y="756009"/>
              <a:ext cx="80010" cy="1258570"/>
            </a:xfrm>
            <a:custGeom>
              <a:avLst/>
              <a:gdLst/>
              <a:ahLst/>
              <a:cxnLst/>
              <a:rect l="l" t="t" r="r" b="b"/>
              <a:pathLst>
                <a:path w="80010" h="1258570">
                  <a:moveTo>
                    <a:pt x="0" y="1258569"/>
                  </a:moveTo>
                  <a:lnTo>
                    <a:pt x="45171" y="1213662"/>
                  </a:lnTo>
                  <a:lnTo>
                    <a:pt x="63185" y="1165301"/>
                  </a:lnTo>
                  <a:lnTo>
                    <a:pt x="75468" y="1106576"/>
                  </a:lnTo>
                  <a:lnTo>
                    <a:pt x="80009" y="1042669"/>
                  </a:lnTo>
                  <a:lnTo>
                    <a:pt x="80009" y="215900"/>
                  </a:lnTo>
                  <a:lnTo>
                    <a:pt x="75468" y="151993"/>
                  </a:lnTo>
                  <a:lnTo>
                    <a:pt x="63185" y="93268"/>
                  </a:lnTo>
                  <a:lnTo>
                    <a:pt x="45171" y="44907"/>
                  </a:lnTo>
                  <a:lnTo>
                    <a:pt x="23439" y="12090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3364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688330" y="2014579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64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/>
          <p:nvPr/>
        </p:nvSpPr>
        <p:spPr>
          <a:xfrm>
            <a:off x="6012179" y="756009"/>
            <a:ext cx="80010" cy="1258570"/>
          </a:xfrm>
          <a:custGeom>
            <a:avLst/>
            <a:gdLst/>
            <a:ahLst/>
            <a:cxnLst/>
            <a:rect l="l" t="t" r="r" b="b"/>
            <a:pathLst>
              <a:path w="80010" h="1258570">
                <a:moveTo>
                  <a:pt x="80010" y="0"/>
                </a:moveTo>
                <a:lnTo>
                  <a:pt x="34289" y="44907"/>
                </a:lnTo>
                <a:lnTo>
                  <a:pt x="16459" y="93268"/>
                </a:lnTo>
                <a:lnTo>
                  <a:pt x="4419" y="151993"/>
                </a:lnTo>
                <a:lnTo>
                  <a:pt x="0" y="215900"/>
                </a:lnTo>
                <a:lnTo>
                  <a:pt x="0" y="1042669"/>
                </a:lnTo>
                <a:lnTo>
                  <a:pt x="4419" y="1106576"/>
                </a:lnTo>
                <a:lnTo>
                  <a:pt x="16459" y="1165301"/>
                </a:lnTo>
                <a:lnTo>
                  <a:pt x="34289" y="1213662"/>
                </a:lnTo>
                <a:lnTo>
                  <a:pt x="56083" y="1246479"/>
                </a:lnTo>
                <a:lnTo>
                  <a:pt x="80010" y="1258569"/>
                </a:lnTo>
              </a:path>
            </a:pathLst>
          </a:custGeom>
          <a:ln w="3175">
            <a:solidFill>
              <a:srgbClr val="3364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9" name="object 19"/>
          <p:cNvGrpSpPr/>
          <p:nvPr/>
        </p:nvGrpSpPr>
        <p:grpSpPr>
          <a:xfrm>
            <a:off x="6399529" y="756009"/>
            <a:ext cx="80010" cy="1258570"/>
            <a:chOff x="6399529" y="756009"/>
            <a:chExt cx="80010" cy="1258570"/>
          </a:xfrm>
        </p:grpSpPr>
        <p:sp>
          <p:nvSpPr>
            <p:cNvPr id="20" name="object 20"/>
            <p:cNvSpPr/>
            <p:nvPr/>
          </p:nvSpPr>
          <p:spPr>
            <a:xfrm>
              <a:off x="6479539" y="2014579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64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399529" y="756009"/>
              <a:ext cx="80010" cy="1258570"/>
            </a:xfrm>
            <a:custGeom>
              <a:avLst/>
              <a:gdLst/>
              <a:ahLst/>
              <a:cxnLst/>
              <a:rect l="l" t="t" r="r" b="b"/>
              <a:pathLst>
                <a:path w="80010" h="1258570">
                  <a:moveTo>
                    <a:pt x="0" y="1258569"/>
                  </a:moveTo>
                  <a:lnTo>
                    <a:pt x="45720" y="1213662"/>
                  </a:lnTo>
                  <a:lnTo>
                    <a:pt x="63550" y="1165301"/>
                  </a:lnTo>
                  <a:lnTo>
                    <a:pt x="75590" y="1106576"/>
                  </a:lnTo>
                  <a:lnTo>
                    <a:pt x="80010" y="1042669"/>
                  </a:lnTo>
                  <a:lnTo>
                    <a:pt x="80010" y="215900"/>
                  </a:lnTo>
                  <a:lnTo>
                    <a:pt x="75590" y="151993"/>
                  </a:lnTo>
                  <a:lnTo>
                    <a:pt x="63550" y="93268"/>
                  </a:lnTo>
                  <a:lnTo>
                    <a:pt x="45720" y="44907"/>
                  </a:lnTo>
                  <a:lnTo>
                    <a:pt x="23926" y="12090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3364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479539" y="2014579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64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3244850" y="2165710"/>
            <a:ext cx="521398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latin typeface="Microsoft Sans Serif"/>
                <a:cs typeface="Microsoft Sans Serif"/>
              </a:rPr>
              <a:t>Rectangular</a:t>
            </a:r>
            <a:r>
              <a:rPr sz="2200" spc="-5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list</a:t>
            </a:r>
            <a:r>
              <a:rPr sz="2200" spc="-4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of</a:t>
            </a:r>
            <a:r>
              <a:rPr sz="2200" spc="-5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numbers</a:t>
            </a:r>
            <a:r>
              <a:rPr sz="2200" spc="-5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(or</a:t>
            </a:r>
            <a:r>
              <a:rPr sz="2200" spc="-50" dirty="0">
                <a:latin typeface="Microsoft Sans Serif"/>
                <a:cs typeface="Microsoft Sans Serif"/>
              </a:rPr>
              <a:t> </a:t>
            </a:r>
            <a:r>
              <a:rPr sz="2200" spc="-10" dirty="0">
                <a:latin typeface="Microsoft Sans Serif"/>
                <a:cs typeface="Microsoft Sans Serif"/>
              </a:rPr>
              <a:t>functions).</a:t>
            </a:r>
            <a:endParaRPr sz="2200">
              <a:latin typeface="Microsoft Sans Serif"/>
              <a:cs typeface="Microsoft Sans Serif"/>
            </a:endParaRPr>
          </a:p>
        </p:txBody>
      </p:sp>
      <p:pic>
        <p:nvPicPr>
          <p:cNvPr id="24" name="object 2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03478" y="2670896"/>
            <a:ext cx="3855190" cy="260507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Matrix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5771" y="768058"/>
            <a:ext cx="3933207" cy="182818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42267" y="420729"/>
            <a:ext cx="2752115" cy="264732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86210" y="3175360"/>
            <a:ext cx="3766129" cy="153854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913889" y="4757780"/>
            <a:ext cx="189611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rectangular</a:t>
            </a:r>
            <a:r>
              <a:rPr sz="20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Times New Roman"/>
                <a:cs typeface="Times New Roman"/>
              </a:rPr>
              <a:t>matrix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040629" y="3139800"/>
            <a:ext cx="4691380" cy="227457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5759" y="19410"/>
            <a:ext cx="425196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47189" algn="l"/>
              </a:tabLst>
            </a:pPr>
            <a:r>
              <a:rPr spc="-10" dirty="0"/>
              <a:t>Matrix</a:t>
            </a:r>
            <a:r>
              <a:rPr dirty="0"/>
              <a:t>	</a:t>
            </a:r>
            <a:r>
              <a:rPr spc="-10" dirty="0"/>
              <a:t>operations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7935" y="811158"/>
            <a:ext cx="4700510" cy="216173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1969" y="3456030"/>
            <a:ext cx="4733290" cy="86614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256529" y="874119"/>
            <a:ext cx="4610100" cy="96138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826759" y="2015850"/>
            <a:ext cx="3019424" cy="82803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586729" y="3270610"/>
            <a:ext cx="4114800" cy="83757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045959" y="4392019"/>
            <a:ext cx="1666240" cy="80899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7061200" y="515980"/>
            <a:ext cx="11798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Microsoft Sans Serif"/>
                <a:cs typeface="Microsoft Sans Serif"/>
              </a:rPr>
              <a:t>Subtraction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5759" y="19410"/>
            <a:ext cx="425196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47189" algn="l"/>
              </a:tabLst>
            </a:pPr>
            <a:r>
              <a:rPr spc="-10" dirty="0"/>
              <a:t>Matrix</a:t>
            </a:r>
            <a:r>
              <a:rPr dirty="0"/>
              <a:t>	</a:t>
            </a:r>
            <a:r>
              <a:rPr spc="-10" dirty="0"/>
              <a:t>operations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5273" y="2966680"/>
            <a:ext cx="7033746" cy="205138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47486" y="707675"/>
            <a:ext cx="5294557" cy="182848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E123021-479B-9945-54DF-AEAD5E5377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1900" y="373062"/>
            <a:ext cx="7620000" cy="492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4322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F23995B-45FA-5E74-BD85-A707500CC6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5400" y="630237"/>
            <a:ext cx="4953000" cy="441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8459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5759" y="19410"/>
            <a:ext cx="425196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47189" algn="l"/>
              </a:tabLst>
            </a:pPr>
            <a:r>
              <a:rPr spc="-10" dirty="0"/>
              <a:t>Matrix</a:t>
            </a:r>
            <a:r>
              <a:rPr dirty="0"/>
              <a:t>	</a:t>
            </a:r>
            <a:r>
              <a:rPr spc="-10" dirty="0"/>
              <a:t>operations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8551" y="896979"/>
            <a:ext cx="6917607" cy="141249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85850" y="2346050"/>
            <a:ext cx="323850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latin typeface="Microsoft Sans Serif"/>
                <a:cs typeface="Microsoft Sans Serif"/>
              </a:rPr>
              <a:t>Multiply</a:t>
            </a:r>
            <a:r>
              <a:rPr sz="2200" spc="-4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the</a:t>
            </a:r>
            <a:r>
              <a:rPr sz="2200" spc="-4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two</a:t>
            </a:r>
            <a:r>
              <a:rPr sz="2200" spc="-30" dirty="0">
                <a:latin typeface="Microsoft Sans Serif"/>
                <a:cs typeface="Microsoft Sans Serif"/>
              </a:rPr>
              <a:t> </a:t>
            </a:r>
            <a:r>
              <a:rPr sz="2200" spc="-10" dirty="0">
                <a:latin typeface="Microsoft Sans Serif"/>
                <a:cs typeface="Microsoft Sans Serif"/>
              </a:rPr>
              <a:t>matrices?</a:t>
            </a:r>
            <a:endParaRPr sz="22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5759" y="19410"/>
            <a:ext cx="425196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47189" algn="l"/>
              </a:tabLst>
            </a:pPr>
            <a:r>
              <a:rPr spc="-10" dirty="0"/>
              <a:t>Matrix</a:t>
            </a:r>
            <a:r>
              <a:rPr dirty="0"/>
              <a:t>	</a:t>
            </a:r>
            <a:r>
              <a:rPr spc="-10" dirty="0"/>
              <a:t>operations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29809" y="1121769"/>
            <a:ext cx="307086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10" dirty="0">
                <a:latin typeface="Microsoft Sans Serif"/>
                <a:cs typeface="Microsoft Sans Serif"/>
              </a:rPr>
              <a:t>Multiplication</a:t>
            </a:r>
            <a:r>
              <a:rPr sz="2200" spc="-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by a </a:t>
            </a:r>
            <a:r>
              <a:rPr sz="2200" spc="-10" dirty="0">
                <a:latin typeface="Microsoft Sans Serif"/>
                <a:cs typeface="Microsoft Sans Serif"/>
              </a:rPr>
              <a:t>scalar</a:t>
            </a:r>
            <a:endParaRPr sz="220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52159" y="2447650"/>
            <a:ext cx="3723640" cy="276225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188970" y="3958949"/>
            <a:ext cx="243522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latin typeface="Microsoft Sans Serif"/>
                <a:cs typeface="Microsoft Sans Serif"/>
              </a:rPr>
              <a:t>Division</a:t>
            </a:r>
            <a:r>
              <a:rPr sz="2200" spc="-1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by</a:t>
            </a:r>
            <a:r>
              <a:rPr sz="2200" spc="-1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a</a:t>
            </a:r>
            <a:r>
              <a:rPr sz="2200" spc="-20" dirty="0">
                <a:latin typeface="Microsoft Sans Serif"/>
                <a:cs typeface="Microsoft Sans Serif"/>
              </a:rPr>
              <a:t> </a:t>
            </a:r>
            <a:r>
              <a:rPr sz="2200" spc="-10" dirty="0">
                <a:latin typeface="Microsoft Sans Serif"/>
                <a:cs typeface="Microsoft Sans Serif"/>
              </a:rPr>
              <a:t>scalar</a:t>
            </a:r>
            <a:endParaRPr sz="2200">
              <a:latin typeface="Microsoft Sans Serif"/>
              <a:cs typeface="Microsoft Sans Serif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3926" y="956507"/>
            <a:ext cx="3975414" cy="243162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5759" y="19410"/>
            <a:ext cx="425196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47189" algn="l"/>
              </a:tabLst>
            </a:pPr>
            <a:r>
              <a:rPr spc="-10" dirty="0"/>
              <a:t>Matrix</a:t>
            </a:r>
            <a:r>
              <a:rPr dirty="0"/>
              <a:t>	</a:t>
            </a:r>
            <a:r>
              <a:rPr spc="-10" dirty="0"/>
              <a:t>operations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25620" y="1698349"/>
            <a:ext cx="176530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latin typeface="Microsoft Sans Serif"/>
                <a:cs typeface="Microsoft Sans Serif"/>
              </a:rPr>
              <a:t>Identity</a:t>
            </a:r>
            <a:r>
              <a:rPr sz="2200" spc="-75" dirty="0">
                <a:latin typeface="Microsoft Sans Serif"/>
                <a:cs typeface="Microsoft Sans Serif"/>
              </a:rPr>
              <a:t> </a:t>
            </a:r>
            <a:r>
              <a:rPr sz="2200" spc="-10" dirty="0">
                <a:latin typeface="Microsoft Sans Serif"/>
                <a:cs typeface="Microsoft Sans Serif"/>
              </a:rPr>
              <a:t>Matrix</a:t>
            </a:r>
            <a:endParaRPr sz="220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7519" y="863959"/>
            <a:ext cx="3914140" cy="206628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09269" y="3210919"/>
            <a:ext cx="6534784" cy="2235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latin typeface="Microsoft Sans Serif"/>
                <a:cs typeface="Microsoft Sans Serif"/>
              </a:rPr>
              <a:t>For</a:t>
            </a:r>
            <a:r>
              <a:rPr sz="2200" spc="-1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any given</a:t>
            </a:r>
            <a:r>
              <a:rPr sz="2200" spc="5" dirty="0">
                <a:latin typeface="Microsoft Sans Serif"/>
                <a:cs typeface="Microsoft Sans Serif"/>
              </a:rPr>
              <a:t> </a:t>
            </a:r>
            <a:r>
              <a:rPr sz="2200" spc="-10" dirty="0">
                <a:latin typeface="Microsoft Sans Serif"/>
                <a:cs typeface="Microsoft Sans Serif"/>
              </a:rPr>
              <a:t>matrices</a:t>
            </a:r>
            <a:r>
              <a:rPr sz="2200" spc="-11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A,</a:t>
            </a:r>
            <a:r>
              <a:rPr sz="2200" spc="-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B</a:t>
            </a:r>
            <a:r>
              <a:rPr sz="2200" spc="-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and</a:t>
            </a:r>
            <a:r>
              <a:rPr sz="2200" spc="-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C</a:t>
            </a:r>
            <a:r>
              <a:rPr sz="2200" spc="-1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of</a:t>
            </a:r>
            <a:r>
              <a:rPr sz="2200" spc="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the</a:t>
            </a:r>
            <a:r>
              <a:rPr sz="2200" spc="-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order</a:t>
            </a:r>
            <a:r>
              <a:rPr sz="2200" spc="30" dirty="0">
                <a:latin typeface="Microsoft Sans Serif"/>
                <a:cs typeface="Microsoft Sans Serif"/>
              </a:rPr>
              <a:t> </a:t>
            </a:r>
            <a:r>
              <a:rPr sz="2200" i="1" dirty="0">
                <a:latin typeface="Arial"/>
                <a:cs typeface="Arial"/>
              </a:rPr>
              <a:t>m</a:t>
            </a:r>
            <a:r>
              <a:rPr sz="2200" i="1" spc="-45" dirty="0">
                <a:latin typeface="Arial"/>
                <a:cs typeface="Arial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x</a:t>
            </a:r>
            <a:r>
              <a:rPr sz="2200" spc="10" dirty="0">
                <a:latin typeface="Microsoft Sans Serif"/>
                <a:cs typeface="Microsoft Sans Serif"/>
              </a:rPr>
              <a:t> </a:t>
            </a:r>
            <a:r>
              <a:rPr sz="2200" i="1" spc="-50" dirty="0">
                <a:latin typeface="Arial"/>
                <a:cs typeface="Arial"/>
              </a:rPr>
              <a:t>n</a:t>
            </a:r>
            <a:endParaRPr sz="2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280"/>
              </a:spcBef>
            </a:pPr>
            <a:r>
              <a:rPr sz="2200" dirty="0">
                <a:latin typeface="Microsoft Sans Serif"/>
                <a:cs typeface="Microsoft Sans Serif"/>
              </a:rPr>
              <a:t>A</a:t>
            </a:r>
            <a:r>
              <a:rPr sz="2200" spc="-10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+</a:t>
            </a:r>
            <a:r>
              <a:rPr sz="2200" spc="1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B</a:t>
            </a:r>
            <a:r>
              <a:rPr sz="2200" spc="2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=</a:t>
            </a:r>
            <a:r>
              <a:rPr sz="2200" spc="1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B</a:t>
            </a:r>
            <a:r>
              <a:rPr sz="2200" spc="2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+</a:t>
            </a:r>
            <a:r>
              <a:rPr sz="2200" spc="-95" dirty="0">
                <a:latin typeface="Microsoft Sans Serif"/>
                <a:cs typeface="Microsoft Sans Serif"/>
              </a:rPr>
              <a:t> </a:t>
            </a:r>
            <a:r>
              <a:rPr sz="2200" spc="-50" dirty="0">
                <a:latin typeface="Microsoft Sans Serif"/>
                <a:cs typeface="Microsoft Sans Serif"/>
              </a:rPr>
              <a:t>A</a:t>
            </a:r>
            <a:endParaRPr sz="22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2280"/>
              </a:spcBef>
            </a:pPr>
            <a:r>
              <a:rPr sz="2200" dirty="0">
                <a:latin typeface="Microsoft Sans Serif"/>
                <a:cs typeface="Microsoft Sans Serif"/>
              </a:rPr>
              <a:t>A</a:t>
            </a:r>
            <a:r>
              <a:rPr sz="2200" spc="-10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+</a:t>
            </a:r>
            <a:r>
              <a:rPr sz="2200" spc="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(B</a:t>
            </a:r>
            <a:r>
              <a:rPr sz="2200" spc="1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+</a:t>
            </a:r>
            <a:r>
              <a:rPr sz="2200" spc="1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C)</a:t>
            </a:r>
            <a:r>
              <a:rPr sz="2200" spc="1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=</a:t>
            </a:r>
            <a:r>
              <a:rPr sz="2200" spc="1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(A</a:t>
            </a:r>
            <a:r>
              <a:rPr sz="2200" spc="-10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+</a:t>
            </a:r>
            <a:r>
              <a:rPr sz="2200" spc="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B)</a:t>
            </a:r>
            <a:r>
              <a:rPr sz="2200" spc="1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+</a:t>
            </a:r>
            <a:r>
              <a:rPr sz="2200" spc="15" dirty="0">
                <a:latin typeface="Microsoft Sans Serif"/>
                <a:cs typeface="Microsoft Sans Serif"/>
              </a:rPr>
              <a:t> </a:t>
            </a:r>
            <a:r>
              <a:rPr sz="2200" spc="-50" dirty="0">
                <a:latin typeface="Microsoft Sans Serif"/>
                <a:cs typeface="Microsoft Sans Serif"/>
              </a:rPr>
              <a:t>C</a:t>
            </a:r>
            <a:endParaRPr sz="22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2280"/>
              </a:spcBef>
            </a:pPr>
            <a:r>
              <a:rPr sz="2200" i="1" dirty="0">
                <a:latin typeface="Arial"/>
                <a:cs typeface="Arial"/>
              </a:rPr>
              <a:t>k</a:t>
            </a:r>
            <a:r>
              <a:rPr sz="2200" i="1" spc="-10" dirty="0">
                <a:latin typeface="Arial"/>
                <a:cs typeface="Arial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(A</a:t>
            </a:r>
            <a:r>
              <a:rPr sz="2200" spc="-114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+</a:t>
            </a:r>
            <a:r>
              <a:rPr sz="2200" spc="1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B)</a:t>
            </a:r>
            <a:r>
              <a:rPr sz="2200" spc="1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=</a:t>
            </a:r>
            <a:r>
              <a:rPr sz="2200" spc="15" dirty="0">
                <a:latin typeface="Microsoft Sans Serif"/>
                <a:cs typeface="Microsoft Sans Serif"/>
              </a:rPr>
              <a:t> </a:t>
            </a:r>
            <a:r>
              <a:rPr sz="2200" i="1" dirty="0">
                <a:latin typeface="Arial"/>
                <a:cs typeface="Arial"/>
              </a:rPr>
              <a:t>k</a:t>
            </a:r>
            <a:r>
              <a:rPr sz="2200" dirty="0">
                <a:latin typeface="Microsoft Sans Serif"/>
                <a:cs typeface="Microsoft Sans Serif"/>
              </a:rPr>
              <a:t>A</a:t>
            </a:r>
            <a:r>
              <a:rPr sz="2200" spc="-12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+</a:t>
            </a:r>
            <a:r>
              <a:rPr sz="2200" spc="20" dirty="0">
                <a:latin typeface="Microsoft Sans Serif"/>
                <a:cs typeface="Microsoft Sans Serif"/>
              </a:rPr>
              <a:t> </a:t>
            </a:r>
            <a:r>
              <a:rPr sz="2200" i="1" dirty="0">
                <a:latin typeface="Arial"/>
                <a:cs typeface="Arial"/>
              </a:rPr>
              <a:t>k</a:t>
            </a:r>
            <a:r>
              <a:rPr sz="2200" dirty="0">
                <a:latin typeface="Microsoft Sans Serif"/>
                <a:cs typeface="Microsoft Sans Serif"/>
              </a:rPr>
              <a:t>B,</a:t>
            </a:r>
            <a:r>
              <a:rPr sz="2200" spc="1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here</a:t>
            </a:r>
            <a:r>
              <a:rPr sz="2200" spc="15" dirty="0">
                <a:latin typeface="Microsoft Sans Serif"/>
                <a:cs typeface="Microsoft Sans Serif"/>
              </a:rPr>
              <a:t> </a:t>
            </a:r>
            <a:r>
              <a:rPr sz="2200" i="1" dirty="0">
                <a:latin typeface="Arial"/>
                <a:cs typeface="Arial"/>
              </a:rPr>
              <a:t>k</a:t>
            </a:r>
            <a:r>
              <a:rPr sz="2200" i="1" spc="-15" dirty="0">
                <a:latin typeface="Arial"/>
                <a:cs typeface="Arial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is</a:t>
            </a:r>
            <a:r>
              <a:rPr sz="2200" spc="1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a</a:t>
            </a:r>
            <a:r>
              <a:rPr sz="2200" spc="15" dirty="0">
                <a:latin typeface="Microsoft Sans Serif"/>
                <a:cs typeface="Microsoft Sans Serif"/>
              </a:rPr>
              <a:t> </a:t>
            </a:r>
            <a:r>
              <a:rPr sz="2200" spc="-10" dirty="0">
                <a:latin typeface="Microsoft Sans Serif"/>
                <a:cs typeface="Microsoft Sans Serif"/>
              </a:rPr>
              <a:t>scalar</a:t>
            </a:r>
            <a:endParaRPr sz="22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5759" y="19410"/>
            <a:ext cx="425196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47189" algn="l"/>
              </a:tabLst>
            </a:pPr>
            <a:r>
              <a:rPr spc="-10" dirty="0"/>
              <a:t>Matrix</a:t>
            </a:r>
            <a:r>
              <a:rPr dirty="0"/>
              <a:t>	</a:t>
            </a:r>
            <a:r>
              <a:rPr spc="-10" dirty="0"/>
              <a:t>operations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63220" y="726799"/>
            <a:ext cx="5720080" cy="2189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latin typeface="Microsoft Sans Serif"/>
                <a:cs typeface="Microsoft Sans Serif"/>
              </a:rPr>
              <a:t>A</a:t>
            </a:r>
            <a:r>
              <a:rPr sz="2200" spc="-11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=</a:t>
            </a:r>
            <a:r>
              <a:rPr sz="2200" spc="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{a</a:t>
            </a:r>
            <a:r>
              <a:rPr sz="1875" baseline="-31111" dirty="0">
                <a:latin typeface="Microsoft Sans Serif"/>
                <a:cs typeface="Microsoft Sans Serif"/>
              </a:rPr>
              <a:t>ij</a:t>
            </a:r>
            <a:r>
              <a:rPr sz="2200" dirty="0">
                <a:latin typeface="Microsoft Sans Serif"/>
                <a:cs typeface="Microsoft Sans Serif"/>
              </a:rPr>
              <a:t>}</a:t>
            </a:r>
            <a:r>
              <a:rPr sz="1875" baseline="-31111" dirty="0">
                <a:latin typeface="Microsoft Sans Serif"/>
                <a:cs typeface="Microsoft Sans Serif"/>
              </a:rPr>
              <a:t>mxn</a:t>
            </a:r>
            <a:r>
              <a:rPr sz="2200" dirty="0">
                <a:latin typeface="Microsoft Sans Serif"/>
                <a:cs typeface="Microsoft Sans Serif"/>
              </a:rPr>
              <a:t>, B</a:t>
            </a:r>
            <a:r>
              <a:rPr sz="2200" spc="1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=</a:t>
            </a:r>
            <a:r>
              <a:rPr sz="2200" spc="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{b</a:t>
            </a:r>
            <a:r>
              <a:rPr sz="1875" baseline="-31111" dirty="0">
                <a:latin typeface="Microsoft Sans Serif"/>
                <a:cs typeface="Microsoft Sans Serif"/>
              </a:rPr>
              <a:t>ij</a:t>
            </a:r>
            <a:r>
              <a:rPr sz="2200" dirty="0">
                <a:latin typeface="Microsoft Sans Serif"/>
                <a:cs typeface="Microsoft Sans Serif"/>
              </a:rPr>
              <a:t>}</a:t>
            </a:r>
            <a:r>
              <a:rPr sz="1875" baseline="-31111" dirty="0">
                <a:latin typeface="Microsoft Sans Serif"/>
                <a:cs typeface="Microsoft Sans Serif"/>
              </a:rPr>
              <a:t>nxp</a:t>
            </a:r>
            <a:r>
              <a:rPr sz="2200" dirty="0">
                <a:latin typeface="Microsoft Sans Serif"/>
                <a:cs typeface="Microsoft Sans Serif"/>
              </a:rPr>
              <a:t>,</a:t>
            </a:r>
            <a:r>
              <a:rPr sz="2200" spc="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and C</a:t>
            </a:r>
            <a:r>
              <a:rPr sz="2200" spc="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=</a:t>
            </a:r>
            <a:r>
              <a:rPr sz="2200" spc="10" dirty="0">
                <a:latin typeface="Microsoft Sans Serif"/>
                <a:cs typeface="Microsoft Sans Serif"/>
              </a:rPr>
              <a:t> </a:t>
            </a:r>
            <a:r>
              <a:rPr sz="2200" spc="-10" dirty="0">
                <a:latin typeface="Microsoft Sans Serif"/>
                <a:cs typeface="Microsoft Sans Serif"/>
              </a:rPr>
              <a:t>{c</a:t>
            </a:r>
            <a:r>
              <a:rPr sz="1875" spc="-15" baseline="-31111" dirty="0">
                <a:latin typeface="Microsoft Sans Serif"/>
                <a:cs typeface="Microsoft Sans Serif"/>
              </a:rPr>
              <a:t>ij</a:t>
            </a:r>
            <a:r>
              <a:rPr sz="2200" spc="-10" dirty="0">
                <a:latin typeface="Microsoft Sans Serif"/>
                <a:cs typeface="Microsoft Sans Serif"/>
              </a:rPr>
              <a:t>}</a:t>
            </a:r>
            <a:r>
              <a:rPr sz="1875" spc="-15" baseline="-31111" dirty="0">
                <a:latin typeface="Microsoft Sans Serif"/>
                <a:cs typeface="Microsoft Sans Serif"/>
              </a:rPr>
              <a:t>pxk</a:t>
            </a:r>
            <a:endParaRPr sz="1875" baseline="-31111">
              <a:latin typeface="Microsoft Sans Serif"/>
              <a:cs typeface="Microsoft Sans Serif"/>
            </a:endParaRPr>
          </a:p>
          <a:p>
            <a:pPr marL="50800">
              <a:lnSpc>
                <a:spcPct val="100000"/>
              </a:lnSpc>
              <a:spcBef>
                <a:spcPts val="1920"/>
              </a:spcBef>
            </a:pPr>
            <a:r>
              <a:rPr sz="2200" dirty="0">
                <a:latin typeface="Microsoft Sans Serif"/>
                <a:cs typeface="Microsoft Sans Serif"/>
              </a:rPr>
              <a:t>(A</a:t>
            </a:r>
            <a:r>
              <a:rPr sz="2200" spc="-10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B</a:t>
            </a:r>
            <a:r>
              <a:rPr sz="2200" spc="1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)</a:t>
            </a:r>
            <a:r>
              <a:rPr sz="2200" spc="2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C</a:t>
            </a:r>
            <a:r>
              <a:rPr sz="2200" spc="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=</a:t>
            </a:r>
            <a:r>
              <a:rPr sz="2200" spc="-10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A</a:t>
            </a:r>
            <a:r>
              <a:rPr sz="2200" spc="-10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(B</a:t>
            </a:r>
            <a:r>
              <a:rPr sz="2200" spc="10" dirty="0">
                <a:latin typeface="Microsoft Sans Serif"/>
                <a:cs typeface="Microsoft Sans Serif"/>
              </a:rPr>
              <a:t> </a:t>
            </a:r>
            <a:r>
              <a:rPr sz="2200" spc="-25" dirty="0">
                <a:latin typeface="Microsoft Sans Serif"/>
                <a:cs typeface="Microsoft Sans Serif"/>
              </a:rPr>
              <a:t>C)</a:t>
            </a:r>
            <a:endParaRPr sz="2200">
              <a:latin typeface="Microsoft Sans Serif"/>
              <a:cs typeface="Microsoft Sans Serif"/>
            </a:endParaRPr>
          </a:p>
          <a:p>
            <a:pPr marL="50800" marR="30480">
              <a:lnSpc>
                <a:spcPct val="186400"/>
              </a:lnSpc>
            </a:pPr>
            <a:r>
              <a:rPr sz="2200" dirty="0">
                <a:latin typeface="Microsoft Sans Serif"/>
                <a:cs typeface="Microsoft Sans Serif"/>
              </a:rPr>
              <a:t>A</a:t>
            </a:r>
            <a:r>
              <a:rPr sz="2200" spc="-10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(B</a:t>
            </a:r>
            <a:r>
              <a:rPr sz="2200" spc="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+</a:t>
            </a:r>
            <a:r>
              <a:rPr sz="2200" spc="1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C)</a:t>
            </a:r>
            <a:r>
              <a:rPr sz="2200" spc="2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=</a:t>
            </a:r>
            <a:r>
              <a:rPr sz="2200" spc="-11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A</a:t>
            </a:r>
            <a:r>
              <a:rPr sz="2200" spc="-10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B</a:t>
            </a:r>
            <a:r>
              <a:rPr sz="2200" spc="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+</a:t>
            </a:r>
            <a:r>
              <a:rPr sz="2200" spc="-10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A</a:t>
            </a:r>
            <a:r>
              <a:rPr sz="2200" spc="-10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C</a:t>
            </a:r>
            <a:r>
              <a:rPr sz="2200" spc="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or</a:t>
            </a:r>
            <a:r>
              <a:rPr sz="2200" spc="1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(A</a:t>
            </a:r>
            <a:r>
              <a:rPr sz="2200" spc="-10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+</a:t>
            </a:r>
            <a:r>
              <a:rPr sz="2200" spc="1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B)</a:t>
            </a:r>
            <a:r>
              <a:rPr sz="2200" spc="1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C</a:t>
            </a:r>
            <a:r>
              <a:rPr sz="2200" spc="1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=</a:t>
            </a:r>
            <a:r>
              <a:rPr sz="2200" spc="-10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A</a:t>
            </a:r>
            <a:r>
              <a:rPr sz="2200" spc="-11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C</a:t>
            </a:r>
            <a:r>
              <a:rPr sz="2200" spc="1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+</a:t>
            </a:r>
            <a:r>
              <a:rPr sz="2200" spc="10" dirty="0">
                <a:latin typeface="Microsoft Sans Serif"/>
                <a:cs typeface="Microsoft Sans Serif"/>
              </a:rPr>
              <a:t> </a:t>
            </a:r>
            <a:r>
              <a:rPr sz="2200" spc="-25" dirty="0">
                <a:latin typeface="Microsoft Sans Serif"/>
                <a:cs typeface="Microsoft Sans Serif"/>
              </a:rPr>
              <a:t>BC </a:t>
            </a:r>
            <a:r>
              <a:rPr sz="2200" dirty="0">
                <a:latin typeface="Microsoft Sans Serif"/>
                <a:cs typeface="Microsoft Sans Serif"/>
              </a:rPr>
              <a:t>I</a:t>
            </a:r>
            <a:r>
              <a:rPr sz="2200" spc="-11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A</a:t>
            </a:r>
            <a:r>
              <a:rPr sz="2200" spc="-10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=</a:t>
            </a:r>
            <a:r>
              <a:rPr sz="2200" spc="-9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A</a:t>
            </a:r>
            <a:r>
              <a:rPr sz="2200" spc="-11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I</a:t>
            </a:r>
            <a:r>
              <a:rPr sz="2200" spc="2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=</a:t>
            </a:r>
            <a:r>
              <a:rPr sz="2200" spc="-105" dirty="0">
                <a:latin typeface="Microsoft Sans Serif"/>
                <a:cs typeface="Microsoft Sans Serif"/>
              </a:rPr>
              <a:t> </a:t>
            </a:r>
            <a:r>
              <a:rPr sz="2200" spc="-50" dirty="0">
                <a:latin typeface="Microsoft Sans Serif"/>
                <a:cs typeface="Microsoft Sans Serif"/>
              </a:rPr>
              <a:t>A</a:t>
            </a:r>
            <a:endParaRPr sz="2200">
              <a:latin typeface="Microsoft Sans Serif"/>
              <a:cs typeface="Microsoft Sans Serif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064260" y="3068622"/>
          <a:ext cx="2189477" cy="9264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49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61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51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92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09550" algn="r">
                        <a:lnSpc>
                          <a:spcPts val="2340"/>
                        </a:lnSpc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34315" algn="r">
                        <a:lnSpc>
                          <a:spcPts val="2340"/>
                        </a:lnSpc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6675" algn="r">
                        <a:lnSpc>
                          <a:spcPts val="2340"/>
                        </a:lnSpc>
                      </a:pPr>
                      <a:r>
                        <a:rPr sz="2200" spc="-20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200" spc="-60" dirty="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marL="31750">
                        <a:lnSpc>
                          <a:spcPts val="2335"/>
                        </a:lnSpc>
                      </a:pPr>
                      <a:r>
                        <a:rPr sz="2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200" spc="-1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=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5895" algn="r">
                        <a:lnSpc>
                          <a:spcPts val="2335"/>
                        </a:lnSpc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00660" algn="r">
                        <a:lnSpc>
                          <a:spcPts val="2335"/>
                        </a:lnSpc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4610" algn="r">
                        <a:lnSpc>
                          <a:spcPts val="2335"/>
                        </a:lnSpc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7640" algn="r">
                        <a:lnSpc>
                          <a:spcPts val="2335"/>
                        </a:lnSpc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9545" algn="r">
                        <a:lnSpc>
                          <a:spcPts val="2335"/>
                        </a:lnSpc>
                      </a:pPr>
                      <a:r>
                        <a:rPr sz="2200" spc="-20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200" spc="-60" dirty="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335"/>
                        </a:lnSpc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1798320" y="2988669"/>
            <a:ext cx="180340" cy="1054100"/>
          </a:xfrm>
          <a:custGeom>
            <a:avLst/>
            <a:gdLst/>
            <a:ahLst/>
            <a:cxnLst/>
            <a:rect l="l" t="t" r="r" b="b"/>
            <a:pathLst>
              <a:path w="180339" h="1054100">
                <a:moveTo>
                  <a:pt x="180340" y="0"/>
                </a:moveTo>
                <a:lnTo>
                  <a:pt x="135672" y="7096"/>
                </a:lnTo>
                <a:lnTo>
                  <a:pt x="93509" y="26717"/>
                </a:lnTo>
                <a:lnTo>
                  <a:pt x="56356" y="56356"/>
                </a:lnTo>
                <a:lnTo>
                  <a:pt x="26717" y="93509"/>
                </a:lnTo>
                <a:lnTo>
                  <a:pt x="7096" y="135672"/>
                </a:lnTo>
                <a:lnTo>
                  <a:pt x="0" y="180339"/>
                </a:lnTo>
                <a:lnTo>
                  <a:pt x="0" y="873759"/>
                </a:lnTo>
                <a:lnTo>
                  <a:pt x="7096" y="918427"/>
                </a:lnTo>
                <a:lnTo>
                  <a:pt x="26717" y="960590"/>
                </a:lnTo>
                <a:lnTo>
                  <a:pt x="56356" y="997743"/>
                </a:lnTo>
                <a:lnTo>
                  <a:pt x="93509" y="1027382"/>
                </a:lnTo>
                <a:lnTo>
                  <a:pt x="135672" y="1047003"/>
                </a:lnTo>
                <a:lnTo>
                  <a:pt x="180340" y="1054100"/>
                </a:lnTo>
              </a:path>
            </a:pathLst>
          </a:custGeom>
          <a:ln w="3175">
            <a:solidFill>
              <a:srgbClr val="3364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107689" y="2988669"/>
            <a:ext cx="180340" cy="1054100"/>
          </a:xfrm>
          <a:custGeom>
            <a:avLst/>
            <a:gdLst/>
            <a:ahLst/>
            <a:cxnLst/>
            <a:rect l="l" t="t" r="r" b="b"/>
            <a:pathLst>
              <a:path w="180339" h="1054100">
                <a:moveTo>
                  <a:pt x="0" y="1054100"/>
                </a:moveTo>
                <a:lnTo>
                  <a:pt x="44667" y="1047003"/>
                </a:lnTo>
                <a:lnTo>
                  <a:pt x="86830" y="1027382"/>
                </a:lnTo>
                <a:lnTo>
                  <a:pt x="123983" y="997743"/>
                </a:lnTo>
                <a:lnTo>
                  <a:pt x="153622" y="960590"/>
                </a:lnTo>
                <a:lnTo>
                  <a:pt x="173243" y="918427"/>
                </a:lnTo>
                <a:lnTo>
                  <a:pt x="180339" y="873759"/>
                </a:lnTo>
                <a:lnTo>
                  <a:pt x="180339" y="180339"/>
                </a:lnTo>
                <a:lnTo>
                  <a:pt x="173243" y="135672"/>
                </a:lnTo>
                <a:lnTo>
                  <a:pt x="153622" y="93509"/>
                </a:lnTo>
                <a:lnTo>
                  <a:pt x="123983" y="56356"/>
                </a:lnTo>
                <a:lnTo>
                  <a:pt x="86830" y="26717"/>
                </a:lnTo>
                <a:lnTo>
                  <a:pt x="44667" y="7096"/>
                </a:lnTo>
                <a:lnTo>
                  <a:pt x="0" y="0"/>
                </a:lnTo>
              </a:path>
            </a:pathLst>
          </a:custGeom>
          <a:ln w="3175">
            <a:solidFill>
              <a:srgbClr val="3364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3966209" y="3105452"/>
          <a:ext cx="4177661" cy="9264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35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76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41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18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78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10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16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988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086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9370" algn="ctr">
                        <a:lnSpc>
                          <a:spcPts val="2335"/>
                        </a:lnSpc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7940" algn="ctr">
                        <a:lnSpc>
                          <a:spcPts val="2335"/>
                        </a:lnSpc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510" algn="ctr">
                        <a:lnSpc>
                          <a:spcPts val="2335"/>
                        </a:lnSpc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9705">
                        <a:lnSpc>
                          <a:spcPts val="2335"/>
                        </a:lnSpc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3970" algn="ctr">
                        <a:lnSpc>
                          <a:spcPts val="2335"/>
                        </a:lnSpc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0495" algn="ctr">
                        <a:lnSpc>
                          <a:spcPts val="2335"/>
                        </a:lnSpc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marL="31750">
                        <a:lnSpc>
                          <a:spcPts val="2335"/>
                        </a:lnSpc>
                      </a:pPr>
                      <a:r>
                        <a:rPr sz="2200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spc="-60" dirty="0">
                          <a:latin typeface="Times New Roman"/>
                          <a:cs typeface="Times New Roman"/>
                        </a:rPr>
                        <a:t>=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3340" algn="ctr">
                        <a:lnSpc>
                          <a:spcPts val="2335"/>
                        </a:lnSpc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2545" algn="ctr">
                        <a:lnSpc>
                          <a:spcPts val="2335"/>
                        </a:lnSpc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0800" algn="ctr">
                        <a:lnSpc>
                          <a:spcPts val="2335"/>
                        </a:lnSpc>
                      </a:pPr>
                      <a:r>
                        <a:rPr sz="2200" spc="-20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200" spc="-60" dirty="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8590">
                        <a:lnSpc>
                          <a:spcPts val="2335"/>
                        </a:lnSpc>
                      </a:pPr>
                      <a:r>
                        <a:rPr sz="2200" dirty="0">
                          <a:latin typeface="Times New Roman"/>
                          <a:cs typeface="Times New Roman"/>
                        </a:rPr>
                        <a:t>C </a:t>
                      </a: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=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3990">
                        <a:lnSpc>
                          <a:spcPts val="2335"/>
                        </a:lnSpc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2225" algn="ctr">
                        <a:lnSpc>
                          <a:spcPts val="2335"/>
                        </a:lnSpc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2710" algn="ctr">
                        <a:lnSpc>
                          <a:spcPts val="2335"/>
                        </a:lnSpc>
                      </a:pPr>
                      <a:r>
                        <a:rPr sz="2200" spc="-20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200" spc="-60" dirty="0">
                          <a:latin typeface="Times New Roman"/>
                          <a:cs typeface="Times New Roman"/>
                        </a:rPr>
                        <a:t>2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92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2860" algn="ctr">
                        <a:lnSpc>
                          <a:spcPts val="2340"/>
                        </a:lnSpc>
                      </a:pPr>
                      <a:r>
                        <a:rPr sz="2200" spc="-20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200" spc="-60" dirty="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4139" algn="ctr">
                        <a:lnSpc>
                          <a:spcPts val="2340"/>
                        </a:lnSpc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2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032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2245">
                        <a:lnSpc>
                          <a:spcPts val="2340"/>
                        </a:lnSpc>
                      </a:pPr>
                      <a:r>
                        <a:rPr sz="2200" spc="-20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200" spc="-60" dirty="0">
                          <a:latin typeface="Times New Roman"/>
                          <a:cs typeface="Times New Roman"/>
                        </a:rPr>
                        <a:t>4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1115" algn="ctr">
                        <a:lnSpc>
                          <a:spcPts val="2340"/>
                        </a:lnSpc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1594" algn="ctr">
                        <a:lnSpc>
                          <a:spcPts val="2340"/>
                        </a:lnSpc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object 8"/>
          <p:cNvSpPr/>
          <p:nvPr/>
        </p:nvSpPr>
        <p:spPr>
          <a:xfrm>
            <a:off x="4663440" y="3096619"/>
            <a:ext cx="160020" cy="935990"/>
          </a:xfrm>
          <a:custGeom>
            <a:avLst/>
            <a:gdLst/>
            <a:ahLst/>
            <a:cxnLst/>
            <a:rect l="l" t="t" r="r" b="b"/>
            <a:pathLst>
              <a:path w="160020" h="935989">
                <a:moveTo>
                  <a:pt x="160020" y="0"/>
                </a:moveTo>
                <a:lnTo>
                  <a:pt x="112654" y="8961"/>
                </a:lnTo>
                <a:lnTo>
                  <a:pt x="69128" y="33284"/>
                </a:lnTo>
                <a:lnTo>
                  <a:pt x="33284" y="69128"/>
                </a:lnTo>
                <a:lnTo>
                  <a:pt x="8961" y="112654"/>
                </a:lnTo>
                <a:lnTo>
                  <a:pt x="0" y="160019"/>
                </a:lnTo>
                <a:lnTo>
                  <a:pt x="0" y="775969"/>
                </a:lnTo>
                <a:lnTo>
                  <a:pt x="8961" y="823335"/>
                </a:lnTo>
                <a:lnTo>
                  <a:pt x="33284" y="866861"/>
                </a:lnTo>
                <a:lnTo>
                  <a:pt x="69128" y="902705"/>
                </a:lnTo>
                <a:lnTo>
                  <a:pt x="112654" y="927028"/>
                </a:lnTo>
                <a:lnTo>
                  <a:pt x="160020" y="935989"/>
                </a:lnTo>
              </a:path>
            </a:pathLst>
          </a:custGeom>
          <a:ln w="3175">
            <a:solidFill>
              <a:srgbClr val="3364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5815329" y="3096619"/>
            <a:ext cx="161290" cy="935990"/>
            <a:chOff x="5815329" y="3096619"/>
            <a:chExt cx="161290" cy="935990"/>
          </a:xfrm>
        </p:grpSpPr>
        <p:sp>
          <p:nvSpPr>
            <p:cNvPr id="10" name="object 10"/>
            <p:cNvSpPr/>
            <p:nvPr/>
          </p:nvSpPr>
          <p:spPr>
            <a:xfrm>
              <a:off x="5976619" y="4032609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64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815329" y="3096619"/>
              <a:ext cx="161290" cy="935990"/>
            </a:xfrm>
            <a:custGeom>
              <a:avLst/>
              <a:gdLst/>
              <a:ahLst/>
              <a:cxnLst/>
              <a:rect l="l" t="t" r="r" b="b"/>
              <a:pathLst>
                <a:path w="161289" h="935989">
                  <a:moveTo>
                    <a:pt x="0" y="935989"/>
                  </a:moveTo>
                  <a:lnTo>
                    <a:pt x="47498" y="927028"/>
                  </a:lnTo>
                  <a:lnTo>
                    <a:pt x="91338" y="902705"/>
                  </a:lnTo>
                  <a:lnTo>
                    <a:pt x="127558" y="866861"/>
                  </a:lnTo>
                  <a:lnTo>
                    <a:pt x="152196" y="823335"/>
                  </a:lnTo>
                  <a:lnTo>
                    <a:pt x="161290" y="775969"/>
                  </a:lnTo>
                  <a:lnTo>
                    <a:pt x="161290" y="160019"/>
                  </a:lnTo>
                  <a:lnTo>
                    <a:pt x="152196" y="112654"/>
                  </a:lnTo>
                  <a:lnTo>
                    <a:pt x="127558" y="69128"/>
                  </a:lnTo>
                  <a:lnTo>
                    <a:pt x="91338" y="33284"/>
                  </a:lnTo>
                  <a:lnTo>
                    <a:pt x="47498" y="8961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3364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976619" y="4032609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64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/>
          <p:nvPr/>
        </p:nvSpPr>
        <p:spPr>
          <a:xfrm>
            <a:off x="6941819" y="3061060"/>
            <a:ext cx="177800" cy="1042669"/>
          </a:xfrm>
          <a:custGeom>
            <a:avLst/>
            <a:gdLst/>
            <a:ahLst/>
            <a:cxnLst/>
            <a:rect l="l" t="t" r="r" b="b"/>
            <a:pathLst>
              <a:path w="177800" h="1042670">
                <a:moveTo>
                  <a:pt x="177800" y="0"/>
                </a:moveTo>
                <a:lnTo>
                  <a:pt x="133761" y="7002"/>
                </a:lnTo>
                <a:lnTo>
                  <a:pt x="92192" y="26387"/>
                </a:lnTo>
                <a:lnTo>
                  <a:pt x="55562" y="55721"/>
                </a:lnTo>
                <a:lnTo>
                  <a:pt x="26340" y="92568"/>
                </a:lnTo>
                <a:lnTo>
                  <a:pt x="6996" y="134496"/>
                </a:lnTo>
                <a:lnTo>
                  <a:pt x="0" y="179069"/>
                </a:lnTo>
                <a:lnTo>
                  <a:pt x="0" y="864869"/>
                </a:lnTo>
                <a:lnTo>
                  <a:pt x="6996" y="908908"/>
                </a:lnTo>
                <a:lnTo>
                  <a:pt x="26340" y="950477"/>
                </a:lnTo>
                <a:lnTo>
                  <a:pt x="55562" y="987107"/>
                </a:lnTo>
                <a:lnTo>
                  <a:pt x="92192" y="1016329"/>
                </a:lnTo>
                <a:lnTo>
                  <a:pt x="133761" y="1035673"/>
                </a:lnTo>
                <a:lnTo>
                  <a:pt x="177800" y="1042670"/>
                </a:lnTo>
              </a:path>
            </a:pathLst>
          </a:custGeom>
          <a:ln w="3175">
            <a:solidFill>
              <a:srgbClr val="3364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028940" y="3061060"/>
            <a:ext cx="179070" cy="1042669"/>
          </a:xfrm>
          <a:custGeom>
            <a:avLst/>
            <a:gdLst/>
            <a:ahLst/>
            <a:cxnLst/>
            <a:rect l="l" t="t" r="r" b="b"/>
            <a:pathLst>
              <a:path w="179070" h="1042670">
                <a:moveTo>
                  <a:pt x="0" y="1042670"/>
                </a:moveTo>
                <a:lnTo>
                  <a:pt x="44573" y="1035673"/>
                </a:lnTo>
                <a:lnTo>
                  <a:pt x="86501" y="1016329"/>
                </a:lnTo>
                <a:lnTo>
                  <a:pt x="123348" y="987107"/>
                </a:lnTo>
                <a:lnTo>
                  <a:pt x="152682" y="950477"/>
                </a:lnTo>
                <a:lnTo>
                  <a:pt x="172067" y="908908"/>
                </a:lnTo>
                <a:lnTo>
                  <a:pt x="179069" y="864869"/>
                </a:lnTo>
                <a:lnTo>
                  <a:pt x="179069" y="179069"/>
                </a:lnTo>
                <a:lnTo>
                  <a:pt x="172067" y="134496"/>
                </a:lnTo>
                <a:lnTo>
                  <a:pt x="152682" y="92568"/>
                </a:lnTo>
                <a:lnTo>
                  <a:pt x="123348" y="55721"/>
                </a:lnTo>
                <a:lnTo>
                  <a:pt x="86501" y="26387"/>
                </a:lnTo>
                <a:lnTo>
                  <a:pt x="44573" y="7002"/>
                </a:lnTo>
                <a:lnTo>
                  <a:pt x="0" y="0"/>
                </a:lnTo>
              </a:path>
            </a:pathLst>
          </a:custGeom>
          <a:ln w="3175">
            <a:solidFill>
              <a:srgbClr val="3364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203960" y="4614269"/>
            <a:ext cx="285051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1265555" algn="l"/>
              </a:tabLst>
            </a:pPr>
            <a:r>
              <a:rPr sz="2200" spc="-10" dirty="0">
                <a:latin typeface="Microsoft Sans Serif"/>
                <a:cs typeface="Microsoft Sans Serif"/>
              </a:rPr>
              <a:t>Evaluate</a:t>
            </a:r>
            <a:r>
              <a:rPr sz="2200" dirty="0">
                <a:latin typeface="Microsoft Sans Serif"/>
                <a:cs typeface="Microsoft Sans Serif"/>
              </a:rPr>
              <a:t>	A</a:t>
            </a:r>
            <a:r>
              <a:rPr sz="1875" baseline="33333" dirty="0">
                <a:latin typeface="Microsoft Sans Serif"/>
                <a:cs typeface="Microsoft Sans Serif"/>
              </a:rPr>
              <a:t>3</a:t>
            </a:r>
            <a:r>
              <a:rPr sz="1875" spc="405" baseline="33333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-</a:t>
            </a:r>
            <a:r>
              <a:rPr sz="2200" spc="1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4A</a:t>
            </a:r>
            <a:r>
              <a:rPr sz="1875" baseline="33333" dirty="0">
                <a:latin typeface="Microsoft Sans Serif"/>
                <a:cs typeface="Microsoft Sans Serif"/>
              </a:rPr>
              <a:t>2</a:t>
            </a:r>
            <a:r>
              <a:rPr sz="1875" spc="412" baseline="33333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-</a:t>
            </a:r>
            <a:r>
              <a:rPr sz="2200" spc="15" dirty="0">
                <a:latin typeface="Microsoft Sans Serif"/>
                <a:cs typeface="Microsoft Sans Serif"/>
              </a:rPr>
              <a:t> </a:t>
            </a:r>
            <a:r>
              <a:rPr sz="2200" spc="-25" dirty="0">
                <a:latin typeface="Microsoft Sans Serif"/>
                <a:cs typeface="Microsoft Sans Serif"/>
              </a:rPr>
              <a:t>3A</a:t>
            </a:r>
            <a:endParaRPr sz="2200">
              <a:latin typeface="Microsoft Sans Serif"/>
              <a:cs typeface="Microsoft Sans Serif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728970" y="4325980"/>
            <a:ext cx="1360805" cy="9855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550"/>
              </a:lnSpc>
              <a:spcBef>
                <a:spcPts val="100"/>
              </a:spcBef>
              <a:tabLst>
                <a:tab pos="556260" algn="l"/>
                <a:tab pos="1176655" algn="l"/>
              </a:tabLst>
            </a:pPr>
            <a:r>
              <a:rPr sz="2200" spc="-50" dirty="0">
                <a:latin typeface="Microsoft Sans Serif"/>
                <a:cs typeface="Microsoft Sans Serif"/>
              </a:rPr>
              <a:t>1</a:t>
            </a:r>
            <a:r>
              <a:rPr sz="2200" dirty="0">
                <a:latin typeface="Microsoft Sans Serif"/>
                <a:cs typeface="Microsoft Sans Serif"/>
              </a:rPr>
              <a:t>	</a:t>
            </a:r>
            <a:r>
              <a:rPr sz="2200" spc="-50" dirty="0">
                <a:latin typeface="Microsoft Sans Serif"/>
                <a:cs typeface="Microsoft Sans Serif"/>
              </a:rPr>
              <a:t>3</a:t>
            </a:r>
            <a:r>
              <a:rPr sz="2200" dirty="0">
                <a:latin typeface="Microsoft Sans Serif"/>
                <a:cs typeface="Microsoft Sans Serif"/>
              </a:rPr>
              <a:t>	</a:t>
            </a:r>
            <a:r>
              <a:rPr sz="2200" spc="-50" dirty="0">
                <a:latin typeface="Microsoft Sans Serif"/>
                <a:cs typeface="Microsoft Sans Serif"/>
              </a:rPr>
              <a:t>2</a:t>
            </a:r>
            <a:endParaRPr sz="2200">
              <a:latin typeface="Microsoft Sans Serif"/>
              <a:cs typeface="Microsoft Sans Serif"/>
            </a:endParaRPr>
          </a:p>
          <a:p>
            <a:pPr marL="12700">
              <a:lnSpc>
                <a:spcPts val="2460"/>
              </a:lnSpc>
              <a:tabLst>
                <a:tab pos="556260" algn="l"/>
                <a:tab pos="1099185" algn="l"/>
              </a:tabLst>
            </a:pPr>
            <a:r>
              <a:rPr sz="2200" spc="-50" dirty="0">
                <a:latin typeface="Microsoft Sans Serif"/>
                <a:cs typeface="Microsoft Sans Serif"/>
              </a:rPr>
              <a:t>2</a:t>
            </a:r>
            <a:r>
              <a:rPr sz="2200" dirty="0">
                <a:latin typeface="Microsoft Sans Serif"/>
                <a:cs typeface="Microsoft Sans Serif"/>
              </a:rPr>
              <a:t>	</a:t>
            </a:r>
            <a:r>
              <a:rPr sz="2200" spc="-50" dirty="0">
                <a:latin typeface="Microsoft Sans Serif"/>
                <a:cs typeface="Microsoft Sans Serif"/>
              </a:rPr>
              <a:t>0</a:t>
            </a:r>
            <a:r>
              <a:rPr sz="2200" dirty="0">
                <a:latin typeface="Microsoft Sans Serif"/>
                <a:cs typeface="Microsoft Sans Serif"/>
              </a:rPr>
              <a:t>	</a:t>
            </a:r>
            <a:r>
              <a:rPr sz="2200" spc="-20" dirty="0">
                <a:latin typeface="Microsoft Sans Serif"/>
                <a:cs typeface="Microsoft Sans Serif"/>
              </a:rPr>
              <a:t>-</a:t>
            </a:r>
            <a:r>
              <a:rPr sz="2200" spc="-50" dirty="0">
                <a:latin typeface="Microsoft Sans Serif"/>
                <a:cs typeface="Microsoft Sans Serif"/>
              </a:rPr>
              <a:t>1</a:t>
            </a:r>
            <a:endParaRPr sz="2200">
              <a:latin typeface="Microsoft Sans Serif"/>
              <a:cs typeface="Microsoft Sans Serif"/>
            </a:endParaRPr>
          </a:p>
          <a:p>
            <a:pPr marL="12700">
              <a:lnSpc>
                <a:spcPts val="2550"/>
              </a:lnSpc>
              <a:tabLst>
                <a:tab pos="556260" algn="l"/>
                <a:tab pos="1176655" algn="l"/>
              </a:tabLst>
            </a:pPr>
            <a:r>
              <a:rPr sz="2200" spc="-50" dirty="0">
                <a:latin typeface="Microsoft Sans Serif"/>
                <a:cs typeface="Microsoft Sans Serif"/>
              </a:rPr>
              <a:t>1</a:t>
            </a:r>
            <a:r>
              <a:rPr sz="2200" dirty="0">
                <a:latin typeface="Microsoft Sans Serif"/>
                <a:cs typeface="Microsoft Sans Serif"/>
              </a:rPr>
              <a:t>	</a:t>
            </a:r>
            <a:r>
              <a:rPr sz="2200" spc="-50" dirty="0">
                <a:latin typeface="Microsoft Sans Serif"/>
                <a:cs typeface="Microsoft Sans Serif"/>
              </a:rPr>
              <a:t>2</a:t>
            </a:r>
            <a:r>
              <a:rPr sz="2200" dirty="0">
                <a:latin typeface="Microsoft Sans Serif"/>
                <a:cs typeface="Microsoft Sans Serif"/>
              </a:rPr>
              <a:t>	</a:t>
            </a:r>
            <a:r>
              <a:rPr sz="2200" spc="-50" dirty="0">
                <a:latin typeface="Microsoft Sans Serif"/>
                <a:cs typeface="Microsoft Sans Serif"/>
              </a:rPr>
              <a:t>3</a:t>
            </a:r>
            <a:endParaRPr sz="2200">
              <a:latin typeface="Microsoft Sans Serif"/>
              <a:cs typeface="Microsoft Sans Serif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865370" y="4614269"/>
            <a:ext cx="43751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latin typeface="Microsoft Sans Serif"/>
                <a:cs typeface="Microsoft Sans Serif"/>
              </a:rPr>
              <a:t>A</a:t>
            </a:r>
            <a:r>
              <a:rPr sz="2200" spc="-105" dirty="0">
                <a:latin typeface="Microsoft Sans Serif"/>
                <a:cs typeface="Microsoft Sans Serif"/>
              </a:rPr>
              <a:t> </a:t>
            </a:r>
            <a:r>
              <a:rPr sz="2200" spc="-60" dirty="0">
                <a:latin typeface="Microsoft Sans Serif"/>
                <a:cs typeface="Microsoft Sans Serif"/>
              </a:rPr>
              <a:t>=</a:t>
            </a:r>
            <a:endParaRPr sz="2200">
              <a:latin typeface="Microsoft Sans Serif"/>
              <a:cs typeface="Microsoft Sans Serif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507990" y="4320899"/>
            <a:ext cx="172720" cy="1008380"/>
          </a:xfrm>
          <a:custGeom>
            <a:avLst/>
            <a:gdLst/>
            <a:ahLst/>
            <a:cxnLst/>
            <a:rect l="l" t="t" r="r" b="b"/>
            <a:pathLst>
              <a:path w="172720" h="1008379">
                <a:moveTo>
                  <a:pt x="172720" y="0"/>
                </a:moveTo>
                <a:lnTo>
                  <a:pt x="129939" y="6702"/>
                </a:lnTo>
                <a:lnTo>
                  <a:pt x="89558" y="25258"/>
                </a:lnTo>
                <a:lnTo>
                  <a:pt x="53975" y="53339"/>
                </a:lnTo>
                <a:lnTo>
                  <a:pt x="25588" y="88617"/>
                </a:lnTo>
                <a:lnTo>
                  <a:pt x="6796" y="128763"/>
                </a:lnTo>
                <a:lnTo>
                  <a:pt x="0" y="171449"/>
                </a:lnTo>
                <a:lnTo>
                  <a:pt x="0" y="834389"/>
                </a:lnTo>
                <a:lnTo>
                  <a:pt x="6796" y="877705"/>
                </a:lnTo>
                <a:lnTo>
                  <a:pt x="25588" y="918445"/>
                </a:lnTo>
                <a:lnTo>
                  <a:pt x="53975" y="954246"/>
                </a:lnTo>
                <a:lnTo>
                  <a:pt x="89558" y="982744"/>
                </a:lnTo>
                <a:lnTo>
                  <a:pt x="129939" y="1001577"/>
                </a:lnTo>
                <a:lnTo>
                  <a:pt x="172720" y="1008379"/>
                </a:lnTo>
              </a:path>
            </a:pathLst>
          </a:custGeom>
          <a:ln w="3175">
            <a:solidFill>
              <a:srgbClr val="3364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9" name="object 19"/>
          <p:cNvGrpSpPr/>
          <p:nvPr/>
        </p:nvGrpSpPr>
        <p:grpSpPr>
          <a:xfrm>
            <a:off x="7063740" y="4320899"/>
            <a:ext cx="172720" cy="1008380"/>
            <a:chOff x="7063740" y="4320899"/>
            <a:chExt cx="172720" cy="1008380"/>
          </a:xfrm>
        </p:grpSpPr>
        <p:sp>
          <p:nvSpPr>
            <p:cNvPr id="20" name="object 20"/>
            <p:cNvSpPr/>
            <p:nvPr/>
          </p:nvSpPr>
          <p:spPr>
            <a:xfrm>
              <a:off x="7236460" y="5329279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64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063740" y="4320899"/>
              <a:ext cx="172720" cy="1008380"/>
            </a:xfrm>
            <a:custGeom>
              <a:avLst/>
              <a:gdLst/>
              <a:ahLst/>
              <a:cxnLst/>
              <a:rect l="l" t="t" r="r" b="b"/>
              <a:pathLst>
                <a:path w="172720" h="1008379">
                  <a:moveTo>
                    <a:pt x="0" y="1008379"/>
                  </a:moveTo>
                  <a:lnTo>
                    <a:pt x="42780" y="1001577"/>
                  </a:lnTo>
                  <a:lnTo>
                    <a:pt x="83161" y="982744"/>
                  </a:lnTo>
                  <a:lnTo>
                    <a:pt x="118744" y="954246"/>
                  </a:lnTo>
                  <a:lnTo>
                    <a:pt x="147131" y="918445"/>
                  </a:lnTo>
                  <a:lnTo>
                    <a:pt x="165923" y="877705"/>
                  </a:lnTo>
                  <a:lnTo>
                    <a:pt x="172719" y="834389"/>
                  </a:lnTo>
                  <a:lnTo>
                    <a:pt x="172719" y="171449"/>
                  </a:lnTo>
                  <a:lnTo>
                    <a:pt x="165923" y="128763"/>
                  </a:lnTo>
                  <a:lnTo>
                    <a:pt x="147131" y="88617"/>
                  </a:lnTo>
                  <a:lnTo>
                    <a:pt x="118745" y="53339"/>
                  </a:lnTo>
                  <a:lnTo>
                    <a:pt x="83161" y="25258"/>
                  </a:lnTo>
                  <a:lnTo>
                    <a:pt x="42780" y="6702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3364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236460" y="5329279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64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5759" y="19410"/>
            <a:ext cx="425196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47189" algn="l"/>
              </a:tabLst>
            </a:pPr>
            <a:r>
              <a:rPr spc="-10" dirty="0"/>
              <a:t>Matrix</a:t>
            </a:r>
            <a:r>
              <a:rPr dirty="0"/>
              <a:t>	</a:t>
            </a:r>
            <a:r>
              <a:rPr spc="-10" dirty="0"/>
              <a:t>operations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0530" y="827130"/>
            <a:ext cx="5399405" cy="1744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latin typeface="Microsoft Sans Serif"/>
                <a:cs typeface="Microsoft Sans Serif"/>
              </a:rPr>
              <a:t>A</a:t>
            </a:r>
            <a:r>
              <a:rPr sz="2200" spc="-11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=</a:t>
            </a:r>
            <a:r>
              <a:rPr sz="2200" spc="1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{a</a:t>
            </a:r>
            <a:r>
              <a:rPr sz="1875" baseline="-33333" dirty="0">
                <a:latin typeface="Microsoft Sans Serif"/>
                <a:cs typeface="Microsoft Sans Serif"/>
              </a:rPr>
              <a:t>ij</a:t>
            </a:r>
            <a:r>
              <a:rPr sz="2200" dirty="0">
                <a:latin typeface="Microsoft Sans Serif"/>
                <a:cs typeface="Microsoft Sans Serif"/>
              </a:rPr>
              <a:t>}</a:t>
            </a:r>
            <a:r>
              <a:rPr sz="1875" baseline="-33333" dirty="0">
                <a:latin typeface="Microsoft Sans Serif"/>
                <a:cs typeface="Microsoft Sans Serif"/>
              </a:rPr>
              <a:t>mxn</a:t>
            </a:r>
            <a:r>
              <a:rPr sz="1875" spc="382" baseline="-33333" dirty="0">
                <a:latin typeface="Microsoft Sans Serif"/>
                <a:cs typeface="Microsoft Sans Serif"/>
              </a:rPr>
              <a:t> </a:t>
            </a:r>
            <a:r>
              <a:rPr sz="2200" spc="-20" dirty="0">
                <a:latin typeface="Microsoft Sans Serif"/>
                <a:cs typeface="Microsoft Sans Serif"/>
              </a:rPr>
              <a:t>then</a:t>
            </a:r>
            <a:endParaRPr sz="22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sz="2200">
              <a:latin typeface="Microsoft Sans Serif"/>
              <a:cs typeface="Microsoft Sans Serif"/>
            </a:endParaRPr>
          </a:p>
          <a:p>
            <a:pPr marL="25400">
              <a:lnSpc>
                <a:spcPts val="2155"/>
              </a:lnSpc>
              <a:tabLst>
                <a:tab pos="2031364" algn="l"/>
              </a:tabLst>
            </a:pPr>
            <a:r>
              <a:rPr sz="2200" spc="-85" dirty="0">
                <a:latin typeface="Microsoft Sans Serif"/>
                <a:cs typeface="Microsoft Sans Serif"/>
              </a:rPr>
              <a:t>A’</a:t>
            </a:r>
            <a:r>
              <a:rPr sz="2200" spc="-6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or</a:t>
            </a:r>
            <a:r>
              <a:rPr sz="2200" spc="-10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A</a:t>
            </a:r>
            <a:r>
              <a:rPr sz="1875" baseline="33333" dirty="0">
                <a:latin typeface="Microsoft Sans Serif"/>
                <a:cs typeface="Microsoft Sans Serif"/>
              </a:rPr>
              <a:t>T</a:t>
            </a:r>
            <a:r>
              <a:rPr sz="1875" spc="397" baseline="33333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=</a:t>
            </a:r>
            <a:r>
              <a:rPr sz="2200" spc="1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{a</a:t>
            </a:r>
            <a:r>
              <a:rPr sz="2200" spc="-15" dirty="0">
                <a:latin typeface="Microsoft Sans Serif"/>
                <a:cs typeface="Microsoft Sans Serif"/>
              </a:rPr>
              <a:t> </a:t>
            </a:r>
            <a:r>
              <a:rPr sz="2200" spc="-50" dirty="0">
                <a:latin typeface="Microsoft Sans Serif"/>
                <a:cs typeface="Microsoft Sans Serif"/>
              </a:rPr>
              <a:t>}</a:t>
            </a:r>
            <a:r>
              <a:rPr sz="2200" dirty="0">
                <a:latin typeface="Microsoft Sans Serif"/>
                <a:cs typeface="Microsoft Sans Serif"/>
              </a:rPr>
              <a:t>	is</a:t>
            </a:r>
            <a:r>
              <a:rPr sz="2200" spc="-3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called</a:t>
            </a:r>
            <a:r>
              <a:rPr sz="2200" spc="-2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the</a:t>
            </a:r>
            <a:r>
              <a:rPr sz="2200" spc="-3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transpose</a:t>
            </a:r>
            <a:r>
              <a:rPr sz="2200" spc="-3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of</a:t>
            </a:r>
            <a:r>
              <a:rPr sz="2200" spc="-145" dirty="0">
                <a:latin typeface="Microsoft Sans Serif"/>
                <a:cs typeface="Microsoft Sans Serif"/>
              </a:rPr>
              <a:t> </a:t>
            </a:r>
            <a:r>
              <a:rPr sz="2200" spc="-50" dirty="0">
                <a:latin typeface="Microsoft Sans Serif"/>
                <a:cs typeface="Microsoft Sans Serif"/>
              </a:rPr>
              <a:t>A</a:t>
            </a:r>
            <a:endParaRPr sz="2200">
              <a:latin typeface="Microsoft Sans Serif"/>
              <a:cs typeface="Microsoft Sans Serif"/>
            </a:endParaRPr>
          </a:p>
          <a:p>
            <a:pPr marL="1482725">
              <a:lnSpc>
                <a:spcPts val="1015"/>
              </a:lnSpc>
            </a:pPr>
            <a:r>
              <a:rPr sz="1250" dirty="0">
                <a:latin typeface="Microsoft Sans Serif"/>
                <a:cs typeface="Microsoft Sans Serif"/>
              </a:rPr>
              <a:t>ji</a:t>
            </a:r>
            <a:r>
              <a:rPr sz="1250" spc="380" dirty="0">
                <a:latin typeface="Microsoft Sans Serif"/>
                <a:cs typeface="Microsoft Sans Serif"/>
              </a:rPr>
              <a:t> </a:t>
            </a:r>
            <a:r>
              <a:rPr sz="1250" spc="-25" dirty="0">
                <a:latin typeface="Microsoft Sans Serif"/>
                <a:cs typeface="Microsoft Sans Serif"/>
              </a:rPr>
              <a:t>nxm</a:t>
            </a:r>
            <a:endParaRPr sz="12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865"/>
              </a:spcBef>
            </a:pPr>
            <a:endParaRPr sz="1250">
              <a:latin typeface="Microsoft Sans Serif"/>
              <a:cs typeface="Microsoft Sans Serif"/>
            </a:endParaRPr>
          </a:p>
          <a:p>
            <a:pPr marL="25400">
              <a:lnSpc>
                <a:spcPct val="100000"/>
              </a:lnSpc>
            </a:pPr>
            <a:r>
              <a:rPr sz="2200" dirty="0">
                <a:latin typeface="Microsoft Sans Serif"/>
                <a:cs typeface="Microsoft Sans Serif"/>
              </a:rPr>
              <a:t>For</a:t>
            </a:r>
            <a:r>
              <a:rPr sz="2200" spc="-1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any</a:t>
            </a:r>
            <a:r>
              <a:rPr sz="2200" spc="-1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sutable</a:t>
            </a:r>
            <a:r>
              <a:rPr sz="2200" spc="-5" dirty="0">
                <a:latin typeface="Microsoft Sans Serif"/>
                <a:cs typeface="Microsoft Sans Serif"/>
              </a:rPr>
              <a:t> </a:t>
            </a:r>
            <a:r>
              <a:rPr sz="2200" spc="-10" dirty="0">
                <a:latin typeface="Microsoft Sans Serif"/>
                <a:cs typeface="Microsoft Sans Serif"/>
              </a:rPr>
              <a:t>matrices</a:t>
            </a:r>
            <a:r>
              <a:rPr sz="2200" spc="-12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A</a:t>
            </a:r>
            <a:r>
              <a:rPr sz="2200" spc="-12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and</a:t>
            </a:r>
            <a:r>
              <a:rPr sz="2200" spc="-5" dirty="0">
                <a:latin typeface="Microsoft Sans Serif"/>
                <a:cs typeface="Microsoft Sans Serif"/>
              </a:rPr>
              <a:t> </a:t>
            </a:r>
            <a:r>
              <a:rPr sz="2200" spc="-50" dirty="0">
                <a:latin typeface="Microsoft Sans Serif"/>
                <a:cs typeface="Microsoft Sans Serif"/>
              </a:rPr>
              <a:t>B</a:t>
            </a:r>
            <a:endParaRPr sz="22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3230" y="2836269"/>
            <a:ext cx="979169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30" dirty="0">
                <a:latin typeface="Microsoft Sans Serif"/>
                <a:cs typeface="Microsoft Sans Serif"/>
              </a:rPr>
              <a:t>(A’)’</a:t>
            </a:r>
            <a:r>
              <a:rPr sz="2200" spc="-9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=</a:t>
            </a:r>
            <a:r>
              <a:rPr sz="2200" spc="-125" dirty="0">
                <a:latin typeface="Microsoft Sans Serif"/>
                <a:cs typeface="Microsoft Sans Serif"/>
              </a:rPr>
              <a:t> </a:t>
            </a:r>
            <a:r>
              <a:rPr sz="2200" spc="-50" dirty="0">
                <a:latin typeface="Microsoft Sans Serif"/>
                <a:cs typeface="Microsoft Sans Serif"/>
              </a:rPr>
              <a:t>A</a:t>
            </a:r>
            <a:endParaRPr sz="22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3230" y="3461110"/>
            <a:ext cx="408305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54505" algn="l"/>
              </a:tabLst>
            </a:pPr>
            <a:r>
              <a:rPr sz="2200" i="1" dirty="0">
                <a:latin typeface="Arial"/>
                <a:cs typeface="Arial"/>
              </a:rPr>
              <a:t>k</a:t>
            </a:r>
            <a:r>
              <a:rPr sz="2200" i="1" spc="-5" dirty="0">
                <a:latin typeface="Arial"/>
                <a:cs typeface="Arial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(A)’</a:t>
            </a:r>
            <a:r>
              <a:rPr sz="2200" spc="-6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=</a:t>
            </a:r>
            <a:r>
              <a:rPr sz="2200" spc="1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(</a:t>
            </a:r>
            <a:r>
              <a:rPr sz="2200" i="1" dirty="0">
                <a:latin typeface="Arial"/>
                <a:cs typeface="Arial"/>
              </a:rPr>
              <a:t>k</a:t>
            </a:r>
            <a:r>
              <a:rPr sz="2200" i="1" spc="-130" dirty="0">
                <a:latin typeface="Arial"/>
                <a:cs typeface="Arial"/>
              </a:rPr>
              <a:t> </a:t>
            </a:r>
            <a:r>
              <a:rPr sz="2200" spc="-25" dirty="0">
                <a:latin typeface="Microsoft Sans Serif"/>
                <a:cs typeface="Microsoft Sans Serif"/>
              </a:rPr>
              <a:t>A)’</a:t>
            </a:r>
            <a:r>
              <a:rPr sz="2200" dirty="0">
                <a:latin typeface="Microsoft Sans Serif"/>
                <a:cs typeface="Microsoft Sans Serif"/>
              </a:rPr>
              <a:t>	where</a:t>
            </a:r>
            <a:r>
              <a:rPr sz="2200" spc="10" dirty="0">
                <a:latin typeface="Microsoft Sans Serif"/>
                <a:cs typeface="Microsoft Sans Serif"/>
              </a:rPr>
              <a:t> </a:t>
            </a:r>
            <a:r>
              <a:rPr sz="2200" i="1" dirty="0">
                <a:latin typeface="Arial"/>
                <a:cs typeface="Arial"/>
              </a:rPr>
              <a:t>k</a:t>
            </a:r>
            <a:r>
              <a:rPr sz="2200" i="1" spc="-30" dirty="0">
                <a:latin typeface="Arial"/>
                <a:cs typeface="Arial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is</a:t>
            </a:r>
            <a:r>
              <a:rPr sz="2200" spc="1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a </a:t>
            </a:r>
            <a:r>
              <a:rPr sz="2200" spc="-10" dirty="0">
                <a:latin typeface="Microsoft Sans Serif"/>
                <a:cs typeface="Microsoft Sans Serif"/>
              </a:rPr>
              <a:t>scalar</a:t>
            </a:r>
            <a:endParaRPr sz="22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3230" y="4085949"/>
            <a:ext cx="202438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latin typeface="Microsoft Sans Serif"/>
                <a:cs typeface="Microsoft Sans Serif"/>
              </a:rPr>
              <a:t>(A</a:t>
            </a:r>
            <a:r>
              <a:rPr sz="2200" spc="-12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+</a:t>
            </a:r>
            <a:r>
              <a:rPr sz="2200" spc="1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B)’</a:t>
            </a:r>
            <a:r>
              <a:rPr sz="2200" spc="-6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=</a:t>
            </a:r>
            <a:r>
              <a:rPr sz="2200" spc="-110" dirty="0">
                <a:latin typeface="Microsoft Sans Serif"/>
                <a:cs typeface="Microsoft Sans Serif"/>
              </a:rPr>
              <a:t> </a:t>
            </a:r>
            <a:r>
              <a:rPr sz="2200" spc="-85" dirty="0">
                <a:latin typeface="Microsoft Sans Serif"/>
                <a:cs typeface="Microsoft Sans Serif"/>
              </a:rPr>
              <a:t>A’</a:t>
            </a:r>
            <a:r>
              <a:rPr sz="2200" spc="-6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+</a:t>
            </a:r>
            <a:r>
              <a:rPr sz="2200" spc="10" dirty="0">
                <a:latin typeface="Microsoft Sans Serif"/>
                <a:cs typeface="Microsoft Sans Serif"/>
              </a:rPr>
              <a:t> </a:t>
            </a:r>
            <a:r>
              <a:rPr sz="2200" spc="-25" dirty="0">
                <a:latin typeface="Microsoft Sans Serif"/>
                <a:cs typeface="Microsoft Sans Serif"/>
              </a:rPr>
              <a:t>B’</a:t>
            </a:r>
            <a:endParaRPr sz="22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43230" y="4710789"/>
            <a:ext cx="147955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latin typeface="Microsoft Sans Serif"/>
                <a:cs typeface="Microsoft Sans Serif"/>
              </a:rPr>
              <a:t>(AB)’</a:t>
            </a:r>
            <a:r>
              <a:rPr sz="2200" spc="-8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= B’</a:t>
            </a:r>
            <a:r>
              <a:rPr sz="2200" spc="-175" dirty="0">
                <a:latin typeface="Microsoft Sans Serif"/>
                <a:cs typeface="Microsoft Sans Serif"/>
              </a:rPr>
              <a:t> </a:t>
            </a:r>
            <a:r>
              <a:rPr sz="2200" spc="-45" dirty="0">
                <a:latin typeface="Microsoft Sans Serif"/>
                <a:cs typeface="Microsoft Sans Serif"/>
              </a:rPr>
              <a:t>A’</a:t>
            </a:r>
            <a:endParaRPr sz="22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829300" y="3503019"/>
            <a:ext cx="1108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1334" algn="l"/>
                <a:tab pos="967740" algn="l"/>
              </a:tabLst>
            </a:pPr>
            <a:r>
              <a:rPr sz="1800" spc="-50" dirty="0">
                <a:latin typeface="Microsoft Sans Serif"/>
                <a:cs typeface="Microsoft Sans Serif"/>
              </a:rPr>
              <a:t>3</a:t>
            </a:r>
            <a:r>
              <a:rPr sz="1800" dirty="0">
                <a:latin typeface="Microsoft Sans Serif"/>
                <a:cs typeface="Microsoft Sans Serif"/>
              </a:rPr>
              <a:t>	</a:t>
            </a:r>
            <a:r>
              <a:rPr sz="1800" spc="-50" dirty="0">
                <a:latin typeface="Microsoft Sans Serif"/>
                <a:cs typeface="Microsoft Sans Serif"/>
              </a:rPr>
              <a:t>3</a:t>
            </a:r>
            <a:r>
              <a:rPr sz="1800" dirty="0">
                <a:latin typeface="Microsoft Sans Serif"/>
                <a:cs typeface="Microsoft Sans Serif"/>
              </a:rPr>
              <a:t>	</a:t>
            </a:r>
            <a:r>
              <a:rPr sz="1800" spc="-50" dirty="0">
                <a:latin typeface="Microsoft Sans Serif"/>
                <a:cs typeface="Microsoft Sans Serif"/>
              </a:rPr>
              <a:t>2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803718" y="3503019"/>
            <a:ext cx="10560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93700" algn="l"/>
                <a:tab pos="915669" algn="l"/>
              </a:tabLst>
            </a:pPr>
            <a:r>
              <a:rPr sz="1800" spc="-50" dirty="0">
                <a:latin typeface="Microsoft Sans Serif"/>
                <a:cs typeface="Microsoft Sans Serif"/>
              </a:rPr>
              <a:t>2</a:t>
            </a:r>
            <a:r>
              <a:rPr sz="1800" dirty="0">
                <a:latin typeface="Microsoft Sans Serif"/>
                <a:cs typeface="Microsoft Sans Serif"/>
              </a:rPr>
              <a:t>	</a:t>
            </a:r>
            <a:r>
              <a:rPr sz="1800" spc="-10" dirty="0">
                <a:latin typeface="Microsoft Sans Serif"/>
                <a:cs typeface="Microsoft Sans Serif"/>
              </a:rPr>
              <a:t>-</a:t>
            </a:r>
            <a:r>
              <a:rPr sz="1800" spc="-50" dirty="0">
                <a:latin typeface="Microsoft Sans Serif"/>
                <a:cs typeface="Microsoft Sans Serif"/>
              </a:rPr>
              <a:t>1</a:t>
            </a:r>
            <a:r>
              <a:rPr sz="1800" dirty="0">
                <a:latin typeface="Microsoft Sans Serif"/>
                <a:cs typeface="Microsoft Sans Serif"/>
              </a:rPr>
              <a:t>	</a:t>
            </a:r>
            <a:r>
              <a:rPr sz="1800" spc="-50" dirty="0">
                <a:latin typeface="Microsoft Sans Serif"/>
                <a:cs typeface="Microsoft Sans Serif"/>
              </a:rPr>
              <a:t>2</a:t>
            </a:r>
            <a:endParaRPr sz="1800">
              <a:latin typeface="Microsoft Sans Serif"/>
              <a:cs typeface="Microsoft Sans Serif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5234940" y="3793914"/>
          <a:ext cx="3676650" cy="5105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468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7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38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10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1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5270">
                <a:tc>
                  <a:txBody>
                    <a:bodyPr/>
                    <a:lstStyle/>
                    <a:p>
                      <a:pPr marR="142875" algn="r">
                        <a:lnSpc>
                          <a:spcPts val="1910"/>
                        </a:lnSpc>
                        <a:tabLst>
                          <a:tab pos="592455" algn="l"/>
                          <a:tab pos="1036955" algn="l"/>
                        </a:tabLst>
                      </a:pP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A</a:t>
                      </a:r>
                      <a:r>
                        <a:rPr sz="1800" spc="-8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=</a:t>
                      </a: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	</a:t>
                      </a: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4</a:t>
                      </a: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	</a:t>
                      </a: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2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31140">
                        <a:lnSpc>
                          <a:spcPts val="1910"/>
                        </a:lnSpc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9385">
                        <a:lnSpc>
                          <a:spcPts val="1910"/>
                        </a:lnSpc>
                      </a:pP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B</a:t>
                      </a:r>
                      <a:r>
                        <a:rPr sz="1800" spc="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spc="-60" dirty="0">
                          <a:latin typeface="Microsoft Sans Serif"/>
                          <a:cs typeface="Microsoft Sans Serif"/>
                        </a:rPr>
                        <a:t>=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ts val="1910"/>
                        </a:lnSpc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8895" algn="ctr">
                        <a:lnSpc>
                          <a:spcPts val="1910"/>
                        </a:lnSpc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2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07010">
                        <a:lnSpc>
                          <a:spcPts val="1910"/>
                        </a:lnSpc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4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270">
                <a:tc>
                  <a:txBody>
                    <a:bodyPr/>
                    <a:lstStyle/>
                    <a:p>
                      <a:pPr marR="158750" algn="r">
                        <a:lnSpc>
                          <a:spcPts val="1910"/>
                        </a:lnSpc>
                        <a:tabLst>
                          <a:tab pos="381000" algn="l"/>
                        </a:tabLst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4</a:t>
                      </a: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	</a:t>
                      </a: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0495">
                        <a:lnSpc>
                          <a:spcPts val="1910"/>
                        </a:lnSpc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2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4625">
                        <a:lnSpc>
                          <a:spcPts val="1910"/>
                        </a:lnSpc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3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ctr">
                        <a:lnSpc>
                          <a:spcPts val="1910"/>
                        </a:lnSpc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6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8115">
                        <a:lnSpc>
                          <a:spcPts val="1910"/>
                        </a:lnSpc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5189220" y="4271369"/>
            <a:ext cx="26492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Microsoft Sans Serif"/>
                <a:cs typeface="Microsoft Sans Serif"/>
              </a:rPr>
              <a:t>Prove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above </a:t>
            </a:r>
            <a:r>
              <a:rPr sz="1800" spc="-10" dirty="0">
                <a:latin typeface="Microsoft Sans Serif"/>
                <a:cs typeface="Microsoft Sans Serif"/>
              </a:rPr>
              <a:t>identities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189220" y="4783180"/>
            <a:ext cx="1494790" cy="556260"/>
          </a:xfrm>
          <a:prstGeom prst="rect">
            <a:avLst/>
          </a:prstGeom>
        </p:spPr>
        <p:txBody>
          <a:bodyPr vert="horz" wrap="square" lIns="0" tIns="36194" rIns="0" bIns="0" rtlCol="0">
            <a:spAutoFit/>
          </a:bodyPr>
          <a:lstStyle/>
          <a:p>
            <a:pPr marL="12700" marR="5080">
              <a:lnSpc>
                <a:spcPts val="2020"/>
              </a:lnSpc>
              <a:spcBef>
                <a:spcPts val="284"/>
              </a:spcBef>
            </a:pPr>
            <a:r>
              <a:rPr sz="1800" dirty="0">
                <a:latin typeface="Microsoft Sans Serif"/>
                <a:cs typeface="Microsoft Sans Serif"/>
              </a:rPr>
              <a:t>Also</a:t>
            </a:r>
            <a:r>
              <a:rPr sz="1800" spc="-4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calculate </a:t>
            </a:r>
            <a:r>
              <a:rPr sz="1800" dirty="0">
                <a:latin typeface="Microsoft Sans Serif"/>
                <a:cs typeface="Microsoft Sans Serif"/>
              </a:rPr>
              <a:t>(A</a:t>
            </a:r>
            <a:r>
              <a:rPr sz="1800" spc="-8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+</a:t>
            </a:r>
            <a:r>
              <a:rPr sz="1800" spc="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B)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(A</a:t>
            </a:r>
            <a:r>
              <a:rPr sz="1800" spc="-75" dirty="0">
                <a:latin typeface="Microsoft Sans Serif"/>
                <a:cs typeface="Microsoft Sans Serif"/>
              </a:rPr>
              <a:t> </a:t>
            </a:r>
            <a:r>
              <a:rPr sz="1800" spc="470" dirty="0">
                <a:latin typeface="Microsoft Sans Serif"/>
                <a:cs typeface="Microsoft Sans Serif"/>
              </a:rPr>
              <a:t>–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B)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796279" y="3492860"/>
            <a:ext cx="135890" cy="792480"/>
          </a:xfrm>
          <a:custGeom>
            <a:avLst/>
            <a:gdLst/>
            <a:ahLst/>
            <a:cxnLst/>
            <a:rect l="l" t="t" r="r" b="b"/>
            <a:pathLst>
              <a:path w="135889" h="792479">
                <a:moveTo>
                  <a:pt x="135890" y="0"/>
                </a:moveTo>
                <a:lnTo>
                  <a:pt x="95422" y="7538"/>
                </a:lnTo>
                <a:lnTo>
                  <a:pt x="58430" y="28000"/>
                </a:lnTo>
                <a:lnTo>
                  <a:pt x="28082" y="58155"/>
                </a:lnTo>
                <a:lnTo>
                  <a:pt x="7548" y="94772"/>
                </a:lnTo>
                <a:lnTo>
                  <a:pt x="0" y="134619"/>
                </a:lnTo>
                <a:lnTo>
                  <a:pt x="0" y="655319"/>
                </a:lnTo>
                <a:lnTo>
                  <a:pt x="7548" y="695919"/>
                </a:lnTo>
                <a:lnTo>
                  <a:pt x="28082" y="733226"/>
                </a:lnTo>
                <a:lnTo>
                  <a:pt x="58430" y="763950"/>
                </a:lnTo>
                <a:lnTo>
                  <a:pt x="95422" y="784799"/>
                </a:lnTo>
                <a:lnTo>
                  <a:pt x="135890" y="792479"/>
                </a:lnTo>
              </a:path>
            </a:pathLst>
          </a:custGeom>
          <a:ln w="3175">
            <a:solidFill>
              <a:srgbClr val="3364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812280" y="3492860"/>
            <a:ext cx="135890" cy="792480"/>
          </a:xfrm>
          <a:custGeom>
            <a:avLst/>
            <a:gdLst/>
            <a:ahLst/>
            <a:cxnLst/>
            <a:rect l="l" t="t" r="r" b="b"/>
            <a:pathLst>
              <a:path w="135890" h="792479">
                <a:moveTo>
                  <a:pt x="0" y="792479"/>
                </a:moveTo>
                <a:lnTo>
                  <a:pt x="40467" y="784799"/>
                </a:lnTo>
                <a:lnTo>
                  <a:pt x="77459" y="763950"/>
                </a:lnTo>
                <a:lnTo>
                  <a:pt x="107807" y="733226"/>
                </a:lnTo>
                <a:lnTo>
                  <a:pt x="128341" y="695919"/>
                </a:lnTo>
                <a:lnTo>
                  <a:pt x="135890" y="655319"/>
                </a:lnTo>
                <a:lnTo>
                  <a:pt x="135890" y="134619"/>
                </a:lnTo>
                <a:lnTo>
                  <a:pt x="128341" y="94772"/>
                </a:lnTo>
                <a:lnTo>
                  <a:pt x="107807" y="58155"/>
                </a:lnTo>
                <a:lnTo>
                  <a:pt x="77459" y="28000"/>
                </a:lnTo>
                <a:lnTo>
                  <a:pt x="40467" y="7538"/>
                </a:lnTo>
                <a:lnTo>
                  <a:pt x="0" y="0"/>
                </a:lnTo>
              </a:path>
            </a:pathLst>
          </a:custGeom>
          <a:ln w="3175">
            <a:solidFill>
              <a:srgbClr val="3364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776209" y="3492860"/>
            <a:ext cx="135890" cy="791210"/>
          </a:xfrm>
          <a:custGeom>
            <a:avLst/>
            <a:gdLst/>
            <a:ahLst/>
            <a:cxnLst/>
            <a:rect l="l" t="t" r="r" b="b"/>
            <a:pathLst>
              <a:path w="135890" h="791210">
                <a:moveTo>
                  <a:pt x="135890" y="0"/>
                </a:moveTo>
                <a:lnTo>
                  <a:pt x="95422" y="7538"/>
                </a:lnTo>
                <a:lnTo>
                  <a:pt x="58430" y="28000"/>
                </a:lnTo>
                <a:lnTo>
                  <a:pt x="28082" y="58155"/>
                </a:lnTo>
                <a:lnTo>
                  <a:pt x="7548" y="94772"/>
                </a:lnTo>
                <a:lnTo>
                  <a:pt x="0" y="134619"/>
                </a:lnTo>
                <a:lnTo>
                  <a:pt x="0" y="655319"/>
                </a:lnTo>
                <a:lnTo>
                  <a:pt x="7548" y="695787"/>
                </a:lnTo>
                <a:lnTo>
                  <a:pt x="28082" y="732779"/>
                </a:lnTo>
                <a:lnTo>
                  <a:pt x="58430" y="763127"/>
                </a:lnTo>
                <a:lnTo>
                  <a:pt x="95422" y="783661"/>
                </a:lnTo>
                <a:lnTo>
                  <a:pt x="135890" y="791209"/>
                </a:lnTo>
              </a:path>
            </a:pathLst>
          </a:custGeom>
          <a:ln w="3175">
            <a:solidFill>
              <a:srgbClr val="3364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8793480" y="3492860"/>
            <a:ext cx="134620" cy="791210"/>
          </a:xfrm>
          <a:custGeom>
            <a:avLst/>
            <a:gdLst/>
            <a:ahLst/>
            <a:cxnLst/>
            <a:rect l="l" t="t" r="r" b="b"/>
            <a:pathLst>
              <a:path w="134620" h="791210">
                <a:moveTo>
                  <a:pt x="0" y="791209"/>
                </a:moveTo>
                <a:lnTo>
                  <a:pt x="39847" y="783661"/>
                </a:lnTo>
                <a:lnTo>
                  <a:pt x="76464" y="763127"/>
                </a:lnTo>
                <a:lnTo>
                  <a:pt x="106619" y="732779"/>
                </a:lnTo>
                <a:lnTo>
                  <a:pt x="127081" y="695787"/>
                </a:lnTo>
                <a:lnTo>
                  <a:pt x="134620" y="655319"/>
                </a:lnTo>
                <a:lnTo>
                  <a:pt x="134620" y="134619"/>
                </a:lnTo>
                <a:lnTo>
                  <a:pt x="127081" y="94772"/>
                </a:lnTo>
                <a:lnTo>
                  <a:pt x="106619" y="58155"/>
                </a:lnTo>
                <a:lnTo>
                  <a:pt x="76464" y="28000"/>
                </a:lnTo>
                <a:lnTo>
                  <a:pt x="39847" y="7538"/>
                </a:lnTo>
                <a:lnTo>
                  <a:pt x="0" y="0"/>
                </a:lnTo>
              </a:path>
            </a:pathLst>
          </a:custGeom>
          <a:ln w="3175">
            <a:solidFill>
              <a:srgbClr val="3364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7004050" y="1143359"/>
          <a:ext cx="2424430" cy="17545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7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7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91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4835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3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4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33972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4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B2B2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47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3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2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33972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2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33972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2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E5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" name="object 18"/>
          <p:cNvSpPr txBox="1"/>
          <p:nvPr/>
        </p:nvSpPr>
        <p:spPr>
          <a:xfrm>
            <a:off x="6341109" y="1883769"/>
            <a:ext cx="4013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5" dirty="0">
                <a:latin typeface="Microsoft Sans Serif"/>
                <a:cs typeface="Microsoft Sans Serif"/>
              </a:rPr>
              <a:t>A’</a:t>
            </a:r>
            <a:r>
              <a:rPr sz="1800" spc="-35" dirty="0">
                <a:latin typeface="Microsoft Sans Serif"/>
                <a:cs typeface="Microsoft Sans Serif"/>
              </a:rPr>
              <a:t> </a:t>
            </a:r>
            <a:r>
              <a:rPr sz="1800" spc="-50" dirty="0">
                <a:latin typeface="Microsoft Sans Serif"/>
                <a:cs typeface="Microsoft Sans Serif"/>
              </a:rPr>
              <a:t>=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5759" y="19410"/>
            <a:ext cx="425196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47189" algn="l"/>
              </a:tabLst>
            </a:pPr>
            <a:r>
              <a:rPr spc="-10" dirty="0"/>
              <a:t>Matrix</a:t>
            </a:r>
            <a:r>
              <a:rPr dirty="0"/>
              <a:t>	</a:t>
            </a:r>
            <a:r>
              <a:rPr spc="-10" dirty="0"/>
              <a:t>operations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67029" y="782680"/>
            <a:ext cx="9275445" cy="39763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8900" marR="81915">
              <a:lnSpc>
                <a:spcPct val="113300"/>
              </a:lnSpc>
              <a:spcBef>
                <a:spcPts val="95"/>
              </a:spcBef>
            </a:pPr>
            <a:r>
              <a:rPr sz="2200" dirty="0">
                <a:latin typeface="Microsoft Sans Serif"/>
                <a:cs typeface="Microsoft Sans Serif"/>
              </a:rPr>
              <a:t>Any</a:t>
            </a:r>
            <a:r>
              <a:rPr sz="2200" spc="10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matrix</a:t>
            </a:r>
            <a:r>
              <a:rPr sz="2200" spc="-1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A</a:t>
            </a:r>
            <a:r>
              <a:rPr sz="2200" spc="-2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=</a:t>
            </a:r>
            <a:r>
              <a:rPr sz="2200" spc="9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{a</a:t>
            </a:r>
            <a:r>
              <a:rPr sz="1875" baseline="-33333" dirty="0">
                <a:latin typeface="Microsoft Sans Serif"/>
                <a:cs typeface="Microsoft Sans Serif"/>
              </a:rPr>
              <a:t>ij</a:t>
            </a:r>
            <a:r>
              <a:rPr sz="2200" dirty="0">
                <a:latin typeface="Microsoft Sans Serif"/>
                <a:cs typeface="Microsoft Sans Serif"/>
              </a:rPr>
              <a:t>}</a:t>
            </a:r>
            <a:r>
              <a:rPr sz="1875" baseline="-33333" dirty="0">
                <a:latin typeface="Microsoft Sans Serif"/>
                <a:cs typeface="Microsoft Sans Serif"/>
              </a:rPr>
              <a:t>mxm</a:t>
            </a:r>
            <a:r>
              <a:rPr sz="1875" spc="135" baseline="-33333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is</a:t>
            </a:r>
            <a:r>
              <a:rPr sz="2200" spc="10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said</a:t>
            </a:r>
            <a:r>
              <a:rPr sz="2200" spc="9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to</a:t>
            </a:r>
            <a:r>
              <a:rPr sz="2200" spc="9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symmetric</a:t>
            </a:r>
            <a:r>
              <a:rPr sz="2200" spc="9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if</a:t>
            </a:r>
            <a:r>
              <a:rPr sz="2200" spc="-2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A</a:t>
            </a:r>
            <a:r>
              <a:rPr sz="2200" spc="-2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=</a:t>
            </a:r>
            <a:r>
              <a:rPr sz="2200" spc="-1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A’.</a:t>
            </a:r>
            <a:r>
              <a:rPr sz="2200" spc="8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If</a:t>
            </a:r>
            <a:r>
              <a:rPr sz="2200" spc="-2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A</a:t>
            </a:r>
            <a:r>
              <a:rPr sz="2200" spc="-2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=</a:t>
            </a:r>
            <a:r>
              <a:rPr sz="2200" spc="85" dirty="0">
                <a:latin typeface="Microsoft Sans Serif"/>
                <a:cs typeface="Microsoft Sans Serif"/>
              </a:rPr>
              <a:t> </a:t>
            </a:r>
            <a:r>
              <a:rPr sz="2200" spc="-20" dirty="0">
                <a:latin typeface="Microsoft Sans Serif"/>
                <a:cs typeface="Microsoft Sans Serif"/>
              </a:rPr>
              <a:t>-</a:t>
            </a:r>
            <a:r>
              <a:rPr sz="2200" dirty="0">
                <a:latin typeface="Microsoft Sans Serif"/>
                <a:cs typeface="Microsoft Sans Serif"/>
              </a:rPr>
              <a:t>A’,</a:t>
            </a:r>
            <a:r>
              <a:rPr sz="2200" spc="9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then</a:t>
            </a:r>
            <a:r>
              <a:rPr sz="2200" spc="90" dirty="0">
                <a:latin typeface="Microsoft Sans Serif"/>
                <a:cs typeface="Microsoft Sans Serif"/>
              </a:rPr>
              <a:t> </a:t>
            </a:r>
            <a:r>
              <a:rPr sz="2200" spc="-10" dirty="0">
                <a:latin typeface="Microsoft Sans Serif"/>
                <a:cs typeface="Microsoft Sans Serif"/>
              </a:rPr>
              <a:t>matrix </a:t>
            </a:r>
            <a:r>
              <a:rPr sz="2200" dirty="0">
                <a:latin typeface="Microsoft Sans Serif"/>
                <a:cs typeface="Microsoft Sans Serif"/>
              </a:rPr>
              <a:t>is</a:t>
            </a:r>
            <a:r>
              <a:rPr sz="2200" spc="-2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said</a:t>
            </a:r>
            <a:r>
              <a:rPr sz="2200" spc="-2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to</a:t>
            </a:r>
            <a:r>
              <a:rPr sz="2200" spc="-2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be</a:t>
            </a:r>
            <a:r>
              <a:rPr sz="2200" spc="-2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skew,</a:t>
            </a:r>
            <a:r>
              <a:rPr sz="2200" spc="-20" dirty="0">
                <a:latin typeface="Microsoft Sans Serif"/>
                <a:cs typeface="Microsoft Sans Serif"/>
              </a:rPr>
              <a:t> </a:t>
            </a:r>
            <a:r>
              <a:rPr sz="2200" spc="-10" dirty="0">
                <a:latin typeface="Microsoft Sans Serif"/>
                <a:cs typeface="Microsoft Sans Serif"/>
              </a:rPr>
              <a:t>symmetric.</a:t>
            </a:r>
            <a:endParaRPr sz="2200">
              <a:latin typeface="Microsoft Sans Serif"/>
              <a:cs typeface="Microsoft Sans Serif"/>
            </a:endParaRPr>
          </a:p>
          <a:p>
            <a:pPr marL="88900" marR="81280">
              <a:lnSpc>
                <a:spcPct val="113300"/>
              </a:lnSpc>
              <a:spcBef>
                <a:spcPts val="1930"/>
              </a:spcBef>
              <a:tabLst>
                <a:tab pos="379730" algn="l"/>
                <a:tab pos="671195" algn="l"/>
                <a:tab pos="1567180" algn="l"/>
                <a:tab pos="1905635" algn="l"/>
                <a:tab pos="2678430" algn="l"/>
                <a:tab pos="4163695" algn="l"/>
                <a:tab pos="4843145" algn="l"/>
                <a:tab pos="5212715" algn="l"/>
                <a:tab pos="5511800" algn="l"/>
                <a:tab pos="6235065" algn="l"/>
                <a:tab pos="6604000" algn="l"/>
                <a:tab pos="7189470" algn="l"/>
                <a:tab pos="7605395" algn="l"/>
                <a:tab pos="8129270" algn="l"/>
              </a:tabLst>
            </a:pPr>
            <a:r>
              <a:rPr sz="2200" spc="-25" dirty="0">
                <a:latin typeface="Microsoft Sans Serif"/>
                <a:cs typeface="Microsoft Sans Serif"/>
              </a:rPr>
              <a:t>If</a:t>
            </a:r>
            <a:r>
              <a:rPr sz="2200" dirty="0">
                <a:latin typeface="Microsoft Sans Serif"/>
                <a:cs typeface="Microsoft Sans Serif"/>
              </a:rPr>
              <a:t>	</a:t>
            </a:r>
            <a:r>
              <a:rPr sz="2200" spc="-50" dirty="0">
                <a:latin typeface="Microsoft Sans Serif"/>
                <a:cs typeface="Microsoft Sans Serif"/>
              </a:rPr>
              <a:t>a</a:t>
            </a:r>
            <a:r>
              <a:rPr sz="2200" dirty="0">
                <a:latin typeface="Microsoft Sans Serif"/>
                <a:cs typeface="Microsoft Sans Serif"/>
              </a:rPr>
              <a:t>	</a:t>
            </a:r>
            <a:r>
              <a:rPr sz="2200" spc="-10" dirty="0">
                <a:latin typeface="Microsoft Sans Serif"/>
                <a:cs typeface="Microsoft Sans Serif"/>
              </a:rPr>
              <a:t>matrix</a:t>
            </a:r>
            <a:r>
              <a:rPr sz="2200" dirty="0">
                <a:latin typeface="Microsoft Sans Serif"/>
                <a:cs typeface="Microsoft Sans Serif"/>
              </a:rPr>
              <a:t>	</a:t>
            </a:r>
            <a:r>
              <a:rPr sz="2200" spc="-25" dirty="0">
                <a:latin typeface="Microsoft Sans Serif"/>
                <a:cs typeface="Microsoft Sans Serif"/>
              </a:rPr>
              <a:t>is</a:t>
            </a:r>
            <a:r>
              <a:rPr sz="2200" dirty="0">
                <a:latin typeface="Microsoft Sans Serif"/>
                <a:cs typeface="Microsoft Sans Serif"/>
              </a:rPr>
              <a:t>	</a:t>
            </a:r>
            <a:r>
              <a:rPr sz="2200" spc="-20" dirty="0">
                <a:latin typeface="Microsoft Sans Serif"/>
                <a:cs typeface="Microsoft Sans Serif"/>
              </a:rPr>
              <a:t>skew</a:t>
            </a:r>
            <a:r>
              <a:rPr sz="2200" dirty="0">
                <a:latin typeface="Microsoft Sans Serif"/>
                <a:cs typeface="Microsoft Sans Serif"/>
              </a:rPr>
              <a:t>	</a:t>
            </a:r>
            <a:r>
              <a:rPr sz="2200" spc="-10" dirty="0">
                <a:latin typeface="Microsoft Sans Serif"/>
                <a:cs typeface="Microsoft Sans Serif"/>
              </a:rPr>
              <a:t>symmetric,</a:t>
            </a:r>
            <a:r>
              <a:rPr sz="2200" dirty="0">
                <a:latin typeface="Microsoft Sans Serif"/>
                <a:cs typeface="Microsoft Sans Serif"/>
              </a:rPr>
              <a:t>	</a:t>
            </a:r>
            <a:r>
              <a:rPr sz="2200" spc="-20" dirty="0">
                <a:latin typeface="Microsoft Sans Serif"/>
                <a:cs typeface="Microsoft Sans Serif"/>
              </a:rPr>
              <a:t>then</a:t>
            </a:r>
            <a:r>
              <a:rPr sz="2200" dirty="0">
                <a:latin typeface="Microsoft Sans Serif"/>
                <a:cs typeface="Microsoft Sans Serif"/>
              </a:rPr>
              <a:t>	</a:t>
            </a:r>
            <a:r>
              <a:rPr sz="2200" spc="-25" dirty="0">
                <a:latin typeface="Microsoft Sans Serif"/>
                <a:cs typeface="Microsoft Sans Serif"/>
              </a:rPr>
              <a:t>a</a:t>
            </a:r>
            <a:r>
              <a:rPr sz="1875" spc="-37" baseline="-31111" dirty="0">
                <a:latin typeface="Microsoft Sans Serif"/>
                <a:cs typeface="Microsoft Sans Serif"/>
              </a:rPr>
              <a:t>ii</a:t>
            </a:r>
            <a:r>
              <a:rPr sz="1875" baseline="-31111" dirty="0">
                <a:latin typeface="Microsoft Sans Serif"/>
                <a:cs typeface="Microsoft Sans Serif"/>
              </a:rPr>
              <a:t>	</a:t>
            </a:r>
            <a:r>
              <a:rPr sz="2200" spc="-50" dirty="0">
                <a:latin typeface="Microsoft Sans Serif"/>
                <a:cs typeface="Microsoft Sans Serif"/>
              </a:rPr>
              <a:t>=</a:t>
            </a:r>
            <a:r>
              <a:rPr sz="2200" dirty="0">
                <a:latin typeface="Microsoft Sans Serif"/>
                <a:cs typeface="Microsoft Sans Serif"/>
              </a:rPr>
              <a:t>	</a:t>
            </a:r>
            <a:r>
              <a:rPr sz="2200" spc="-20" dirty="0">
                <a:latin typeface="Microsoft Sans Serif"/>
                <a:cs typeface="Microsoft Sans Serif"/>
              </a:rPr>
              <a:t>-</a:t>
            </a:r>
            <a:r>
              <a:rPr sz="2200" dirty="0">
                <a:latin typeface="Microsoft Sans Serif"/>
                <a:cs typeface="Microsoft Sans Serif"/>
              </a:rPr>
              <a:t>a</a:t>
            </a:r>
            <a:r>
              <a:rPr sz="1875" baseline="-31111" dirty="0">
                <a:latin typeface="Microsoft Sans Serif"/>
                <a:cs typeface="Microsoft Sans Serif"/>
              </a:rPr>
              <a:t>ii</a:t>
            </a:r>
            <a:r>
              <a:rPr sz="1875" spc="705" baseline="-31111" dirty="0">
                <a:latin typeface="Microsoft Sans Serif"/>
                <a:cs typeface="Microsoft Sans Serif"/>
              </a:rPr>
              <a:t> </a:t>
            </a:r>
            <a:r>
              <a:rPr sz="2200" spc="-50" dirty="0">
                <a:latin typeface="Microsoft Sans Serif"/>
                <a:cs typeface="Microsoft Sans Serif"/>
              </a:rPr>
              <a:t>=</a:t>
            </a:r>
            <a:r>
              <a:rPr sz="2200" dirty="0">
                <a:latin typeface="Microsoft Sans Serif"/>
                <a:cs typeface="Microsoft Sans Serif"/>
              </a:rPr>
              <a:t>	</a:t>
            </a:r>
            <a:r>
              <a:rPr sz="2200" spc="-25" dirty="0">
                <a:latin typeface="Microsoft Sans Serif"/>
                <a:cs typeface="Microsoft Sans Serif"/>
              </a:rPr>
              <a:t>0,</a:t>
            </a:r>
            <a:r>
              <a:rPr sz="2200" dirty="0">
                <a:latin typeface="Microsoft Sans Serif"/>
                <a:cs typeface="Microsoft Sans Serif"/>
              </a:rPr>
              <a:t>	</a:t>
            </a:r>
            <a:r>
              <a:rPr sz="2200" spc="-10" dirty="0">
                <a:latin typeface="Microsoft Sans Serif"/>
                <a:cs typeface="Microsoft Sans Serif"/>
              </a:rPr>
              <a:t>i.e.,</a:t>
            </a:r>
            <a:r>
              <a:rPr sz="2200" dirty="0">
                <a:latin typeface="Microsoft Sans Serif"/>
                <a:cs typeface="Microsoft Sans Serif"/>
              </a:rPr>
              <a:t>	</a:t>
            </a:r>
            <a:r>
              <a:rPr sz="2200" spc="-25" dirty="0">
                <a:latin typeface="Microsoft Sans Serif"/>
                <a:cs typeface="Microsoft Sans Serif"/>
              </a:rPr>
              <a:t>all</a:t>
            </a:r>
            <a:r>
              <a:rPr sz="2200" dirty="0">
                <a:latin typeface="Microsoft Sans Serif"/>
                <a:cs typeface="Microsoft Sans Serif"/>
              </a:rPr>
              <a:t>	</a:t>
            </a:r>
            <a:r>
              <a:rPr sz="2200" spc="-25" dirty="0">
                <a:latin typeface="Microsoft Sans Serif"/>
                <a:cs typeface="Microsoft Sans Serif"/>
              </a:rPr>
              <a:t>the</a:t>
            </a:r>
            <a:r>
              <a:rPr sz="2200" dirty="0">
                <a:latin typeface="Microsoft Sans Serif"/>
                <a:cs typeface="Microsoft Sans Serif"/>
              </a:rPr>
              <a:t>	</a:t>
            </a:r>
            <a:r>
              <a:rPr sz="2200" spc="-10" dirty="0">
                <a:latin typeface="Microsoft Sans Serif"/>
                <a:cs typeface="Microsoft Sans Serif"/>
              </a:rPr>
              <a:t>diagonal </a:t>
            </a:r>
            <a:r>
              <a:rPr sz="2200" dirty="0">
                <a:latin typeface="Microsoft Sans Serif"/>
                <a:cs typeface="Microsoft Sans Serif"/>
              </a:rPr>
              <a:t>elements</a:t>
            </a:r>
            <a:r>
              <a:rPr sz="2200" spc="-3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of</a:t>
            </a:r>
            <a:r>
              <a:rPr sz="2200" spc="-4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a</a:t>
            </a:r>
            <a:r>
              <a:rPr sz="2200" spc="-3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skew</a:t>
            </a:r>
            <a:r>
              <a:rPr sz="2200" spc="-4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symmetric</a:t>
            </a:r>
            <a:r>
              <a:rPr sz="2200" spc="-2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matrix</a:t>
            </a:r>
            <a:r>
              <a:rPr sz="2200" spc="-3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are</a:t>
            </a:r>
            <a:r>
              <a:rPr sz="2200" spc="-30" dirty="0">
                <a:latin typeface="Microsoft Sans Serif"/>
                <a:cs typeface="Microsoft Sans Serif"/>
              </a:rPr>
              <a:t> </a:t>
            </a:r>
            <a:r>
              <a:rPr sz="2200" spc="-25" dirty="0">
                <a:latin typeface="Microsoft Sans Serif"/>
                <a:cs typeface="Microsoft Sans Serif"/>
              </a:rPr>
              <a:t>0.</a:t>
            </a:r>
            <a:endParaRPr sz="22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200">
              <a:latin typeface="Microsoft Sans Serif"/>
              <a:cs typeface="Microsoft Sans Serif"/>
            </a:endParaRPr>
          </a:p>
          <a:p>
            <a:pPr marL="88900" marR="83820">
              <a:lnSpc>
                <a:spcPts val="2460"/>
              </a:lnSpc>
              <a:spcBef>
                <a:spcPts val="5"/>
              </a:spcBef>
              <a:tabLst>
                <a:tab pos="649605" algn="l"/>
                <a:tab pos="1243330" algn="l"/>
                <a:tab pos="2239645" algn="l"/>
                <a:tab pos="3531235" algn="l"/>
                <a:tab pos="4226560" algn="l"/>
                <a:tab pos="4688205" algn="l"/>
                <a:tab pos="5031740" algn="l"/>
                <a:tab pos="6445885" algn="l"/>
                <a:tab pos="7053580" algn="l"/>
                <a:tab pos="8201659" algn="l"/>
                <a:tab pos="8546465" algn="l"/>
              </a:tabLst>
            </a:pPr>
            <a:r>
              <a:rPr sz="2200" spc="-25" dirty="0">
                <a:latin typeface="Microsoft Sans Serif"/>
                <a:cs typeface="Microsoft Sans Serif"/>
              </a:rPr>
              <a:t>For</a:t>
            </a:r>
            <a:r>
              <a:rPr sz="2200" dirty="0">
                <a:latin typeface="Microsoft Sans Serif"/>
                <a:cs typeface="Microsoft Sans Serif"/>
              </a:rPr>
              <a:t>	</a:t>
            </a:r>
            <a:r>
              <a:rPr sz="2200" spc="-25" dirty="0">
                <a:latin typeface="Microsoft Sans Serif"/>
                <a:cs typeface="Microsoft Sans Serif"/>
              </a:rPr>
              <a:t>any</a:t>
            </a:r>
            <a:r>
              <a:rPr sz="2200" dirty="0">
                <a:latin typeface="Microsoft Sans Serif"/>
                <a:cs typeface="Microsoft Sans Serif"/>
              </a:rPr>
              <a:t>	</a:t>
            </a:r>
            <a:r>
              <a:rPr sz="2200" spc="-10" dirty="0">
                <a:latin typeface="Microsoft Sans Serif"/>
                <a:cs typeface="Microsoft Sans Serif"/>
              </a:rPr>
              <a:t>square</a:t>
            </a:r>
            <a:r>
              <a:rPr sz="2200" dirty="0">
                <a:latin typeface="Microsoft Sans Serif"/>
                <a:cs typeface="Microsoft Sans Serif"/>
              </a:rPr>
              <a:t>	matrix</a:t>
            </a:r>
            <a:r>
              <a:rPr sz="2200" spc="330" dirty="0">
                <a:latin typeface="Microsoft Sans Serif"/>
                <a:cs typeface="Microsoft Sans Serif"/>
              </a:rPr>
              <a:t> </a:t>
            </a:r>
            <a:r>
              <a:rPr sz="2200" spc="-35" dirty="0">
                <a:latin typeface="Microsoft Sans Serif"/>
                <a:cs typeface="Microsoft Sans Serif"/>
              </a:rPr>
              <a:t>A,</a:t>
            </a:r>
            <a:r>
              <a:rPr sz="2200" dirty="0">
                <a:latin typeface="Microsoft Sans Serif"/>
                <a:cs typeface="Microsoft Sans Serif"/>
              </a:rPr>
              <a:t>	(A</a:t>
            </a:r>
            <a:r>
              <a:rPr sz="2200" spc="390" dirty="0">
                <a:latin typeface="Microsoft Sans Serif"/>
                <a:cs typeface="Microsoft Sans Serif"/>
              </a:rPr>
              <a:t> </a:t>
            </a:r>
            <a:r>
              <a:rPr sz="2200" spc="-50" dirty="0">
                <a:latin typeface="Microsoft Sans Serif"/>
                <a:cs typeface="Microsoft Sans Serif"/>
              </a:rPr>
              <a:t>+</a:t>
            </a:r>
            <a:r>
              <a:rPr sz="2200" dirty="0">
                <a:latin typeface="Microsoft Sans Serif"/>
                <a:cs typeface="Microsoft Sans Serif"/>
              </a:rPr>
              <a:t>	</a:t>
            </a:r>
            <a:r>
              <a:rPr sz="2200" spc="-25" dirty="0">
                <a:latin typeface="Microsoft Sans Serif"/>
                <a:cs typeface="Microsoft Sans Serif"/>
              </a:rPr>
              <a:t>A’)</a:t>
            </a:r>
            <a:r>
              <a:rPr sz="2200" dirty="0">
                <a:latin typeface="Microsoft Sans Serif"/>
                <a:cs typeface="Microsoft Sans Serif"/>
              </a:rPr>
              <a:t>	</a:t>
            </a:r>
            <a:r>
              <a:rPr sz="2200" spc="-25" dirty="0">
                <a:latin typeface="Microsoft Sans Serif"/>
                <a:cs typeface="Microsoft Sans Serif"/>
              </a:rPr>
              <a:t>is</a:t>
            </a:r>
            <a:r>
              <a:rPr sz="2200" dirty="0">
                <a:latin typeface="Microsoft Sans Serif"/>
                <a:cs typeface="Microsoft Sans Serif"/>
              </a:rPr>
              <a:t>	</a:t>
            </a:r>
            <a:r>
              <a:rPr sz="2200" spc="-10" dirty="0">
                <a:latin typeface="Microsoft Sans Serif"/>
                <a:cs typeface="Microsoft Sans Serif"/>
              </a:rPr>
              <a:t>symmetric</a:t>
            </a:r>
            <a:r>
              <a:rPr sz="2200" dirty="0">
                <a:latin typeface="Microsoft Sans Serif"/>
                <a:cs typeface="Microsoft Sans Serif"/>
              </a:rPr>
              <a:t>	</a:t>
            </a:r>
            <a:r>
              <a:rPr sz="2200" spc="-25" dirty="0">
                <a:latin typeface="Microsoft Sans Serif"/>
                <a:cs typeface="Microsoft Sans Serif"/>
              </a:rPr>
              <a:t>and</a:t>
            </a:r>
            <a:r>
              <a:rPr sz="2200" dirty="0">
                <a:latin typeface="Microsoft Sans Serif"/>
                <a:cs typeface="Microsoft Sans Serif"/>
              </a:rPr>
              <a:t>	(A</a:t>
            </a:r>
            <a:r>
              <a:rPr sz="2200" spc="400" dirty="0">
                <a:latin typeface="Microsoft Sans Serif"/>
                <a:cs typeface="Microsoft Sans Serif"/>
              </a:rPr>
              <a:t> </a:t>
            </a:r>
            <a:r>
              <a:rPr sz="2200" spc="570" dirty="0">
                <a:latin typeface="Microsoft Sans Serif"/>
                <a:cs typeface="Microsoft Sans Serif"/>
              </a:rPr>
              <a:t>–</a:t>
            </a:r>
            <a:r>
              <a:rPr sz="2200" spc="405" dirty="0">
                <a:latin typeface="Microsoft Sans Serif"/>
                <a:cs typeface="Microsoft Sans Serif"/>
              </a:rPr>
              <a:t> </a:t>
            </a:r>
            <a:r>
              <a:rPr sz="2200" spc="-25" dirty="0">
                <a:latin typeface="Microsoft Sans Serif"/>
                <a:cs typeface="Microsoft Sans Serif"/>
              </a:rPr>
              <a:t>A’)</a:t>
            </a:r>
            <a:r>
              <a:rPr sz="2200" dirty="0">
                <a:latin typeface="Microsoft Sans Serif"/>
                <a:cs typeface="Microsoft Sans Serif"/>
              </a:rPr>
              <a:t>	</a:t>
            </a:r>
            <a:r>
              <a:rPr sz="2200" spc="-25" dirty="0">
                <a:latin typeface="Microsoft Sans Serif"/>
                <a:cs typeface="Microsoft Sans Serif"/>
              </a:rPr>
              <a:t>is</a:t>
            </a:r>
            <a:r>
              <a:rPr sz="2200" dirty="0">
                <a:latin typeface="Microsoft Sans Serif"/>
                <a:cs typeface="Microsoft Sans Serif"/>
              </a:rPr>
              <a:t>	</a:t>
            </a:r>
            <a:r>
              <a:rPr sz="2200" spc="-20" dirty="0">
                <a:latin typeface="Microsoft Sans Serif"/>
                <a:cs typeface="Microsoft Sans Serif"/>
              </a:rPr>
              <a:t>skew </a:t>
            </a:r>
            <a:r>
              <a:rPr sz="2200" spc="-10" dirty="0">
                <a:latin typeface="Microsoft Sans Serif"/>
                <a:cs typeface="Microsoft Sans Serif"/>
              </a:rPr>
              <a:t>symmetic.</a:t>
            </a:r>
            <a:endParaRPr sz="2200">
              <a:latin typeface="Microsoft Sans Serif"/>
              <a:cs typeface="Microsoft Sans Serif"/>
            </a:endParaRPr>
          </a:p>
          <a:p>
            <a:pPr marL="88900">
              <a:lnSpc>
                <a:spcPct val="100000"/>
              </a:lnSpc>
              <a:spcBef>
                <a:spcPts val="2225"/>
              </a:spcBef>
            </a:pPr>
            <a:r>
              <a:rPr sz="2200" dirty="0">
                <a:latin typeface="Microsoft Sans Serif"/>
                <a:cs typeface="Microsoft Sans Serif"/>
              </a:rPr>
              <a:t>Let</a:t>
            </a:r>
            <a:r>
              <a:rPr sz="2200" spc="-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B</a:t>
            </a:r>
            <a:r>
              <a:rPr sz="2200" spc="-1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=</a:t>
            </a:r>
            <a:r>
              <a:rPr sz="2200" spc="-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(A</a:t>
            </a:r>
            <a:r>
              <a:rPr sz="2200" spc="-12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+</a:t>
            </a:r>
            <a:r>
              <a:rPr sz="2200" spc="-125" dirty="0">
                <a:latin typeface="Microsoft Sans Serif"/>
                <a:cs typeface="Microsoft Sans Serif"/>
              </a:rPr>
              <a:t> </a:t>
            </a:r>
            <a:r>
              <a:rPr sz="2200" spc="-10" dirty="0">
                <a:latin typeface="Microsoft Sans Serif"/>
                <a:cs typeface="Microsoft Sans Serif"/>
              </a:rPr>
              <a:t>A’),</a:t>
            </a:r>
            <a:r>
              <a:rPr sz="2200" dirty="0">
                <a:latin typeface="Microsoft Sans Serif"/>
                <a:cs typeface="Microsoft Sans Serif"/>
              </a:rPr>
              <a:t> then</a:t>
            </a:r>
            <a:r>
              <a:rPr sz="2200" spc="-1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B’</a:t>
            </a:r>
            <a:r>
              <a:rPr sz="2200" spc="-8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=</a:t>
            </a:r>
            <a:r>
              <a:rPr sz="2200" spc="-1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(A</a:t>
            </a:r>
            <a:r>
              <a:rPr sz="2200" spc="-12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+</a:t>
            </a:r>
            <a:r>
              <a:rPr sz="2200" spc="-114" dirty="0">
                <a:latin typeface="Microsoft Sans Serif"/>
                <a:cs typeface="Microsoft Sans Serif"/>
              </a:rPr>
              <a:t> </a:t>
            </a:r>
            <a:r>
              <a:rPr sz="2200" spc="-20" dirty="0">
                <a:latin typeface="Microsoft Sans Serif"/>
                <a:cs typeface="Microsoft Sans Serif"/>
              </a:rPr>
              <a:t>A’)’</a:t>
            </a:r>
            <a:endParaRPr sz="2200">
              <a:latin typeface="Microsoft Sans Serif"/>
              <a:cs typeface="Microsoft Sans Serif"/>
            </a:endParaRPr>
          </a:p>
          <a:p>
            <a:pPr marL="88900">
              <a:lnSpc>
                <a:spcPct val="100000"/>
              </a:lnSpc>
              <a:spcBef>
                <a:spcPts val="2280"/>
              </a:spcBef>
              <a:tabLst>
                <a:tab pos="1783714" algn="l"/>
              </a:tabLst>
            </a:pPr>
            <a:r>
              <a:rPr sz="2200" dirty="0">
                <a:latin typeface="Microsoft Sans Serif"/>
                <a:cs typeface="Microsoft Sans Serif"/>
              </a:rPr>
              <a:t>B’</a:t>
            </a:r>
            <a:r>
              <a:rPr sz="2200" spc="-6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=</a:t>
            </a:r>
            <a:r>
              <a:rPr sz="2200" spc="-105" dirty="0">
                <a:latin typeface="Microsoft Sans Serif"/>
                <a:cs typeface="Microsoft Sans Serif"/>
              </a:rPr>
              <a:t> </a:t>
            </a:r>
            <a:r>
              <a:rPr sz="2200" spc="-85" dirty="0">
                <a:latin typeface="Microsoft Sans Serif"/>
                <a:cs typeface="Microsoft Sans Serif"/>
              </a:rPr>
              <a:t>A’</a:t>
            </a:r>
            <a:r>
              <a:rPr sz="2200" spc="-6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+</a:t>
            </a:r>
            <a:r>
              <a:rPr sz="2200" spc="15" dirty="0">
                <a:latin typeface="Microsoft Sans Serif"/>
                <a:cs typeface="Microsoft Sans Serif"/>
              </a:rPr>
              <a:t> </a:t>
            </a:r>
            <a:r>
              <a:rPr sz="2200" spc="-20" dirty="0">
                <a:latin typeface="Microsoft Sans Serif"/>
                <a:cs typeface="Microsoft Sans Serif"/>
              </a:rPr>
              <a:t>(A’)’</a:t>
            </a:r>
            <a:r>
              <a:rPr sz="2200" dirty="0">
                <a:latin typeface="Microsoft Sans Serif"/>
                <a:cs typeface="Microsoft Sans Serif"/>
              </a:rPr>
              <a:t>	=</a:t>
            </a:r>
            <a:r>
              <a:rPr sz="2200" spc="-10" dirty="0">
                <a:latin typeface="Microsoft Sans Serif"/>
                <a:cs typeface="Microsoft Sans Serif"/>
              </a:rPr>
              <a:t> </a:t>
            </a:r>
            <a:r>
              <a:rPr sz="2200" spc="-60" dirty="0">
                <a:latin typeface="Microsoft Sans Serif"/>
                <a:cs typeface="Microsoft Sans Serif"/>
              </a:rPr>
              <a:t>(A’</a:t>
            </a:r>
            <a:r>
              <a:rPr sz="2200" spc="-8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+</a:t>
            </a:r>
            <a:r>
              <a:rPr sz="2200" spc="-12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A)</a:t>
            </a:r>
            <a:r>
              <a:rPr sz="2200" spc="-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=</a:t>
            </a:r>
            <a:r>
              <a:rPr sz="2200" spc="-1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(A</a:t>
            </a:r>
            <a:r>
              <a:rPr sz="2200" spc="-13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+</a:t>
            </a:r>
            <a:r>
              <a:rPr sz="2200" spc="-120" dirty="0">
                <a:latin typeface="Microsoft Sans Serif"/>
                <a:cs typeface="Microsoft Sans Serif"/>
              </a:rPr>
              <a:t> </a:t>
            </a:r>
            <a:r>
              <a:rPr sz="2200" spc="-10" dirty="0">
                <a:latin typeface="Microsoft Sans Serif"/>
                <a:cs typeface="Microsoft Sans Serif"/>
              </a:rPr>
              <a:t>A’) </a:t>
            </a:r>
            <a:r>
              <a:rPr sz="2200" dirty="0">
                <a:latin typeface="Microsoft Sans Serif"/>
                <a:cs typeface="Microsoft Sans Serif"/>
              </a:rPr>
              <a:t>=</a:t>
            </a:r>
            <a:r>
              <a:rPr sz="2200" spc="-5" dirty="0">
                <a:latin typeface="Microsoft Sans Serif"/>
                <a:cs typeface="Microsoft Sans Serif"/>
              </a:rPr>
              <a:t> </a:t>
            </a:r>
            <a:r>
              <a:rPr sz="2200" spc="-50" dirty="0">
                <a:latin typeface="Microsoft Sans Serif"/>
                <a:cs typeface="Microsoft Sans Serif"/>
              </a:rPr>
              <a:t>B</a:t>
            </a:r>
            <a:endParaRPr sz="22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5759" y="19410"/>
            <a:ext cx="425196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47189" algn="l"/>
              </a:tabLst>
            </a:pPr>
            <a:r>
              <a:rPr spc="-10" dirty="0"/>
              <a:t>Matrix</a:t>
            </a:r>
            <a:r>
              <a:rPr dirty="0"/>
              <a:t>	</a:t>
            </a:r>
            <a:r>
              <a:rPr spc="-10" dirty="0"/>
              <a:t>operations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3230" y="791569"/>
            <a:ext cx="9121775" cy="34848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latin typeface="Microsoft Sans Serif"/>
                <a:cs typeface="Microsoft Sans Serif"/>
              </a:rPr>
              <a:t>C</a:t>
            </a:r>
            <a:r>
              <a:rPr sz="2200" spc="-1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=</a:t>
            </a:r>
            <a:r>
              <a:rPr sz="2200" spc="-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(A</a:t>
            </a:r>
            <a:r>
              <a:rPr sz="2200" spc="-125" dirty="0">
                <a:latin typeface="Microsoft Sans Serif"/>
                <a:cs typeface="Microsoft Sans Serif"/>
              </a:rPr>
              <a:t> </a:t>
            </a:r>
            <a:r>
              <a:rPr sz="2200" spc="570" dirty="0">
                <a:latin typeface="Microsoft Sans Serif"/>
                <a:cs typeface="Microsoft Sans Serif"/>
              </a:rPr>
              <a:t>–</a:t>
            </a:r>
            <a:r>
              <a:rPr sz="2200" spc="-114" dirty="0">
                <a:latin typeface="Microsoft Sans Serif"/>
                <a:cs typeface="Microsoft Sans Serif"/>
              </a:rPr>
              <a:t> </a:t>
            </a:r>
            <a:r>
              <a:rPr sz="2200" spc="-10" dirty="0">
                <a:latin typeface="Microsoft Sans Serif"/>
                <a:cs typeface="Microsoft Sans Serif"/>
              </a:rPr>
              <a:t>A’)</a:t>
            </a:r>
            <a:r>
              <a:rPr sz="2200" spc="-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then</a:t>
            </a:r>
            <a:r>
              <a:rPr sz="2200" spc="-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C’</a:t>
            </a:r>
            <a:r>
              <a:rPr sz="2200" spc="-8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=</a:t>
            </a:r>
            <a:r>
              <a:rPr sz="2200" spc="-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(A</a:t>
            </a:r>
            <a:r>
              <a:rPr sz="2200" spc="-114" dirty="0">
                <a:latin typeface="Microsoft Sans Serif"/>
                <a:cs typeface="Microsoft Sans Serif"/>
              </a:rPr>
              <a:t> </a:t>
            </a:r>
            <a:r>
              <a:rPr sz="2200" spc="570" dirty="0">
                <a:latin typeface="Microsoft Sans Serif"/>
                <a:cs typeface="Microsoft Sans Serif"/>
              </a:rPr>
              <a:t>–</a:t>
            </a:r>
            <a:r>
              <a:rPr sz="2200" spc="-125" dirty="0">
                <a:latin typeface="Microsoft Sans Serif"/>
                <a:cs typeface="Microsoft Sans Serif"/>
              </a:rPr>
              <a:t> </a:t>
            </a:r>
            <a:r>
              <a:rPr sz="2200" spc="-20" dirty="0">
                <a:latin typeface="Microsoft Sans Serif"/>
                <a:cs typeface="Microsoft Sans Serif"/>
              </a:rPr>
              <a:t>A’)’</a:t>
            </a:r>
            <a:endParaRPr sz="22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2280"/>
              </a:spcBef>
            </a:pPr>
            <a:r>
              <a:rPr sz="2200" dirty="0">
                <a:latin typeface="Microsoft Sans Serif"/>
                <a:cs typeface="Microsoft Sans Serif"/>
              </a:rPr>
              <a:t>C’</a:t>
            </a:r>
            <a:r>
              <a:rPr sz="2200" spc="-9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=</a:t>
            </a:r>
            <a:r>
              <a:rPr sz="2200" spc="-120" dirty="0">
                <a:latin typeface="Microsoft Sans Serif"/>
                <a:cs typeface="Microsoft Sans Serif"/>
              </a:rPr>
              <a:t> </a:t>
            </a:r>
            <a:r>
              <a:rPr sz="2200" spc="-85" dirty="0">
                <a:latin typeface="Microsoft Sans Serif"/>
                <a:cs typeface="Microsoft Sans Serif"/>
              </a:rPr>
              <a:t>A’</a:t>
            </a:r>
            <a:r>
              <a:rPr sz="2200" spc="-6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- </a:t>
            </a:r>
            <a:r>
              <a:rPr sz="2200" spc="-30" dirty="0">
                <a:latin typeface="Microsoft Sans Serif"/>
                <a:cs typeface="Microsoft Sans Serif"/>
              </a:rPr>
              <a:t>(A’)’</a:t>
            </a:r>
            <a:r>
              <a:rPr sz="2200" spc="-8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= </a:t>
            </a:r>
            <a:r>
              <a:rPr sz="2200" spc="-50" dirty="0">
                <a:latin typeface="Microsoft Sans Serif"/>
                <a:cs typeface="Microsoft Sans Serif"/>
              </a:rPr>
              <a:t>(A’</a:t>
            </a:r>
            <a:r>
              <a:rPr sz="2200" spc="-8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-</a:t>
            </a:r>
            <a:r>
              <a:rPr sz="2200" spc="-114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A)</a:t>
            </a:r>
            <a:r>
              <a:rPr sz="2200" spc="-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= -</a:t>
            </a:r>
            <a:r>
              <a:rPr sz="2200" spc="-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(A</a:t>
            </a:r>
            <a:r>
              <a:rPr sz="2200" spc="-114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-</a:t>
            </a:r>
            <a:r>
              <a:rPr sz="2200" spc="-114" dirty="0">
                <a:latin typeface="Microsoft Sans Serif"/>
                <a:cs typeface="Microsoft Sans Serif"/>
              </a:rPr>
              <a:t> </a:t>
            </a:r>
            <a:r>
              <a:rPr sz="2200" spc="-10" dirty="0">
                <a:latin typeface="Microsoft Sans Serif"/>
                <a:cs typeface="Microsoft Sans Serif"/>
              </a:rPr>
              <a:t>A’)</a:t>
            </a:r>
            <a:r>
              <a:rPr sz="2200" spc="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=</a:t>
            </a:r>
            <a:r>
              <a:rPr sz="2200" spc="-5" dirty="0">
                <a:latin typeface="Microsoft Sans Serif"/>
                <a:cs typeface="Microsoft Sans Serif"/>
              </a:rPr>
              <a:t> </a:t>
            </a:r>
            <a:r>
              <a:rPr sz="2200" spc="-20" dirty="0">
                <a:latin typeface="Microsoft Sans Serif"/>
                <a:cs typeface="Microsoft Sans Serif"/>
              </a:rPr>
              <a:t>-</a:t>
            </a:r>
            <a:r>
              <a:rPr sz="2200" spc="-50" dirty="0">
                <a:latin typeface="Microsoft Sans Serif"/>
                <a:cs typeface="Microsoft Sans Serif"/>
              </a:rPr>
              <a:t>C</a:t>
            </a:r>
            <a:endParaRPr sz="22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200">
              <a:latin typeface="Microsoft Sans Serif"/>
              <a:cs typeface="Microsoft Sans Serif"/>
            </a:endParaRPr>
          </a:p>
          <a:p>
            <a:pPr marL="12700" marR="5080">
              <a:lnSpc>
                <a:spcPts val="2460"/>
              </a:lnSpc>
            </a:pPr>
            <a:r>
              <a:rPr sz="2200" dirty="0">
                <a:latin typeface="Microsoft Sans Serif"/>
                <a:cs typeface="Microsoft Sans Serif"/>
              </a:rPr>
              <a:t>Thus,</a:t>
            </a:r>
            <a:r>
              <a:rPr sz="2200" spc="34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any</a:t>
            </a:r>
            <a:r>
              <a:rPr sz="2200" spc="35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symmetric</a:t>
            </a:r>
            <a:r>
              <a:rPr sz="2200" spc="35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matrix</a:t>
            </a:r>
            <a:r>
              <a:rPr sz="2200" spc="35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can</a:t>
            </a:r>
            <a:r>
              <a:rPr sz="2200" spc="34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be</a:t>
            </a:r>
            <a:r>
              <a:rPr sz="2200" spc="35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expressed</a:t>
            </a:r>
            <a:r>
              <a:rPr sz="2200" spc="35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as</a:t>
            </a:r>
            <a:r>
              <a:rPr sz="2200" spc="35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sum</a:t>
            </a:r>
            <a:r>
              <a:rPr sz="2200" spc="35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of</a:t>
            </a:r>
            <a:r>
              <a:rPr sz="2200" spc="35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a</a:t>
            </a:r>
            <a:r>
              <a:rPr sz="2200" spc="345" dirty="0">
                <a:latin typeface="Microsoft Sans Serif"/>
                <a:cs typeface="Microsoft Sans Serif"/>
              </a:rPr>
              <a:t> </a:t>
            </a:r>
            <a:r>
              <a:rPr sz="2200" spc="-10" dirty="0">
                <a:latin typeface="Microsoft Sans Serif"/>
                <a:cs typeface="Microsoft Sans Serif"/>
              </a:rPr>
              <a:t>symmetric </a:t>
            </a:r>
            <a:r>
              <a:rPr sz="2200" dirty="0">
                <a:latin typeface="Microsoft Sans Serif"/>
                <a:cs typeface="Microsoft Sans Serif"/>
              </a:rPr>
              <a:t>and</a:t>
            </a:r>
            <a:r>
              <a:rPr sz="2200" spc="-2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a</a:t>
            </a:r>
            <a:r>
              <a:rPr sz="2200" spc="-2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skew</a:t>
            </a:r>
            <a:r>
              <a:rPr sz="2200" spc="-3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symmetric</a:t>
            </a:r>
            <a:r>
              <a:rPr sz="2200" spc="-25" dirty="0">
                <a:latin typeface="Microsoft Sans Serif"/>
                <a:cs typeface="Microsoft Sans Serif"/>
              </a:rPr>
              <a:t> </a:t>
            </a:r>
            <a:r>
              <a:rPr sz="2200" spc="-10" dirty="0">
                <a:latin typeface="Microsoft Sans Serif"/>
                <a:cs typeface="Microsoft Sans Serif"/>
              </a:rPr>
              <a:t>matrix.</a:t>
            </a:r>
            <a:endParaRPr sz="22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2230"/>
              </a:spcBef>
            </a:pPr>
            <a:r>
              <a:rPr sz="2200" dirty="0">
                <a:latin typeface="Microsoft Sans Serif"/>
                <a:cs typeface="Microsoft Sans Serif"/>
              </a:rPr>
              <a:t>A</a:t>
            </a:r>
            <a:r>
              <a:rPr sz="2200" spc="-12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=</a:t>
            </a:r>
            <a:r>
              <a:rPr sz="2200" spc="-1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1/2(B</a:t>
            </a:r>
            <a:r>
              <a:rPr sz="2200" spc="-1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+</a:t>
            </a:r>
            <a:r>
              <a:rPr sz="2200" spc="-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C)</a:t>
            </a:r>
            <a:r>
              <a:rPr sz="2200" spc="-1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=</a:t>
            </a:r>
            <a:r>
              <a:rPr sz="2200" spc="-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1/2 (A</a:t>
            </a:r>
            <a:r>
              <a:rPr sz="2200" spc="-13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+</a:t>
            </a:r>
            <a:r>
              <a:rPr sz="2200" spc="-120" dirty="0">
                <a:latin typeface="Microsoft Sans Serif"/>
                <a:cs typeface="Microsoft Sans Serif"/>
              </a:rPr>
              <a:t> </a:t>
            </a:r>
            <a:r>
              <a:rPr sz="2200" spc="-10" dirty="0">
                <a:latin typeface="Microsoft Sans Serif"/>
                <a:cs typeface="Microsoft Sans Serif"/>
              </a:rPr>
              <a:t>A’) </a:t>
            </a:r>
            <a:r>
              <a:rPr sz="2200" dirty="0">
                <a:latin typeface="Microsoft Sans Serif"/>
                <a:cs typeface="Microsoft Sans Serif"/>
              </a:rPr>
              <a:t>+</a:t>
            </a:r>
            <a:r>
              <a:rPr sz="2200" spc="-1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1/2</a:t>
            </a:r>
            <a:r>
              <a:rPr sz="2200" spc="-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(A</a:t>
            </a:r>
            <a:r>
              <a:rPr sz="2200" spc="-12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-</a:t>
            </a:r>
            <a:r>
              <a:rPr sz="2200" spc="-125" dirty="0">
                <a:latin typeface="Microsoft Sans Serif"/>
                <a:cs typeface="Microsoft Sans Serif"/>
              </a:rPr>
              <a:t> </a:t>
            </a:r>
            <a:r>
              <a:rPr sz="2200" spc="-25" dirty="0">
                <a:latin typeface="Microsoft Sans Serif"/>
                <a:cs typeface="Microsoft Sans Serif"/>
              </a:rPr>
              <a:t>A’)</a:t>
            </a:r>
            <a:endParaRPr sz="22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245"/>
              </a:spcBef>
            </a:pPr>
            <a:endParaRPr sz="22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200" dirty="0">
                <a:latin typeface="Microsoft Sans Serif"/>
                <a:cs typeface="Microsoft Sans Serif"/>
              </a:rPr>
              <a:t>Prove</a:t>
            </a:r>
            <a:r>
              <a:rPr sz="2200" spc="-4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the</a:t>
            </a:r>
            <a:r>
              <a:rPr sz="2200" spc="-4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previous</a:t>
            </a:r>
            <a:r>
              <a:rPr sz="2200" spc="-4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identites</a:t>
            </a:r>
            <a:r>
              <a:rPr sz="2200" spc="-40" dirty="0">
                <a:latin typeface="Microsoft Sans Serif"/>
                <a:cs typeface="Microsoft Sans Serif"/>
              </a:rPr>
              <a:t> </a:t>
            </a:r>
            <a:r>
              <a:rPr sz="2200" spc="-25" dirty="0">
                <a:latin typeface="Microsoft Sans Serif"/>
                <a:cs typeface="Microsoft Sans Serif"/>
              </a:rPr>
              <a:t>for</a:t>
            </a:r>
            <a:endParaRPr sz="2200">
              <a:latin typeface="Microsoft Sans Serif"/>
              <a:cs typeface="Microsoft Sans Serif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24179" y="4267356"/>
          <a:ext cx="2430144" cy="9359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37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84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61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17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2390" algn="ctr">
                        <a:lnSpc>
                          <a:spcPts val="2360"/>
                        </a:lnSpc>
                      </a:pPr>
                      <a:r>
                        <a:rPr sz="2200" spc="-50" dirty="0">
                          <a:latin typeface="Microsoft Sans Serif"/>
                          <a:cs typeface="Microsoft Sans Serif"/>
                        </a:rPr>
                        <a:t>2</a:t>
                      </a:r>
                      <a:endParaRPr sz="2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36220" algn="r">
                        <a:lnSpc>
                          <a:spcPts val="2360"/>
                        </a:lnSpc>
                      </a:pPr>
                      <a:r>
                        <a:rPr sz="2200" spc="-20" dirty="0">
                          <a:latin typeface="Microsoft Sans Serif"/>
                          <a:cs typeface="Microsoft Sans Serif"/>
                        </a:rPr>
                        <a:t>-</a:t>
                      </a:r>
                      <a:r>
                        <a:rPr sz="2200" spc="-60" dirty="0">
                          <a:latin typeface="Microsoft Sans Serif"/>
                          <a:cs typeface="Microsoft Sans Serif"/>
                        </a:rPr>
                        <a:t>2</a:t>
                      </a:r>
                      <a:endParaRPr sz="2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2360"/>
                        </a:lnSpc>
                      </a:pPr>
                      <a:r>
                        <a:rPr sz="2200" spc="-20" dirty="0">
                          <a:latin typeface="Microsoft Sans Serif"/>
                          <a:cs typeface="Microsoft Sans Serif"/>
                        </a:rPr>
                        <a:t>-</a:t>
                      </a:r>
                      <a:r>
                        <a:rPr sz="2200" spc="-60" dirty="0">
                          <a:latin typeface="Microsoft Sans Serif"/>
                          <a:cs typeface="Microsoft Sans Serif"/>
                        </a:rPr>
                        <a:t>4</a:t>
                      </a:r>
                      <a:endParaRPr sz="2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pPr marL="31750">
                        <a:lnSpc>
                          <a:spcPts val="2360"/>
                        </a:lnSpc>
                        <a:tabLst>
                          <a:tab pos="357505" algn="l"/>
                        </a:tabLst>
                      </a:pPr>
                      <a:r>
                        <a:rPr sz="2200" spc="-50" dirty="0">
                          <a:latin typeface="Microsoft Sans Serif"/>
                          <a:cs typeface="Microsoft Sans Serif"/>
                        </a:rPr>
                        <a:t>A</a:t>
                      </a:r>
                      <a:r>
                        <a:rPr sz="2200" dirty="0">
                          <a:latin typeface="Microsoft Sans Serif"/>
                          <a:cs typeface="Microsoft Sans Serif"/>
                        </a:rPr>
                        <a:t>	</a:t>
                      </a:r>
                      <a:r>
                        <a:rPr sz="2200" spc="-50" dirty="0">
                          <a:latin typeface="Microsoft Sans Serif"/>
                          <a:cs typeface="Microsoft Sans Serif"/>
                        </a:rPr>
                        <a:t>=</a:t>
                      </a:r>
                      <a:endParaRPr sz="2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170" algn="ctr">
                        <a:lnSpc>
                          <a:spcPts val="2360"/>
                        </a:lnSpc>
                      </a:pPr>
                      <a:r>
                        <a:rPr sz="2200" spc="-20" dirty="0">
                          <a:latin typeface="Microsoft Sans Serif"/>
                          <a:cs typeface="Microsoft Sans Serif"/>
                        </a:rPr>
                        <a:t>-</a:t>
                      </a:r>
                      <a:r>
                        <a:rPr sz="2200" spc="-6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2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13995" algn="r">
                        <a:lnSpc>
                          <a:spcPts val="2360"/>
                        </a:lnSpc>
                      </a:pPr>
                      <a:r>
                        <a:rPr sz="2200" spc="-50" dirty="0">
                          <a:latin typeface="Microsoft Sans Serif"/>
                          <a:cs typeface="Microsoft Sans Serif"/>
                        </a:rPr>
                        <a:t>3</a:t>
                      </a:r>
                      <a:endParaRPr sz="2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360"/>
                        </a:lnSpc>
                      </a:pPr>
                      <a:r>
                        <a:rPr sz="2200" spc="-50" dirty="0">
                          <a:latin typeface="Microsoft Sans Serif"/>
                          <a:cs typeface="Microsoft Sans Serif"/>
                        </a:rPr>
                        <a:t>4</a:t>
                      </a:r>
                      <a:endParaRPr sz="2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17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2390" algn="ctr">
                        <a:lnSpc>
                          <a:spcPts val="2360"/>
                        </a:lnSpc>
                      </a:pPr>
                      <a:r>
                        <a:rPr sz="22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2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36220" algn="r">
                        <a:lnSpc>
                          <a:spcPts val="2360"/>
                        </a:lnSpc>
                      </a:pPr>
                      <a:r>
                        <a:rPr sz="2200" spc="-20" dirty="0">
                          <a:latin typeface="Microsoft Sans Serif"/>
                          <a:cs typeface="Microsoft Sans Serif"/>
                        </a:rPr>
                        <a:t>-</a:t>
                      </a:r>
                      <a:r>
                        <a:rPr sz="2200" spc="-60" dirty="0">
                          <a:latin typeface="Microsoft Sans Serif"/>
                          <a:cs typeface="Microsoft Sans Serif"/>
                        </a:rPr>
                        <a:t>2</a:t>
                      </a:r>
                      <a:endParaRPr sz="2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2360"/>
                        </a:lnSpc>
                      </a:pPr>
                      <a:r>
                        <a:rPr sz="2200" spc="-20" dirty="0">
                          <a:latin typeface="Microsoft Sans Serif"/>
                          <a:cs typeface="Microsoft Sans Serif"/>
                        </a:rPr>
                        <a:t>-</a:t>
                      </a:r>
                      <a:r>
                        <a:rPr sz="2200" spc="-60" dirty="0">
                          <a:latin typeface="Microsoft Sans Serif"/>
                          <a:cs typeface="Microsoft Sans Serif"/>
                        </a:rPr>
                        <a:t>3</a:t>
                      </a:r>
                      <a:endParaRPr sz="2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2791460" y="4284069"/>
            <a:ext cx="161290" cy="937260"/>
          </a:xfrm>
          <a:custGeom>
            <a:avLst/>
            <a:gdLst/>
            <a:ahLst/>
            <a:cxnLst/>
            <a:rect l="l" t="t" r="r" b="b"/>
            <a:pathLst>
              <a:path w="161289" h="937260">
                <a:moveTo>
                  <a:pt x="0" y="937260"/>
                </a:moveTo>
                <a:lnTo>
                  <a:pt x="47497" y="928166"/>
                </a:lnTo>
                <a:lnTo>
                  <a:pt x="91338" y="903528"/>
                </a:lnTo>
                <a:lnTo>
                  <a:pt x="127558" y="867308"/>
                </a:lnTo>
                <a:lnTo>
                  <a:pt x="152196" y="823468"/>
                </a:lnTo>
                <a:lnTo>
                  <a:pt x="161289" y="775970"/>
                </a:lnTo>
                <a:lnTo>
                  <a:pt x="161289" y="160020"/>
                </a:lnTo>
                <a:lnTo>
                  <a:pt x="152196" y="112654"/>
                </a:lnTo>
                <a:lnTo>
                  <a:pt x="127558" y="69128"/>
                </a:lnTo>
                <a:lnTo>
                  <a:pt x="91338" y="33284"/>
                </a:lnTo>
                <a:lnTo>
                  <a:pt x="47497" y="8961"/>
                </a:lnTo>
                <a:lnTo>
                  <a:pt x="0" y="0"/>
                </a:lnTo>
              </a:path>
            </a:pathLst>
          </a:custGeom>
          <a:ln w="3175">
            <a:solidFill>
              <a:srgbClr val="3364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79500" y="4284069"/>
            <a:ext cx="161290" cy="937260"/>
          </a:xfrm>
          <a:custGeom>
            <a:avLst/>
            <a:gdLst/>
            <a:ahLst/>
            <a:cxnLst/>
            <a:rect l="l" t="t" r="r" b="b"/>
            <a:pathLst>
              <a:path w="161290" h="937260">
                <a:moveTo>
                  <a:pt x="161290" y="0"/>
                </a:moveTo>
                <a:lnTo>
                  <a:pt x="113304" y="8961"/>
                </a:lnTo>
                <a:lnTo>
                  <a:pt x="69402" y="33284"/>
                </a:lnTo>
                <a:lnTo>
                  <a:pt x="33365" y="69128"/>
                </a:lnTo>
                <a:lnTo>
                  <a:pt x="8971" y="112654"/>
                </a:lnTo>
                <a:lnTo>
                  <a:pt x="0" y="160020"/>
                </a:lnTo>
                <a:lnTo>
                  <a:pt x="0" y="775970"/>
                </a:lnTo>
                <a:lnTo>
                  <a:pt x="8971" y="823468"/>
                </a:lnTo>
                <a:lnTo>
                  <a:pt x="33365" y="867308"/>
                </a:lnTo>
                <a:lnTo>
                  <a:pt x="69402" y="903528"/>
                </a:lnTo>
                <a:lnTo>
                  <a:pt x="113304" y="928166"/>
                </a:lnTo>
                <a:lnTo>
                  <a:pt x="161290" y="937260"/>
                </a:lnTo>
              </a:path>
            </a:pathLst>
          </a:custGeom>
          <a:ln w="3175">
            <a:solidFill>
              <a:srgbClr val="3364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5759" y="19410"/>
            <a:ext cx="425196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47189" algn="l"/>
              </a:tabLst>
            </a:pPr>
            <a:r>
              <a:rPr spc="-10" dirty="0"/>
              <a:t>Matrix</a:t>
            </a:r>
            <a:r>
              <a:rPr dirty="0"/>
              <a:t>	</a:t>
            </a:r>
            <a:r>
              <a:rPr spc="-10" dirty="0"/>
              <a:t>operations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3230" y="683619"/>
            <a:ext cx="6512559" cy="9855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latin typeface="Microsoft Sans Serif"/>
                <a:cs typeface="Microsoft Sans Serif"/>
              </a:rPr>
              <a:t>Matrix</a:t>
            </a:r>
            <a:r>
              <a:rPr sz="2200" spc="-50" dirty="0">
                <a:latin typeface="Microsoft Sans Serif"/>
                <a:cs typeface="Microsoft Sans Serif"/>
              </a:rPr>
              <a:t> </a:t>
            </a:r>
            <a:r>
              <a:rPr sz="2200" spc="-10" dirty="0">
                <a:latin typeface="Microsoft Sans Serif"/>
                <a:cs typeface="Microsoft Sans Serif"/>
              </a:rPr>
              <a:t>transformation</a:t>
            </a:r>
            <a:endParaRPr sz="22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2280"/>
              </a:spcBef>
            </a:pPr>
            <a:r>
              <a:rPr sz="2200" dirty="0">
                <a:latin typeface="Microsoft Sans Serif"/>
                <a:cs typeface="Microsoft Sans Serif"/>
              </a:rPr>
              <a:t>(1)</a:t>
            </a:r>
            <a:r>
              <a:rPr sz="2200" spc="-6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The</a:t>
            </a:r>
            <a:r>
              <a:rPr sz="2200" spc="-2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interchange</a:t>
            </a:r>
            <a:r>
              <a:rPr sz="2200" spc="-2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of</a:t>
            </a:r>
            <a:r>
              <a:rPr sz="2200" spc="-2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any</a:t>
            </a:r>
            <a:r>
              <a:rPr sz="2200" spc="-2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two</a:t>
            </a:r>
            <a:r>
              <a:rPr sz="2200" spc="-1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rows</a:t>
            </a:r>
            <a:r>
              <a:rPr sz="2200" spc="-2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or</a:t>
            </a:r>
            <a:r>
              <a:rPr sz="2200" spc="-2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two</a:t>
            </a:r>
            <a:r>
              <a:rPr sz="2200" spc="-20" dirty="0">
                <a:latin typeface="Microsoft Sans Serif"/>
                <a:cs typeface="Microsoft Sans Serif"/>
              </a:rPr>
              <a:t> </a:t>
            </a:r>
            <a:r>
              <a:rPr sz="2200" spc="-10" dirty="0">
                <a:latin typeface="Microsoft Sans Serif"/>
                <a:cs typeface="Microsoft Sans Serif"/>
              </a:rPr>
              <a:t>columns.</a:t>
            </a:r>
            <a:endParaRPr sz="220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18185" y="1820339"/>
            <a:ext cx="5469829" cy="13341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35482" y="2159360"/>
            <a:ext cx="1244786" cy="41147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15619" y="3138529"/>
            <a:ext cx="9122410" cy="6731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 marR="5080">
              <a:lnSpc>
                <a:spcPts val="2460"/>
              </a:lnSpc>
              <a:spcBef>
                <a:spcPts val="330"/>
              </a:spcBef>
            </a:pPr>
            <a:r>
              <a:rPr sz="2200" dirty="0">
                <a:latin typeface="Microsoft Sans Serif"/>
                <a:cs typeface="Microsoft Sans Serif"/>
              </a:rPr>
              <a:t>(2)</a:t>
            </a:r>
            <a:r>
              <a:rPr sz="2200" spc="-2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The</a:t>
            </a:r>
            <a:r>
              <a:rPr sz="2200" spc="2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multiplication</a:t>
            </a:r>
            <a:r>
              <a:rPr sz="2200" spc="1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of</a:t>
            </a:r>
            <a:r>
              <a:rPr sz="2200" spc="2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the</a:t>
            </a:r>
            <a:r>
              <a:rPr sz="2200" spc="2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elements</a:t>
            </a:r>
            <a:r>
              <a:rPr sz="2200" spc="3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of</a:t>
            </a:r>
            <a:r>
              <a:rPr sz="2200" spc="1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any</a:t>
            </a:r>
            <a:r>
              <a:rPr sz="2200" spc="2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row</a:t>
            </a:r>
            <a:r>
              <a:rPr sz="2200" spc="1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or</a:t>
            </a:r>
            <a:r>
              <a:rPr sz="2200" spc="2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column</a:t>
            </a:r>
            <a:r>
              <a:rPr sz="2200" spc="2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by</a:t>
            </a:r>
            <a:r>
              <a:rPr sz="2200" spc="1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a</a:t>
            </a:r>
            <a:r>
              <a:rPr sz="2200" spc="2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non</a:t>
            </a:r>
            <a:r>
              <a:rPr sz="2200" spc="5" dirty="0">
                <a:latin typeface="Microsoft Sans Serif"/>
                <a:cs typeface="Microsoft Sans Serif"/>
              </a:rPr>
              <a:t> </a:t>
            </a:r>
            <a:r>
              <a:rPr sz="2200" spc="-20" dirty="0">
                <a:latin typeface="Microsoft Sans Serif"/>
                <a:cs typeface="Microsoft Sans Serif"/>
              </a:rPr>
              <a:t>zero </a:t>
            </a:r>
            <a:r>
              <a:rPr sz="2200" spc="-10" dirty="0">
                <a:latin typeface="Microsoft Sans Serif"/>
                <a:cs typeface="Microsoft Sans Serif"/>
              </a:rPr>
              <a:t>number.</a:t>
            </a:r>
            <a:endParaRPr sz="2200">
              <a:latin typeface="Microsoft Sans Serif"/>
              <a:cs typeface="Microsoft Sans Serif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030220" y="3744319"/>
            <a:ext cx="5105400" cy="1494789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5759" y="19410"/>
            <a:ext cx="425196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47189" algn="l"/>
              </a:tabLst>
            </a:pPr>
            <a:r>
              <a:rPr sz="4000" b="1" spc="-10" dirty="0">
                <a:latin typeface="Arial"/>
                <a:cs typeface="Arial"/>
              </a:rPr>
              <a:t>Matrix</a:t>
            </a:r>
            <a:r>
              <a:rPr sz="4000" b="1" dirty="0">
                <a:latin typeface="Arial"/>
                <a:cs typeface="Arial"/>
              </a:rPr>
              <a:t>	</a:t>
            </a:r>
            <a:r>
              <a:rPr sz="4000" b="1" spc="-10" dirty="0">
                <a:latin typeface="Arial"/>
                <a:cs typeface="Arial"/>
              </a:rPr>
              <a:t>operations</a:t>
            </a:r>
            <a:endParaRPr sz="4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3230" y="791569"/>
            <a:ext cx="9029065" cy="6731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 marR="5080">
              <a:lnSpc>
                <a:spcPts val="2460"/>
              </a:lnSpc>
              <a:spcBef>
                <a:spcPts val="330"/>
              </a:spcBef>
            </a:pPr>
            <a:r>
              <a:rPr sz="2200" dirty="0">
                <a:latin typeface="Microsoft Sans Serif"/>
                <a:cs typeface="Microsoft Sans Serif"/>
              </a:rPr>
              <a:t>(3)</a:t>
            </a:r>
            <a:r>
              <a:rPr sz="2200" spc="-6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The</a:t>
            </a:r>
            <a:r>
              <a:rPr sz="2200" spc="-2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addition</a:t>
            </a:r>
            <a:r>
              <a:rPr sz="2200" spc="-2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to</a:t>
            </a:r>
            <a:r>
              <a:rPr sz="2200" spc="-2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the</a:t>
            </a:r>
            <a:r>
              <a:rPr sz="2200" spc="-2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elements</a:t>
            </a:r>
            <a:r>
              <a:rPr sz="2200" spc="-2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of</a:t>
            </a:r>
            <a:r>
              <a:rPr sz="2200" spc="-2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any</a:t>
            </a:r>
            <a:r>
              <a:rPr sz="2200" spc="-2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row</a:t>
            </a:r>
            <a:r>
              <a:rPr sz="2200" spc="-3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or</a:t>
            </a:r>
            <a:r>
              <a:rPr sz="2200" spc="-3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column,</a:t>
            </a:r>
            <a:r>
              <a:rPr sz="2200" spc="-3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the</a:t>
            </a:r>
            <a:r>
              <a:rPr sz="2200" spc="-20" dirty="0">
                <a:latin typeface="Microsoft Sans Serif"/>
                <a:cs typeface="Microsoft Sans Serif"/>
              </a:rPr>
              <a:t> </a:t>
            </a:r>
            <a:r>
              <a:rPr sz="2200" spc="-10" dirty="0">
                <a:latin typeface="Microsoft Sans Serif"/>
                <a:cs typeface="Microsoft Sans Serif"/>
              </a:rPr>
              <a:t>corresponding </a:t>
            </a:r>
            <a:r>
              <a:rPr sz="2200" dirty="0">
                <a:latin typeface="Microsoft Sans Serif"/>
                <a:cs typeface="Microsoft Sans Serif"/>
              </a:rPr>
              <a:t>elements</a:t>
            </a:r>
            <a:r>
              <a:rPr sz="2200" spc="-3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of</a:t>
            </a:r>
            <a:r>
              <a:rPr sz="2200" spc="-3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any</a:t>
            </a:r>
            <a:r>
              <a:rPr sz="2200" spc="-3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other</a:t>
            </a:r>
            <a:r>
              <a:rPr sz="2200" spc="-2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row</a:t>
            </a:r>
            <a:r>
              <a:rPr sz="2200" spc="-3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or</a:t>
            </a:r>
            <a:r>
              <a:rPr sz="2200" spc="-3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column</a:t>
            </a:r>
            <a:r>
              <a:rPr sz="2200" spc="-3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multiplied</a:t>
            </a:r>
            <a:r>
              <a:rPr sz="2200" spc="-3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by</a:t>
            </a:r>
            <a:r>
              <a:rPr sz="2200" spc="-3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any</a:t>
            </a:r>
            <a:r>
              <a:rPr sz="2200" spc="-3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non</a:t>
            </a:r>
            <a:r>
              <a:rPr sz="2200" spc="-3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zero</a:t>
            </a:r>
            <a:r>
              <a:rPr sz="2200" spc="-35" dirty="0">
                <a:latin typeface="Microsoft Sans Serif"/>
                <a:cs typeface="Microsoft Sans Serif"/>
              </a:rPr>
              <a:t> </a:t>
            </a:r>
            <a:r>
              <a:rPr sz="2200" spc="-10" dirty="0">
                <a:latin typeface="Microsoft Sans Serif"/>
                <a:cs typeface="Microsoft Sans Serif"/>
              </a:rPr>
              <a:t>number.</a:t>
            </a:r>
            <a:endParaRPr sz="220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02789" y="1943574"/>
            <a:ext cx="6671309" cy="259195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5759" y="19410"/>
            <a:ext cx="425196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47189" algn="l"/>
              </a:tabLst>
            </a:pPr>
            <a:r>
              <a:rPr spc="-10" dirty="0"/>
              <a:t>Matrix</a:t>
            </a:r>
            <a:r>
              <a:rPr dirty="0"/>
              <a:t>	</a:t>
            </a:r>
            <a:r>
              <a:rPr spc="-10" dirty="0"/>
              <a:t>operations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590" y="766169"/>
            <a:ext cx="9241790" cy="3446779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63500" marR="55880" algn="just">
              <a:lnSpc>
                <a:spcPts val="2230"/>
              </a:lnSpc>
              <a:spcBef>
                <a:spcPts val="315"/>
              </a:spcBef>
            </a:pPr>
            <a:r>
              <a:rPr sz="2000" dirty="0">
                <a:latin typeface="Microsoft Sans Serif"/>
                <a:cs typeface="Microsoft Sans Serif"/>
              </a:rPr>
              <a:t>If</a:t>
            </a:r>
            <a:r>
              <a:rPr sz="2000" spc="-10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</a:t>
            </a:r>
            <a:r>
              <a:rPr sz="2000" spc="-8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is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</a:t>
            </a:r>
            <a:r>
              <a:rPr sz="2000" spc="2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square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matrix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of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order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m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×</a:t>
            </a:r>
            <a:r>
              <a:rPr sz="2000" spc="2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m,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and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if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there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exists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another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square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matrix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spc="-50" dirty="0">
                <a:latin typeface="Microsoft Sans Serif"/>
                <a:cs typeface="Microsoft Sans Serif"/>
              </a:rPr>
              <a:t>B </a:t>
            </a:r>
            <a:r>
              <a:rPr sz="2000" dirty="0">
                <a:latin typeface="Microsoft Sans Serif"/>
                <a:cs typeface="Microsoft Sans Serif"/>
              </a:rPr>
              <a:t>of</a:t>
            </a:r>
            <a:r>
              <a:rPr sz="2000" spc="14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the</a:t>
            </a:r>
            <a:r>
              <a:rPr sz="2000" spc="15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same</a:t>
            </a:r>
            <a:r>
              <a:rPr sz="2000" spc="14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order</a:t>
            </a:r>
            <a:r>
              <a:rPr sz="2000" spc="15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m</a:t>
            </a:r>
            <a:r>
              <a:rPr sz="2000" spc="15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×</a:t>
            </a:r>
            <a:r>
              <a:rPr sz="2000" spc="16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m,</a:t>
            </a:r>
            <a:r>
              <a:rPr sz="2000" spc="15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such</a:t>
            </a:r>
            <a:r>
              <a:rPr sz="2000" spc="14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that</a:t>
            </a:r>
            <a:r>
              <a:rPr sz="2000" spc="4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AB</a:t>
            </a:r>
            <a:r>
              <a:rPr sz="2000" spc="13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=</a:t>
            </a:r>
            <a:r>
              <a:rPr sz="2000" spc="16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BA</a:t>
            </a:r>
            <a:r>
              <a:rPr sz="2000" spc="4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=</a:t>
            </a:r>
            <a:r>
              <a:rPr sz="2000" spc="15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I,</a:t>
            </a:r>
            <a:r>
              <a:rPr sz="2000" spc="14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then,</a:t>
            </a:r>
            <a:r>
              <a:rPr sz="2000" spc="4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</a:t>
            </a:r>
            <a:r>
              <a:rPr sz="2000" spc="3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is</a:t>
            </a:r>
            <a:r>
              <a:rPr sz="2000" spc="15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said</a:t>
            </a:r>
            <a:r>
              <a:rPr sz="2000" spc="15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to</a:t>
            </a:r>
            <a:r>
              <a:rPr sz="2000" spc="14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be</a:t>
            </a:r>
            <a:r>
              <a:rPr sz="2000" spc="15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invertible </a:t>
            </a:r>
            <a:r>
              <a:rPr sz="2000" dirty="0">
                <a:latin typeface="Microsoft Sans Serif"/>
                <a:cs typeface="Microsoft Sans Serif"/>
              </a:rPr>
              <a:t>matrix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and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B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is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called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the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inverse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matrix of</a:t>
            </a:r>
            <a:r>
              <a:rPr sz="2000" spc="-1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</a:t>
            </a:r>
            <a:r>
              <a:rPr sz="2000" spc="-1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and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it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is denoted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by</a:t>
            </a:r>
            <a:r>
              <a:rPr sz="2000" spc="-105" dirty="0">
                <a:latin typeface="Microsoft Sans Serif"/>
                <a:cs typeface="Microsoft Sans Serif"/>
              </a:rPr>
              <a:t> </a:t>
            </a:r>
            <a:r>
              <a:rPr sz="2000" spc="65" dirty="0">
                <a:latin typeface="Microsoft Sans Serif"/>
                <a:cs typeface="Microsoft Sans Serif"/>
              </a:rPr>
              <a:t>A</a:t>
            </a:r>
            <a:r>
              <a:rPr sz="1725" spc="97" baseline="31400" dirty="0">
                <a:latin typeface="Microsoft Sans Serif"/>
                <a:cs typeface="Microsoft Sans Serif"/>
              </a:rPr>
              <a:t>–1</a:t>
            </a:r>
            <a:r>
              <a:rPr sz="2000" spc="65" dirty="0">
                <a:latin typeface="Microsoft Sans Serif"/>
                <a:cs typeface="Microsoft Sans Serif"/>
              </a:rPr>
              <a:t>.</a:t>
            </a:r>
            <a:endParaRPr sz="2000">
              <a:latin typeface="Microsoft Sans Serif"/>
              <a:cs typeface="Microsoft Sans Serif"/>
            </a:endParaRPr>
          </a:p>
          <a:p>
            <a:pPr marL="63500" marR="55244" algn="just">
              <a:lnSpc>
                <a:spcPts val="2230"/>
              </a:lnSpc>
              <a:spcBef>
                <a:spcPts val="2230"/>
              </a:spcBef>
            </a:pPr>
            <a:r>
              <a:rPr sz="2000" dirty="0">
                <a:latin typeface="Microsoft Sans Serif"/>
                <a:cs typeface="Microsoft Sans Serif"/>
              </a:rPr>
              <a:t>A</a:t>
            </a:r>
            <a:r>
              <a:rPr sz="2000" spc="-4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rectangular</a:t>
            </a:r>
            <a:r>
              <a:rPr sz="2000" spc="7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matrix</a:t>
            </a:r>
            <a:r>
              <a:rPr sz="2000" spc="7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does</a:t>
            </a:r>
            <a:r>
              <a:rPr sz="2000" spc="7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not</a:t>
            </a:r>
            <a:r>
              <a:rPr sz="2000" spc="6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possess</a:t>
            </a:r>
            <a:r>
              <a:rPr sz="2000" spc="7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its</a:t>
            </a:r>
            <a:r>
              <a:rPr sz="2000" spc="7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inverse,</a:t>
            </a:r>
            <a:r>
              <a:rPr sz="2000" spc="6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since</a:t>
            </a:r>
            <a:r>
              <a:rPr sz="2000" spc="6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for</a:t>
            </a:r>
            <a:r>
              <a:rPr sz="2000" spc="7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the</a:t>
            </a:r>
            <a:r>
              <a:rPr sz="2000" spc="6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products</a:t>
            </a:r>
            <a:r>
              <a:rPr sz="2000" spc="7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BA</a:t>
            </a:r>
            <a:r>
              <a:rPr sz="2000" spc="-45" dirty="0">
                <a:latin typeface="Microsoft Sans Serif"/>
                <a:cs typeface="Microsoft Sans Serif"/>
              </a:rPr>
              <a:t> </a:t>
            </a:r>
            <a:r>
              <a:rPr sz="2000" spc="-25" dirty="0">
                <a:latin typeface="Microsoft Sans Serif"/>
                <a:cs typeface="Microsoft Sans Serif"/>
              </a:rPr>
              <a:t>and </a:t>
            </a:r>
            <a:r>
              <a:rPr sz="2000" dirty="0">
                <a:latin typeface="Microsoft Sans Serif"/>
                <a:cs typeface="Microsoft Sans Serif"/>
              </a:rPr>
              <a:t>AB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to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be defined and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to be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equal,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it is necessary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that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matrices</a:t>
            </a:r>
            <a:r>
              <a:rPr sz="2000" spc="-9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</a:t>
            </a:r>
            <a:r>
              <a:rPr sz="2000" spc="-10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and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B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should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spc="-25" dirty="0">
                <a:latin typeface="Microsoft Sans Serif"/>
                <a:cs typeface="Microsoft Sans Serif"/>
              </a:rPr>
              <a:t>be </a:t>
            </a:r>
            <a:r>
              <a:rPr sz="2000" dirty="0">
                <a:latin typeface="Microsoft Sans Serif"/>
                <a:cs typeface="Microsoft Sans Serif"/>
              </a:rPr>
              <a:t>square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matrices of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the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same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order.</a:t>
            </a:r>
            <a:endParaRPr sz="2000">
              <a:latin typeface="Microsoft Sans Serif"/>
              <a:cs typeface="Microsoft Sans Serif"/>
            </a:endParaRPr>
          </a:p>
          <a:p>
            <a:pPr marL="63500" algn="just">
              <a:lnSpc>
                <a:spcPct val="100000"/>
              </a:lnSpc>
              <a:spcBef>
                <a:spcPts val="2025"/>
              </a:spcBef>
            </a:pPr>
            <a:r>
              <a:rPr sz="2000" dirty="0">
                <a:latin typeface="Microsoft Sans Serif"/>
                <a:cs typeface="Microsoft Sans Serif"/>
              </a:rPr>
              <a:t>If</a:t>
            </a:r>
            <a:r>
              <a:rPr sz="2000" spc="-1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</a:t>
            </a:r>
            <a:r>
              <a:rPr sz="2000" spc="-114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and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B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are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invertible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matrices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of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same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order,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then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spc="55" dirty="0">
                <a:latin typeface="Microsoft Sans Serif"/>
                <a:cs typeface="Microsoft Sans Serif"/>
              </a:rPr>
              <a:t>(AB)</a:t>
            </a:r>
            <a:r>
              <a:rPr sz="1725" spc="82" baseline="31400" dirty="0">
                <a:latin typeface="Microsoft Sans Serif"/>
                <a:cs typeface="Microsoft Sans Serif"/>
              </a:rPr>
              <a:t>–1</a:t>
            </a:r>
            <a:r>
              <a:rPr sz="1725" spc="307" baseline="3140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=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spc="95" dirty="0">
                <a:latin typeface="Microsoft Sans Serif"/>
                <a:cs typeface="Microsoft Sans Serif"/>
              </a:rPr>
              <a:t>B</a:t>
            </a:r>
            <a:r>
              <a:rPr sz="1725" spc="142" baseline="31400" dirty="0">
                <a:latin typeface="Microsoft Sans Serif"/>
                <a:cs typeface="Microsoft Sans Serif"/>
              </a:rPr>
              <a:t>–1</a:t>
            </a:r>
            <a:r>
              <a:rPr sz="1725" spc="165" baseline="31400" dirty="0">
                <a:latin typeface="Microsoft Sans Serif"/>
                <a:cs typeface="Microsoft Sans Serif"/>
              </a:rPr>
              <a:t> </a:t>
            </a:r>
            <a:r>
              <a:rPr sz="2000" spc="95" dirty="0">
                <a:latin typeface="Microsoft Sans Serif"/>
                <a:cs typeface="Microsoft Sans Serif"/>
              </a:rPr>
              <a:t>A</a:t>
            </a:r>
            <a:r>
              <a:rPr sz="1725" spc="142" baseline="31400" dirty="0">
                <a:latin typeface="Microsoft Sans Serif"/>
                <a:cs typeface="Microsoft Sans Serif"/>
              </a:rPr>
              <a:t>–1</a:t>
            </a:r>
            <a:r>
              <a:rPr sz="1725" spc="307" baseline="31400" dirty="0">
                <a:latin typeface="Microsoft Sans Serif"/>
                <a:cs typeface="Microsoft Sans Serif"/>
              </a:rPr>
              <a:t> </a:t>
            </a:r>
            <a:r>
              <a:rPr sz="2000" spc="-50" dirty="0">
                <a:latin typeface="Microsoft Sans Serif"/>
                <a:cs typeface="Microsoft Sans Serif"/>
              </a:rPr>
              <a:t>.</a:t>
            </a:r>
            <a:endParaRPr sz="20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000">
              <a:latin typeface="Microsoft Sans Serif"/>
              <a:cs typeface="Microsoft Sans Serif"/>
            </a:endParaRPr>
          </a:p>
          <a:p>
            <a:pPr marL="63500" marR="55244" algn="just">
              <a:lnSpc>
                <a:spcPts val="2230"/>
              </a:lnSpc>
            </a:pPr>
            <a:r>
              <a:rPr sz="2000" dirty="0">
                <a:latin typeface="Microsoft Sans Serif"/>
                <a:cs typeface="Microsoft Sans Serif"/>
              </a:rPr>
              <a:t>Inverse</a:t>
            </a:r>
            <a:r>
              <a:rPr sz="2000" spc="10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martix</a:t>
            </a:r>
            <a:r>
              <a:rPr sz="2000" spc="1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can</a:t>
            </a:r>
            <a:r>
              <a:rPr sz="2000" spc="10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be</a:t>
            </a:r>
            <a:r>
              <a:rPr sz="2000" spc="1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calculated</a:t>
            </a:r>
            <a:r>
              <a:rPr sz="2000" spc="1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by</a:t>
            </a:r>
            <a:r>
              <a:rPr sz="2000" spc="1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the</a:t>
            </a:r>
            <a:r>
              <a:rPr sz="2000" spc="1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matrix</a:t>
            </a:r>
            <a:r>
              <a:rPr sz="2000" spc="10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transformations</a:t>
            </a:r>
            <a:r>
              <a:rPr sz="2000" spc="10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(row</a:t>
            </a:r>
            <a:r>
              <a:rPr sz="2000" spc="1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and</a:t>
            </a:r>
            <a:r>
              <a:rPr sz="2000" spc="10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column transformations).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3390" y="4449169"/>
            <a:ext cx="779145" cy="61341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 marR="5080">
              <a:lnSpc>
                <a:spcPts val="2230"/>
              </a:lnSpc>
              <a:spcBef>
                <a:spcPts val="315"/>
              </a:spcBef>
              <a:tabLst>
                <a:tab pos="221615" algn="l"/>
              </a:tabLst>
            </a:pPr>
            <a:r>
              <a:rPr sz="2000" dirty="0">
                <a:latin typeface="Microsoft Sans Serif"/>
                <a:cs typeface="Microsoft Sans Serif"/>
              </a:rPr>
              <a:t>A</a:t>
            </a:r>
            <a:r>
              <a:rPr sz="2000" spc="-1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=</a:t>
            </a:r>
            <a:r>
              <a:rPr sz="2000" spc="-90" dirty="0">
                <a:latin typeface="Microsoft Sans Serif"/>
                <a:cs typeface="Microsoft Sans Serif"/>
              </a:rPr>
              <a:t> </a:t>
            </a:r>
            <a:r>
              <a:rPr sz="2000" spc="-25" dirty="0">
                <a:latin typeface="Microsoft Sans Serif"/>
                <a:cs typeface="Microsoft Sans Serif"/>
              </a:rPr>
              <a:t>AI </a:t>
            </a:r>
            <a:r>
              <a:rPr sz="2000" spc="-50" dirty="0">
                <a:latin typeface="Microsoft Sans Serif"/>
                <a:cs typeface="Microsoft Sans Serif"/>
              </a:rPr>
              <a:t>I</a:t>
            </a:r>
            <a:r>
              <a:rPr sz="2000" dirty="0">
                <a:latin typeface="Microsoft Sans Serif"/>
                <a:cs typeface="Microsoft Sans Serif"/>
              </a:rPr>
              <a:t>	=</a:t>
            </a:r>
            <a:r>
              <a:rPr sz="2000" spc="-85" dirty="0">
                <a:latin typeface="Microsoft Sans Serif"/>
                <a:cs typeface="Microsoft Sans Serif"/>
              </a:rPr>
              <a:t> </a:t>
            </a:r>
            <a:r>
              <a:rPr sz="2000" spc="-25" dirty="0">
                <a:latin typeface="Microsoft Sans Serif"/>
                <a:cs typeface="Microsoft Sans Serif"/>
              </a:rPr>
              <a:t>AB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97227" y="4732380"/>
            <a:ext cx="480441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Microsoft Sans Serif"/>
                <a:cs typeface="Microsoft Sans Serif"/>
              </a:rPr>
              <a:t>via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elementary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row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and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column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operations</a:t>
            </a:r>
            <a:endParaRPr sz="20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5759" y="19410"/>
            <a:ext cx="425196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47189" algn="l"/>
              </a:tabLst>
            </a:pPr>
            <a:r>
              <a:rPr spc="-10" dirty="0"/>
              <a:t>Matrix</a:t>
            </a:r>
            <a:r>
              <a:rPr dirty="0"/>
              <a:t>	</a:t>
            </a:r>
            <a:r>
              <a:rPr spc="-10" dirty="0"/>
              <a:t>operations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811779" y="855069"/>
          <a:ext cx="1992629" cy="1468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5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42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26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0220"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26797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B2B2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26797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26797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E5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90219" y="857609"/>
          <a:ext cx="1992629" cy="146938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51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48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26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9584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3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6670" marB="0"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6670" marB="0"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26797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2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6670" marB="0">
                    <a:solidFill>
                      <a:srgbClr val="B2B2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22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2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26797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10" dirty="0">
                          <a:latin typeface="Microsoft Sans Serif"/>
                          <a:cs typeface="Microsoft Sans Serif"/>
                        </a:rPr>
                        <a:t>-</a:t>
                      </a: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2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9584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26797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E5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2627629" y="693779"/>
            <a:ext cx="0" cy="1755139"/>
          </a:xfrm>
          <a:custGeom>
            <a:avLst/>
            <a:gdLst/>
            <a:ahLst/>
            <a:cxnLst/>
            <a:rect l="l" t="t" r="r" b="b"/>
            <a:pathLst>
              <a:path h="1755139">
                <a:moveTo>
                  <a:pt x="0" y="0"/>
                </a:moveTo>
                <a:lnTo>
                  <a:pt x="0" y="175514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7887969" y="855069"/>
          <a:ext cx="1992629" cy="1468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5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42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26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022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26797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B2B2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26797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26797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E5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5566409" y="857609"/>
          <a:ext cx="1992629" cy="146938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5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42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26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9584"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5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6670" marB="0"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6670" marB="0"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26797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6670" marB="0">
                    <a:solidFill>
                      <a:srgbClr val="B2B2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220"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2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26797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10" dirty="0">
                          <a:latin typeface="Microsoft Sans Serif"/>
                          <a:cs typeface="Microsoft Sans Serif"/>
                        </a:rPr>
                        <a:t>-</a:t>
                      </a: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2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9584"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26797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E5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object 8"/>
          <p:cNvSpPr/>
          <p:nvPr/>
        </p:nvSpPr>
        <p:spPr>
          <a:xfrm>
            <a:off x="7703819" y="693779"/>
            <a:ext cx="0" cy="1755139"/>
          </a:xfrm>
          <a:custGeom>
            <a:avLst/>
            <a:gdLst/>
            <a:ahLst/>
            <a:cxnLst/>
            <a:rect l="l" t="t" r="r" b="b"/>
            <a:pathLst>
              <a:path h="1755139">
                <a:moveTo>
                  <a:pt x="0" y="0"/>
                </a:moveTo>
                <a:lnTo>
                  <a:pt x="0" y="175514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4895850" y="1493879"/>
            <a:ext cx="504190" cy="107950"/>
            <a:chOff x="4895850" y="1493879"/>
            <a:chExt cx="504190" cy="107950"/>
          </a:xfrm>
        </p:grpSpPr>
        <p:sp>
          <p:nvSpPr>
            <p:cNvPr id="10" name="object 10"/>
            <p:cNvSpPr/>
            <p:nvPr/>
          </p:nvSpPr>
          <p:spPr>
            <a:xfrm>
              <a:off x="4895850" y="1548489"/>
              <a:ext cx="349250" cy="0"/>
            </a:xfrm>
            <a:custGeom>
              <a:avLst/>
              <a:gdLst/>
              <a:ahLst/>
              <a:cxnLst/>
              <a:rect l="l" t="t" r="r" b="b"/>
              <a:pathLst>
                <a:path w="349250">
                  <a:moveTo>
                    <a:pt x="0" y="0"/>
                  </a:moveTo>
                  <a:lnTo>
                    <a:pt x="34925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237479" y="1493879"/>
              <a:ext cx="162560" cy="107950"/>
            </a:xfrm>
            <a:custGeom>
              <a:avLst/>
              <a:gdLst/>
              <a:ahLst/>
              <a:cxnLst/>
              <a:rect l="l" t="t" r="r" b="b"/>
              <a:pathLst>
                <a:path w="162560" h="107950">
                  <a:moveTo>
                    <a:pt x="0" y="0"/>
                  </a:moveTo>
                  <a:lnTo>
                    <a:pt x="0" y="107950"/>
                  </a:lnTo>
                  <a:lnTo>
                    <a:pt x="162560" y="546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7071359" y="335639"/>
            <a:ext cx="12509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Microsoft Sans Serif"/>
                <a:cs typeface="Microsoft Sans Serif"/>
              </a:rPr>
              <a:t>R</a:t>
            </a:r>
            <a:r>
              <a:rPr sz="1575" baseline="-31746" dirty="0">
                <a:latin typeface="Microsoft Sans Serif"/>
                <a:cs typeface="Microsoft Sans Serif"/>
              </a:rPr>
              <a:t>1</a:t>
            </a:r>
            <a:r>
              <a:rPr sz="1575" spc="292" baseline="-31746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=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R</a:t>
            </a:r>
            <a:r>
              <a:rPr sz="1575" baseline="-31746" dirty="0">
                <a:latin typeface="Microsoft Sans Serif"/>
                <a:cs typeface="Microsoft Sans Serif"/>
              </a:rPr>
              <a:t>1</a:t>
            </a:r>
            <a:r>
              <a:rPr sz="1800" dirty="0">
                <a:latin typeface="Microsoft Sans Serif"/>
                <a:cs typeface="Microsoft Sans Serif"/>
              </a:rPr>
              <a:t>+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R</a:t>
            </a:r>
            <a:r>
              <a:rPr sz="1575" spc="-37" baseline="-31746" dirty="0">
                <a:latin typeface="Microsoft Sans Serif"/>
                <a:cs typeface="Microsoft Sans Serif"/>
              </a:rPr>
              <a:t>2</a:t>
            </a:r>
            <a:endParaRPr sz="1575" baseline="-31746">
              <a:latin typeface="Microsoft Sans Serif"/>
              <a:cs typeface="Microsoft Sans Serif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7650480" y="2664819"/>
            <a:ext cx="107950" cy="575310"/>
            <a:chOff x="7650480" y="2664819"/>
            <a:chExt cx="107950" cy="575310"/>
          </a:xfrm>
        </p:grpSpPr>
        <p:sp>
          <p:nvSpPr>
            <p:cNvPr id="14" name="object 14"/>
            <p:cNvSpPr/>
            <p:nvPr/>
          </p:nvSpPr>
          <p:spPr>
            <a:xfrm>
              <a:off x="7703820" y="2664819"/>
              <a:ext cx="0" cy="420370"/>
            </a:xfrm>
            <a:custGeom>
              <a:avLst/>
              <a:gdLst/>
              <a:ahLst/>
              <a:cxnLst/>
              <a:rect l="l" t="t" r="r" b="b"/>
              <a:pathLst>
                <a:path h="420369">
                  <a:moveTo>
                    <a:pt x="0" y="0"/>
                  </a:moveTo>
                  <a:lnTo>
                    <a:pt x="0" y="4203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650480" y="3078839"/>
              <a:ext cx="107950" cy="161290"/>
            </a:xfrm>
            <a:custGeom>
              <a:avLst/>
              <a:gdLst/>
              <a:ahLst/>
              <a:cxnLst/>
              <a:rect l="l" t="t" r="r" b="b"/>
              <a:pathLst>
                <a:path w="107950" h="161289">
                  <a:moveTo>
                    <a:pt x="107950" y="0"/>
                  </a:moveTo>
                  <a:lnTo>
                    <a:pt x="0" y="0"/>
                  </a:lnTo>
                  <a:lnTo>
                    <a:pt x="53340" y="161289"/>
                  </a:lnTo>
                  <a:lnTo>
                    <a:pt x="1079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7887969" y="3555089"/>
          <a:ext cx="1992630" cy="14674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1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42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3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9584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25" dirty="0">
                          <a:latin typeface="Microsoft Sans Serif"/>
                          <a:cs typeface="Microsoft Sans Serif"/>
                        </a:rPr>
                        <a:t>0.2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25" dirty="0">
                          <a:latin typeface="Microsoft Sans Serif"/>
                          <a:cs typeface="Microsoft Sans Serif"/>
                        </a:rPr>
                        <a:t>0.2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B2B2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E5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5566409" y="3557630"/>
          <a:ext cx="1993900" cy="146938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5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42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39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9584"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6670" marB="0"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6670" marB="0"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26797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6670" marB="0">
                    <a:solidFill>
                      <a:srgbClr val="B2B2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220"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2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26797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10" dirty="0">
                          <a:latin typeface="Microsoft Sans Serif"/>
                          <a:cs typeface="Microsoft Sans Serif"/>
                        </a:rPr>
                        <a:t>-</a:t>
                      </a: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2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9584"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26797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E5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" name="object 18"/>
          <p:cNvSpPr/>
          <p:nvPr/>
        </p:nvSpPr>
        <p:spPr>
          <a:xfrm>
            <a:off x="7705090" y="3393799"/>
            <a:ext cx="0" cy="1755139"/>
          </a:xfrm>
          <a:custGeom>
            <a:avLst/>
            <a:gdLst/>
            <a:ahLst/>
            <a:cxnLst/>
            <a:rect l="l" t="t" r="r" b="b"/>
            <a:pathLst>
              <a:path h="1755139">
                <a:moveTo>
                  <a:pt x="0" y="0"/>
                </a:moveTo>
                <a:lnTo>
                  <a:pt x="0" y="1755139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7035800" y="5195930"/>
            <a:ext cx="10052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Microsoft Sans Serif"/>
                <a:cs typeface="Microsoft Sans Serif"/>
              </a:rPr>
              <a:t>R</a:t>
            </a:r>
            <a:r>
              <a:rPr sz="1575" baseline="-31746" dirty="0">
                <a:latin typeface="Microsoft Sans Serif"/>
                <a:cs typeface="Microsoft Sans Serif"/>
              </a:rPr>
              <a:t>1</a:t>
            </a:r>
            <a:r>
              <a:rPr sz="1575" spc="300" baseline="-31746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=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spc="-20" dirty="0">
                <a:latin typeface="Microsoft Sans Serif"/>
                <a:cs typeface="Microsoft Sans Serif"/>
              </a:rPr>
              <a:t>R</a:t>
            </a:r>
            <a:r>
              <a:rPr sz="1575" spc="-30" baseline="-31746" dirty="0">
                <a:latin typeface="Microsoft Sans Serif"/>
                <a:cs typeface="Microsoft Sans Serif"/>
              </a:rPr>
              <a:t>1</a:t>
            </a:r>
            <a:r>
              <a:rPr sz="1800" spc="-20" dirty="0">
                <a:latin typeface="Microsoft Sans Serif"/>
                <a:cs typeface="Microsoft Sans Serif"/>
              </a:rPr>
              <a:t>/5</a:t>
            </a:r>
            <a:endParaRPr sz="1800">
              <a:latin typeface="Microsoft Sans Serif"/>
              <a:cs typeface="Microsoft Sans Serif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895850" y="4230730"/>
            <a:ext cx="576580" cy="107950"/>
            <a:chOff x="4895850" y="4230730"/>
            <a:chExt cx="576580" cy="107950"/>
          </a:xfrm>
        </p:grpSpPr>
        <p:sp>
          <p:nvSpPr>
            <p:cNvPr id="21" name="object 21"/>
            <p:cNvSpPr/>
            <p:nvPr/>
          </p:nvSpPr>
          <p:spPr>
            <a:xfrm>
              <a:off x="5050789" y="4284070"/>
              <a:ext cx="421640" cy="0"/>
            </a:xfrm>
            <a:custGeom>
              <a:avLst/>
              <a:gdLst/>
              <a:ahLst/>
              <a:cxnLst/>
              <a:rect l="l" t="t" r="r" b="b"/>
              <a:pathLst>
                <a:path w="421639">
                  <a:moveTo>
                    <a:pt x="421639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895850" y="4230730"/>
              <a:ext cx="162560" cy="107950"/>
            </a:xfrm>
            <a:custGeom>
              <a:avLst/>
              <a:gdLst/>
              <a:ahLst/>
              <a:cxnLst/>
              <a:rect l="l" t="t" r="r" b="b"/>
              <a:pathLst>
                <a:path w="162560" h="107950">
                  <a:moveTo>
                    <a:pt x="162560" y="0"/>
                  </a:moveTo>
                  <a:lnTo>
                    <a:pt x="0" y="53340"/>
                  </a:lnTo>
                  <a:lnTo>
                    <a:pt x="162560" y="107950"/>
                  </a:lnTo>
                  <a:lnTo>
                    <a:pt x="16256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23" name="object 23"/>
          <p:cNvGraphicFramePr>
            <a:graphicFrameLocks noGrp="1"/>
          </p:cNvGraphicFramePr>
          <p:nvPr/>
        </p:nvGraphicFramePr>
        <p:xfrm>
          <a:off x="2776220" y="3519530"/>
          <a:ext cx="1992630" cy="1468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1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42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3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8950"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25" dirty="0">
                          <a:latin typeface="Microsoft Sans Serif"/>
                          <a:cs typeface="Microsoft Sans Serif"/>
                        </a:rPr>
                        <a:t>0.2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25" dirty="0">
                          <a:latin typeface="Microsoft Sans Serif"/>
                          <a:cs typeface="Microsoft Sans Serif"/>
                        </a:rPr>
                        <a:t>0.2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B2B2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220"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6670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800" spc="-25" dirty="0">
                          <a:latin typeface="Microsoft Sans Serif"/>
                          <a:cs typeface="Microsoft Sans Serif"/>
                        </a:rPr>
                        <a:t>0.5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6670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6670" marB="0"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E5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4" name="object 24"/>
          <p:cNvGraphicFramePr>
            <a:graphicFrameLocks noGrp="1"/>
          </p:cNvGraphicFramePr>
          <p:nvPr/>
        </p:nvGraphicFramePr>
        <p:xfrm>
          <a:off x="454659" y="3522069"/>
          <a:ext cx="1993900" cy="14687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5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42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39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022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26797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B2B2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9584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26797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10" dirty="0">
                          <a:latin typeface="Microsoft Sans Serif"/>
                          <a:cs typeface="Microsoft Sans Serif"/>
                        </a:rPr>
                        <a:t>-</a:t>
                      </a: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26797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E5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5" name="object 25"/>
          <p:cNvSpPr/>
          <p:nvPr/>
        </p:nvSpPr>
        <p:spPr>
          <a:xfrm>
            <a:off x="2593339" y="3358239"/>
            <a:ext cx="0" cy="1753870"/>
          </a:xfrm>
          <a:custGeom>
            <a:avLst/>
            <a:gdLst/>
            <a:ahLst/>
            <a:cxnLst/>
            <a:rect l="l" t="t" r="r" b="b"/>
            <a:pathLst>
              <a:path h="1753870">
                <a:moveTo>
                  <a:pt x="0" y="0"/>
                </a:moveTo>
                <a:lnTo>
                  <a:pt x="0" y="175387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1924050" y="5159099"/>
            <a:ext cx="10052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Microsoft Sans Serif"/>
                <a:cs typeface="Microsoft Sans Serif"/>
              </a:rPr>
              <a:t>R</a:t>
            </a:r>
            <a:r>
              <a:rPr sz="1575" baseline="-31746" dirty="0">
                <a:latin typeface="Microsoft Sans Serif"/>
                <a:cs typeface="Microsoft Sans Serif"/>
              </a:rPr>
              <a:t>2</a:t>
            </a:r>
            <a:r>
              <a:rPr sz="1575" spc="300" baseline="-31746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=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spc="-20" dirty="0">
                <a:latin typeface="Microsoft Sans Serif"/>
                <a:cs typeface="Microsoft Sans Serif"/>
              </a:rPr>
              <a:t>R</a:t>
            </a:r>
            <a:r>
              <a:rPr sz="1575" spc="-30" baseline="-31746" dirty="0">
                <a:latin typeface="Microsoft Sans Serif"/>
                <a:cs typeface="Microsoft Sans Serif"/>
              </a:rPr>
              <a:t>2</a:t>
            </a:r>
            <a:r>
              <a:rPr sz="1800" spc="-20" dirty="0">
                <a:latin typeface="Microsoft Sans Serif"/>
                <a:cs typeface="Microsoft Sans Serif"/>
              </a:rPr>
              <a:t>/2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085850" y="2531469"/>
            <a:ext cx="178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Microsoft Sans Serif"/>
                <a:cs typeface="Microsoft Sans Serif"/>
              </a:rPr>
              <a:t>A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605529" y="2531469"/>
            <a:ext cx="89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Microsoft Sans Serif"/>
                <a:cs typeface="Microsoft Sans Serif"/>
              </a:rPr>
              <a:t>I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2777489" y="855069"/>
          <a:ext cx="1992630" cy="1468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19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5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8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022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25" dirty="0">
                          <a:latin typeface="Microsoft Sans Serif"/>
                          <a:cs typeface="Microsoft Sans Serif"/>
                        </a:rPr>
                        <a:t>0.2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13525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25" dirty="0">
                          <a:latin typeface="Microsoft Sans Serif"/>
                          <a:cs typeface="Microsoft Sans Serif"/>
                        </a:rPr>
                        <a:t>0.2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B2B2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10" dirty="0">
                          <a:latin typeface="Microsoft Sans Serif"/>
                          <a:cs typeface="Microsoft Sans Serif"/>
                        </a:rPr>
                        <a:t>-</a:t>
                      </a:r>
                      <a:r>
                        <a:rPr sz="1800" spc="-25" dirty="0">
                          <a:latin typeface="Microsoft Sans Serif"/>
                          <a:cs typeface="Microsoft Sans Serif"/>
                        </a:rPr>
                        <a:t>0.2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13525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25" dirty="0">
                          <a:latin typeface="Microsoft Sans Serif"/>
                          <a:cs typeface="Microsoft Sans Serif"/>
                        </a:rPr>
                        <a:t>0.3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13525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E5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54659" y="857609"/>
          <a:ext cx="1993899" cy="146938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5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48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9584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6670" marB="0"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6670" marB="0"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26860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6670" marB="0">
                    <a:solidFill>
                      <a:srgbClr val="B2B2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22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26860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10" dirty="0">
                          <a:latin typeface="Microsoft Sans Serif"/>
                          <a:cs typeface="Microsoft Sans Serif"/>
                        </a:rPr>
                        <a:t>-</a:t>
                      </a: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9584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26860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E5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2593339" y="693779"/>
            <a:ext cx="0" cy="1755139"/>
          </a:xfrm>
          <a:custGeom>
            <a:avLst/>
            <a:gdLst/>
            <a:ahLst/>
            <a:cxnLst/>
            <a:rect l="l" t="t" r="r" b="b"/>
            <a:pathLst>
              <a:path h="1755139">
                <a:moveTo>
                  <a:pt x="0" y="0"/>
                </a:moveTo>
                <a:lnTo>
                  <a:pt x="0" y="175514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924050" y="2495910"/>
            <a:ext cx="11290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Microsoft Sans Serif"/>
                <a:cs typeface="Microsoft Sans Serif"/>
              </a:rPr>
              <a:t>R</a:t>
            </a:r>
            <a:r>
              <a:rPr sz="1575" baseline="-31746" dirty="0">
                <a:latin typeface="Microsoft Sans Serif"/>
                <a:cs typeface="Microsoft Sans Serif"/>
              </a:rPr>
              <a:t>2</a:t>
            </a:r>
            <a:r>
              <a:rPr sz="1575" spc="322" baseline="-31746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=</a:t>
            </a:r>
            <a:r>
              <a:rPr sz="1800" spc="25" dirty="0">
                <a:latin typeface="Microsoft Sans Serif"/>
                <a:cs typeface="Microsoft Sans Serif"/>
              </a:rPr>
              <a:t> </a:t>
            </a:r>
            <a:r>
              <a:rPr sz="1800" spc="-20" dirty="0">
                <a:latin typeface="Microsoft Sans Serif"/>
                <a:cs typeface="Microsoft Sans Serif"/>
              </a:rPr>
              <a:t>R</a:t>
            </a:r>
            <a:r>
              <a:rPr sz="1575" spc="-30" baseline="-31746" dirty="0">
                <a:latin typeface="Microsoft Sans Serif"/>
                <a:cs typeface="Microsoft Sans Serif"/>
              </a:rPr>
              <a:t>2</a:t>
            </a:r>
            <a:r>
              <a:rPr sz="1800" spc="-20" dirty="0">
                <a:latin typeface="Microsoft Sans Serif"/>
                <a:cs typeface="Microsoft Sans Serif"/>
              </a:rPr>
              <a:t>-</a:t>
            </a:r>
            <a:r>
              <a:rPr sz="1800" spc="-25" dirty="0">
                <a:latin typeface="Microsoft Sans Serif"/>
                <a:cs typeface="Microsoft Sans Serif"/>
              </a:rPr>
              <a:t>R</a:t>
            </a:r>
            <a:r>
              <a:rPr sz="1575" spc="-37" baseline="-31746" dirty="0">
                <a:latin typeface="Microsoft Sans Serif"/>
                <a:cs typeface="Microsoft Sans Serif"/>
              </a:rPr>
              <a:t>1</a:t>
            </a:r>
            <a:endParaRPr sz="1575" baseline="-31746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65759" y="19410"/>
            <a:ext cx="425196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47189" algn="l"/>
              </a:tabLst>
            </a:pPr>
            <a:r>
              <a:rPr spc="-10" dirty="0"/>
              <a:t>Matrix</a:t>
            </a:r>
            <a:r>
              <a:rPr dirty="0"/>
              <a:t>	</a:t>
            </a:r>
            <a:r>
              <a:rPr spc="-10" dirty="0"/>
              <a:t>operations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4860290" y="1458319"/>
            <a:ext cx="575310" cy="107950"/>
            <a:chOff x="4860290" y="1458319"/>
            <a:chExt cx="575310" cy="107950"/>
          </a:xfrm>
        </p:grpSpPr>
        <p:sp>
          <p:nvSpPr>
            <p:cNvPr id="8" name="object 8"/>
            <p:cNvSpPr/>
            <p:nvPr/>
          </p:nvSpPr>
          <p:spPr>
            <a:xfrm>
              <a:off x="4860290" y="1512929"/>
              <a:ext cx="420370" cy="0"/>
            </a:xfrm>
            <a:custGeom>
              <a:avLst/>
              <a:gdLst/>
              <a:ahLst/>
              <a:cxnLst/>
              <a:rect l="l" t="t" r="r" b="b"/>
              <a:pathLst>
                <a:path w="420370">
                  <a:moveTo>
                    <a:pt x="0" y="0"/>
                  </a:moveTo>
                  <a:lnTo>
                    <a:pt x="42037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274310" y="1458319"/>
              <a:ext cx="161290" cy="107950"/>
            </a:xfrm>
            <a:custGeom>
              <a:avLst/>
              <a:gdLst/>
              <a:ahLst/>
              <a:cxnLst/>
              <a:rect l="l" t="t" r="r" b="b"/>
              <a:pathLst>
                <a:path w="161289" h="107950">
                  <a:moveTo>
                    <a:pt x="0" y="0"/>
                  </a:moveTo>
                  <a:lnTo>
                    <a:pt x="0" y="107950"/>
                  </a:lnTo>
                  <a:lnTo>
                    <a:pt x="161289" y="546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7816850" y="855069"/>
          <a:ext cx="1992630" cy="1468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19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61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3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022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25" dirty="0">
                          <a:latin typeface="Microsoft Sans Serif"/>
                          <a:cs typeface="Microsoft Sans Serif"/>
                        </a:rPr>
                        <a:t>0.2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13462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25" dirty="0">
                          <a:latin typeface="Microsoft Sans Serif"/>
                          <a:cs typeface="Microsoft Sans Serif"/>
                        </a:rPr>
                        <a:t>0.2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B2B2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10" dirty="0">
                          <a:latin typeface="Microsoft Sans Serif"/>
                          <a:cs typeface="Microsoft Sans Serif"/>
                        </a:rPr>
                        <a:t>-</a:t>
                      </a:r>
                      <a:r>
                        <a:rPr sz="1800" spc="-25" dirty="0">
                          <a:latin typeface="Microsoft Sans Serif"/>
                          <a:cs typeface="Microsoft Sans Serif"/>
                        </a:rPr>
                        <a:t>0.2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13462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25" dirty="0">
                          <a:latin typeface="Microsoft Sans Serif"/>
                          <a:cs typeface="Microsoft Sans Serif"/>
                        </a:rPr>
                        <a:t>0.3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13462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E5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5495290" y="857609"/>
          <a:ext cx="1993899" cy="146938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5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48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9584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6670" marB="0"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6670" marB="0"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26860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6670" marB="0">
                    <a:solidFill>
                      <a:srgbClr val="B2B2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22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26860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9584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26860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E5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object 12"/>
          <p:cNvSpPr txBox="1"/>
          <p:nvPr/>
        </p:nvSpPr>
        <p:spPr>
          <a:xfrm>
            <a:off x="6964680" y="2495910"/>
            <a:ext cx="11861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Microsoft Sans Serif"/>
                <a:cs typeface="Microsoft Sans Serif"/>
              </a:rPr>
              <a:t>R</a:t>
            </a:r>
            <a:r>
              <a:rPr sz="1575" baseline="-31746" dirty="0">
                <a:latin typeface="Microsoft Sans Serif"/>
                <a:cs typeface="Microsoft Sans Serif"/>
              </a:rPr>
              <a:t>2</a:t>
            </a:r>
            <a:r>
              <a:rPr sz="1575" spc="300" baseline="-31746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=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spc="-20" dirty="0">
                <a:latin typeface="Microsoft Sans Serif"/>
                <a:cs typeface="Microsoft Sans Serif"/>
              </a:rPr>
              <a:t>R</a:t>
            </a:r>
            <a:r>
              <a:rPr sz="1575" spc="-30" baseline="-31746" dirty="0">
                <a:latin typeface="Microsoft Sans Serif"/>
                <a:cs typeface="Microsoft Sans Serif"/>
              </a:rPr>
              <a:t>2</a:t>
            </a:r>
            <a:r>
              <a:rPr sz="1800" spc="-20" dirty="0">
                <a:latin typeface="Microsoft Sans Serif"/>
                <a:cs typeface="Microsoft Sans Serif"/>
              </a:rPr>
              <a:t>+R</a:t>
            </a:r>
            <a:r>
              <a:rPr sz="1575" spc="-30" baseline="-31746" dirty="0">
                <a:latin typeface="Microsoft Sans Serif"/>
                <a:cs typeface="Microsoft Sans Serif"/>
              </a:rPr>
              <a:t>3</a:t>
            </a:r>
            <a:endParaRPr sz="1575" baseline="-31746">
              <a:latin typeface="Microsoft Sans Serif"/>
              <a:cs typeface="Microsoft Sans Serif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633969" y="693779"/>
            <a:ext cx="0" cy="1755139"/>
          </a:xfrm>
          <a:custGeom>
            <a:avLst/>
            <a:gdLst/>
            <a:ahLst/>
            <a:cxnLst/>
            <a:rect l="l" t="t" r="r" b="b"/>
            <a:pathLst>
              <a:path h="1755139">
                <a:moveTo>
                  <a:pt x="0" y="0"/>
                </a:moveTo>
                <a:lnTo>
                  <a:pt x="0" y="175514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7818119" y="3447139"/>
          <a:ext cx="1991360" cy="14674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19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42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8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9584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25" dirty="0">
                          <a:latin typeface="Microsoft Sans Serif"/>
                          <a:cs typeface="Microsoft Sans Serif"/>
                        </a:rPr>
                        <a:t>0.2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13525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25" dirty="0">
                          <a:latin typeface="Microsoft Sans Serif"/>
                          <a:cs typeface="Microsoft Sans Serif"/>
                        </a:rPr>
                        <a:t>0.2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13525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B2B2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10" dirty="0">
                          <a:latin typeface="Microsoft Sans Serif"/>
                          <a:cs typeface="Microsoft Sans Serif"/>
                        </a:rPr>
                        <a:t>-</a:t>
                      </a:r>
                      <a:r>
                        <a:rPr sz="1800" spc="-25" dirty="0">
                          <a:latin typeface="Microsoft Sans Serif"/>
                          <a:cs typeface="Microsoft Sans Serif"/>
                        </a:rPr>
                        <a:t>0.2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13525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25" dirty="0">
                          <a:latin typeface="Microsoft Sans Serif"/>
                          <a:cs typeface="Microsoft Sans Serif"/>
                        </a:rPr>
                        <a:t>0.3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13525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25" dirty="0">
                          <a:latin typeface="Microsoft Sans Serif"/>
                          <a:cs typeface="Microsoft Sans Serif"/>
                        </a:rPr>
                        <a:t>0.2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13525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10" dirty="0">
                          <a:latin typeface="Microsoft Sans Serif"/>
                          <a:cs typeface="Microsoft Sans Serif"/>
                        </a:rPr>
                        <a:t>-</a:t>
                      </a:r>
                      <a:r>
                        <a:rPr sz="1800" spc="-25" dirty="0">
                          <a:latin typeface="Microsoft Sans Serif"/>
                          <a:cs typeface="Microsoft Sans Serif"/>
                        </a:rPr>
                        <a:t>0.3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13525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E5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5495290" y="3449680"/>
          <a:ext cx="1993898" cy="146938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64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48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26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022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6670" marB="0"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6670" marB="0"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26797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6670" marB="0">
                    <a:solidFill>
                      <a:srgbClr val="B2B2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9584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26797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9584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26797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E5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6" name="object 16"/>
          <p:cNvSpPr txBox="1"/>
          <p:nvPr/>
        </p:nvSpPr>
        <p:spPr>
          <a:xfrm>
            <a:off x="6965950" y="5087980"/>
            <a:ext cx="11277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Microsoft Sans Serif"/>
                <a:cs typeface="Microsoft Sans Serif"/>
              </a:rPr>
              <a:t>R</a:t>
            </a:r>
            <a:r>
              <a:rPr sz="1575" baseline="-31746" dirty="0">
                <a:latin typeface="Microsoft Sans Serif"/>
                <a:cs typeface="Microsoft Sans Serif"/>
              </a:rPr>
              <a:t>3</a:t>
            </a:r>
            <a:r>
              <a:rPr sz="1575" spc="315" baseline="-31746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=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spc="-20" dirty="0">
                <a:latin typeface="Microsoft Sans Serif"/>
                <a:cs typeface="Microsoft Sans Serif"/>
              </a:rPr>
              <a:t>R</a:t>
            </a:r>
            <a:r>
              <a:rPr sz="1575" spc="-30" baseline="-31746" dirty="0">
                <a:latin typeface="Microsoft Sans Serif"/>
                <a:cs typeface="Microsoft Sans Serif"/>
              </a:rPr>
              <a:t>3</a:t>
            </a:r>
            <a:r>
              <a:rPr sz="1800" spc="-20" dirty="0">
                <a:latin typeface="Microsoft Sans Serif"/>
                <a:cs typeface="Microsoft Sans Serif"/>
              </a:rPr>
              <a:t>-</a:t>
            </a:r>
            <a:r>
              <a:rPr sz="1800" spc="-25" dirty="0">
                <a:latin typeface="Microsoft Sans Serif"/>
                <a:cs typeface="Microsoft Sans Serif"/>
              </a:rPr>
              <a:t>R</a:t>
            </a:r>
            <a:r>
              <a:rPr sz="1575" spc="-37" baseline="-31746" dirty="0">
                <a:latin typeface="Microsoft Sans Serif"/>
                <a:cs typeface="Microsoft Sans Serif"/>
              </a:rPr>
              <a:t>2</a:t>
            </a:r>
            <a:endParaRPr sz="1575" baseline="-31746">
              <a:latin typeface="Microsoft Sans Serif"/>
              <a:cs typeface="Microsoft Sans Serif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7633969" y="3285849"/>
            <a:ext cx="0" cy="1755139"/>
          </a:xfrm>
          <a:custGeom>
            <a:avLst/>
            <a:gdLst/>
            <a:ahLst/>
            <a:cxnLst/>
            <a:rect l="l" t="t" r="r" b="b"/>
            <a:pathLst>
              <a:path h="1755139">
                <a:moveTo>
                  <a:pt x="0" y="0"/>
                </a:moveTo>
                <a:lnTo>
                  <a:pt x="0" y="1755139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8" name="object 18"/>
          <p:cNvGrpSpPr/>
          <p:nvPr/>
        </p:nvGrpSpPr>
        <p:grpSpPr>
          <a:xfrm>
            <a:off x="7578090" y="2885800"/>
            <a:ext cx="107950" cy="281940"/>
            <a:chOff x="7578090" y="2885800"/>
            <a:chExt cx="107950" cy="281940"/>
          </a:xfrm>
        </p:grpSpPr>
        <p:sp>
          <p:nvSpPr>
            <p:cNvPr id="19" name="object 19"/>
            <p:cNvSpPr/>
            <p:nvPr/>
          </p:nvSpPr>
          <p:spPr>
            <a:xfrm>
              <a:off x="7631430" y="2885800"/>
              <a:ext cx="0" cy="128270"/>
            </a:xfrm>
            <a:custGeom>
              <a:avLst/>
              <a:gdLst/>
              <a:ahLst/>
              <a:cxnLst/>
              <a:rect l="l" t="t" r="r" b="b"/>
              <a:pathLst>
                <a:path h="128269">
                  <a:moveTo>
                    <a:pt x="0" y="0"/>
                  </a:moveTo>
                  <a:lnTo>
                    <a:pt x="0" y="1282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578090" y="3006450"/>
              <a:ext cx="107950" cy="161290"/>
            </a:xfrm>
            <a:custGeom>
              <a:avLst/>
              <a:gdLst/>
              <a:ahLst/>
              <a:cxnLst/>
              <a:rect l="l" t="t" r="r" b="b"/>
              <a:pathLst>
                <a:path w="107950" h="161289">
                  <a:moveTo>
                    <a:pt x="107950" y="0"/>
                  </a:moveTo>
                  <a:lnTo>
                    <a:pt x="0" y="0"/>
                  </a:lnTo>
                  <a:lnTo>
                    <a:pt x="53339" y="161289"/>
                  </a:lnTo>
                  <a:lnTo>
                    <a:pt x="1079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320800" y="1275439"/>
          <a:ext cx="1993899" cy="14852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5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48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0220"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3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2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26860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B2B2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2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3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26860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6095"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26860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4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E5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5759" y="19410"/>
            <a:ext cx="425196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47189" algn="l"/>
              </a:tabLst>
            </a:pPr>
            <a:r>
              <a:rPr spc="-10" dirty="0"/>
              <a:t>Matrix</a:t>
            </a:r>
            <a:r>
              <a:rPr dirty="0"/>
              <a:t>	</a:t>
            </a:r>
            <a:r>
              <a:rPr spc="-10" dirty="0"/>
              <a:t>operations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52780" y="875389"/>
            <a:ext cx="35763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Microsoft Sans Serif"/>
                <a:cs typeface="Microsoft Sans Serif"/>
              </a:rPr>
              <a:t>Find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inverse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of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given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matrix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5759" y="19410"/>
            <a:ext cx="425196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47189" algn="l"/>
              </a:tabLst>
            </a:pPr>
            <a:r>
              <a:rPr spc="-10" dirty="0"/>
              <a:t>Matrix</a:t>
            </a:r>
            <a:r>
              <a:rPr dirty="0"/>
              <a:t>	</a:t>
            </a:r>
            <a:r>
              <a:rPr spc="-10" dirty="0"/>
              <a:t>operations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5680" y="1538330"/>
            <a:ext cx="359410" cy="1841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050" dirty="0">
                <a:latin typeface="Microsoft Sans Serif"/>
                <a:cs typeface="Microsoft Sans Serif"/>
              </a:rPr>
              <a:t>21</a:t>
            </a:r>
            <a:r>
              <a:rPr sz="1050" spc="150" dirty="0">
                <a:latin typeface="Microsoft Sans Serif"/>
                <a:cs typeface="Microsoft Sans Serif"/>
              </a:rPr>
              <a:t>  </a:t>
            </a:r>
            <a:r>
              <a:rPr sz="1050" spc="-50" dirty="0">
                <a:latin typeface="Microsoft Sans Serif"/>
                <a:cs typeface="Microsoft Sans Serif"/>
              </a:rPr>
              <a:t>1</a:t>
            </a:r>
            <a:endParaRPr sz="105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18310" y="1538330"/>
            <a:ext cx="359410" cy="1841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050" dirty="0">
                <a:latin typeface="Microsoft Sans Serif"/>
                <a:cs typeface="Microsoft Sans Serif"/>
              </a:rPr>
              <a:t>22</a:t>
            </a:r>
            <a:r>
              <a:rPr sz="1050" spc="150" dirty="0">
                <a:latin typeface="Microsoft Sans Serif"/>
                <a:cs typeface="Microsoft Sans Serif"/>
              </a:rPr>
              <a:t>  </a:t>
            </a:r>
            <a:r>
              <a:rPr sz="1050" spc="-60" dirty="0">
                <a:latin typeface="Microsoft Sans Serif"/>
                <a:cs typeface="Microsoft Sans Serif"/>
              </a:rPr>
              <a:t>2</a:t>
            </a:r>
            <a:endParaRPr sz="105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40939" y="1538330"/>
            <a:ext cx="359410" cy="1841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050" dirty="0">
                <a:latin typeface="Microsoft Sans Serif"/>
                <a:cs typeface="Microsoft Sans Serif"/>
              </a:rPr>
              <a:t>23</a:t>
            </a:r>
            <a:r>
              <a:rPr sz="1050" spc="150" dirty="0">
                <a:latin typeface="Microsoft Sans Serif"/>
                <a:cs typeface="Microsoft Sans Serif"/>
              </a:rPr>
              <a:t>  </a:t>
            </a:r>
            <a:r>
              <a:rPr sz="1050" spc="-60" dirty="0">
                <a:latin typeface="Microsoft Sans Serif"/>
                <a:cs typeface="Microsoft Sans Serif"/>
              </a:rPr>
              <a:t>3</a:t>
            </a:r>
            <a:endParaRPr sz="105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8680" y="1365610"/>
            <a:ext cx="38811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85115" algn="l"/>
                <a:tab pos="536575" algn="l"/>
                <a:tab pos="1007744" algn="l"/>
                <a:tab pos="1259205" algn="l"/>
                <a:tab pos="1730375" algn="l"/>
                <a:tab pos="1981835" algn="l"/>
                <a:tab pos="3291204" algn="l"/>
                <a:tab pos="3542665" algn="l"/>
              </a:tabLst>
            </a:pPr>
            <a:r>
              <a:rPr sz="1800" spc="-50" dirty="0">
                <a:latin typeface="Microsoft Sans Serif"/>
                <a:cs typeface="Microsoft Sans Serif"/>
              </a:rPr>
              <a:t>a</a:t>
            </a:r>
            <a:r>
              <a:rPr sz="1800" dirty="0">
                <a:latin typeface="Microsoft Sans Serif"/>
                <a:cs typeface="Microsoft Sans Serif"/>
              </a:rPr>
              <a:t>	</a:t>
            </a:r>
            <a:r>
              <a:rPr sz="1800" spc="-50" dirty="0">
                <a:latin typeface="Microsoft Sans Serif"/>
                <a:cs typeface="Microsoft Sans Serif"/>
              </a:rPr>
              <a:t>x</a:t>
            </a:r>
            <a:r>
              <a:rPr sz="1800" dirty="0">
                <a:latin typeface="Microsoft Sans Serif"/>
                <a:cs typeface="Microsoft Sans Serif"/>
              </a:rPr>
              <a:t>	+</a:t>
            </a:r>
            <a:r>
              <a:rPr sz="1800" spc="25" dirty="0">
                <a:latin typeface="Microsoft Sans Serif"/>
                <a:cs typeface="Microsoft Sans Serif"/>
              </a:rPr>
              <a:t> </a:t>
            </a:r>
            <a:r>
              <a:rPr sz="1800" spc="-50" dirty="0">
                <a:latin typeface="Microsoft Sans Serif"/>
                <a:cs typeface="Microsoft Sans Serif"/>
              </a:rPr>
              <a:t>a</a:t>
            </a:r>
            <a:r>
              <a:rPr sz="1800" dirty="0">
                <a:latin typeface="Microsoft Sans Serif"/>
                <a:cs typeface="Microsoft Sans Serif"/>
              </a:rPr>
              <a:t>	</a:t>
            </a:r>
            <a:r>
              <a:rPr sz="1800" spc="-50" dirty="0">
                <a:latin typeface="Microsoft Sans Serif"/>
                <a:cs typeface="Microsoft Sans Serif"/>
              </a:rPr>
              <a:t>x</a:t>
            </a:r>
            <a:r>
              <a:rPr sz="1800" dirty="0">
                <a:latin typeface="Microsoft Sans Serif"/>
                <a:cs typeface="Microsoft Sans Serif"/>
              </a:rPr>
              <a:t>	+</a:t>
            </a:r>
            <a:r>
              <a:rPr sz="1800" spc="25" dirty="0">
                <a:latin typeface="Microsoft Sans Serif"/>
                <a:cs typeface="Microsoft Sans Serif"/>
              </a:rPr>
              <a:t> </a:t>
            </a:r>
            <a:r>
              <a:rPr sz="1800" spc="-50" dirty="0">
                <a:latin typeface="Microsoft Sans Serif"/>
                <a:cs typeface="Microsoft Sans Serif"/>
              </a:rPr>
              <a:t>a</a:t>
            </a:r>
            <a:r>
              <a:rPr sz="1800" dirty="0">
                <a:latin typeface="Microsoft Sans Serif"/>
                <a:cs typeface="Microsoft Sans Serif"/>
              </a:rPr>
              <a:t>	</a:t>
            </a:r>
            <a:r>
              <a:rPr sz="1800" spc="-50" dirty="0">
                <a:latin typeface="Microsoft Sans Serif"/>
                <a:cs typeface="Microsoft Sans Serif"/>
              </a:rPr>
              <a:t>x</a:t>
            </a:r>
            <a:r>
              <a:rPr sz="1800" dirty="0">
                <a:latin typeface="Microsoft Sans Serif"/>
                <a:cs typeface="Microsoft Sans Serif"/>
              </a:rPr>
              <a:t>	+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..........+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spc="-50" dirty="0">
                <a:latin typeface="Microsoft Sans Serif"/>
                <a:cs typeface="Microsoft Sans Serif"/>
              </a:rPr>
              <a:t>a</a:t>
            </a:r>
            <a:r>
              <a:rPr sz="1800" dirty="0">
                <a:latin typeface="Microsoft Sans Serif"/>
                <a:cs typeface="Microsoft Sans Serif"/>
              </a:rPr>
              <a:t>	</a:t>
            </a:r>
            <a:r>
              <a:rPr sz="1800" spc="-50" dirty="0">
                <a:latin typeface="Microsoft Sans Serif"/>
                <a:cs typeface="Microsoft Sans Serif"/>
              </a:rPr>
              <a:t>x</a:t>
            </a:r>
            <a:r>
              <a:rPr sz="1800" dirty="0">
                <a:latin typeface="Microsoft Sans Serif"/>
                <a:cs typeface="Microsoft Sans Serif"/>
              </a:rPr>
              <a:t>	=</a:t>
            </a:r>
            <a:r>
              <a:rPr sz="1800" spc="25" dirty="0">
                <a:latin typeface="Microsoft Sans Serif"/>
                <a:cs typeface="Microsoft Sans Serif"/>
              </a:rPr>
              <a:t> </a:t>
            </a:r>
            <a:r>
              <a:rPr sz="1800" spc="-50" dirty="0">
                <a:latin typeface="Microsoft Sans Serif"/>
                <a:cs typeface="Microsoft Sans Serif"/>
              </a:rPr>
              <a:t>h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01770" y="1538330"/>
            <a:ext cx="821690" cy="1841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734695" algn="l"/>
              </a:tabLst>
            </a:pPr>
            <a:r>
              <a:rPr sz="1050" dirty="0">
                <a:latin typeface="Microsoft Sans Serif"/>
                <a:cs typeface="Microsoft Sans Serif"/>
              </a:rPr>
              <a:t>2n</a:t>
            </a:r>
            <a:r>
              <a:rPr sz="1050" spc="150" dirty="0">
                <a:latin typeface="Microsoft Sans Serif"/>
                <a:cs typeface="Microsoft Sans Serif"/>
              </a:rPr>
              <a:t>  </a:t>
            </a:r>
            <a:r>
              <a:rPr sz="1050" spc="-60" dirty="0">
                <a:latin typeface="Microsoft Sans Serif"/>
                <a:cs typeface="Microsoft Sans Serif"/>
              </a:rPr>
              <a:t>n</a:t>
            </a:r>
            <a:r>
              <a:rPr sz="1050" dirty="0">
                <a:latin typeface="Microsoft Sans Serif"/>
                <a:cs typeface="Microsoft Sans Serif"/>
              </a:rPr>
              <a:t>	</a:t>
            </a:r>
            <a:r>
              <a:rPr sz="1050" spc="-50" dirty="0">
                <a:latin typeface="Microsoft Sans Serif"/>
                <a:cs typeface="Microsoft Sans Serif"/>
              </a:rPr>
              <a:t>2</a:t>
            </a:r>
            <a:endParaRPr sz="105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96569" y="682350"/>
            <a:ext cx="8039100" cy="924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4810" marR="17780" indent="-359410">
              <a:lnSpc>
                <a:spcPct val="118100"/>
              </a:lnSpc>
              <a:spcBef>
                <a:spcPts val="100"/>
              </a:spcBef>
            </a:pPr>
            <a:r>
              <a:rPr sz="1800" dirty="0">
                <a:latin typeface="Microsoft Sans Serif"/>
                <a:cs typeface="Microsoft Sans Serif"/>
              </a:rPr>
              <a:t>A</a:t>
            </a:r>
            <a:r>
              <a:rPr sz="1800" spc="-1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system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of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linear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equations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can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be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solved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using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matrix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inversion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operation </a:t>
            </a:r>
            <a:r>
              <a:rPr sz="1800" dirty="0">
                <a:latin typeface="Microsoft Sans Serif"/>
                <a:cs typeface="Microsoft Sans Serif"/>
              </a:rPr>
              <a:t>a</a:t>
            </a:r>
            <a:r>
              <a:rPr sz="1575" baseline="-31746" dirty="0">
                <a:latin typeface="Microsoft Sans Serif"/>
                <a:cs typeface="Microsoft Sans Serif"/>
              </a:rPr>
              <a:t>11</a:t>
            </a:r>
            <a:r>
              <a:rPr sz="1800" dirty="0">
                <a:latin typeface="Microsoft Sans Serif"/>
                <a:cs typeface="Microsoft Sans Serif"/>
              </a:rPr>
              <a:t>x</a:t>
            </a:r>
            <a:r>
              <a:rPr sz="1575" baseline="-31746" dirty="0">
                <a:latin typeface="Microsoft Sans Serif"/>
                <a:cs typeface="Microsoft Sans Serif"/>
              </a:rPr>
              <a:t>1</a:t>
            </a:r>
            <a:r>
              <a:rPr sz="1575" spc="292" baseline="-31746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+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</a:t>
            </a:r>
            <a:r>
              <a:rPr sz="1575" baseline="-31746" dirty="0">
                <a:latin typeface="Microsoft Sans Serif"/>
                <a:cs typeface="Microsoft Sans Serif"/>
              </a:rPr>
              <a:t>12</a:t>
            </a:r>
            <a:r>
              <a:rPr sz="1800" dirty="0">
                <a:latin typeface="Microsoft Sans Serif"/>
                <a:cs typeface="Microsoft Sans Serif"/>
              </a:rPr>
              <a:t>x</a:t>
            </a:r>
            <a:r>
              <a:rPr sz="1575" baseline="-31746" dirty="0">
                <a:latin typeface="Microsoft Sans Serif"/>
                <a:cs typeface="Microsoft Sans Serif"/>
              </a:rPr>
              <a:t>2</a:t>
            </a:r>
            <a:r>
              <a:rPr sz="1575" spc="292" baseline="-31746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+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</a:t>
            </a:r>
            <a:r>
              <a:rPr sz="1575" baseline="-31746" dirty="0">
                <a:latin typeface="Microsoft Sans Serif"/>
                <a:cs typeface="Microsoft Sans Serif"/>
              </a:rPr>
              <a:t>13</a:t>
            </a:r>
            <a:r>
              <a:rPr sz="1800" dirty="0">
                <a:latin typeface="Microsoft Sans Serif"/>
                <a:cs typeface="Microsoft Sans Serif"/>
              </a:rPr>
              <a:t>x</a:t>
            </a:r>
            <a:r>
              <a:rPr sz="1575" baseline="-31746" dirty="0">
                <a:latin typeface="Microsoft Sans Serif"/>
                <a:cs typeface="Microsoft Sans Serif"/>
              </a:rPr>
              <a:t>3</a:t>
            </a:r>
            <a:r>
              <a:rPr sz="1575" spc="292" baseline="-31746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+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..........+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</a:t>
            </a:r>
            <a:r>
              <a:rPr sz="1575" baseline="-31746" dirty="0">
                <a:latin typeface="Microsoft Sans Serif"/>
                <a:cs typeface="Microsoft Sans Serif"/>
              </a:rPr>
              <a:t>1n</a:t>
            </a:r>
            <a:r>
              <a:rPr sz="1800" dirty="0">
                <a:latin typeface="Microsoft Sans Serif"/>
                <a:cs typeface="Microsoft Sans Serif"/>
              </a:rPr>
              <a:t>x</a:t>
            </a:r>
            <a:r>
              <a:rPr sz="1575" baseline="-31746" dirty="0">
                <a:latin typeface="Microsoft Sans Serif"/>
                <a:cs typeface="Microsoft Sans Serif"/>
              </a:rPr>
              <a:t>n</a:t>
            </a:r>
            <a:r>
              <a:rPr sz="1575" spc="292" baseline="-31746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=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h</a:t>
            </a:r>
            <a:r>
              <a:rPr sz="1575" spc="-37" baseline="-31746" dirty="0">
                <a:latin typeface="Microsoft Sans Serif"/>
                <a:cs typeface="Microsoft Sans Serif"/>
              </a:rPr>
              <a:t>1</a:t>
            </a:r>
            <a:endParaRPr sz="1575" baseline="-31746">
              <a:latin typeface="Microsoft Sans Serif"/>
              <a:cs typeface="Microsoft Sans Serif"/>
            </a:endParaRPr>
          </a:p>
          <a:p>
            <a:pPr marR="1409065" algn="r">
              <a:lnSpc>
                <a:spcPts val="1980"/>
              </a:lnSpc>
            </a:pPr>
            <a:r>
              <a:rPr sz="1800" b="1" dirty="0">
                <a:latin typeface="Arial"/>
                <a:cs typeface="Arial"/>
              </a:rPr>
              <a:t>A</a:t>
            </a:r>
            <a:r>
              <a:rPr sz="1800" b="1" spc="-7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X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=</a:t>
            </a:r>
            <a:r>
              <a:rPr sz="1800" spc="25" dirty="0">
                <a:latin typeface="Microsoft Sans Serif"/>
                <a:cs typeface="Microsoft Sans Serif"/>
              </a:rPr>
              <a:t> </a:t>
            </a:r>
            <a:r>
              <a:rPr sz="1800" b="1" spc="-50" dirty="0">
                <a:latin typeface="Arial"/>
                <a:cs typeface="Arial"/>
              </a:rPr>
              <a:t>H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68680" y="1676760"/>
            <a:ext cx="89535" cy="1068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090"/>
              </a:lnSpc>
              <a:spcBef>
                <a:spcPts val="100"/>
              </a:spcBef>
            </a:pPr>
            <a:r>
              <a:rPr sz="1800" spc="-50" dirty="0">
                <a:latin typeface="Microsoft Sans Serif"/>
                <a:cs typeface="Microsoft Sans Serif"/>
              </a:rPr>
              <a:t>.</a:t>
            </a: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ts val="2014"/>
              </a:lnSpc>
            </a:pPr>
            <a:r>
              <a:rPr sz="1800" spc="-50" dirty="0">
                <a:latin typeface="Microsoft Sans Serif"/>
                <a:cs typeface="Microsoft Sans Serif"/>
              </a:rPr>
              <a:t>.</a:t>
            </a: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ts val="2014"/>
              </a:lnSpc>
            </a:pPr>
            <a:r>
              <a:rPr sz="1800" spc="-50" dirty="0">
                <a:latin typeface="Microsoft Sans Serif"/>
                <a:cs typeface="Microsoft Sans Serif"/>
              </a:rPr>
              <a:t>.</a:t>
            </a: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ts val="2090"/>
              </a:lnSpc>
            </a:pPr>
            <a:r>
              <a:rPr sz="1800" spc="-50" dirty="0">
                <a:latin typeface="Microsoft Sans Serif"/>
                <a:cs typeface="Microsoft Sans Serif"/>
              </a:rPr>
              <a:t>.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43280" y="2700379"/>
            <a:ext cx="400557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Microsoft Sans Serif"/>
                <a:cs typeface="Microsoft Sans Serif"/>
              </a:rPr>
              <a:t>a</a:t>
            </a:r>
            <a:r>
              <a:rPr sz="1575" baseline="-31746" dirty="0">
                <a:latin typeface="Microsoft Sans Serif"/>
                <a:cs typeface="Microsoft Sans Serif"/>
              </a:rPr>
              <a:t>n1</a:t>
            </a:r>
            <a:r>
              <a:rPr sz="1800" dirty="0">
                <a:latin typeface="Microsoft Sans Serif"/>
                <a:cs typeface="Microsoft Sans Serif"/>
              </a:rPr>
              <a:t>x</a:t>
            </a:r>
            <a:r>
              <a:rPr sz="1575" baseline="-31746" dirty="0">
                <a:latin typeface="Microsoft Sans Serif"/>
                <a:cs typeface="Microsoft Sans Serif"/>
              </a:rPr>
              <a:t>1</a:t>
            </a:r>
            <a:r>
              <a:rPr sz="1575" spc="292" baseline="-31746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+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</a:t>
            </a:r>
            <a:r>
              <a:rPr sz="1575" baseline="-31746" dirty="0">
                <a:latin typeface="Microsoft Sans Serif"/>
                <a:cs typeface="Microsoft Sans Serif"/>
              </a:rPr>
              <a:t>n2</a:t>
            </a:r>
            <a:r>
              <a:rPr sz="1800" dirty="0">
                <a:latin typeface="Microsoft Sans Serif"/>
                <a:cs typeface="Microsoft Sans Serif"/>
              </a:rPr>
              <a:t>x</a:t>
            </a:r>
            <a:r>
              <a:rPr sz="1575" baseline="-31746" dirty="0">
                <a:latin typeface="Microsoft Sans Serif"/>
                <a:cs typeface="Microsoft Sans Serif"/>
              </a:rPr>
              <a:t>2</a:t>
            </a:r>
            <a:r>
              <a:rPr sz="1575" spc="292" baseline="-31746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+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</a:t>
            </a:r>
            <a:r>
              <a:rPr sz="1575" baseline="-31746" dirty="0">
                <a:latin typeface="Microsoft Sans Serif"/>
                <a:cs typeface="Microsoft Sans Serif"/>
              </a:rPr>
              <a:t>n3</a:t>
            </a:r>
            <a:r>
              <a:rPr sz="1800" dirty="0">
                <a:latin typeface="Microsoft Sans Serif"/>
                <a:cs typeface="Microsoft Sans Serif"/>
              </a:rPr>
              <a:t>x</a:t>
            </a:r>
            <a:r>
              <a:rPr sz="1575" baseline="-31746" dirty="0">
                <a:latin typeface="Microsoft Sans Serif"/>
                <a:cs typeface="Microsoft Sans Serif"/>
              </a:rPr>
              <a:t>3</a:t>
            </a:r>
            <a:r>
              <a:rPr sz="1575" spc="292" baseline="-31746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+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..........+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</a:t>
            </a:r>
            <a:r>
              <a:rPr sz="1575" baseline="-31746" dirty="0">
                <a:latin typeface="Microsoft Sans Serif"/>
                <a:cs typeface="Microsoft Sans Serif"/>
              </a:rPr>
              <a:t>nn</a:t>
            </a:r>
            <a:r>
              <a:rPr sz="1800" dirty="0">
                <a:latin typeface="Microsoft Sans Serif"/>
                <a:cs typeface="Microsoft Sans Serif"/>
              </a:rPr>
              <a:t>x</a:t>
            </a:r>
            <a:r>
              <a:rPr sz="1575" baseline="-31746" dirty="0">
                <a:latin typeface="Microsoft Sans Serif"/>
                <a:cs typeface="Microsoft Sans Serif"/>
              </a:rPr>
              <a:t>n</a:t>
            </a:r>
            <a:r>
              <a:rPr sz="1575" spc="292" baseline="-31746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=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h</a:t>
            </a:r>
            <a:r>
              <a:rPr sz="1575" spc="-37" baseline="-31746" dirty="0">
                <a:latin typeface="Microsoft Sans Serif"/>
                <a:cs typeface="Microsoft Sans Serif"/>
              </a:rPr>
              <a:t>n</a:t>
            </a:r>
            <a:endParaRPr sz="1575" baseline="-31746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280150" y="1563730"/>
            <a:ext cx="1374140" cy="8115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ts val="2085"/>
              </a:lnSpc>
              <a:spcBef>
                <a:spcPts val="100"/>
              </a:spcBef>
            </a:pPr>
            <a:r>
              <a:rPr sz="1800" b="1" spc="-15" dirty="0">
                <a:latin typeface="Arial"/>
                <a:cs typeface="Arial"/>
              </a:rPr>
              <a:t>A</a:t>
            </a:r>
            <a:r>
              <a:rPr sz="1575" b="1" spc="-22" baseline="31746" dirty="0">
                <a:latin typeface="Arial"/>
                <a:cs typeface="Arial"/>
              </a:rPr>
              <a:t>-</a:t>
            </a:r>
            <a:r>
              <a:rPr sz="1575" b="1" baseline="31746" dirty="0">
                <a:latin typeface="Arial"/>
                <a:cs typeface="Arial"/>
              </a:rPr>
              <a:t>1</a:t>
            </a:r>
            <a:r>
              <a:rPr sz="1800" b="1" dirty="0">
                <a:latin typeface="Arial"/>
                <a:cs typeface="Arial"/>
              </a:rPr>
              <a:t>AX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=</a:t>
            </a:r>
            <a:r>
              <a:rPr sz="1800" b="1" spc="-8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A</a:t>
            </a:r>
            <a:r>
              <a:rPr sz="1575" b="1" spc="-15" baseline="31746" dirty="0">
                <a:latin typeface="Arial"/>
                <a:cs typeface="Arial"/>
              </a:rPr>
              <a:t>-</a:t>
            </a:r>
            <a:r>
              <a:rPr sz="1575" b="1" spc="-37" baseline="31746" dirty="0">
                <a:latin typeface="Arial"/>
                <a:cs typeface="Arial"/>
              </a:rPr>
              <a:t>1</a:t>
            </a:r>
            <a:r>
              <a:rPr sz="1800" b="1" spc="-25" dirty="0">
                <a:latin typeface="Arial"/>
                <a:cs typeface="Arial"/>
              </a:rPr>
              <a:t>H</a:t>
            </a:r>
            <a:endParaRPr sz="1800">
              <a:latin typeface="Arial"/>
              <a:cs typeface="Arial"/>
            </a:endParaRPr>
          </a:p>
          <a:p>
            <a:pPr marL="38100">
              <a:lnSpc>
                <a:spcPts val="2014"/>
              </a:lnSpc>
            </a:pPr>
            <a:r>
              <a:rPr sz="1800" b="1" dirty="0">
                <a:latin typeface="Arial"/>
                <a:cs typeface="Arial"/>
              </a:rPr>
              <a:t>IX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=</a:t>
            </a:r>
            <a:r>
              <a:rPr sz="1800" b="1" spc="-7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A</a:t>
            </a:r>
            <a:r>
              <a:rPr sz="1575" b="1" spc="-15" baseline="31746" dirty="0">
                <a:latin typeface="Arial"/>
                <a:cs typeface="Arial"/>
              </a:rPr>
              <a:t>-</a:t>
            </a:r>
            <a:r>
              <a:rPr sz="1575" b="1" spc="-37" baseline="31746" dirty="0">
                <a:latin typeface="Arial"/>
                <a:cs typeface="Arial"/>
              </a:rPr>
              <a:t>1</a:t>
            </a:r>
            <a:r>
              <a:rPr sz="1800" b="1" spc="-25" dirty="0">
                <a:latin typeface="Arial"/>
                <a:cs typeface="Arial"/>
              </a:rPr>
              <a:t>H</a:t>
            </a:r>
            <a:endParaRPr sz="1800">
              <a:latin typeface="Arial"/>
              <a:cs typeface="Arial"/>
            </a:endParaRPr>
          </a:p>
          <a:p>
            <a:pPr marL="38100">
              <a:lnSpc>
                <a:spcPts val="2090"/>
              </a:lnSpc>
            </a:pPr>
            <a:r>
              <a:rPr sz="1800" b="1" dirty="0">
                <a:latin typeface="Arial"/>
                <a:cs typeface="Arial"/>
              </a:rPr>
              <a:t>X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=</a:t>
            </a:r>
            <a:r>
              <a:rPr sz="1800" spc="30" dirty="0">
                <a:latin typeface="Microsoft Sans Serif"/>
                <a:cs typeface="Microsoft Sans Serif"/>
              </a:rPr>
              <a:t> </a:t>
            </a:r>
            <a:r>
              <a:rPr sz="1800" b="1" spc="-10" dirty="0">
                <a:latin typeface="Arial"/>
                <a:cs typeface="Arial"/>
              </a:rPr>
              <a:t>A</a:t>
            </a:r>
            <a:r>
              <a:rPr sz="1575" spc="-15" baseline="31746" dirty="0">
                <a:latin typeface="Microsoft Sans Serif"/>
                <a:cs typeface="Microsoft Sans Serif"/>
              </a:rPr>
              <a:t>-</a:t>
            </a:r>
            <a:r>
              <a:rPr sz="1575" spc="-37" baseline="31746" dirty="0">
                <a:latin typeface="Microsoft Sans Serif"/>
                <a:cs typeface="Microsoft Sans Serif"/>
              </a:rPr>
              <a:t>1</a:t>
            </a:r>
            <a:r>
              <a:rPr sz="1800" b="1" spc="-25" dirty="0">
                <a:latin typeface="Arial"/>
                <a:cs typeface="Arial"/>
              </a:rPr>
              <a:t>H</a:t>
            </a:r>
            <a:endParaRPr sz="1800">
              <a:latin typeface="Arial"/>
              <a:cs typeface="Arial"/>
            </a:endParaRPr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1178560" y="3439519"/>
          <a:ext cx="2856228" cy="20008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124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4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61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46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4495">
                <a:tc>
                  <a:txBody>
                    <a:bodyPr/>
                    <a:lstStyle/>
                    <a:p>
                      <a:pPr marR="51435"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2700" spc="-37" baseline="18518" dirty="0">
                          <a:latin typeface="Microsoft Sans Serif"/>
                          <a:cs typeface="Microsoft Sans Serif"/>
                        </a:rPr>
                        <a:t>a</a:t>
                      </a:r>
                      <a:r>
                        <a:rPr sz="1050" spc="-25" dirty="0">
                          <a:latin typeface="Microsoft Sans Serif"/>
                          <a:cs typeface="Microsoft Sans Serif"/>
                        </a:rPr>
                        <a:t>11</a:t>
                      </a:r>
                      <a:endParaRPr sz="10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1600" marB="0"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2700" spc="-37" baseline="18518" dirty="0">
                          <a:latin typeface="Microsoft Sans Serif"/>
                          <a:cs typeface="Microsoft Sans Serif"/>
                        </a:rPr>
                        <a:t>a</a:t>
                      </a:r>
                      <a:r>
                        <a:rPr sz="1050" spc="-25" dirty="0">
                          <a:latin typeface="Microsoft Sans Serif"/>
                          <a:cs typeface="Microsoft Sans Serif"/>
                        </a:rPr>
                        <a:t>12</a:t>
                      </a:r>
                      <a:endParaRPr sz="10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1600" marB="0"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2700" spc="-37" baseline="18518" dirty="0">
                          <a:latin typeface="Microsoft Sans Serif"/>
                          <a:cs typeface="Microsoft Sans Serif"/>
                        </a:rPr>
                        <a:t>a</a:t>
                      </a:r>
                      <a:r>
                        <a:rPr sz="1050" spc="-25" dirty="0">
                          <a:latin typeface="Microsoft Sans Serif"/>
                          <a:cs typeface="Microsoft Sans Serif"/>
                        </a:rPr>
                        <a:t>13</a:t>
                      </a:r>
                      <a:endParaRPr sz="10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1600" marB="0"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5461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10" dirty="0">
                          <a:latin typeface="Microsoft Sans Serif"/>
                          <a:cs typeface="Microsoft Sans Serif"/>
                        </a:rPr>
                        <a:t>......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2700" spc="-37" baseline="18518" dirty="0">
                          <a:latin typeface="Microsoft Sans Serif"/>
                          <a:cs typeface="Microsoft Sans Serif"/>
                        </a:rPr>
                        <a:t>a</a:t>
                      </a:r>
                      <a:r>
                        <a:rPr sz="1050" spc="-25" dirty="0">
                          <a:latin typeface="Microsoft Sans Serif"/>
                          <a:cs typeface="Microsoft Sans Serif"/>
                        </a:rPr>
                        <a:t>1n</a:t>
                      </a:r>
                      <a:endParaRPr sz="10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1600" marB="0">
                    <a:solidFill>
                      <a:srgbClr val="B2B2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225">
                <a:tc>
                  <a:txBody>
                    <a:bodyPr/>
                    <a:lstStyle/>
                    <a:p>
                      <a:pPr marR="51435" algn="ctr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2700" spc="-37" baseline="18518" dirty="0">
                          <a:latin typeface="Microsoft Sans Serif"/>
                          <a:cs typeface="Microsoft Sans Serif"/>
                        </a:rPr>
                        <a:t>a</a:t>
                      </a:r>
                      <a:r>
                        <a:rPr sz="1050" spc="-25" dirty="0">
                          <a:latin typeface="Microsoft Sans Serif"/>
                          <a:cs typeface="Microsoft Sans Serif"/>
                        </a:rPr>
                        <a:t>21</a:t>
                      </a:r>
                      <a:endParaRPr sz="10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0330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2700" spc="-37" baseline="18518" dirty="0">
                          <a:latin typeface="Microsoft Sans Serif"/>
                          <a:cs typeface="Microsoft Sans Serif"/>
                        </a:rPr>
                        <a:t>a</a:t>
                      </a:r>
                      <a:r>
                        <a:rPr sz="1050" spc="-25" dirty="0">
                          <a:latin typeface="Microsoft Sans Serif"/>
                          <a:cs typeface="Microsoft Sans Serif"/>
                        </a:rPr>
                        <a:t>22</a:t>
                      </a:r>
                      <a:endParaRPr sz="10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0330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2700" spc="-37" baseline="18518" dirty="0">
                          <a:latin typeface="Microsoft Sans Serif"/>
                          <a:cs typeface="Microsoft Sans Serif"/>
                        </a:rPr>
                        <a:t>a</a:t>
                      </a:r>
                      <a:r>
                        <a:rPr sz="1050" spc="-25" dirty="0">
                          <a:latin typeface="Microsoft Sans Serif"/>
                          <a:cs typeface="Microsoft Sans Serif"/>
                        </a:rPr>
                        <a:t>23</a:t>
                      </a:r>
                      <a:endParaRPr sz="10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0330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5461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10" dirty="0">
                          <a:latin typeface="Microsoft Sans Serif"/>
                          <a:cs typeface="Microsoft Sans Serif"/>
                        </a:rPr>
                        <a:t>......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2700" spc="-37" baseline="18518" dirty="0">
                          <a:latin typeface="Microsoft Sans Serif"/>
                          <a:cs typeface="Microsoft Sans Serif"/>
                        </a:rPr>
                        <a:t>a</a:t>
                      </a:r>
                      <a:r>
                        <a:rPr sz="1050" spc="-25" dirty="0">
                          <a:latin typeface="Microsoft Sans Serif"/>
                          <a:cs typeface="Microsoft Sans Serif"/>
                        </a:rPr>
                        <a:t>2n</a:t>
                      </a:r>
                      <a:endParaRPr sz="10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0330" marB="0"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4970">
                <a:tc gridSpan="5"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.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6669" marB="0">
                    <a:solidFill>
                      <a:srgbClr val="E5E5E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4335">
                <a:tc gridSpan="5"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.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CCCC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marR="51435" algn="ctr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2700" spc="-37" baseline="18518" dirty="0">
                          <a:latin typeface="Microsoft Sans Serif"/>
                          <a:cs typeface="Microsoft Sans Serif"/>
                        </a:rPr>
                        <a:t>a</a:t>
                      </a:r>
                      <a:r>
                        <a:rPr sz="1050" spc="-25" dirty="0">
                          <a:latin typeface="Microsoft Sans Serif"/>
                          <a:cs typeface="Microsoft Sans Serif"/>
                        </a:rPr>
                        <a:t>n1</a:t>
                      </a:r>
                      <a:endParaRPr sz="10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0330" marB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2700" spc="-37" baseline="18518" dirty="0">
                          <a:latin typeface="Microsoft Sans Serif"/>
                          <a:cs typeface="Microsoft Sans Serif"/>
                        </a:rPr>
                        <a:t>a</a:t>
                      </a:r>
                      <a:r>
                        <a:rPr sz="1050" spc="-25" dirty="0">
                          <a:latin typeface="Microsoft Sans Serif"/>
                          <a:cs typeface="Microsoft Sans Serif"/>
                        </a:rPr>
                        <a:t>n2</a:t>
                      </a:r>
                      <a:endParaRPr sz="10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0330" marB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2700" spc="-37" baseline="18518" dirty="0">
                          <a:latin typeface="Microsoft Sans Serif"/>
                          <a:cs typeface="Microsoft Sans Serif"/>
                        </a:rPr>
                        <a:t>a</a:t>
                      </a:r>
                      <a:r>
                        <a:rPr sz="1050" spc="-25" dirty="0">
                          <a:latin typeface="Microsoft Sans Serif"/>
                          <a:cs typeface="Microsoft Sans Serif"/>
                        </a:rPr>
                        <a:t>n3</a:t>
                      </a:r>
                      <a:endParaRPr sz="10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0330" marB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5461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10" dirty="0">
                          <a:latin typeface="Microsoft Sans Serif"/>
                          <a:cs typeface="Microsoft Sans Serif"/>
                        </a:rPr>
                        <a:t>......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2700" spc="-37" baseline="18518" dirty="0">
                          <a:latin typeface="Microsoft Sans Serif"/>
                          <a:cs typeface="Microsoft Sans Serif"/>
                        </a:rPr>
                        <a:t>a</a:t>
                      </a:r>
                      <a:r>
                        <a:rPr sz="1050" spc="-25" dirty="0">
                          <a:latin typeface="Microsoft Sans Serif"/>
                          <a:cs typeface="Microsoft Sans Serif"/>
                        </a:rPr>
                        <a:t>nn</a:t>
                      </a:r>
                      <a:endParaRPr sz="10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0330" marB="0">
                    <a:solidFill>
                      <a:srgbClr val="E5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object 13"/>
          <p:cNvSpPr txBox="1"/>
          <p:nvPr/>
        </p:nvSpPr>
        <p:spPr>
          <a:xfrm>
            <a:off x="652780" y="4115160"/>
            <a:ext cx="3873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A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spc="-60" dirty="0">
                <a:latin typeface="Microsoft Sans Serif"/>
                <a:cs typeface="Microsoft Sans Serif"/>
              </a:rPr>
              <a:t>=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074920" y="3476349"/>
            <a:ext cx="480059" cy="403860"/>
          </a:xfrm>
          <a:prstGeom prst="rect">
            <a:avLst/>
          </a:prstGeom>
          <a:solidFill>
            <a:srgbClr val="B2B2B2"/>
          </a:solidFill>
        </p:spPr>
        <p:txBody>
          <a:bodyPr vert="horz" wrap="square" lIns="0" tIns="25400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200"/>
              </a:spcBef>
            </a:pPr>
            <a:r>
              <a:rPr sz="1800" spc="-25" dirty="0">
                <a:latin typeface="Microsoft Sans Serif"/>
                <a:cs typeface="Microsoft Sans Serif"/>
              </a:rPr>
              <a:t>x</a:t>
            </a:r>
            <a:r>
              <a:rPr sz="1575" spc="-37" baseline="-31746" dirty="0">
                <a:latin typeface="Microsoft Sans Serif"/>
                <a:cs typeface="Microsoft Sans Serif"/>
              </a:rPr>
              <a:t>1</a:t>
            </a:r>
            <a:endParaRPr sz="1575" baseline="-31746">
              <a:latin typeface="Microsoft Sans Serif"/>
              <a:cs typeface="Microsoft Sans Serif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074920" y="3880210"/>
            <a:ext cx="480059" cy="405130"/>
          </a:xfrm>
          <a:prstGeom prst="rect">
            <a:avLst/>
          </a:prstGeom>
          <a:solidFill>
            <a:srgbClr val="CCCCCC"/>
          </a:solidFill>
        </p:spPr>
        <p:txBody>
          <a:bodyPr vert="horz" wrap="square" lIns="0" tIns="25400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200"/>
              </a:spcBef>
            </a:pPr>
            <a:r>
              <a:rPr sz="1800" spc="-25" dirty="0">
                <a:latin typeface="Microsoft Sans Serif"/>
                <a:cs typeface="Microsoft Sans Serif"/>
              </a:rPr>
              <a:t>x</a:t>
            </a:r>
            <a:r>
              <a:rPr sz="1575" spc="-37" baseline="-31746" dirty="0">
                <a:latin typeface="Microsoft Sans Serif"/>
                <a:cs typeface="Microsoft Sans Serif"/>
              </a:rPr>
              <a:t>2</a:t>
            </a:r>
            <a:endParaRPr sz="1575" baseline="-31746">
              <a:latin typeface="Microsoft Sans Serif"/>
              <a:cs typeface="Microsoft Sans Serif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074920" y="4285339"/>
            <a:ext cx="480059" cy="393700"/>
          </a:xfrm>
          <a:prstGeom prst="rect">
            <a:avLst/>
          </a:prstGeom>
          <a:solidFill>
            <a:srgbClr val="E5E5E5"/>
          </a:solidFill>
        </p:spPr>
        <p:txBody>
          <a:bodyPr vert="horz" wrap="square" lIns="0" tIns="25400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200"/>
              </a:spcBef>
            </a:pPr>
            <a:r>
              <a:rPr sz="1800" spc="-50" dirty="0">
                <a:latin typeface="Microsoft Sans Serif"/>
                <a:cs typeface="Microsoft Sans Serif"/>
              </a:rPr>
              <a:t>.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074920" y="4679039"/>
            <a:ext cx="480059" cy="394970"/>
          </a:xfrm>
          <a:prstGeom prst="rect">
            <a:avLst/>
          </a:prstGeom>
          <a:solidFill>
            <a:srgbClr val="CCCCCC"/>
          </a:solidFill>
        </p:spPr>
        <p:txBody>
          <a:bodyPr vert="horz" wrap="square" lIns="0" tIns="26669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209"/>
              </a:spcBef>
            </a:pPr>
            <a:r>
              <a:rPr sz="1800" spc="-50" dirty="0">
                <a:latin typeface="Microsoft Sans Serif"/>
                <a:cs typeface="Microsoft Sans Serif"/>
              </a:rPr>
              <a:t>.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074920" y="5074010"/>
            <a:ext cx="480059" cy="405130"/>
          </a:xfrm>
          <a:prstGeom prst="rect">
            <a:avLst/>
          </a:prstGeom>
          <a:solidFill>
            <a:srgbClr val="E5E5E5"/>
          </a:solidFill>
        </p:spPr>
        <p:txBody>
          <a:bodyPr vert="horz" wrap="square" lIns="0" tIns="25400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200"/>
              </a:spcBef>
            </a:pPr>
            <a:r>
              <a:rPr sz="1800" spc="-25" dirty="0">
                <a:latin typeface="Microsoft Sans Serif"/>
                <a:cs typeface="Microsoft Sans Serif"/>
              </a:rPr>
              <a:t>x</a:t>
            </a:r>
            <a:r>
              <a:rPr sz="1575" spc="-37" baseline="-31746" dirty="0">
                <a:latin typeface="Microsoft Sans Serif"/>
                <a:cs typeface="Microsoft Sans Serif"/>
              </a:rPr>
              <a:t>n</a:t>
            </a:r>
            <a:endParaRPr sz="1575" baseline="-31746">
              <a:latin typeface="Microsoft Sans Serif"/>
              <a:cs typeface="Microsoft Sans Serif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541520" y="4115160"/>
            <a:ext cx="3746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X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spc="-50" dirty="0">
                <a:latin typeface="Microsoft Sans Serif"/>
                <a:cs typeface="Microsoft Sans Serif"/>
              </a:rPr>
              <a:t>=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525259" y="3426819"/>
            <a:ext cx="458470" cy="431800"/>
          </a:xfrm>
          <a:prstGeom prst="rect">
            <a:avLst/>
          </a:prstGeom>
          <a:solidFill>
            <a:srgbClr val="B2B2B2"/>
          </a:solidFill>
        </p:spPr>
        <p:txBody>
          <a:bodyPr vert="horz" wrap="square" lIns="0" tIns="2540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200"/>
              </a:spcBef>
            </a:pPr>
            <a:r>
              <a:rPr sz="1800" spc="-25" dirty="0">
                <a:latin typeface="Microsoft Sans Serif"/>
                <a:cs typeface="Microsoft Sans Serif"/>
              </a:rPr>
              <a:t>h</a:t>
            </a:r>
            <a:r>
              <a:rPr sz="1575" spc="-37" baseline="-31746" dirty="0">
                <a:latin typeface="Microsoft Sans Serif"/>
                <a:cs typeface="Microsoft Sans Serif"/>
              </a:rPr>
              <a:t>1</a:t>
            </a:r>
            <a:endParaRPr sz="1575" baseline="-31746">
              <a:latin typeface="Microsoft Sans Serif"/>
              <a:cs typeface="Microsoft Sans Serif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525259" y="3858619"/>
            <a:ext cx="458470" cy="433070"/>
          </a:xfrm>
          <a:prstGeom prst="rect">
            <a:avLst/>
          </a:prstGeom>
          <a:solidFill>
            <a:srgbClr val="CCCCCC"/>
          </a:solidFill>
        </p:spPr>
        <p:txBody>
          <a:bodyPr vert="horz" wrap="square" lIns="0" tIns="26669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209"/>
              </a:spcBef>
            </a:pPr>
            <a:r>
              <a:rPr sz="1800" spc="-25" dirty="0">
                <a:latin typeface="Microsoft Sans Serif"/>
                <a:cs typeface="Microsoft Sans Serif"/>
              </a:rPr>
              <a:t>h</a:t>
            </a:r>
            <a:r>
              <a:rPr sz="1575" spc="-37" baseline="-31746" dirty="0">
                <a:latin typeface="Microsoft Sans Serif"/>
                <a:cs typeface="Microsoft Sans Serif"/>
              </a:rPr>
              <a:t>2</a:t>
            </a:r>
            <a:endParaRPr sz="1575" baseline="-31746">
              <a:latin typeface="Microsoft Sans Serif"/>
              <a:cs typeface="Microsoft Sans Serif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525259" y="4291689"/>
            <a:ext cx="458470" cy="373380"/>
          </a:xfrm>
          <a:prstGeom prst="rect">
            <a:avLst/>
          </a:prstGeom>
          <a:solidFill>
            <a:srgbClr val="E5E5E5"/>
          </a:solidFill>
        </p:spPr>
        <p:txBody>
          <a:bodyPr vert="horz" wrap="square" lIns="0" tIns="2540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200"/>
              </a:spcBef>
            </a:pPr>
            <a:r>
              <a:rPr sz="1800" spc="-50" dirty="0">
                <a:latin typeface="Microsoft Sans Serif"/>
                <a:cs typeface="Microsoft Sans Serif"/>
              </a:rPr>
              <a:t>.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525259" y="4665069"/>
            <a:ext cx="458470" cy="373380"/>
          </a:xfrm>
          <a:prstGeom prst="rect">
            <a:avLst/>
          </a:prstGeom>
          <a:solidFill>
            <a:srgbClr val="CCCCCC"/>
          </a:solidFill>
        </p:spPr>
        <p:txBody>
          <a:bodyPr vert="horz" wrap="square" lIns="0" tIns="2540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200"/>
              </a:spcBef>
            </a:pPr>
            <a:r>
              <a:rPr sz="1800" spc="-50" dirty="0">
                <a:latin typeface="Microsoft Sans Serif"/>
                <a:cs typeface="Microsoft Sans Serif"/>
              </a:rPr>
              <a:t>.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525259" y="5038449"/>
            <a:ext cx="458470" cy="434340"/>
          </a:xfrm>
          <a:prstGeom prst="rect">
            <a:avLst/>
          </a:prstGeom>
          <a:solidFill>
            <a:srgbClr val="E5E5E5"/>
          </a:solidFill>
        </p:spPr>
        <p:txBody>
          <a:bodyPr vert="horz" wrap="square" lIns="0" tIns="2540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200"/>
              </a:spcBef>
            </a:pPr>
            <a:r>
              <a:rPr sz="1800" spc="-25" dirty="0">
                <a:latin typeface="Microsoft Sans Serif"/>
                <a:cs typeface="Microsoft Sans Serif"/>
              </a:rPr>
              <a:t>h</a:t>
            </a:r>
            <a:r>
              <a:rPr sz="1575" spc="-37" baseline="-31746" dirty="0">
                <a:latin typeface="Microsoft Sans Serif"/>
                <a:cs typeface="Microsoft Sans Serif"/>
              </a:rPr>
              <a:t>n</a:t>
            </a:r>
            <a:endParaRPr sz="1575" baseline="-31746">
              <a:latin typeface="Microsoft Sans Serif"/>
              <a:cs typeface="Microsoft Sans Serif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017259" y="4115160"/>
            <a:ext cx="3873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H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spc="-60" dirty="0">
                <a:latin typeface="Microsoft Sans Serif"/>
                <a:cs typeface="Microsoft Sans Serif"/>
              </a:rPr>
              <a:t>=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olving simultaneous equations using matrices is simple. In the picture I  have demonstrated the steps to follow using the following example; solve  the simultaneous equation using matrix method? 3x+2y=3,2x+3y=7. Leave your  comments">
            <a:extLst>
              <a:ext uri="{FF2B5EF4-FFF2-40B4-BE49-F238E27FC236}">
                <a16:creationId xmlns:a16="http://schemas.microsoft.com/office/drawing/2014/main" id="{C7F0F3B2-007C-4593-AEFE-9B4FE3F33B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8100" y="690863"/>
            <a:ext cx="6705600" cy="4735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907594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5759" y="19410"/>
            <a:ext cx="425196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47189" algn="l"/>
              </a:tabLst>
            </a:pPr>
            <a:r>
              <a:rPr spc="-10" dirty="0"/>
              <a:t>Matrix</a:t>
            </a:r>
            <a:r>
              <a:rPr dirty="0"/>
              <a:t>	</a:t>
            </a:r>
            <a:r>
              <a:rPr spc="-10" dirty="0"/>
              <a:t>operations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6909" y="592180"/>
            <a:ext cx="4070350" cy="1658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0960" marR="17780" indent="-35560">
              <a:lnSpc>
                <a:spcPct val="127800"/>
              </a:lnSpc>
              <a:spcBef>
                <a:spcPts val="100"/>
              </a:spcBef>
              <a:tabLst>
                <a:tab pos="699770" algn="l"/>
              </a:tabLst>
            </a:pPr>
            <a:r>
              <a:rPr sz="1800" dirty="0">
                <a:latin typeface="Microsoft Sans Serif"/>
                <a:cs typeface="Microsoft Sans Serif"/>
              </a:rPr>
              <a:t>Solve</a:t>
            </a:r>
            <a:r>
              <a:rPr sz="1800" spc="-4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-4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following</a:t>
            </a:r>
            <a:r>
              <a:rPr sz="1800" spc="-4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using</a:t>
            </a:r>
            <a:r>
              <a:rPr sz="1800" spc="-4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matrix</a:t>
            </a:r>
            <a:r>
              <a:rPr sz="1800" spc="-4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method </a:t>
            </a:r>
            <a:r>
              <a:rPr sz="1800" dirty="0">
                <a:latin typeface="Microsoft Sans Serif"/>
                <a:cs typeface="Microsoft Sans Serif"/>
              </a:rPr>
              <a:t>2x</a:t>
            </a:r>
            <a:r>
              <a:rPr sz="1575" baseline="-31746" dirty="0">
                <a:latin typeface="Microsoft Sans Serif"/>
                <a:cs typeface="Microsoft Sans Serif"/>
              </a:rPr>
              <a:t>1</a:t>
            </a:r>
            <a:r>
              <a:rPr sz="1575" spc="292" baseline="-31746" dirty="0">
                <a:latin typeface="Microsoft Sans Serif"/>
                <a:cs typeface="Microsoft Sans Serif"/>
              </a:rPr>
              <a:t> </a:t>
            </a:r>
            <a:r>
              <a:rPr sz="1800" spc="-50" dirty="0">
                <a:latin typeface="Microsoft Sans Serif"/>
                <a:cs typeface="Microsoft Sans Serif"/>
              </a:rPr>
              <a:t>+</a:t>
            </a:r>
            <a:r>
              <a:rPr sz="1800" dirty="0">
                <a:latin typeface="Microsoft Sans Serif"/>
                <a:cs typeface="Microsoft Sans Serif"/>
              </a:rPr>
              <a:t>	x</a:t>
            </a:r>
            <a:r>
              <a:rPr sz="1575" baseline="-31746" dirty="0">
                <a:latin typeface="Microsoft Sans Serif"/>
                <a:cs typeface="Microsoft Sans Serif"/>
              </a:rPr>
              <a:t>2</a:t>
            </a:r>
            <a:r>
              <a:rPr sz="1575" spc="315" baseline="-31746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+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2x</a:t>
            </a:r>
            <a:r>
              <a:rPr sz="1575" baseline="-31746" dirty="0">
                <a:latin typeface="Microsoft Sans Serif"/>
                <a:cs typeface="Microsoft Sans Serif"/>
              </a:rPr>
              <a:t>3</a:t>
            </a:r>
            <a:r>
              <a:rPr sz="1575" spc="315" baseline="-31746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+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x</a:t>
            </a:r>
            <a:r>
              <a:rPr sz="1575" baseline="-31746" dirty="0">
                <a:latin typeface="Microsoft Sans Serif"/>
                <a:cs typeface="Microsoft Sans Serif"/>
              </a:rPr>
              <a:t>4</a:t>
            </a:r>
            <a:r>
              <a:rPr sz="1575" spc="315" baseline="-31746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=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spc="-50" dirty="0">
                <a:latin typeface="Microsoft Sans Serif"/>
                <a:cs typeface="Microsoft Sans Serif"/>
              </a:rPr>
              <a:t>6</a:t>
            </a:r>
            <a:endParaRPr sz="1800">
              <a:latin typeface="Microsoft Sans Serif"/>
              <a:cs typeface="Microsoft Sans Serif"/>
            </a:endParaRPr>
          </a:p>
          <a:p>
            <a:pPr marL="60960">
              <a:lnSpc>
                <a:spcPct val="100000"/>
              </a:lnSpc>
              <a:spcBef>
                <a:spcPts val="290"/>
              </a:spcBef>
            </a:pPr>
            <a:r>
              <a:rPr sz="1800" dirty="0">
                <a:latin typeface="Microsoft Sans Serif"/>
                <a:cs typeface="Microsoft Sans Serif"/>
              </a:rPr>
              <a:t>6x</a:t>
            </a:r>
            <a:r>
              <a:rPr sz="1575" baseline="-31746" dirty="0">
                <a:latin typeface="Microsoft Sans Serif"/>
                <a:cs typeface="Microsoft Sans Serif"/>
              </a:rPr>
              <a:t>1</a:t>
            </a:r>
            <a:r>
              <a:rPr sz="1575" spc="300" baseline="-31746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-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6x</a:t>
            </a:r>
            <a:r>
              <a:rPr sz="1575" baseline="-31746" dirty="0">
                <a:latin typeface="Microsoft Sans Serif"/>
                <a:cs typeface="Microsoft Sans Serif"/>
              </a:rPr>
              <a:t>2</a:t>
            </a:r>
            <a:r>
              <a:rPr sz="1575" spc="307" baseline="-31746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+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6x</a:t>
            </a:r>
            <a:r>
              <a:rPr sz="1575" baseline="-31746" dirty="0">
                <a:latin typeface="Microsoft Sans Serif"/>
                <a:cs typeface="Microsoft Sans Serif"/>
              </a:rPr>
              <a:t>3</a:t>
            </a:r>
            <a:r>
              <a:rPr sz="1575" spc="307" baseline="-31746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+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12x</a:t>
            </a:r>
            <a:r>
              <a:rPr sz="1575" baseline="-31746" dirty="0">
                <a:latin typeface="Microsoft Sans Serif"/>
                <a:cs typeface="Microsoft Sans Serif"/>
              </a:rPr>
              <a:t>4</a:t>
            </a:r>
            <a:r>
              <a:rPr sz="1575" spc="307" baseline="-31746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=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36</a:t>
            </a:r>
            <a:endParaRPr sz="1800">
              <a:latin typeface="Microsoft Sans Serif"/>
              <a:cs typeface="Microsoft Sans Serif"/>
            </a:endParaRPr>
          </a:p>
          <a:p>
            <a:pPr marL="60960">
              <a:lnSpc>
                <a:spcPct val="100000"/>
              </a:lnSpc>
              <a:spcBef>
                <a:spcPts val="290"/>
              </a:spcBef>
            </a:pPr>
            <a:r>
              <a:rPr sz="1800" dirty="0">
                <a:latin typeface="Microsoft Sans Serif"/>
                <a:cs typeface="Microsoft Sans Serif"/>
              </a:rPr>
              <a:t>4x</a:t>
            </a:r>
            <a:r>
              <a:rPr sz="1575" baseline="-31746" dirty="0">
                <a:latin typeface="Microsoft Sans Serif"/>
                <a:cs typeface="Microsoft Sans Serif"/>
              </a:rPr>
              <a:t>1</a:t>
            </a:r>
            <a:r>
              <a:rPr sz="1575" spc="307" baseline="-31746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+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3x</a:t>
            </a:r>
            <a:r>
              <a:rPr sz="1575" baseline="-31746" dirty="0">
                <a:latin typeface="Microsoft Sans Serif"/>
                <a:cs typeface="Microsoft Sans Serif"/>
              </a:rPr>
              <a:t>2</a:t>
            </a:r>
            <a:r>
              <a:rPr sz="1575" spc="307" baseline="-31746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+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3x</a:t>
            </a:r>
            <a:r>
              <a:rPr sz="1575" baseline="-31746" dirty="0">
                <a:latin typeface="Microsoft Sans Serif"/>
                <a:cs typeface="Microsoft Sans Serif"/>
              </a:rPr>
              <a:t>3</a:t>
            </a:r>
            <a:r>
              <a:rPr sz="1575" spc="307" baseline="-31746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-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3x</a:t>
            </a:r>
            <a:r>
              <a:rPr sz="1575" baseline="-31746" dirty="0">
                <a:latin typeface="Microsoft Sans Serif"/>
                <a:cs typeface="Microsoft Sans Serif"/>
              </a:rPr>
              <a:t>4</a:t>
            </a:r>
            <a:r>
              <a:rPr sz="1575" spc="307" baseline="-31746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=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spc="470" dirty="0">
                <a:latin typeface="Microsoft Sans Serif"/>
                <a:cs typeface="Microsoft Sans Serif"/>
              </a:rPr>
              <a:t>–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spc="-50" dirty="0">
                <a:latin typeface="Microsoft Sans Serif"/>
                <a:cs typeface="Microsoft Sans Serif"/>
              </a:rPr>
              <a:t>1</a:t>
            </a:r>
            <a:endParaRPr sz="1800">
              <a:latin typeface="Microsoft Sans Serif"/>
              <a:cs typeface="Microsoft Sans Serif"/>
            </a:endParaRPr>
          </a:p>
          <a:p>
            <a:pPr marL="60960">
              <a:lnSpc>
                <a:spcPct val="100000"/>
              </a:lnSpc>
              <a:spcBef>
                <a:spcPts val="280"/>
              </a:spcBef>
            </a:pPr>
            <a:r>
              <a:rPr sz="1800" dirty="0">
                <a:latin typeface="Microsoft Sans Serif"/>
                <a:cs typeface="Microsoft Sans Serif"/>
              </a:rPr>
              <a:t>2x</a:t>
            </a:r>
            <a:r>
              <a:rPr sz="1575" baseline="-31746" dirty="0">
                <a:latin typeface="Microsoft Sans Serif"/>
                <a:cs typeface="Microsoft Sans Serif"/>
              </a:rPr>
              <a:t>1</a:t>
            </a:r>
            <a:r>
              <a:rPr sz="1575" spc="307" baseline="-31746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+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2x</a:t>
            </a:r>
            <a:r>
              <a:rPr sz="1575" baseline="-31746" dirty="0">
                <a:latin typeface="Microsoft Sans Serif"/>
                <a:cs typeface="Microsoft Sans Serif"/>
              </a:rPr>
              <a:t>2</a:t>
            </a:r>
            <a:r>
              <a:rPr sz="1575" spc="315" baseline="-31746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-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x</a:t>
            </a:r>
            <a:r>
              <a:rPr sz="1575" baseline="-31746" dirty="0">
                <a:latin typeface="Microsoft Sans Serif"/>
                <a:cs typeface="Microsoft Sans Serif"/>
              </a:rPr>
              <a:t>3</a:t>
            </a:r>
            <a:r>
              <a:rPr sz="1575" spc="315" baseline="-31746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+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x</a:t>
            </a:r>
            <a:r>
              <a:rPr sz="1575" baseline="-31746" dirty="0">
                <a:latin typeface="Microsoft Sans Serif"/>
                <a:cs typeface="Microsoft Sans Serif"/>
              </a:rPr>
              <a:t>4</a:t>
            </a:r>
            <a:r>
              <a:rPr sz="1575" spc="315" baseline="-31746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=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10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5759" y="19410"/>
            <a:ext cx="425196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47189" algn="l"/>
              </a:tabLst>
            </a:pPr>
            <a:r>
              <a:rPr spc="-10" dirty="0"/>
              <a:t>Matrix</a:t>
            </a:r>
            <a:r>
              <a:rPr dirty="0"/>
              <a:t>	</a:t>
            </a:r>
            <a:r>
              <a:rPr spc="-10" dirty="0"/>
              <a:t>operations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61589" y="3224889"/>
            <a:ext cx="2792730" cy="556260"/>
          </a:xfrm>
          <a:prstGeom prst="rect">
            <a:avLst/>
          </a:prstGeom>
        </p:spPr>
        <p:txBody>
          <a:bodyPr vert="horz" wrap="square" lIns="0" tIns="36194" rIns="0" bIns="0" rtlCol="0">
            <a:spAutoFit/>
          </a:bodyPr>
          <a:lstStyle/>
          <a:p>
            <a:pPr marL="12700" marR="5080">
              <a:lnSpc>
                <a:spcPts val="2020"/>
              </a:lnSpc>
              <a:spcBef>
                <a:spcPts val="284"/>
              </a:spcBef>
            </a:pPr>
            <a:r>
              <a:rPr sz="1800" dirty="0">
                <a:latin typeface="Microsoft Sans Serif"/>
                <a:cs typeface="Microsoft Sans Serif"/>
              </a:rPr>
              <a:t>|</a:t>
            </a:r>
            <a:r>
              <a:rPr sz="1800" b="1" dirty="0">
                <a:latin typeface="Arial"/>
                <a:cs typeface="Arial"/>
              </a:rPr>
              <a:t>A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spc="470" dirty="0">
                <a:latin typeface="Microsoft Sans Serif"/>
                <a:cs typeface="Microsoft Sans Serif"/>
              </a:rPr>
              <a:t>–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λ</a:t>
            </a:r>
            <a:r>
              <a:rPr sz="1800" b="1" dirty="0">
                <a:latin typeface="Arial"/>
                <a:cs typeface="Arial"/>
              </a:rPr>
              <a:t>I</a:t>
            </a:r>
            <a:r>
              <a:rPr sz="1800" dirty="0">
                <a:latin typeface="Microsoft Sans Serif"/>
                <a:cs typeface="Microsoft Sans Serif"/>
              </a:rPr>
              <a:t>|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=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0,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here</a:t>
            </a:r>
            <a:r>
              <a:rPr sz="1800" spc="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λ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is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scalar </a:t>
            </a:r>
            <a:r>
              <a:rPr sz="1800" dirty="0">
                <a:latin typeface="Microsoft Sans Serif"/>
                <a:cs typeface="Microsoft Sans Serif"/>
              </a:rPr>
              <a:t>λ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is the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eigen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value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of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b="1" spc="-50" dirty="0">
                <a:latin typeface="Arial"/>
                <a:cs typeface="Arial"/>
              </a:rPr>
              <a:t>A</a:t>
            </a:r>
            <a:endParaRPr sz="18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250950" y="769979"/>
          <a:ext cx="2856228" cy="20008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124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4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08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5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3225"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2700" spc="-37" baseline="18518" dirty="0">
                          <a:latin typeface="Microsoft Sans Serif"/>
                          <a:cs typeface="Microsoft Sans Serif"/>
                        </a:rPr>
                        <a:t>a</a:t>
                      </a:r>
                      <a:r>
                        <a:rPr sz="1050" spc="-25" dirty="0">
                          <a:latin typeface="Microsoft Sans Serif"/>
                          <a:cs typeface="Microsoft Sans Serif"/>
                        </a:rPr>
                        <a:t>11</a:t>
                      </a:r>
                      <a:endParaRPr sz="10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0330" marB="0"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2700" spc="-37" baseline="18518" dirty="0">
                          <a:latin typeface="Microsoft Sans Serif"/>
                          <a:cs typeface="Microsoft Sans Serif"/>
                        </a:rPr>
                        <a:t>a</a:t>
                      </a:r>
                      <a:r>
                        <a:rPr sz="1050" spc="-25" dirty="0">
                          <a:latin typeface="Microsoft Sans Serif"/>
                          <a:cs typeface="Microsoft Sans Serif"/>
                        </a:rPr>
                        <a:t>12</a:t>
                      </a:r>
                      <a:endParaRPr sz="10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0330" marB="0"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2700" spc="-37" baseline="18518" dirty="0">
                          <a:latin typeface="Microsoft Sans Serif"/>
                          <a:cs typeface="Microsoft Sans Serif"/>
                        </a:rPr>
                        <a:t>a</a:t>
                      </a:r>
                      <a:r>
                        <a:rPr sz="1050" spc="-25" dirty="0">
                          <a:latin typeface="Microsoft Sans Serif"/>
                          <a:cs typeface="Microsoft Sans Serif"/>
                        </a:rPr>
                        <a:t>13</a:t>
                      </a:r>
                      <a:endParaRPr sz="10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0330" marB="0"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53975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10" dirty="0">
                          <a:latin typeface="Microsoft Sans Serif"/>
                          <a:cs typeface="Microsoft Sans Serif"/>
                        </a:rPr>
                        <a:t>......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2700" spc="-37" baseline="18518" dirty="0">
                          <a:latin typeface="Microsoft Sans Serif"/>
                          <a:cs typeface="Microsoft Sans Serif"/>
                        </a:rPr>
                        <a:t>a</a:t>
                      </a:r>
                      <a:r>
                        <a:rPr sz="1050" spc="-25" dirty="0">
                          <a:latin typeface="Microsoft Sans Serif"/>
                          <a:cs typeface="Microsoft Sans Serif"/>
                        </a:rPr>
                        <a:t>1n</a:t>
                      </a:r>
                      <a:endParaRPr sz="10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0330" marB="0">
                    <a:solidFill>
                      <a:srgbClr val="B2B2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4495"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2700" spc="-37" baseline="18518" dirty="0">
                          <a:latin typeface="Microsoft Sans Serif"/>
                          <a:cs typeface="Microsoft Sans Serif"/>
                        </a:rPr>
                        <a:t>a</a:t>
                      </a:r>
                      <a:r>
                        <a:rPr sz="1050" spc="-25" dirty="0">
                          <a:latin typeface="Microsoft Sans Serif"/>
                          <a:cs typeface="Microsoft Sans Serif"/>
                        </a:rPr>
                        <a:t>21</a:t>
                      </a:r>
                      <a:endParaRPr sz="10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1600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2700" spc="-37" baseline="18518" dirty="0">
                          <a:latin typeface="Microsoft Sans Serif"/>
                          <a:cs typeface="Microsoft Sans Serif"/>
                        </a:rPr>
                        <a:t>a</a:t>
                      </a:r>
                      <a:r>
                        <a:rPr sz="1050" spc="-25" dirty="0">
                          <a:latin typeface="Microsoft Sans Serif"/>
                          <a:cs typeface="Microsoft Sans Serif"/>
                        </a:rPr>
                        <a:t>22</a:t>
                      </a:r>
                      <a:endParaRPr sz="10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1600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2700" spc="-37" baseline="18518" dirty="0">
                          <a:latin typeface="Microsoft Sans Serif"/>
                          <a:cs typeface="Microsoft Sans Serif"/>
                        </a:rPr>
                        <a:t>a</a:t>
                      </a:r>
                      <a:r>
                        <a:rPr sz="1050" spc="-25" dirty="0">
                          <a:latin typeface="Microsoft Sans Serif"/>
                          <a:cs typeface="Microsoft Sans Serif"/>
                        </a:rPr>
                        <a:t>23</a:t>
                      </a:r>
                      <a:endParaRPr sz="10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1600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53975"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800" spc="-10" dirty="0">
                          <a:latin typeface="Microsoft Sans Serif"/>
                          <a:cs typeface="Microsoft Sans Serif"/>
                        </a:rPr>
                        <a:t>......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6670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2700" spc="-37" baseline="18518" dirty="0">
                          <a:latin typeface="Microsoft Sans Serif"/>
                          <a:cs typeface="Microsoft Sans Serif"/>
                        </a:rPr>
                        <a:t>a</a:t>
                      </a:r>
                      <a:r>
                        <a:rPr sz="1050" spc="-25" dirty="0">
                          <a:latin typeface="Microsoft Sans Serif"/>
                          <a:cs typeface="Microsoft Sans Serif"/>
                        </a:rPr>
                        <a:t>2n</a:t>
                      </a:r>
                      <a:endParaRPr sz="10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1600" marB="0"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4970">
                <a:tc gridSpan="5"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.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E5E5E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700">
                <a:tc gridSpan="5"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.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CCCC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4495"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2700" spc="-37" baseline="18518" dirty="0">
                          <a:latin typeface="Microsoft Sans Serif"/>
                          <a:cs typeface="Microsoft Sans Serif"/>
                        </a:rPr>
                        <a:t>a</a:t>
                      </a:r>
                      <a:r>
                        <a:rPr sz="1050" spc="-25" dirty="0">
                          <a:latin typeface="Microsoft Sans Serif"/>
                          <a:cs typeface="Microsoft Sans Serif"/>
                        </a:rPr>
                        <a:t>n1</a:t>
                      </a:r>
                      <a:endParaRPr sz="10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1600" marB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2700" spc="-37" baseline="18518" dirty="0">
                          <a:latin typeface="Microsoft Sans Serif"/>
                          <a:cs typeface="Microsoft Sans Serif"/>
                        </a:rPr>
                        <a:t>a</a:t>
                      </a:r>
                      <a:r>
                        <a:rPr sz="1050" spc="-25" dirty="0">
                          <a:latin typeface="Microsoft Sans Serif"/>
                          <a:cs typeface="Microsoft Sans Serif"/>
                        </a:rPr>
                        <a:t>n2</a:t>
                      </a:r>
                      <a:endParaRPr sz="10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1600" marB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2700" spc="-37" baseline="18518" dirty="0">
                          <a:latin typeface="Microsoft Sans Serif"/>
                          <a:cs typeface="Microsoft Sans Serif"/>
                        </a:rPr>
                        <a:t>a</a:t>
                      </a:r>
                      <a:r>
                        <a:rPr sz="1050" spc="-25" dirty="0">
                          <a:latin typeface="Microsoft Sans Serif"/>
                          <a:cs typeface="Microsoft Sans Serif"/>
                        </a:rPr>
                        <a:t>n3</a:t>
                      </a:r>
                      <a:endParaRPr sz="10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1600" marB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53975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10" dirty="0">
                          <a:latin typeface="Microsoft Sans Serif"/>
                          <a:cs typeface="Microsoft Sans Serif"/>
                        </a:rPr>
                        <a:t>......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2700" spc="-37" baseline="18518" dirty="0">
                          <a:latin typeface="Microsoft Sans Serif"/>
                          <a:cs typeface="Microsoft Sans Serif"/>
                        </a:rPr>
                        <a:t>a</a:t>
                      </a:r>
                      <a:r>
                        <a:rPr sz="1050" spc="-25" dirty="0">
                          <a:latin typeface="Microsoft Sans Serif"/>
                          <a:cs typeface="Microsoft Sans Serif"/>
                        </a:rPr>
                        <a:t>nn</a:t>
                      </a:r>
                      <a:endParaRPr sz="10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1600" marB="0">
                    <a:solidFill>
                      <a:srgbClr val="E5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725169" y="1445619"/>
            <a:ext cx="3873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A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spc="-60" dirty="0">
                <a:latin typeface="Microsoft Sans Serif"/>
                <a:cs typeface="Microsoft Sans Serif"/>
              </a:rPr>
              <a:t>=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47309" y="805539"/>
            <a:ext cx="480059" cy="405130"/>
          </a:xfrm>
          <a:prstGeom prst="rect">
            <a:avLst/>
          </a:prstGeom>
          <a:solidFill>
            <a:srgbClr val="B2B2B2"/>
          </a:solidFill>
        </p:spPr>
        <p:txBody>
          <a:bodyPr vert="horz" wrap="square" lIns="0" tIns="25400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200"/>
              </a:spcBef>
            </a:pPr>
            <a:r>
              <a:rPr sz="1800" spc="-25" dirty="0">
                <a:latin typeface="Microsoft Sans Serif"/>
                <a:cs typeface="Microsoft Sans Serif"/>
              </a:rPr>
              <a:t>x</a:t>
            </a:r>
            <a:r>
              <a:rPr sz="1575" spc="-37" baseline="-31746" dirty="0">
                <a:latin typeface="Microsoft Sans Serif"/>
                <a:cs typeface="Microsoft Sans Serif"/>
              </a:rPr>
              <a:t>1</a:t>
            </a:r>
            <a:endParaRPr sz="1575" baseline="-31746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147309" y="1210669"/>
            <a:ext cx="480059" cy="403860"/>
          </a:xfrm>
          <a:prstGeom prst="rect">
            <a:avLst/>
          </a:prstGeom>
          <a:solidFill>
            <a:srgbClr val="CCCCCC"/>
          </a:solidFill>
        </p:spPr>
        <p:txBody>
          <a:bodyPr vert="horz" wrap="square" lIns="0" tIns="25400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200"/>
              </a:spcBef>
            </a:pPr>
            <a:r>
              <a:rPr sz="1800" spc="-25" dirty="0">
                <a:latin typeface="Microsoft Sans Serif"/>
                <a:cs typeface="Microsoft Sans Serif"/>
              </a:rPr>
              <a:t>x</a:t>
            </a:r>
            <a:r>
              <a:rPr sz="1575" spc="-37" baseline="-31746" dirty="0">
                <a:latin typeface="Microsoft Sans Serif"/>
                <a:cs typeface="Microsoft Sans Serif"/>
              </a:rPr>
              <a:t>2</a:t>
            </a:r>
            <a:endParaRPr sz="1575" baseline="-31746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147309" y="1614529"/>
            <a:ext cx="480059" cy="394970"/>
          </a:xfrm>
          <a:prstGeom prst="rect">
            <a:avLst/>
          </a:prstGeom>
          <a:solidFill>
            <a:srgbClr val="E5E5E5"/>
          </a:solidFill>
        </p:spPr>
        <p:txBody>
          <a:bodyPr vert="horz" wrap="square" lIns="0" tIns="25400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200"/>
              </a:spcBef>
            </a:pPr>
            <a:r>
              <a:rPr sz="1800" spc="-50" dirty="0">
                <a:latin typeface="Microsoft Sans Serif"/>
                <a:cs typeface="Microsoft Sans Serif"/>
              </a:rPr>
              <a:t>.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147309" y="2009500"/>
            <a:ext cx="480059" cy="394970"/>
          </a:xfrm>
          <a:prstGeom prst="rect">
            <a:avLst/>
          </a:prstGeom>
          <a:solidFill>
            <a:srgbClr val="CCCCCC"/>
          </a:solidFill>
        </p:spPr>
        <p:txBody>
          <a:bodyPr vert="horz" wrap="square" lIns="0" tIns="25400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200"/>
              </a:spcBef>
            </a:pPr>
            <a:r>
              <a:rPr sz="1800" spc="-50" dirty="0">
                <a:latin typeface="Microsoft Sans Serif"/>
                <a:cs typeface="Microsoft Sans Serif"/>
              </a:rPr>
              <a:t>.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47309" y="2404469"/>
            <a:ext cx="480059" cy="403860"/>
          </a:xfrm>
          <a:prstGeom prst="rect">
            <a:avLst/>
          </a:prstGeom>
          <a:solidFill>
            <a:srgbClr val="E5E5E5"/>
          </a:solidFill>
        </p:spPr>
        <p:txBody>
          <a:bodyPr vert="horz" wrap="square" lIns="0" tIns="25400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200"/>
              </a:spcBef>
            </a:pPr>
            <a:r>
              <a:rPr sz="1800" spc="-25" dirty="0">
                <a:latin typeface="Microsoft Sans Serif"/>
                <a:cs typeface="Microsoft Sans Serif"/>
              </a:rPr>
              <a:t>x</a:t>
            </a:r>
            <a:r>
              <a:rPr sz="1575" spc="-37" baseline="-31746" dirty="0">
                <a:latin typeface="Microsoft Sans Serif"/>
                <a:cs typeface="Microsoft Sans Serif"/>
              </a:rPr>
              <a:t>n</a:t>
            </a:r>
            <a:endParaRPr sz="1575" baseline="-31746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613909" y="1445619"/>
            <a:ext cx="3746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X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spc="-50" dirty="0">
                <a:latin typeface="Microsoft Sans Serif"/>
                <a:cs typeface="Microsoft Sans Serif"/>
              </a:rPr>
              <a:t>=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596380" y="757279"/>
            <a:ext cx="459740" cy="431800"/>
          </a:xfrm>
          <a:prstGeom prst="rect">
            <a:avLst/>
          </a:prstGeom>
          <a:solidFill>
            <a:srgbClr val="B2B2B2"/>
          </a:solidFill>
        </p:spPr>
        <p:txBody>
          <a:bodyPr vert="horz" wrap="square" lIns="0" tIns="2540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200"/>
              </a:spcBef>
            </a:pPr>
            <a:r>
              <a:rPr sz="1800" spc="-25" dirty="0">
                <a:latin typeface="Microsoft Sans Serif"/>
                <a:cs typeface="Microsoft Sans Serif"/>
              </a:rPr>
              <a:t>h</a:t>
            </a:r>
            <a:r>
              <a:rPr sz="1575" spc="-37" baseline="-31746" dirty="0">
                <a:latin typeface="Microsoft Sans Serif"/>
                <a:cs typeface="Microsoft Sans Serif"/>
              </a:rPr>
              <a:t>1</a:t>
            </a:r>
            <a:endParaRPr sz="1575" baseline="-31746">
              <a:latin typeface="Microsoft Sans Serif"/>
              <a:cs typeface="Microsoft Sans Serif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596380" y="1189079"/>
            <a:ext cx="459740" cy="431800"/>
          </a:xfrm>
          <a:prstGeom prst="rect">
            <a:avLst/>
          </a:prstGeom>
          <a:solidFill>
            <a:srgbClr val="CCCCCC"/>
          </a:solidFill>
        </p:spPr>
        <p:txBody>
          <a:bodyPr vert="horz" wrap="square" lIns="0" tIns="2540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200"/>
              </a:spcBef>
            </a:pPr>
            <a:r>
              <a:rPr sz="1800" spc="-25" dirty="0">
                <a:latin typeface="Microsoft Sans Serif"/>
                <a:cs typeface="Microsoft Sans Serif"/>
              </a:rPr>
              <a:t>h</a:t>
            </a:r>
            <a:r>
              <a:rPr sz="1575" spc="-37" baseline="-31746" dirty="0">
                <a:latin typeface="Microsoft Sans Serif"/>
                <a:cs typeface="Microsoft Sans Serif"/>
              </a:rPr>
              <a:t>2</a:t>
            </a:r>
            <a:endParaRPr sz="1575" baseline="-31746">
              <a:latin typeface="Microsoft Sans Serif"/>
              <a:cs typeface="Microsoft Sans Serif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596380" y="1620879"/>
            <a:ext cx="459740" cy="374650"/>
          </a:xfrm>
          <a:prstGeom prst="rect">
            <a:avLst/>
          </a:prstGeom>
          <a:solidFill>
            <a:srgbClr val="E5E5E5"/>
          </a:solidFill>
        </p:spPr>
        <p:txBody>
          <a:bodyPr vert="horz" wrap="square" lIns="0" tIns="26669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209"/>
              </a:spcBef>
            </a:pPr>
            <a:r>
              <a:rPr sz="1800" spc="-50" dirty="0">
                <a:latin typeface="Microsoft Sans Serif"/>
                <a:cs typeface="Microsoft Sans Serif"/>
              </a:rPr>
              <a:t>.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596380" y="1995529"/>
            <a:ext cx="459740" cy="373380"/>
          </a:xfrm>
          <a:prstGeom prst="rect">
            <a:avLst/>
          </a:prstGeom>
          <a:solidFill>
            <a:srgbClr val="CCCCCC"/>
          </a:solidFill>
        </p:spPr>
        <p:txBody>
          <a:bodyPr vert="horz" wrap="square" lIns="0" tIns="2540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200"/>
              </a:spcBef>
            </a:pPr>
            <a:r>
              <a:rPr sz="1800" spc="-50" dirty="0">
                <a:latin typeface="Microsoft Sans Serif"/>
                <a:cs typeface="Microsoft Sans Serif"/>
              </a:rPr>
              <a:t>.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596380" y="2368910"/>
            <a:ext cx="459740" cy="433070"/>
          </a:xfrm>
          <a:prstGeom prst="rect">
            <a:avLst/>
          </a:prstGeom>
          <a:solidFill>
            <a:srgbClr val="E5E5E5"/>
          </a:solidFill>
        </p:spPr>
        <p:txBody>
          <a:bodyPr vert="horz" wrap="square" lIns="0" tIns="2540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200"/>
              </a:spcBef>
            </a:pPr>
            <a:r>
              <a:rPr sz="1800" spc="-25" dirty="0">
                <a:latin typeface="Microsoft Sans Serif"/>
                <a:cs typeface="Microsoft Sans Serif"/>
              </a:rPr>
              <a:t>h</a:t>
            </a:r>
            <a:r>
              <a:rPr sz="1575" spc="-37" baseline="-31746" dirty="0">
                <a:latin typeface="Microsoft Sans Serif"/>
                <a:cs typeface="Microsoft Sans Serif"/>
              </a:rPr>
              <a:t>n</a:t>
            </a:r>
            <a:endParaRPr sz="1575" baseline="-31746">
              <a:latin typeface="Microsoft Sans Serif"/>
              <a:cs typeface="Microsoft Sans Serif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089650" y="1445619"/>
            <a:ext cx="3873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H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spc="-60" dirty="0">
                <a:latin typeface="Microsoft Sans Serif"/>
                <a:cs typeface="Microsoft Sans Serif"/>
              </a:rPr>
              <a:t>=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2619" y="863959"/>
            <a:ext cx="4253230" cy="164385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5759" y="19410"/>
            <a:ext cx="425196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47189" algn="l"/>
              </a:tabLst>
            </a:pPr>
            <a:r>
              <a:rPr spc="-10" dirty="0"/>
              <a:t>Matrix</a:t>
            </a:r>
            <a:r>
              <a:rPr dirty="0"/>
              <a:t>	</a:t>
            </a:r>
            <a:r>
              <a:rPr spc="-10" dirty="0"/>
              <a:t>operations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8564" y="2730379"/>
            <a:ext cx="8854385" cy="111451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5759" y="19410"/>
            <a:ext cx="425196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47189" algn="l"/>
              </a:tabLst>
            </a:pPr>
            <a:r>
              <a:rPr spc="-10" dirty="0"/>
              <a:t>Matrix</a:t>
            </a:r>
            <a:r>
              <a:rPr dirty="0"/>
              <a:t>	</a:t>
            </a:r>
            <a:r>
              <a:rPr spc="-10" dirty="0"/>
              <a:t>operations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735330" y="937619"/>
          <a:ext cx="2005330" cy="18275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4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1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27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833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3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10" dirty="0">
                          <a:latin typeface="Microsoft Sans Serif"/>
                          <a:cs typeface="Microsoft Sans Serif"/>
                        </a:rPr>
                        <a:t>-</a:t>
                      </a: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3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3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B2B2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2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6669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R="30480" algn="ct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6669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6669" marB="0"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6669" marB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R="30480" algn="ct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5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6669" marB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6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6669" marB="0">
                    <a:solidFill>
                      <a:srgbClr val="E5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2849879" y="1703430"/>
            <a:ext cx="411987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Microsoft Sans Serif"/>
                <a:cs typeface="Microsoft Sans Serif"/>
              </a:rPr>
              <a:t>Find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eigen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values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of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given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matrix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7559" y="3071219"/>
            <a:ext cx="61448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Microsoft Sans Serif"/>
                <a:cs typeface="Microsoft Sans Serif"/>
              </a:rPr>
              <a:t>Eigen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values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also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be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determined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by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diagonilization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of</a:t>
            </a:r>
            <a:r>
              <a:rPr sz="1800" spc="-10" dirty="0">
                <a:latin typeface="Microsoft Sans Serif"/>
                <a:cs typeface="Microsoft Sans Serif"/>
              </a:rPr>
              <a:t> matrix.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99809" y="736960"/>
            <a:ext cx="12795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632460" algn="l"/>
              </a:tabLst>
            </a:pPr>
            <a:r>
              <a:rPr sz="1800" spc="-10" dirty="0">
                <a:latin typeface="Microsoft Sans Serif"/>
                <a:cs typeface="Microsoft Sans Serif"/>
              </a:rPr>
              <a:t>A</a:t>
            </a:r>
            <a:r>
              <a:rPr sz="1575" spc="-15" baseline="31746" dirty="0">
                <a:latin typeface="Microsoft Sans Serif"/>
                <a:cs typeface="Microsoft Sans Serif"/>
              </a:rPr>
              <a:t>-</a:t>
            </a:r>
            <a:r>
              <a:rPr sz="1575" baseline="31746" dirty="0">
                <a:latin typeface="Microsoft Sans Serif"/>
                <a:cs typeface="Microsoft Sans Serif"/>
              </a:rPr>
              <a:t>1</a:t>
            </a:r>
            <a:r>
              <a:rPr sz="1575" spc="315" baseline="31746" dirty="0">
                <a:latin typeface="Microsoft Sans Serif"/>
                <a:cs typeface="Microsoft Sans Serif"/>
              </a:rPr>
              <a:t> </a:t>
            </a:r>
            <a:r>
              <a:rPr sz="1800" spc="-50" dirty="0">
                <a:latin typeface="Microsoft Sans Serif"/>
                <a:cs typeface="Microsoft Sans Serif"/>
              </a:rPr>
              <a:t>=</a:t>
            </a:r>
            <a:r>
              <a:rPr sz="1800" dirty="0">
                <a:latin typeface="Microsoft Sans Serif"/>
                <a:cs typeface="Microsoft Sans Serif"/>
              </a:rPr>
              <a:t>	</a:t>
            </a:r>
            <a:r>
              <a:rPr sz="1800" spc="-10" dirty="0">
                <a:latin typeface="Microsoft Sans Serif"/>
                <a:cs typeface="Microsoft Sans Serif"/>
              </a:rPr>
              <a:t>adj(A)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957059" y="993499"/>
            <a:ext cx="178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Microsoft Sans Serif"/>
                <a:cs typeface="Microsoft Sans Serif"/>
              </a:rPr>
              <a:t>A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844030" y="1013819"/>
            <a:ext cx="497840" cy="0"/>
          </a:xfrm>
          <a:custGeom>
            <a:avLst/>
            <a:gdLst/>
            <a:ahLst/>
            <a:cxnLst/>
            <a:rect l="l" t="t" r="r" b="b"/>
            <a:pathLst>
              <a:path w="497840">
                <a:moveTo>
                  <a:pt x="0" y="0"/>
                </a:moveTo>
                <a:lnTo>
                  <a:pt x="49784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930390" y="1086209"/>
            <a:ext cx="0" cy="170180"/>
          </a:xfrm>
          <a:custGeom>
            <a:avLst/>
            <a:gdLst/>
            <a:ahLst/>
            <a:cxnLst/>
            <a:rect l="l" t="t" r="r" b="b"/>
            <a:pathLst>
              <a:path h="170180">
                <a:moveTo>
                  <a:pt x="0" y="0"/>
                </a:moveTo>
                <a:lnTo>
                  <a:pt x="0" y="170179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170419" y="1086209"/>
            <a:ext cx="0" cy="170180"/>
          </a:xfrm>
          <a:custGeom>
            <a:avLst/>
            <a:gdLst/>
            <a:ahLst/>
            <a:cxnLst/>
            <a:rect l="l" t="t" r="r" b="b"/>
            <a:pathLst>
              <a:path h="170180">
                <a:moveTo>
                  <a:pt x="0" y="0"/>
                </a:moveTo>
                <a:lnTo>
                  <a:pt x="0" y="170179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65759" y="-220478"/>
            <a:ext cx="5165090" cy="1257300"/>
          </a:xfrm>
          <a:prstGeom prst="rect">
            <a:avLst/>
          </a:prstGeom>
        </p:spPr>
        <p:txBody>
          <a:bodyPr vert="horz" wrap="square" lIns="0" tIns="2520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85"/>
              </a:spcBef>
              <a:tabLst>
                <a:tab pos="1647189" algn="l"/>
              </a:tabLst>
            </a:pPr>
            <a:r>
              <a:rPr spc="-10" dirty="0"/>
              <a:t>Matrix</a:t>
            </a:r>
            <a:r>
              <a:rPr dirty="0"/>
              <a:t>	</a:t>
            </a:r>
            <a:r>
              <a:rPr spc="-10" dirty="0"/>
              <a:t>operations</a:t>
            </a:r>
          </a:p>
          <a:p>
            <a:pPr marL="156210">
              <a:lnSpc>
                <a:spcPct val="100000"/>
              </a:lnSpc>
              <a:spcBef>
                <a:spcPts val="850"/>
              </a:spcBef>
            </a:pPr>
            <a:r>
              <a:rPr sz="1800" b="0" dirty="0">
                <a:latin typeface="Microsoft Sans Serif"/>
                <a:cs typeface="Microsoft Sans Serif"/>
              </a:rPr>
              <a:t>Inverse</a:t>
            </a:r>
            <a:r>
              <a:rPr sz="1800" b="0" spc="-25" dirty="0">
                <a:latin typeface="Microsoft Sans Serif"/>
                <a:cs typeface="Microsoft Sans Serif"/>
              </a:rPr>
              <a:t> </a:t>
            </a:r>
            <a:r>
              <a:rPr sz="1800" b="0" dirty="0">
                <a:latin typeface="Microsoft Sans Serif"/>
                <a:cs typeface="Microsoft Sans Serif"/>
              </a:rPr>
              <a:t>of</a:t>
            </a:r>
            <a:r>
              <a:rPr sz="1800" b="0" spc="-10" dirty="0">
                <a:latin typeface="Microsoft Sans Serif"/>
                <a:cs typeface="Microsoft Sans Serif"/>
              </a:rPr>
              <a:t> </a:t>
            </a:r>
            <a:r>
              <a:rPr sz="1800" b="0" dirty="0">
                <a:latin typeface="Microsoft Sans Serif"/>
                <a:cs typeface="Microsoft Sans Serif"/>
              </a:rPr>
              <a:t>the</a:t>
            </a:r>
            <a:r>
              <a:rPr sz="1800" b="0" spc="-15" dirty="0">
                <a:latin typeface="Microsoft Sans Serif"/>
                <a:cs typeface="Microsoft Sans Serif"/>
              </a:rPr>
              <a:t> </a:t>
            </a:r>
            <a:r>
              <a:rPr sz="1800" b="0" dirty="0">
                <a:latin typeface="Microsoft Sans Serif"/>
                <a:cs typeface="Microsoft Sans Serif"/>
              </a:rPr>
              <a:t>matrix</a:t>
            </a:r>
            <a:r>
              <a:rPr sz="1800" b="0" spc="-15" dirty="0">
                <a:latin typeface="Microsoft Sans Serif"/>
                <a:cs typeface="Microsoft Sans Serif"/>
              </a:rPr>
              <a:t> </a:t>
            </a:r>
            <a:r>
              <a:rPr sz="1800" b="0" dirty="0">
                <a:latin typeface="Microsoft Sans Serif"/>
                <a:cs typeface="Microsoft Sans Serif"/>
              </a:rPr>
              <a:t>can</a:t>
            </a:r>
            <a:r>
              <a:rPr sz="1800" b="0" spc="-25" dirty="0">
                <a:latin typeface="Microsoft Sans Serif"/>
                <a:cs typeface="Microsoft Sans Serif"/>
              </a:rPr>
              <a:t> </a:t>
            </a:r>
            <a:r>
              <a:rPr sz="1800" b="0" dirty="0">
                <a:latin typeface="Microsoft Sans Serif"/>
                <a:cs typeface="Microsoft Sans Serif"/>
              </a:rPr>
              <a:t>also</a:t>
            </a:r>
            <a:r>
              <a:rPr sz="1800" b="0" spc="-15" dirty="0">
                <a:latin typeface="Microsoft Sans Serif"/>
                <a:cs typeface="Microsoft Sans Serif"/>
              </a:rPr>
              <a:t> </a:t>
            </a:r>
            <a:r>
              <a:rPr sz="1800" b="0" dirty="0">
                <a:latin typeface="Microsoft Sans Serif"/>
                <a:cs typeface="Microsoft Sans Serif"/>
              </a:rPr>
              <a:t>be</a:t>
            </a:r>
            <a:r>
              <a:rPr sz="1800" b="0" spc="-15" dirty="0">
                <a:latin typeface="Microsoft Sans Serif"/>
                <a:cs typeface="Microsoft Sans Serif"/>
              </a:rPr>
              <a:t> </a:t>
            </a:r>
            <a:r>
              <a:rPr sz="1800" b="0" dirty="0">
                <a:latin typeface="Microsoft Sans Serif"/>
                <a:cs typeface="Microsoft Sans Serif"/>
              </a:rPr>
              <a:t>calculated</a:t>
            </a:r>
            <a:r>
              <a:rPr sz="1800" b="0" spc="-30" dirty="0">
                <a:latin typeface="Microsoft Sans Serif"/>
                <a:cs typeface="Microsoft Sans Serif"/>
              </a:rPr>
              <a:t> </a:t>
            </a:r>
            <a:r>
              <a:rPr sz="1800" b="0" spc="-10" dirty="0">
                <a:latin typeface="Microsoft Sans Serif"/>
                <a:cs typeface="Microsoft Sans Serif"/>
              </a:rPr>
              <a:t>using</a:t>
            </a:r>
            <a:endParaRPr sz="1800">
              <a:latin typeface="Microsoft Sans Serif"/>
              <a:cs typeface="Microsoft Sans Serif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68240" y="2078079"/>
            <a:ext cx="4768803" cy="194086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1459" y="1215750"/>
            <a:ext cx="4650740" cy="3683779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5759" y="54969"/>
            <a:ext cx="425196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47189" algn="l"/>
              </a:tabLst>
            </a:pPr>
            <a:r>
              <a:rPr spc="-10" dirty="0"/>
              <a:t>Matrix</a:t>
            </a:r>
            <a:r>
              <a:rPr dirty="0"/>
              <a:t>	</a:t>
            </a:r>
            <a:r>
              <a:rPr spc="-10" dirty="0"/>
              <a:t>operations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205230" y="937619"/>
          <a:ext cx="2284730" cy="19704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13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40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31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6590"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3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10" dirty="0">
                          <a:latin typeface="Microsoft Sans Serif"/>
                          <a:cs typeface="Microsoft Sans Serif"/>
                        </a:rPr>
                        <a:t>-</a:t>
                      </a: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3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26606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4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B2B2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2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10" dirty="0">
                          <a:latin typeface="Microsoft Sans Serif"/>
                          <a:cs typeface="Microsoft Sans Serif"/>
                        </a:rPr>
                        <a:t>-</a:t>
                      </a: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3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26606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4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6590"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10" dirty="0">
                          <a:latin typeface="Microsoft Sans Serif"/>
                          <a:cs typeface="Microsoft Sans Serif"/>
                        </a:rPr>
                        <a:t>-</a:t>
                      </a: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26606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E5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1013460" y="3012800"/>
            <a:ext cx="25869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Microsoft Sans Serif"/>
                <a:cs typeface="Microsoft Sans Serif"/>
              </a:rPr>
              <a:t>Find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inverse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of</a:t>
            </a:r>
            <a:r>
              <a:rPr sz="1800" spc="-10" dirty="0">
                <a:latin typeface="Microsoft Sans Serif"/>
                <a:cs typeface="Microsoft Sans Serif"/>
              </a:rPr>
              <a:t> matrix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37310" y="721719"/>
            <a:ext cx="2518410" cy="4650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Microsoft Sans Serif"/>
                <a:cs typeface="Microsoft Sans Serif"/>
              </a:rPr>
              <a:t>import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numpy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as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np</a:t>
            </a: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ts val="2085"/>
              </a:lnSpc>
              <a:spcBef>
                <a:spcPts val="1870"/>
              </a:spcBef>
            </a:pPr>
            <a:r>
              <a:rPr sz="1800" dirty="0">
                <a:latin typeface="Microsoft Sans Serif"/>
                <a:cs typeface="Microsoft Sans Serif"/>
              </a:rPr>
              <a:t>list1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=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[1,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2,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3]</a:t>
            </a: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ts val="2014"/>
              </a:lnSpc>
            </a:pPr>
            <a:r>
              <a:rPr sz="1800" dirty="0">
                <a:latin typeface="Microsoft Sans Serif"/>
                <a:cs typeface="Microsoft Sans Serif"/>
              </a:rPr>
              <a:t>list2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= </a:t>
            </a:r>
            <a:r>
              <a:rPr sz="1800" spc="-10" dirty="0">
                <a:latin typeface="Microsoft Sans Serif"/>
                <a:cs typeface="Microsoft Sans Serif"/>
              </a:rPr>
              <a:t>[[10],</a:t>
            </a:r>
            <a:endParaRPr sz="1800">
              <a:latin typeface="Microsoft Sans Serif"/>
              <a:cs typeface="Microsoft Sans Serif"/>
            </a:endParaRPr>
          </a:p>
          <a:p>
            <a:pPr marL="524510">
              <a:lnSpc>
                <a:spcPts val="2014"/>
              </a:lnSpc>
            </a:pPr>
            <a:r>
              <a:rPr sz="1800" spc="-10" dirty="0">
                <a:latin typeface="Microsoft Sans Serif"/>
                <a:cs typeface="Microsoft Sans Serif"/>
              </a:rPr>
              <a:t>[20],</a:t>
            </a:r>
            <a:endParaRPr sz="1800">
              <a:latin typeface="Microsoft Sans Serif"/>
              <a:cs typeface="Microsoft Sans Serif"/>
            </a:endParaRPr>
          </a:p>
          <a:p>
            <a:pPr marL="524510">
              <a:lnSpc>
                <a:spcPts val="2085"/>
              </a:lnSpc>
            </a:pPr>
            <a:r>
              <a:rPr sz="1800" spc="-10" dirty="0">
                <a:latin typeface="Microsoft Sans Serif"/>
                <a:cs typeface="Microsoft Sans Serif"/>
              </a:rPr>
              <a:t>[30]]</a:t>
            </a:r>
            <a:endParaRPr sz="1800">
              <a:latin typeface="Microsoft Sans Serif"/>
              <a:cs typeface="Microsoft Sans Serif"/>
            </a:endParaRPr>
          </a:p>
          <a:p>
            <a:pPr marL="12700" marR="5080">
              <a:lnSpc>
                <a:spcPct val="186600"/>
              </a:lnSpc>
              <a:spcBef>
                <a:spcPts val="10"/>
              </a:spcBef>
            </a:pPr>
            <a:r>
              <a:rPr sz="1800" dirty="0">
                <a:latin typeface="Microsoft Sans Serif"/>
                <a:cs typeface="Microsoft Sans Serif"/>
              </a:rPr>
              <a:t>vector1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=</a:t>
            </a:r>
            <a:r>
              <a:rPr sz="1800" spc="2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np.array(list1) </a:t>
            </a:r>
            <a:r>
              <a:rPr sz="1800" dirty="0">
                <a:latin typeface="Microsoft Sans Serif"/>
                <a:cs typeface="Microsoft Sans Serif"/>
              </a:rPr>
              <a:t>vector2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=</a:t>
            </a:r>
            <a:r>
              <a:rPr sz="1800" spc="2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np.array(list2)</a:t>
            </a:r>
            <a:endParaRPr sz="18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800">
              <a:latin typeface="Microsoft Sans Serif"/>
              <a:cs typeface="Microsoft Sans Serif"/>
            </a:endParaRPr>
          </a:p>
          <a:p>
            <a:pPr marL="12700" marR="5080">
              <a:lnSpc>
                <a:spcPts val="2010"/>
              </a:lnSpc>
              <a:spcBef>
                <a:spcPts val="5"/>
              </a:spcBef>
            </a:pPr>
            <a:r>
              <a:rPr sz="1800" spc="-10" dirty="0">
                <a:latin typeface="Microsoft Sans Serif"/>
                <a:cs typeface="Microsoft Sans Serif"/>
              </a:rPr>
              <a:t>print("Horizontal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Vector") print(vector1)</a:t>
            </a: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825"/>
              </a:spcBef>
            </a:pPr>
            <a:r>
              <a:rPr sz="1800" spc="-10" dirty="0">
                <a:latin typeface="Microsoft Sans Serif"/>
                <a:cs typeface="Microsoft Sans Serif"/>
              </a:rPr>
              <a:t>print("-</a:t>
            </a:r>
            <a:r>
              <a:rPr sz="1800" spc="-20" dirty="0">
                <a:latin typeface="Microsoft Sans Serif"/>
                <a:cs typeface="Microsoft Sans Serif"/>
              </a:rPr>
              <a:t>---------------</a:t>
            </a:r>
            <a:r>
              <a:rPr sz="1800" spc="-25" dirty="0">
                <a:latin typeface="Microsoft Sans Serif"/>
                <a:cs typeface="Microsoft Sans Serif"/>
              </a:rPr>
              <a:t>")</a:t>
            </a:r>
            <a:endParaRPr sz="18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800">
              <a:latin typeface="Microsoft Sans Serif"/>
              <a:cs typeface="Microsoft Sans Serif"/>
            </a:endParaRPr>
          </a:p>
          <a:p>
            <a:pPr marL="12700" marR="281940">
              <a:lnSpc>
                <a:spcPts val="2020"/>
              </a:lnSpc>
            </a:pPr>
            <a:r>
              <a:rPr sz="1800" spc="-10" dirty="0">
                <a:latin typeface="Microsoft Sans Serif"/>
                <a:cs typeface="Microsoft Sans Serif"/>
              </a:rPr>
              <a:t>print("Vertical</a:t>
            </a:r>
            <a:r>
              <a:rPr sz="1800" spc="-8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Vector") print(vector2)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Vectors:</a:t>
            </a:r>
            <a:r>
              <a:rPr spc="-225" dirty="0"/>
              <a:t> </a:t>
            </a:r>
            <a:r>
              <a:rPr spc="-10" dirty="0"/>
              <a:t>computer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Vectors:</a:t>
            </a:r>
            <a:r>
              <a:rPr spc="-225" dirty="0"/>
              <a:t> </a:t>
            </a:r>
            <a:r>
              <a:rPr spc="-10" dirty="0"/>
              <a:t>computer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1659" y="731880"/>
            <a:ext cx="4383405" cy="2346960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2700" marR="2358390">
              <a:lnSpc>
                <a:spcPts val="2010"/>
              </a:lnSpc>
              <a:spcBef>
                <a:spcPts val="290"/>
              </a:spcBef>
            </a:pPr>
            <a:r>
              <a:rPr sz="1800" dirty="0">
                <a:latin typeface="Microsoft Sans Serif"/>
                <a:cs typeface="Microsoft Sans Serif"/>
              </a:rPr>
              <a:t>import numpy as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np </a:t>
            </a:r>
            <a:r>
              <a:rPr sz="1800" dirty="0">
                <a:latin typeface="Microsoft Sans Serif"/>
                <a:cs typeface="Microsoft Sans Serif"/>
              </a:rPr>
              <a:t>list1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=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[5,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6,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9]</a:t>
            </a: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ts val="1905"/>
              </a:lnSpc>
            </a:pPr>
            <a:r>
              <a:rPr sz="1800" dirty="0">
                <a:latin typeface="Microsoft Sans Serif"/>
                <a:cs typeface="Microsoft Sans Serif"/>
              </a:rPr>
              <a:t>list2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=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[1,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2,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3]</a:t>
            </a: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ts val="2014"/>
              </a:lnSpc>
            </a:pPr>
            <a:r>
              <a:rPr sz="1800" dirty="0">
                <a:latin typeface="Microsoft Sans Serif"/>
                <a:cs typeface="Microsoft Sans Serif"/>
              </a:rPr>
              <a:t>vector1 =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np.array(list1)</a:t>
            </a:r>
            <a:endParaRPr sz="1800">
              <a:latin typeface="Microsoft Sans Serif"/>
              <a:cs typeface="Microsoft Sans Serif"/>
            </a:endParaRPr>
          </a:p>
          <a:p>
            <a:pPr marL="12700" marR="269240">
              <a:lnSpc>
                <a:spcPts val="2010"/>
              </a:lnSpc>
              <a:spcBef>
                <a:spcPts val="120"/>
              </a:spcBef>
              <a:tabLst>
                <a:tab pos="2404110" algn="l"/>
              </a:tabLst>
            </a:pPr>
            <a:r>
              <a:rPr sz="1800" dirty="0">
                <a:latin typeface="Microsoft Sans Serif"/>
                <a:cs typeface="Microsoft Sans Serif"/>
              </a:rPr>
              <a:t>print("First</a:t>
            </a:r>
            <a:r>
              <a:rPr sz="1800" spc="-8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Vector</a:t>
            </a:r>
            <a:r>
              <a:rPr sz="1800" dirty="0">
                <a:latin typeface="Microsoft Sans Serif"/>
                <a:cs typeface="Microsoft Sans Serif"/>
              </a:rPr>
              <a:t>	:</a:t>
            </a:r>
            <a:r>
              <a:rPr sz="1800" spc="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"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+</a:t>
            </a:r>
            <a:r>
              <a:rPr sz="1800" spc="2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str(vector1)) </a:t>
            </a:r>
            <a:r>
              <a:rPr sz="1800" dirty="0">
                <a:latin typeface="Microsoft Sans Serif"/>
                <a:cs typeface="Microsoft Sans Serif"/>
              </a:rPr>
              <a:t>vector2 =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np.array(list2)</a:t>
            </a:r>
            <a:endParaRPr sz="1800">
              <a:latin typeface="Microsoft Sans Serif"/>
              <a:cs typeface="Microsoft Sans Serif"/>
            </a:endParaRPr>
          </a:p>
          <a:p>
            <a:pPr marL="12700" marR="5080">
              <a:lnSpc>
                <a:spcPts val="2010"/>
              </a:lnSpc>
              <a:spcBef>
                <a:spcPts val="15"/>
              </a:spcBef>
              <a:tabLst>
                <a:tab pos="2669540" algn="l"/>
              </a:tabLst>
            </a:pPr>
            <a:r>
              <a:rPr sz="1800" dirty="0">
                <a:latin typeface="Microsoft Sans Serif"/>
                <a:cs typeface="Microsoft Sans Serif"/>
              </a:rPr>
              <a:t>print("Second</a:t>
            </a:r>
            <a:r>
              <a:rPr sz="1800" spc="-9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Vector</a:t>
            </a:r>
            <a:r>
              <a:rPr sz="1800" dirty="0">
                <a:latin typeface="Microsoft Sans Serif"/>
                <a:cs typeface="Microsoft Sans Serif"/>
              </a:rPr>
              <a:t>	: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"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+</a:t>
            </a:r>
            <a:r>
              <a:rPr sz="1800" spc="2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str(vector2)) </a:t>
            </a:r>
            <a:r>
              <a:rPr sz="1800" dirty="0">
                <a:latin typeface="Microsoft Sans Serif"/>
                <a:cs typeface="Microsoft Sans Serif"/>
              </a:rPr>
              <a:t>addition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=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vector1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+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vector2</a:t>
            </a: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ts val="1980"/>
              </a:lnSpc>
              <a:tabLst>
                <a:tab pos="2578735" algn="l"/>
              </a:tabLst>
            </a:pPr>
            <a:r>
              <a:rPr sz="1800" spc="-20" dirty="0">
                <a:latin typeface="Microsoft Sans Serif"/>
                <a:cs typeface="Microsoft Sans Serif"/>
              </a:rPr>
              <a:t>print("Vector </a:t>
            </a:r>
            <a:r>
              <a:rPr sz="1800" spc="-10" dirty="0">
                <a:latin typeface="Microsoft Sans Serif"/>
                <a:cs typeface="Microsoft Sans Serif"/>
              </a:rPr>
              <a:t>Addition</a:t>
            </a:r>
            <a:r>
              <a:rPr sz="1800" dirty="0">
                <a:latin typeface="Microsoft Sans Serif"/>
                <a:cs typeface="Microsoft Sans Serif"/>
              </a:rPr>
              <a:t>	: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"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+</a:t>
            </a:r>
            <a:r>
              <a:rPr sz="1800" spc="2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str(addition))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Vectors:</a:t>
            </a:r>
            <a:r>
              <a:rPr spc="-225" dirty="0"/>
              <a:t> </a:t>
            </a:r>
            <a:r>
              <a:rPr spc="-10" dirty="0"/>
              <a:t>computer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1659" y="731880"/>
            <a:ext cx="4862195" cy="2858770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2700" marR="2837180">
              <a:lnSpc>
                <a:spcPts val="2010"/>
              </a:lnSpc>
              <a:spcBef>
                <a:spcPts val="290"/>
              </a:spcBef>
            </a:pPr>
            <a:r>
              <a:rPr sz="1800" dirty="0">
                <a:latin typeface="Microsoft Sans Serif"/>
                <a:cs typeface="Microsoft Sans Serif"/>
              </a:rPr>
              <a:t>import numpy as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np </a:t>
            </a:r>
            <a:r>
              <a:rPr sz="1800" dirty="0">
                <a:latin typeface="Microsoft Sans Serif"/>
                <a:cs typeface="Microsoft Sans Serif"/>
              </a:rPr>
              <a:t>list1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=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[5,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6,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9]</a:t>
            </a: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ts val="1905"/>
              </a:lnSpc>
            </a:pPr>
            <a:r>
              <a:rPr sz="1800" dirty="0">
                <a:latin typeface="Microsoft Sans Serif"/>
                <a:cs typeface="Microsoft Sans Serif"/>
              </a:rPr>
              <a:t>list2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=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[1,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2,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3]</a:t>
            </a: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ts val="2014"/>
              </a:lnSpc>
            </a:pPr>
            <a:r>
              <a:rPr sz="1800" dirty="0">
                <a:latin typeface="Microsoft Sans Serif"/>
                <a:cs typeface="Microsoft Sans Serif"/>
              </a:rPr>
              <a:t>vector1 =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np.array(list1)</a:t>
            </a:r>
            <a:endParaRPr sz="1800">
              <a:latin typeface="Microsoft Sans Serif"/>
              <a:cs typeface="Microsoft Sans Serif"/>
            </a:endParaRPr>
          </a:p>
          <a:p>
            <a:pPr marL="12700" marR="748665">
              <a:lnSpc>
                <a:spcPts val="2010"/>
              </a:lnSpc>
              <a:spcBef>
                <a:spcPts val="120"/>
              </a:spcBef>
              <a:tabLst>
                <a:tab pos="2404110" algn="l"/>
              </a:tabLst>
            </a:pPr>
            <a:r>
              <a:rPr sz="1800" dirty="0">
                <a:latin typeface="Microsoft Sans Serif"/>
                <a:cs typeface="Microsoft Sans Serif"/>
              </a:rPr>
              <a:t>print("First</a:t>
            </a:r>
            <a:r>
              <a:rPr sz="1800" spc="-8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Vector</a:t>
            </a:r>
            <a:r>
              <a:rPr sz="1800" dirty="0">
                <a:latin typeface="Microsoft Sans Serif"/>
                <a:cs typeface="Microsoft Sans Serif"/>
              </a:rPr>
              <a:t>	:</a:t>
            </a:r>
            <a:r>
              <a:rPr sz="1800" spc="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"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+</a:t>
            </a:r>
            <a:r>
              <a:rPr sz="1800" spc="2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str(vector1)) </a:t>
            </a:r>
            <a:r>
              <a:rPr sz="1800" dirty="0">
                <a:latin typeface="Microsoft Sans Serif"/>
                <a:cs typeface="Microsoft Sans Serif"/>
              </a:rPr>
              <a:t>vector2 =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np.array(list2)</a:t>
            </a:r>
            <a:endParaRPr sz="1800">
              <a:latin typeface="Microsoft Sans Serif"/>
              <a:cs typeface="Microsoft Sans Serif"/>
            </a:endParaRPr>
          </a:p>
          <a:p>
            <a:pPr marL="12700" marR="483870">
              <a:lnSpc>
                <a:spcPts val="2010"/>
              </a:lnSpc>
              <a:spcBef>
                <a:spcPts val="15"/>
              </a:spcBef>
              <a:tabLst>
                <a:tab pos="2669540" algn="l"/>
              </a:tabLst>
            </a:pPr>
            <a:r>
              <a:rPr sz="1800" dirty="0">
                <a:latin typeface="Microsoft Sans Serif"/>
                <a:cs typeface="Microsoft Sans Serif"/>
              </a:rPr>
              <a:t>print("Second</a:t>
            </a:r>
            <a:r>
              <a:rPr sz="1800" spc="-9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Vector</a:t>
            </a:r>
            <a:r>
              <a:rPr sz="1800" dirty="0">
                <a:latin typeface="Microsoft Sans Serif"/>
                <a:cs typeface="Microsoft Sans Serif"/>
              </a:rPr>
              <a:t>	: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"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+</a:t>
            </a:r>
            <a:r>
              <a:rPr sz="1800" spc="2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str(vector2)) </a:t>
            </a:r>
            <a:r>
              <a:rPr sz="1800" dirty="0">
                <a:latin typeface="Microsoft Sans Serif"/>
                <a:cs typeface="Microsoft Sans Serif"/>
              </a:rPr>
              <a:t>addition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=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vector1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+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vector2</a:t>
            </a:r>
            <a:endParaRPr sz="1800">
              <a:latin typeface="Microsoft Sans Serif"/>
              <a:cs typeface="Microsoft Sans Serif"/>
            </a:endParaRPr>
          </a:p>
          <a:p>
            <a:pPr marL="12700" marR="524510">
              <a:lnSpc>
                <a:spcPts val="2020"/>
              </a:lnSpc>
              <a:tabLst>
                <a:tab pos="2578735" algn="l"/>
              </a:tabLst>
            </a:pPr>
            <a:r>
              <a:rPr sz="1800" spc="-20" dirty="0">
                <a:latin typeface="Microsoft Sans Serif"/>
                <a:cs typeface="Microsoft Sans Serif"/>
              </a:rPr>
              <a:t>print("Vector </a:t>
            </a:r>
            <a:r>
              <a:rPr sz="1800" spc="-10" dirty="0">
                <a:latin typeface="Microsoft Sans Serif"/>
                <a:cs typeface="Microsoft Sans Serif"/>
              </a:rPr>
              <a:t>Addition</a:t>
            </a:r>
            <a:r>
              <a:rPr sz="1800" dirty="0">
                <a:latin typeface="Microsoft Sans Serif"/>
                <a:cs typeface="Microsoft Sans Serif"/>
              </a:rPr>
              <a:t>	: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"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+</a:t>
            </a:r>
            <a:r>
              <a:rPr sz="1800" spc="2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str(addition)) </a:t>
            </a:r>
            <a:r>
              <a:rPr sz="1800" dirty="0">
                <a:latin typeface="Microsoft Sans Serif"/>
                <a:cs typeface="Microsoft Sans Serif"/>
              </a:rPr>
              <a:t>subtraction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=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vector1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-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vector2</a:t>
            </a: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ts val="1964"/>
              </a:lnSpc>
              <a:tabLst>
                <a:tab pos="2780665" algn="l"/>
              </a:tabLst>
            </a:pPr>
            <a:r>
              <a:rPr sz="1800" spc="-10" dirty="0">
                <a:latin typeface="Microsoft Sans Serif"/>
                <a:cs typeface="Microsoft Sans Serif"/>
              </a:rPr>
              <a:t>print("Vector</a:t>
            </a:r>
            <a:r>
              <a:rPr sz="1800" spc="-4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Substraction</a:t>
            </a:r>
            <a:r>
              <a:rPr sz="1800" dirty="0">
                <a:latin typeface="Microsoft Sans Serif"/>
                <a:cs typeface="Microsoft Sans Serif"/>
              </a:rPr>
              <a:t>	: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"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+</a:t>
            </a:r>
            <a:r>
              <a:rPr sz="1800" spc="2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str(subtraction))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Vectors:</a:t>
            </a:r>
            <a:r>
              <a:rPr spc="-225" dirty="0"/>
              <a:t> </a:t>
            </a:r>
            <a:r>
              <a:rPr spc="-10" dirty="0"/>
              <a:t>computer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1659" y="731880"/>
            <a:ext cx="4984750" cy="3882390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2700" marR="2959735">
              <a:lnSpc>
                <a:spcPts val="2010"/>
              </a:lnSpc>
              <a:spcBef>
                <a:spcPts val="290"/>
              </a:spcBef>
            </a:pPr>
            <a:r>
              <a:rPr sz="1800" dirty="0">
                <a:latin typeface="Microsoft Sans Serif"/>
                <a:cs typeface="Microsoft Sans Serif"/>
              </a:rPr>
              <a:t>import numpy as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np </a:t>
            </a:r>
            <a:r>
              <a:rPr sz="1800" dirty="0">
                <a:latin typeface="Microsoft Sans Serif"/>
                <a:cs typeface="Microsoft Sans Serif"/>
              </a:rPr>
              <a:t>list1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=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[5,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6,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9]</a:t>
            </a: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ts val="1905"/>
              </a:lnSpc>
            </a:pPr>
            <a:r>
              <a:rPr sz="1800" dirty="0">
                <a:latin typeface="Microsoft Sans Serif"/>
                <a:cs typeface="Microsoft Sans Serif"/>
              </a:rPr>
              <a:t>list2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=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[1,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2,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3]</a:t>
            </a: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ts val="2014"/>
              </a:lnSpc>
            </a:pPr>
            <a:r>
              <a:rPr sz="1800" dirty="0">
                <a:latin typeface="Microsoft Sans Serif"/>
                <a:cs typeface="Microsoft Sans Serif"/>
              </a:rPr>
              <a:t>vector1 =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np.array(list1)</a:t>
            </a:r>
            <a:endParaRPr sz="1800">
              <a:latin typeface="Microsoft Sans Serif"/>
              <a:cs typeface="Microsoft Sans Serif"/>
            </a:endParaRPr>
          </a:p>
          <a:p>
            <a:pPr marL="12700" marR="870585">
              <a:lnSpc>
                <a:spcPts val="2010"/>
              </a:lnSpc>
              <a:spcBef>
                <a:spcPts val="120"/>
              </a:spcBef>
              <a:tabLst>
                <a:tab pos="2404110" algn="l"/>
              </a:tabLst>
            </a:pPr>
            <a:r>
              <a:rPr sz="1800" dirty="0">
                <a:latin typeface="Microsoft Sans Serif"/>
                <a:cs typeface="Microsoft Sans Serif"/>
              </a:rPr>
              <a:t>print("First</a:t>
            </a:r>
            <a:r>
              <a:rPr sz="1800" spc="-8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Vector</a:t>
            </a:r>
            <a:r>
              <a:rPr sz="1800" dirty="0">
                <a:latin typeface="Microsoft Sans Serif"/>
                <a:cs typeface="Microsoft Sans Serif"/>
              </a:rPr>
              <a:t>	:</a:t>
            </a:r>
            <a:r>
              <a:rPr sz="1800" spc="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"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+</a:t>
            </a:r>
            <a:r>
              <a:rPr sz="1800" spc="2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str(vector1)) </a:t>
            </a:r>
            <a:r>
              <a:rPr sz="1800" dirty="0">
                <a:latin typeface="Microsoft Sans Serif"/>
                <a:cs typeface="Microsoft Sans Serif"/>
              </a:rPr>
              <a:t>vector2 =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np.array(list2)</a:t>
            </a:r>
            <a:endParaRPr sz="1800">
              <a:latin typeface="Microsoft Sans Serif"/>
              <a:cs typeface="Microsoft Sans Serif"/>
            </a:endParaRPr>
          </a:p>
          <a:p>
            <a:pPr marL="12700" marR="606425">
              <a:lnSpc>
                <a:spcPts val="2010"/>
              </a:lnSpc>
              <a:spcBef>
                <a:spcPts val="15"/>
              </a:spcBef>
              <a:tabLst>
                <a:tab pos="2669540" algn="l"/>
              </a:tabLst>
            </a:pPr>
            <a:r>
              <a:rPr sz="1800" dirty="0">
                <a:latin typeface="Microsoft Sans Serif"/>
                <a:cs typeface="Microsoft Sans Serif"/>
              </a:rPr>
              <a:t>print("Second</a:t>
            </a:r>
            <a:r>
              <a:rPr sz="1800" spc="-9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Vector</a:t>
            </a:r>
            <a:r>
              <a:rPr sz="1800" dirty="0">
                <a:latin typeface="Microsoft Sans Serif"/>
                <a:cs typeface="Microsoft Sans Serif"/>
              </a:rPr>
              <a:t>	: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"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+</a:t>
            </a:r>
            <a:r>
              <a:rPr sz="1800" spc="2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str(vector2)) </a:t>
            </a:r>
            <a:r>
              <a:rPr sz="1800" dirty="0">
                <a:latin typeface="Microsoft Sans Serif"/>
                <a:cs typeface="Microsoft Sans Serif"/>
              </a:rPr>
              <a:t>addition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=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vector1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+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vector2</a:t>
            </a:r>
            <a:endParaRPr sz="1800">
              <a:latin typeface="Microsoft Sans Serif"/>
              <a:cs typeface="Microsoft Sans Serif"/>
            </a:endParaRPr>
          </a:p>
          <a:p>
            <a:pPr marL="12700" marR="647065">
              <a:lnSpc>
                <a:spcPts val="2020"/>
              </a:lnSpc>
              <a:tabLst>
                <a:tab pos="2578735" algn="l"/>
              </a:tabLst>
            </a:pPr>
            <a:r>
              <a:rPr sz="1800" spc="-20" dirty="0">
                <a:latin typeface="Microsoft Sans Serif"/>
                <a:cs typeface="Microsoft Sans Serif"/>
              </a:rPr>
              <a:t>print("Vector </a:t>
            </a:r>
            <a:r>
              <a:rPr sz="1800" spc="-10" dirty="0">
                <a:latin typeface="Microsoft Sans Serif"/>
                <a:cs typeface="Microsoft Sans Serif"/>
              </a:rPr>
              <a:t>Addition</a:t>
            </a:r>
            <a:r>
              <a:rPr sz="1800" dirty="0">
                <a:latin typeface="Microsoft Sans Serif"/>
                <a:cs typeface="Microsoft Sans Serif"/>
              </a:rPr>
              <a:t>	: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"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+</a:t>
            </a:r>
            <a:r>
              <a:rPr sz="1800" spc="2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str(addition)) </a:t>
            </a:r>
            <a:r>
              <a:rPr sz="1800" dirty="0">
                <a:latin typeface="Microsoft Sans Serif"/>
                <a:cs typeface="Microsoft Sans Serif"/>
              </a:rPr>
              <a:t>subtraction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=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vector1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-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vector2</a:t>
            </a: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ts val="1895"/>
              </a:lnSpc>
              <a:tabLst>
                <a:tab pos="2780665" algn="l"/>
              </a:tabLst>
            </a:pPr>
            <a:r>
              <a:rPr sz="1800" spc="-10" dirty="0">
                <a:latin typeface="Microsoft Sans Serif"/>
                <a:cs typeface="Microsoft Sans Serif"/>
              </a:rPr>
              <a:t>print("Vector</a:t>
            </a:r>
            <a:r>
              <a:rPr sz="1800" spc="-4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Substraction</a:t>
            </a:r>
            <a:r>
              <a:rPr sz="1800" dirty="0">
                <a:latin typeface="Microsoft Sans Serif"/>
                <a:cs typeface="Microsoft Sans Serif"/>
              </a:rPr>
              <a:t>	: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"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+</a:t>
            </a:r>
            <a:r>
              <a:rPr sz="1800" spc="2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str(subtraction))</a:t>
            </a: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ts val="2014"/>
              </a:lnSpc>
            </a:pPr>
            <a:r>
              <a:rPr sz="1800" spc="-10" dirty="0">
                <a:latin typeface="Microsoft Sans Serif"/>
                <a:cs typeface="Microsoft Sans Serif"/>
              </a:rPr>
              <a:t>multiplication</a:t>
            </a:r>
            <a:r>
              <a:rPr sz="1800" dirty="0">
                <a:latin typeface="Microsoft Sans Serif"/>
                <a:cs typeface="Microsoft Sans Serif"/>
              </a:rPr>
              <a:t> =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vector1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* </a:t>
            </a:r>
            <a:r>
              <a:rPr sz="1800" spc="-10" dirty="0">
                <a:latin typeface="Microsoft Sans Serif"/>
                <a:cs typeface="Microsoft Sans Serif"/>
              </a:rPr>
              <a:t>vector2</a:t>
            </a:r>
            <a:endParaRPr sz="1800">
              <a:latin typeface="Microsoft Sans Serif"/>
              <a:cs typeface="Microsoft Sans Serif"/>
            </a:endParaRPr>
          </a:p>
          <a:p>
            <a:pPr marL="12700" marR="5080">
              <a:lnSpc>
                <a:spcPts val="2020"/>
              </a:lnSpc>
              <a:spcBef>
                <a:spcPts val="110"/>
              </a:spcBef>
            </a:pPr>
            <a:r>
              <a:rPr sz="1800" spc="-10" dirty="0">
                <a:latin typeface="Microsoft Sans Serif"/>
                <a:cs typeface="Microsoft Sans Serif"/>
              </a:rPr>
              <a:t>print("Vector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Multiplication</a:t>
            </a:r>
            <a:r>
              <a:rPr sz="1800" dirty="0">
                <a:latin typeface="Microsoft Sans Serif"/>
                <a:cs typeface="Microsoft Sans Serif"/>
              </a:rPr>
              <a:t> :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" +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str(multiplication)) </a:t>
            </a:r>
            <a:r>
              <a:rPr sz="1800" dirty="0">
                <a:latin typeface="Microsoft Sans Serif"/>
                <a:cs typeface="Microsoft Sans Serif"/>
              </a:rPr>
              <a:t>division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=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vector1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/</a:t>
            </a:r>
            <a:r>
              <a:rPr sz="1800" spc="-10" dirty="0">
                <a:latin typeface="Microsoft Sans Serif"/>
                <a:cs typeface="Microsoft Sans Serif"/>
              </a:rPr>
              <a:t> vector2</a:t>
            </a: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ts val="1964"/>
              </a:lnSpc>
              <a:tabLst>
                <a:tab pos="2566035" algn="l"/>
              </a:tabLst>
            </a:pPr>
            <a:r>
              <a:rPr sz="1800" spc="-10" dirty="0">
                <a:latin typeface="Microsoft Sans Serif"/>
                <a:cs typeface="Microsoft Sans Serif"/>
              </a:rPr>
              <a:t>print("Vector</a:t>
            </a:r>
            <a:r>
              <a:rPr sz="1800" spc="-4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Division</a:t>
            </a:r>
            <a:r>
              <a:rPr sz="1800" dirty="0">
                <a:latin typeface="Microsoft Sans Serif"/>
                <a:cs typeface="Microsoft Sans Serif"/>
              </a:rPr>
              <a:t>	: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"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+</a:t>
            </a:r>
            <a:r>
              <a:rPr sz="1800" spc="2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str(division))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5159" y="802999"/>
            <a:ext cx="4177029" cy="234823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 marR="2152015">
              <a:lnSpc>
                <a:spcPts val="2020"/>
              </a:lnSpc>
              <a:spcBef>
                <a:spcPts val="280"/>
              </a:spcBef>
            </a:pPr>
            <a:r>
              <a:rPr sz="1800" dirty="0">
                <a:latin typeface="Microsoft Sans Serif"/>
                <a:cs typeface="Microsoft Sans Serif"/>
              </a:rPr>
              <a:t>import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numpy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as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np </a:t>
            </a:r>
            <a:r>
              <a:rPr sz="1800" dirty="0">
                <a:latin typeface="Microsoft Sans Serif"/>
                <a:cs typeface="Microsoft Sans Serif"/>
              </a:rPr>
              <a:t>list1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=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[5,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6,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9]</a:t>
            </a: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ts val="1895"/>
              </a:lnSpc>
            </a:pPr>
            <a:r>
              <a:rPr sz="1800" dirty="0">
                <a:latin typeface="Microsoft Sans Serif"/>
                <a:cs typeface="Microsoft Sans Serif"/>
              </a:rPr>
              <a:t>list2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=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[1,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2,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3]</a:t>
            </a: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ts val="2020"/>
              </a:lnSpc>
            </a:pPr>
            <a:r>
              <a:rPr sz="1800" dirty="0">
                <a:latin typeface="Microsoft Sans Serif"/>
                <a:cs typeface="Microsoft Sans Serif"/>
              </a:rPr>
              <a:t>vector1 =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np.array(list1)</a:t>
            </a:r>
            <a:endParaRPr sz="1800">
              <a:latin typeface="Microsoft Sans Serif"/>
              <a:cs typeface="Microsoft Sans Serif"/>
            </a:endParaRPr>
          </a:p>
          <a:p>
            <a:pPr marL="12700" marR="572770">
              <a:lnSpc>
                <a:spcPts val="2010"/>
              </a:lnSpc>
              <a:spcBef>
                <a:spcPts val="125"/>
              </a:spcBef>
              <a:tabLst>
                <a:tab pos="1894205" algn="l"/>
              </a:tabLst>
            </a:pPr>
            <a:r>
              <a:rPr sz="1800" dirty="0">
                <a:latin typeface="Microsoft Sans Serif"/>
                <a:cs typeface="Microsoft Sans Serif"/>
              </a:rPr>
              <a:t>print("First</a:t>
            </a:r>
            <a:r>
              <a:rPr sz="1800" spc="-11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Vector</a:t>
            </a:r>
            <a:r>
              <a:rPr sz="1800" dirty="0">
                <a:latin typeface="Microsoft Sans Serif"/>
                <a:cs typeface="Microsoft Sans Serif"/>
              </a:rPr>
              <a:t>	: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"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+</a:t>
            </a:r>
            <a:r>
              <a:rPr sz="1800" spc="2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str(vector1)) </a:t>
            </a:r>
            <a:r>
              <a:rPr sz="1800" dirty="0">
                <a:latin typeface="Microsoft Sans Serif"/>
                <a:cs typeface="Microsoft Sans Serif"/>
              </a:rPr>
              <a:t>vector2 =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np.array(list2)</a:t>
            </a:r>
            <a:endParaRPr sz="1800">
              <a:latin typeface="Microsoft Sans Serif"/>
              <a:cs typeface="Microsoft Sans Serif"/>
            </a:endParaRPr>
          </a:p>
          <a:p>
            <a:pPr marL="12700" marR="308610">
              <a:lnSpc>
                <a:spcPts val="2010"/>
              </a:lnSpc>
              <a:spcBef>
                <a:spcPts val="10"/>
              </a:spcBef>
            </a:pPr>
            <a:r>
              <a:rPr sz="1800" dirty="0">
                <a:latin typeface="Microsoft Sans Serif"/>
                <a:cs typeface="Microsoft Sans Serif"/>
              </a:rPr>
              <a:t>print("Second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Vector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: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"</a:t>
            </a:r>
            <a:r>
              <a:rPr sz="1800" spc="-3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+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str(vector2)) </a:t>
            </a:r>
            <a:r>
              <a:rPr sz="1800" dirty="0">
                <a:latin typeface="Microsoft Sans Serif"/>
                <a:cs typeface="Microsoft Sans Serif"/>
              </a:rPr>
              <a:t>dot_product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=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vector1.dot(vector2)</a:t>
            </a: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ts val="1980"/>
              </a:lnSpc>
              <a:tabLst>
                <a:tab pos="2007870" algn="l"/>
              </a:tabLst>
            </a:pPr>
            <a:r>
              <a:rPr sz="1800" dirty="0">
                <a:latin typeface="Microsoft Sans Serif"/>
                <a:cs typeface="Microsoft Sans Serif"/>
              </a:rPr>
              <a:t>print("Dot</a:t>
            </a:r>
            <a:r>
              <a:rPr sz="1800" spc="-7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Product</a:t>
            </a:r>
            <a:r>
              <a:rPr sz="1800" dirty="0">
                <a:latin typeface="Microsoft Sans Serif"/>
                <a:cs typeface="Microsoft Sans Serif"/>
              </a:rPr>
              <a:t>	: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"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+</a:t>
            </a:r>
            <a:r>
              <a:rPr sz="1800" spc="2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str(dot_product))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Vectors:</a:t>
            </a:r>
            <a:r>
              <a:rPr spc="-225" dirty="0"/>
              <a:t> </a:t>
            </a:r>
            <a:r>
              <a:rPr spc="-10" dirty="0"/>
              <a:t>computer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9450" y="648060"/>
            <a:ext cx="3167380" cy="3115310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2700" marR="1765300">
              <a:lnSpc>
                <a:spcPts val="2010"/>
              </a:lnSpc>
              <a:spcBef>
                <a:spcPts val="290"/>
              </a:spcBef>
            </a:pPr>
            <a:r>
              <a:rPr sz="1800" dirty="0">
                <a:latin typeface="Microsoft Sans Serif"/>
                <a:cs typeface="Microsoft Sans Serif"/>
              </a:rPr>
              <a:t>import</a:t>
            </a:r>
            <a:r>
              <a:rPr sz="1800" spc="-4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numpy </a:t>
            </a:r>
            <a:r>
              <a:rPr sz="1800" dirty="0">
                <a:latin typeface="Microsoft Sans Serif"/>
                <a:cs typeface="Microsoft Sans Serif"/>
              </a:rPr>
              <a:t>import</a:t>
            </a:r>
            <a:r>
              <a:rPr sz="1800" spc="-45" dirty="0">
                <a:latin typeface="Microsoft Sans Serif"/>
                <a:cs typeface="Microsoft Sans Serif"/>
              </a:rPr>
              <a:t> </a:t>
            </a:r>
            <a:r>
              <a:rPr sz="1800" spc="-20" dirty="0">
                <a:latin typeface="Microsoft Sans Serif"/>
                <a:cs typeface="Microsoft Sans Serif"/>
              </a:rPr>
              <a:t>array</a:t>
            </a: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ts val="2085"/>
              </a:lnSpc>
              <a:spcBef>
                <a:spcPts val="1839"/>
              </a:spcBef>
            </a:pPr>
            <a:r>
              <a:rPr sz="1800" spc="-10" dirty="0">
                <a:latin typeface="Microsoft Sans Serif"/>
                <a:cs typeface="Microsoft Sans Serif"/>
              </a:rPr>
              <a:t>a=[5,6,9]</a:t>
            </a: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ts val="2085"/>
              </a:lnSpc>
            </a:pPr>
            <a:r>
              <a:rPr sz="1800" spc="-10" dirty="0">
                <a:latin typeface="Microsoft Sans Serif"/>
                <a:cs typeface="Microsoft Sans Serif"/>
              </a:rPr>
              <a:t>b=[1,3,4]</a:t>
            </a: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870"/>
              </a:spcBef>
            </a:pPr>
            <a:r>
              <a:rPr sz="1800" dirty="0">
                <a:latin typeface="Microsoft Sans Serif"/>
                <a:cs typeface="Microsoft Sans Serif"/>
              </a:rPr>
              <a:t>dot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=</a:t>
            </a:r>
            <a:r>
              <a:rPr sz="1800" spc="25" dirty="0">
                <a:latin typeface="Microsoft Sans Serif"/>
                <a:cs typeface="Microsoft Sans Serif"/>
              </a:rPr>
              <a:t> </a:t>
            </a:r>
            <a:r>
              <a:rPr sz="1800" spc="-20" dirty="0">
                <a:latin typeface="Microsoft Sans Serif"/>
                <a:cs typeface="Microsoft Sans Serif"/>
              </a:rPr>
              <a:t>0.0;</a:t>
            </a:r>
            <a:endParaRPr sz="18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800">
              <a:latin typeface="Microsoft Sans Serif"/>
              <a:cs typeface="Microsoft Sans Serif"/>
            </a:endParaRPr>
          </a:p>
          <a:p>
            <a:pPr marL="396240" marR="1083310" indent="-383540">
              <a:lnSpc>
                <a:spcPts val="2020"/>
              </a:lnSpc>
            </a:pPr>
            <a:r>
              <a:rPr sz="1800" dirty="0">
                <a:latin typeface="Microsoft Sans Serif"/>
                <a:cs typeface="Microsoft Sans Serif"/>
              </a:rPr>
              <a:t>for i in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range(len(a)): </a:t>
            </a:r>
            <a:r>
              <a:rPr sz="1800" dirty="0">
                <a:latin typeface="Microsoft Sans Serif"/>
                <a:cs typeface="Microsoft Sans Serif"/>
              </a:rPr>
              <a:t>dot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+=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a[i]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*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spc="-20" dirty="0">
                <a:latin typeface="Microsoft Sans Serif"/>
                <a:cs typeface="Microsoft Sans Serif"/>
              </a:rPr>
              <a:t>b[i]</a:t>
            </a: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825"/>
              </a:spcBef>
            </a:pPr>
            <a:r>
              <a:rPr sz="1800" dirty="0">
                <a:latin typeface="Microsoft Sans Serif"/>
                <a:cs typeface="Microsoft Sans Serif"/>
              </a:rPr>
              <a:t>print("dot_product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=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"+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str(dot))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5759" y="19410"/>
            <a:ext cx="447675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Vectors:</a:t>
            </a:r>
            <a:r>
              <a:rPr spc="-225" dirty="0"/>
              <a:t> </a:t>
            </a:r>
            <a:r>
              <a:rPr spc="-10" dirty="0"/>
              <a:t>computer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1380" y="936349"/>
            <a:ext cx="4364990" cy="20916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090"/>
              </a:lnSpc>
              <a:spcBef>
                <a:spcPts val="100"/>
              </a:spcBef>
            </a:pPr>
            <a:r>
              <a:rPr sz="1800" dirty="0">
                <a:latin typeface="Microsoft Sans Serif"/>
                <a:cs typeface="Microsoft Sans Serif"/>
              </a:rPr>
              <a:t>Import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numpy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as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np</a:t>
            </a: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ts val="2020"/>
              </a:lnSpc>
            </a:pPr>
            <a:r>
              <a:rPr sz="1800" dirty="0">
                <a:latin typeface="Microsoft Sans Serif"/>
                <a:cs typeface="Microsoft Sans Serif"/>
              </a:rPr>
              <a:t>A</a:t>
            </a:r>
            <a:r>
              <a:rPr sz="1800" spc="-8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=[2,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7,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4]</a:t>
            </a: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ts val="2090"/>
              </a:lnSpc>
            </a:pPr>
            <a:r>
              <a:rPr sz="1800" dirty="0">
                <a:latin typeface="Microsoft Sans Serif"/>
                <a:cs typeface="Microsoft Sans Serif"/>
              </a:rPr>
              <a:t>B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=[3,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9,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8]</a:t>
            </a:r>
            <a:endParaRPr sz="18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800">
              <a:latin typeface="Microsoft Sans Serif"/>
              <a:cs typeface="Microsoft Sans Serif"/>
            </a:endParaRPr>
          </a:p>
          <a:p>
            <a:pPr marL="12700" marR="2321560">
              <a:lnSpc>
                <a:spcPts val="2010"/>
              </a:lnSpc>
              <a:spcBef>
                <a:spcPts val="5"/>
              </a:spcBef>
            </a:pPr>
            <a:r>
              <a:rPr sz="1800" spc="-10" dirty="0">
                <a:latin typeface="Microsoft Sans Serif"/>
                <a:cs typeface="Microsoft Sans Serif"/>
              </a:rPr>
              <a:t>vector1=np.array(A) vector2=np.array(B)</a:t>
            </a:r>
            <a:endParaRPr sz="1800">
              <a:latin typeface="Microsoft Sans Serif"/>
              <a:cs typeface="Microsoft Sans Serif"/>
            </a:endParaRPr>
          </a:p>
          <a:p>
            <a:pPr marL="12700" marR="5080">
              <a:lnSpc>
                <a:spcPts val="2010"/>
              </a:lnSpc>
              <a:spcBef>
                <a:spcPts val="10"/>
              </a:spcBef>
            </a:pPr>
            <a:r>
              <a:rPr sz="1800" spc="-10" dirty="0">
                <a:latin typeface="Microsoft Sans Serif"/>
                <a:cs typeface="Microsoft Sans Serif"/>
              </a:rPr>
              <a:t>cross_product=np.cross(vector1,</a:t>
            </a:r>
            <a:r>
              <a:rPr sz="1800" spc="17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vector2) </a:t>
            </a:r>
            <a:r>
              <a:rPr sz="1800" dirty="0">
                <a:latin typeface="Microsoft Sans Serif"/>
                <a:cs typeface="Microsoft Sans Serif"/>
              </a:rPr>
              <a:t>print("Cross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product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:"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+str(cross_product))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Vectors:</a:t>
            </a:r>
            <a:r>
              <a:rPr spc="-225" dirty="0"/>
              <a:t> </a:t>
            </a:r>
            <a:r>
              <a:rPr spc="-10" dirty="0"/>
              <a:t>computer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98169" y="875389"/>
            <a:ext cx="6238240" cy="28587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090"/>
              </a:lnSpc>
              <a:spcBef>
                <a:spcPts val="100"/>
              </a:spcBef>
            </a:pPr>
            <a:r>
              <a:rPr sz="1800" dirty="0">
                <a:latin typeface="Microsoft Sans Serif"/>
                <a:cs typeface="Microsoft Sans Serif"/>
              </a:rPr>
              <a:t>vect_A</a:t>
            </a:r>
            <a:r>
              <a:rPr sz="1800" spc="-9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=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[3,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-</a:t>
            </a:r>
            <a:r>
              <a:rPr sz="1800" dirty="0">
                <a:latin typeface="Microsoft Sans Serif"/>
                <a:cs typeface="Microsoft Sans Serif"/>
              </a:rPr>
              <a:t>5,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spc="-35" dirty="0">
                <a:latin typeface="Microsoft Sans Serif"/>
                <a:cs typeface="Microsoft Sans Serif"/>
              </a:rPr>
              <a:t>4]</a:t>
            </a:r>
            <a:endParaRPr sz="1800">
              <a:latin typeface="Microsoft Sans Serif"/>
              <a:cs typeface="Microsoft Sans Serif"/>
            </a:endParaRPr>
          </a:p>
          <a:p>
            <a:pPr marL="12700" marR="4497070">
              <a:lnSpc>
                <a:spcPts val="2010"/>
              </a:lnSpc>
              <a:spcBef>
                <a:spcPts val="120"/>
              </a:spcBef>
            </a:pPr>
            <a:r>
              <a:rPr sz="1800" dirty="0">
                <a:latin typeface="Microsoft Sans Serif"/>
                <a:cs typeface="Microsoft Sans Serif"/>
              </a:rPr>
              <a:t>vect_B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=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[2,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6,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5] </a:t>
            </a:r>
            <a:r>
              <a:rPr sz="1800" dirty="0">
                <a:latin typeface="Microsoft Sans Serif"/>
                <a:cs typeface="Microsoft Sans Serif"/>
              </a:rPr>
              <a:t>cross_P</a:t>
            </a:r>
            <a:r>
              <a:rPr sz="1800" spc="-4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=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[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spc="-50" dirty="0">
                <a:latin typeface="Microsoft Sans Serif"/>
                <a:cs typeface="Microsoft Sans Serif"/>
              </a:rPr>
              <a:t>]</a:t>
            </a:r>
            <a:endParaRPr sz="1800">
              <a:latin typeface="Microsoft Sans Serif"/>
              <a:cs typeface="Microsoft Sans Serif"/>
            </a:endParaRPr>
          </a:p>
          <a:p>
            <a:pPr marL="12700" marR="5080" algn="just">
              <a:lnSpc>
                <a:spcPct val="93300"/>
              </a:lnSpc>
              <a:spcBef>
                <a:spcPts val="1975"/>
              </a:spcBef>
            </a:pPr>
            <a:r>
              <a:rPr sz="1800" spc="-10" dirty="0">
                <a:latin typeface="Microsoft Sans Serif"/>
                <a:cs typeface="Microsoft Sans Serif"/>
              </a:rPr>
              <a:t>cross_P.append(vect_A[1]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*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vect_B[2]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-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vect_A[2]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*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vect_B[1]) cross_P.append(vect_A[2]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*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vect_B[0]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-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vect_A[0]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*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vect_B[2]) cross_P.append(vect_A[0]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*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vect_B[1]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-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vect_A[1]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*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vect_B[0])</a:t>
            </a:r>
            <a:endParaRPr sz="18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800">
              <a:latin typeface="Microsoft Sans Serif"/>
              <a:cs typeface="Microsoft Sans Serif"/>
            </a:endParaRPr>
          </a:p>
          <a:p>
            <a:pPr marL="12700" marR="3046730">
              <a:lnSpc>
                <a:spcPts val="2020"/>
              </a:lnSpc>
            </a:pPr>
            <a:r>
              <a:rPr sz="1800" dirty="0">
                <a:latin typeface="Microsoft Sans Serif"/>
                <a:cs typeface="Microsoft Sans Serif"/>
              </a:rPr>
              <a:t>print("Cross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product:",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end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="</a:t>
            </a:r>
            <a:r>
              <a:rPr sz="1800" spc="-25" dirty="0">
                <a:latin typeface="Microsoft Sans Serif"/>
                <a:cs typeface="Microsoft Sans Serif"/>
              </a:rPr>
              <a:t> ") </a:t>
            </a:r>
            <a:r>
              <a:rPr sz="1800" dirty="0">
                <a:latin typeface="Microsoft Sans Serif"/>
                <a:cs typeface="Microsoft Sans Serif"/>
              </a:rPr>
              <a:t>for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in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range(0, </a:t>
            </a:r>
            <a:r>
              <a:rPr sz="1800" spc="-25" dirty="0">
                <a:latin typeface="Microsoft Sans Serif"/>
                <a:cs typeface="Microsoft Sans Serif"/>
              </a:rPr>
              <a:t>3):</a:t>
            </a:r>
            <a:endParaRPr sz="1800">
              <a:latin typeface="Microsoft Sans Serif"/>
              <a:cs typeface="Microsoft Sans Serif"/>
            </a:endParaRPr>
          </a:p>
          <a:p>
            <a:pPr marL="524510">
              <a:lnSpc>
                <a:spcPts val="1964"/>
              </a:lnSpc>
            </a:pPr>
            <a:r>
              <a:rPr sz="1800" spc="-10" dirty="0">
                <a:latin typeface="Microsoft Sans Serif"/>
                <a:cs typeface="Microsoft Sans Serif"/>
              </a:rPr>
              <a:t>print(cross_P[i],</a:t>
            </a:r>
            <a:r>
              <a:rPr sz="1800" spc="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end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="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")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Vectors:</a:t>
            </a:r>
            <a:r>
              <a:rPr spc="-225" dirty="0"/>
              <a:t> </a:t>
            </a:r>
            <a:r>
              <a:rPr spc="-10" dirty="0"/>
              <a:t>computer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Matrices:</a:t>
            </a:r>
            <a:r>
              <a:rPr spc="-225" dirty="0"/>
              <a:t> </a:t>
            </a:r>
            <a:r>
              <a:rPr spc="-10" dirty="0"/>
              <a:t>computer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3400" y="929999"/>
            <a:ext cx="3865879" cy="1078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00"/>
              </a:lnSpc>
              <a:spcBef>
                <a:spcPts val="100"/>
              </a:spcBef>
            </a:pPr>
            <a:r>
              <a:rPr sz="1800" dirty="0">
                <a:latin typeface="Courier New"/>
                <a:cs typeface="Courier New"/>
              </a:rPr>
              <a:t>import</a:t>
            </a:r>
            <a:r>
              <a:rPr sz="1800" spc="-3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numpy</a:t>
            </a:r>
            <a:r>
              <a:rPr sz="1800" spc="-2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as</a:t>
            </a:r>
            <a:r>
              <a:rPr sz="1800" spc="-20" dirty="0">
                <a:latin typeface="Courier New"/>
                <a:cs typeface="Courier New"/>
              </a:rPr>
              <a:t> </a:t>
            </a:r>
            <a:r>
              <a:rPr sz="1800" spc="-25" dirty="0">
                <a:latin typeface="Courier New"/>
                <a:cs typeface="Courier New"/>
              </a:rPr>
              <a:t>np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ts val="2045"/>
              </a:lnSpc>
            </a:pPr>
            <a:r>
              <a:rPr sz="1800" dirty="0">
                <a:latin typeface="Courier New"/>
                <a:cs typeface="Courier New"/>
              </a:rPr>
              <a:t>M1</a:t>
            </a:r>
            <a:r>
              <a:rPr sz="1800" spc="-2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spc="-2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np.array([[5,</a:t>
            </a:r>
            <a:r>
              <a:rPr sz="1800" spc="-2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-</a:t>
            </a:r>
            <a:r>
              <a:rPr sz="1800" dirty="0">
                <a:latin typeface="Courier New"/>
                <a:cs typeface="Courier New"/>
              </a:rPr>
              <a:t>10,</a:t>
            </a:r>
            <a:r>
              <a:rPr sz="1800" spc="-20" dirty="0">
                <a:latin typeface="Courier New"/>
                <a:cs typeface="Courier New"/>
              </a:rPr>
              <a:t> 15],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ts val="2045"/>
              </a:lnSpc>
            </a:pPr>
            <a:r>
              <a:rPr sz="1800" dirty="0">
                <a:latin typeface="Courier New"/>
                <a:cs typeface="Courier New"/>
              </a:rPr>
              <a:t>[3,</a:t>
            </a:r>
            <a:r>
              <a:rPr sz="1800" spc="-2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-</a:t>
            </a:r>
            <a:r>
              <a:rPr sz="1800" dirty="0">
                <a:latin typeface="Courier New"/>
                <a:cs typeface="Courier New"/>
              </a:rPr>
              <a:t>6,</a:t>
            </a:r>
            <a:r>
              <a:rPr sz="1800" spc="-1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9],</a:t>
            </a:r>
            <a:r>
              <a:rPr sz="1800" spc="-10" dirty="0">
                <a:latin typeface="Courier New"/>
                <a:cs typeface="Courier New"/>
              </a:rPr>
              <a:t> [-</a:t>
            </a:r>
            <a:r>
              <a:rPr sz="1800" dirty="0">
                <a:latin typeface="Courier New"/>
                <a:cs typeface="Courier New"/>
              </a:rPr>
              <a:t>4,</a:t>
            </a:r>
            <a:r>
              <a:rPr sz="1800" spc="-1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8,</a:t>
            </a:r>
            <a:r>
              <a:rPr sz="1800" spc="-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12]])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ts val="2100"/>
              </a:lnSpc>
            </a:pPr>
            <a:r>
              <a:rPr sz="1800" spc="-10" dirty="0">
                <a:latin typeface="Courier New"/>
                <a:cs typeface="Courier New"/>
              </a:rPr>
              <a:t>print(M1)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9269" y="816969"/>
            <a:ext cx="7980680" cy="1337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00"/>
              </a:lnSpc>
              <a:spcBef>
                <a:spcPts val="100"/>
              </a:spcBef>
            </a:pPr>
            <a:r>
              <a:rPr sz="1800" dirty="0">
                <a:latin typeface="Courier New"/>
                <a:cs typeface="Courier New"/>
              </a:rPr>
              <a:t>import</a:t>
            </a:r>
            <a:r>
              <a:rPr sz="1800" spc="-3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numpy</a:t>
            </a:r>
            <a:r>
              <a:rPr sz="1800" spc="-2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as</a:t>
            </a:r>
            <a:r>
              <a:rPr sz="1800" spc="-20" dirty="0">
                <a:latin typeface="Courier New"/>
                <a:cs typeface="Courier New"/>
              </a:rPr>
              <a:t> </a:t>
            </a:r>
            <a:r>
              <a:rPr sz="1800" spc="-25" dirty="0">
                <a:latin typeface="Courier New"/>
                <a:cs typeface="Courier New"/>
              </a:rPr>
              <a:t>np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ts val="2045"/>
              </a:lnSpc>
            </a:pPr>
            <a:r>
              <a:rPr sz="1800" dirty="0">
                <a:latin typeface="Courier New"/>
                <a:cs typeface="Courier New"/>
              </a:rPr>
              <a:t>M1</a:t>
            </a:r>
            <a:r>
              <a:rPr sz="1800" spc="-3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spc="-1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np.array([[3,</a:t>
            </a:r>
            <a:r>
              <a:rPr sz="1800" spc="-1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6,</a:t>
            </a:r>
            <a:r>
              <a:rPr sz="1800" spc="-2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9],</a:t>
            </a:r>
            <a:r>
              <a:rPr sz="1800" spc="-1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[5,</a:t>
            </a:r>
            <a:r>
              <a:rPr sz="1800" spc="-1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-</a:t>
            </a:r>
            <a:r>
              <a:rPr sz="1800" dirty="0">
                <a:latin typeface="Courier New"/>
                <a:cs typeface="Courier New"/>
              </a:rPr>
              <a:t>10,</a:t>
            </a:r>
            <a:r>
              <a:rPr sz="1800" spc="-2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15],</a:t>
            </a:r>
            <a:r>
              <a:rPr sz="1800" spc="-1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[-</a:t>
            </a:r>
            <a:r>
              <a:rPr sz="1800" dirty="0">
                <a:latin typeface="Courier New"/>
                <a:cs typeface="Courier New"/>
              </a:rPr>
              <a:t>7,</a:t>
            </a:r>
            <a:r>
              <a:rPr sz="1800" spc="-1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14,</a:t>
            </a:r>
            <a:r>
              <a:rPr sz="1800" spc="-1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21]])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ts val="2045"/>
              </a:lnSpc>
            </a:pPr>
            <a:r>
              <a:rPr sz="1800" dirty="0">
                <a:latin typeface="Courier New"/>
                <a:cs typeface="Courier New"/>
              </a:rPr>
              <a:t>M2</a:t>
            </a:r>
            <a:r>
              <a:rPr sz="1800" spc="-2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spc="-2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np.array([[9,</a:t>
            </a:r>
            <a:r>
              <a:rPr sz="1800" spc="-2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-</a:t>
            </a:r>
            <a:r>
              <a:rPr sz="1800" dirty="0">
                <a:latin typeface="Courier New"/>
                <a:cs typeface="Courier New"/>
              </a:rPr>
              <a:t>18,</a:t>
            </a:r>
            <a:r>
              <a:rPr sz="1800" spc="-2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27],</a:t>
            </a:r>
            <a:r>
              <a:rPr sz="1800" spc="-2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[11,</a:t>
            </a:r>
            <a:r>
              <a:rPr sz="1800" spc="-2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22,</a:t>
            </a:r>
            <a:r>
              <a:rPr sz="1800" spc="-2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33],</a:t>
            </a:r>
            <a:r>
              <a:rPr sz="1800" spc="-2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[13,</a:t>
            </a:r>
            <a:r>
              <a:rPr sz="1800" spc="-2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-</a:t>
            </a:r>
            <a:r>
              <a:rPr sz="1800" dirty="0">
                <a:latin typeface="Courier New"/>
                <a:cs typeface="Courier New"/>
              </a:rPr>
              <a:t>26,</a:t>
            </a:r>
            <a:r>
              <a:rPr sz="1800" spc="-1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39]])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ts val="2039"/>
              </a:lnSpc>
            </a:pPr>
            <a:r>
              <a:rPr sz="1800" dirty="0">
                <a:latin typeface="Courier New"/>
                <a:cs typeface="Courier New"/>
              </a:rPr>
              <a:t>M3</a:t>
            </a:r>
            <a:r>
              <a:rPr sz="1800" spc="-1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spc="-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M1</a:t>
            </a:r>
            <a:r>
              <a:rPr sz="1800" spc="-1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+</a:t>
            </a:r>
            <a:r>
              <a:rPr sz="1800" spc="-5" dirty="0">
                <a:latin typeface="Courier New"/>
                <a:cs typeface="Courier New"/>
              </a:rPr>
              <a:t> </a:t>
            </a:r>
            <a:r>
              <a:rPr sz="1800" spc="-25" dirty="0">
                <a:latin typeface="Courier New"/>
                <a:cs typeface="Courier New"/>
              </a:rPr>
              <a:t>M2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ts val="2100"/>
              </a:lnSpc>
            </a:pPr>
            <a:r>
              <a:rPr sz="1800" spc="-10" dirty="0">
                <a:latin typeface="Courier New"/>
                <a:cs typeface="Courier New"/>
              </a:rPr>
              <a:t>print(M3)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Matrices:</a:t>
            </a:r>
            <a:r>
              <a:rPr spc="-225" dirty="0"/>
              <a:t> </a:t>
            </a:r>
            <a:r>
              <a:rPr spc="-10" dirty="0"/>
              <a:t>computer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6880" y="786489"/>
            <a:ext cx="7980680" cy="1336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00"/>
              </a:lnSpc>
              <a:spcBef>
                <a:spcPts val="100"/>
              </a:spcBef>
            </a:pPr>
            <a:r>
              <a:rPr sz="1800" dirty="0">
                <a:latin typeface="Courier New"/>
                <a:cs typeface="Courier New"/>
              </a:rPr>
              <a:t>import</a:t>
            </a:r>
            <a:r>
              <a:rPr sz="1800" spc="-3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numpy</a:t>
            </a:r>
            <a:r>
              <a:rPr sz="1800" spc="-2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as</a:t>
            </a:r>
            <a:r>
              <a:rPr sz="1800" spc="-20" dirty="0">
                <a:latin typeface="Courier New"/>
                <a:cs typeface="Courier New"/>
              </a:rPr>
              <a:t> </a:t>
            </a:r>
            <a:r>
              <a:rPr sz="1800" spc="-25" dirty="0">
                <a:latin typeface="Courier New"/>
                <a:cs typeface="Courier New"/>
              </a:rPr>
              <a:t>np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ts val="2039"/>
              </a:lnSpc>
            </a:pPr>
            <a:r>
              <a:rPr sz="1800" dirty="0">
                <a:latin typeface="Courier New"/>
                <a:cs typeface="Courier New"/>
              </a:rPr>
              <a:t>M1</a:t>
            </a:r>
            <a:r>
              <a:rPr sz="1800" spc="-3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spc="-1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np.array([[3,</a:t>
            </a:r>
            <a:r>
              <a:rPr sz="1800" spc="-1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6,</a:t>
            </a:r>
            <a:r>
              <a:rPr sz="1800" spc="-2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9],</a:t>
            </a:r>
            <a:r>
              <a:rPr sz="1800" spc="-1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[5,</a:t>
            </a:r>
            <a:r>
              <a:rPr sz="1800" spc="-1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-</a:t>
            </a:r>
            <a:r>
              <a:rPr sz="1800" dirty="0">
                <a:latin typeface="Courier New"/>
                <a:cs typeface="Courier New"/>
              </a:rPr>
              <a:t>10,</a:t>
            </a:r>
            <a:r>
              <a:rPr sz="1800" spc="-2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15],</a:t>
            </a:r>
            <a:r>
              <a:rPr sz="1800" spc="-1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[-</a:t>
            </a:r>
            <a:r>
              <a:rPr sz="1800" dirty="0">
                <a:latin typeface="Courier New"/>
                <a:cs typeface="Courier New"/>
              </a:rPr>
              <a:t>7,</a:t>
            </a:r>
            <a:r>
              <a:rPr sz="1800" spc="-1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14,</a:t>
            </a:r>
            <a:r>
              <a:rPr sz="1800" spc="-1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21]])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ts val="2039"/>
              </a:lnSpc>
            </a:pPr>
            <a:r>
              <a:rPr sz="1800" dirty="0">
                <a:latin typeface="Courier New"/>
                <a:cs typeface="Courier New"/>
              </a:rPr>
              <a:t>M2</a:t>
            </a:r>
            <a:r>
              <a:rPr sz="1800" spc="-2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spc="-2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np.array([[9,</a:t>
            </a:r>
            <a:r>
              <a:rPr sz="1800" spc="-2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-</a:t>
            </a:r>
            <a:r>
              <a:rPr sz="1800" dirty="0">
                <a:latin typeface="Courier New"/>
                <a:cs typeface="Courier New"/>
              </a:rPr>
              <a:t>18,</a:t>
            </a:r>
            <a:r>
              <a:rPr sz="1800" spc="-2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27],</a:t>
            </a:r>
            <a:r>
              <a:rPr sz="1800" spc="-2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[11,</a:t>
            </a:r>
            <a:r>
              <a:rPr sz="1800" spc="-2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22,</a:t>
            </a:r>
            <a:r>
              <a:rPr sz="1800" spc="-2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33],</a:t>
            </a:r>
            <a:r>
              <a:rPr sz="1800" spc="-2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[13,</a:t>
            </a:r>
            <a:r>
              <a:rPr sz="1800" spc="-2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-</a:t>
            </a:r>
            <a:r>
              <a:rPr sz="1800" dirty="0">
                <a:latin typeface="Courier New"/>
                <a:cs typeface="Courier New"/>
              </a:rPr>
              <a:t>26,</a:t>
            </a:r>
            <a:r>
              <a:rPr sz="1800" spc="-1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39]])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ts val="2039"/>
              </a:lnSpc>
            </a:pPr>
            <a:r>
              <a:rPr sz="1800" dirty="0">
                <a:latin typeface="Courier New"/>
                <a:cs typeface="Courier New"/>
              </a:rPr>
              <a:t>M3</a:t>
            </a:r>
            <a:r>
              <a:rPr sz="1800" spc="-1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spc="-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M1</a:t>
            </a:r>
            <a:r>
              <a:rPr sz="1800" spc="-1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-</a:t>
            </a:r>
            <a:r>
              <a:rPr sz="1800" spc="-5" dirty="0">
                <a:latin typeface="Courier New"/>
                <a:cs typeface="Courier New"/>
              </a:rPr>
              <a:t> </a:t>
            </a:r>
            <a:r>
              <a:rPr sz="1800" spc="-25" dirty="0">
                <a:latin typeface="Courier New"/>
                <a:cs typeface="Courier New"/>
              </a:rPr>
              <a:t>M2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ts val="2100"/>
              </a:lnSpc>
            </a:pPr>
            <a:r>
              <a:rPr sz="1800" spc="-10" dirty="0">
                <a:latin typeface="Courier New"/>
                <a:cs typeface="Courier New"/>
              </a:rPr>
              <a:t>print(M3)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Matrices:</a:t>
            </a:r>
            <a:r>
              <a:rPr spc="-225" dirty="0"/>
              <a:t> </a:t>
            </a:r>
            <a:r>
              <a:rPr spc="-10" dirty="0"/>
              <a:t>computer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6880" y="786489"/>
            <a:ext cx="6883400" cy="1337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00"/>
              </a:lnSpc>
              <a:spcBef>
                <a:spcPts val="100"/>
              </a:spcBef>
            </a:pPr>
            <a:r>
              <a:rPr sz="1800" dirty="0">
                <a:latin typeface="Courier New"/>
                <a:cs typeface="Courier New"/>
              </a:rPr>
              <a:t>import</a:t>
            </a:r>
            <a:r>
              <a:rPr sz="1800" spc="-3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numpy</a:t>
            </a:r>
            <a:r>
              <a:rPr sz="1800" spc="-2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as</a:t>
            </a:r>
            <a:r>
              <a:rPr sz="1800" spc="-20" dirty="0">
                <a:latin typeface="Courier New"/>
                <a:cs typeface="Courier New"/>
              </a:rPr>
              <a:t> </a:t>
            </a:r>
            <a:r>
              <a:rPr sz="1800" spc="-25" dirty="0">
                <a:latin typeface="Courier New"/>
                <a:cs typeface="Courier New"/>
              </a:rPr>
              <a:t>np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ts val="2039"/>
              </a:lnSpc>
            </a:pPr>
            <a:r>
              <a:rPr sz="1800" dirty="0">
                <a:latin typeface="Courier New"/>
                <a:cs typeface="Courier New"/>
              </a:rPr>
              <a:t>M1</a:t>
            </a:r>
            <a:r>
              <a:rPr sz="1800" spc="6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spc="7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np.array([[3,6,9],[5,-10,15],[-7,14,21]])</a:t>
            </a:r>
            <a:endParaRPr sz="1800">
              <a:latin typeface="Courier New"/>
              <a:cs typeface="Courier New"/>
            </a:endParaRPr>
          </a:p>
          <a:p>
            <a:pPr marL="12700" marR="5080">
              <a:lnSpc>
                <a:spcPts val="2050"/>
              </a:lnSpc>
              <a:spcBef>
                <a:spcPts val="100"/>
              </a:spcBef>
            </a:pPr>
            <a:r>
              <a:rPr sz="1800" dirty="0">
                <a:latin typeface="Courier New"/>
                <a:cs typeface="Courier New"/>
              </a:rPr>
              <a:t>M2</a:t>
            </a:r>
            <a:r>
              <a:rPr sz="1800" spc="7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spc="8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np.array([[9,-18,27],[11,22,33],[13,-26,39]]) </a:t>
            </a:r>
            <a:r>
              <a:rPr sz="1800" dirty="0">
                <a:latin typeface="Courier New"/>
                <a:cs typeface="Courier New"/>
              </a:rPr>
              <a:t>M3</a:t>
            </a:r>
            <a:r>
              <a:rPr sz="1800" spc="-2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spc="-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M1.dot(M2)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ts val="1989"/>
              </a:lnSpc>
            </a:pPr>
            <a:r>
              <a:rPr sz="1800" spc="-10" dirty="0">
                <a:latin typeface="Courier New"/>
                <a:cs typeface="Courier New"/>
              </a:rPr>
              <a:t>print(M3)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41019" y="3057250"/>
            <a:ext cx="3488054" cy="1323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085"/>
              </a:lnSpc>
              <a:spcBef>
                <a:spcPts val="100"/>
              </a:spcBef>
            </a:pPr>
            <a:r>
              <a:rPr sz="1800" dirty="0">
                <a:latin typeface="Microsoft Sans Serif"/>
                <a:cs typeface="Microsoft Sans Serif"/>
              </a:rPr>
              <a:t>import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numpy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as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np</a:t>
            </a: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ts val="2014"/>
              </a:lnSpc>
            </a:pPr>
            <a:r>
              <a:rPr sz="1800" dirty="0">
                <a:latin typeface="Microsoft Sans Serif"/>
                <a:cs typeface="Microsoft Sans Serif"/>
              </a:rPr>
              <a:t>mat1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=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([1,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6, 5],[3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,4,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8],[2,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12,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3])</a:t>
            </a: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ts val="2014"/>
              </a:lnSpc>
            </a:pPr>
            <a:r>
              <a:rPr sz="1800" dirty="0">
                <a:latin typeface="Microsoft Sans Serif"/>
                <a:cs typeface="Microsoft Sans Serif"/>
              </a:rPr>
              <a:t>Mat2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=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([3,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4, 6],[5,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6,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7],[6,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56,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7])</a:t>
            </a:r>
            <a:endParaRPr sz="1800">
              <a:latin typeface="Microsoft Sans Serif"/>
              <a:cs typeface="Microsoft Sans Serif"/>
            </a:endParaRPr>
          </a:p>
          <a:p>
            <a:pPr marL="12700" marR="1023619">
              <a:lnSpc>
                <a:spcPts val="2020"/>
              </a:lnSpc>
              <a:spcBef>
                <a:spcPts val="105"/>
              </a:spcBef>
            </a:pPr>
            <a:r>
              <a:rPr sz="1800" dirty="0">
                <a:latin typeface="Microsoft Sans Serif"/>
                <a:cs typeface="Microsoft Sans Serif"/>
              </a:rPr>
              <a:t>res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=</a:t>
            </a:r>
            <a:r>
              <a:rPr sz="1800" spc="2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np.dot(mat1,mat2) print(res)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Matrices:</a:t>
            </a:r>
            <a:r>
              <a:rPr spc="-225" dirty="0"/>
              <a:t> </a:t>
            </a:r>
            <a:r>
              <a:rPr spc="-10" dirty="0"/>
              <a:t>computer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99440" y="740769"/>
            <a:ext cx="4411980" cy="41389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2480945" algn="ctr">
              <a:lnSpc>
                <a:spcPts val="2090"/>
              </a:lnSpc>
              <a:spcBef>
                <a:spcPts val="100"/>
              </a:spcBef>
            </a:pPr>
            <a:r>
              <a:rPr sz="1800" dirty="0">
                <a:latin typeface="Microsoft Sans Serif"/>
                <a:cs typeface="Microsoft Sans Serif"/>
              </a:rPr>
              <a:t>matrix1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=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[[12,7,3],</a:t>
            </a:r>
            <a:endParaRPr sz="1800">
              <a:latin typeface="Microsoft Sans Serif"/>
              <a:cs typeface="Microsoft Sans Serif"/>
            </a:endParaRPr>
          </a:p>
          <a:p>
            <a:pPr marR="2593340" algn="ctr">
              <a:lnSpc>
                <a:spcPts val="2014"/>
              </a:lnSpc>
            </a:pPr>
            <a:r>
              <a:rPr sz="1800" dirty="0">
                <a:latin typeface="Microsoft Sans Serif"/>
                <a:cs typeface="Microsoft Sans Serif"/>
              </a:rPr>
              <a:t>[4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,5,6],</a:t>
            </a:r>
            <a:endParaRPr sz="1800">
              <a:latin typeface="Microsoft Sans Serif"/>
              <a:cs typeface="Microsoft Sans Serif"/>
            </a:endParaRPr>
          </a:p>
          <a:p>
            <a:pPr marR="2593340" algn="ctr">
              <a:lnSpc>
                <a:spcPts val="2014"/>
              </a:lnSpc>
            </a:pPr>
            <a:r>
              <a:rPr sz="1800" dirty="0">
                <a:latin typeface="Microsoft Sans Serif"/>
                <a:cs typeface="Microsoft Sans Serif"/>
              </a:rPr>
              <a:t>[7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,8,9]]</a:t>
            </a:r>
            <a:endParaRPr sz="1800">
              <a:latin typeface="Microsoft Sans Serif"/>
              <a:cs typeface="Microsoft Sans Serif"/>
            </a:endParaRPr>
          </a:p>
          <a:p>
            <a:pPr marR="2606675" algn="ctr">
              <a:lnSpc>
                <a:spcPts val="2014"/>
              </a:lnSpc>
            </a:pPr>
            <a:r>
              <a:rPr sz="1800" dirty="0">
                <a:latin typeface="Microsoft Sans Serif"/>
                <a:cs typeface="Microsoft Sans Serif"/>
              </a:rPr>
              <a:t>matrix2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=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[[5,8,1],</a:t>
            </a:r>
            <a:endParaRPr sz="1800">
              <a:latin typeface="Microsoft Sans Serif"/>
              <a:cs typeface="Microsoft Sans Serif"/>
            </a:endParaRPr>
          </a:p>
          <a:p>
            <a:pPr marR="2656205" algn="ctr">
              <a:lnSpc>
                <a:spcPts val="2014"/>
              </a:lnSpc>
            </a:pPr>
            <a:r>
              <a:rPr sz="1800" spc="-10" dirty="0">
                <a:latin typeface="Microsoft Sans Serif"/>
                <a:cs typeface="Microsoft Sans Serif"/>
              </a:rPr>
              <a:t>[6,7,3],</a:t>
            </a:r>
            <a:endParaRPr sz="1800">
              <a:latin typeface="Microsoft Sans Serif"/>
              <a:cs typeface="Microsoft Sans Serif"/>
            </a:endParaRPr>
          </a:p>
          <a:p>
            <a:pPr marR="2656205" algn="ctr">
              <a:lnSpc>
                <a:spcPts val="2090"/>
              </a:lnSpc>
            </a:pPr>
            <a:r>
              <a:rPr sz="1800" spc="-10" dirty="0">
                <a:latin typeface="Microsoft Sans Serif"/>
                <a:cs typeface="Microsoft Sans Serif"/>
              </a:rPr>
              <a:t>[4,5,9]]</a:t>
            </a: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870"/>
              </a:spcBef>
            </a:pPr>
            <a:r>
              <a:rPr sz="1800" dirty="0">
                <a:latin typeface="Microsoft Sans Serif"/>
                <a:cs typeface="Microsoft Sans Serif"/>
              </a:rPr>
              <a:t>res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=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[[0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for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x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in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range(3)]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for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y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in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range(3)]</a:t>
            </a: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ts val="2085"/>
              </a:lnSpc>
              <a:spcBef>
                <a:spcPts val="1870"/>
              </a:spcBef>
            </a:pPr>
            <a:r>
              <a:rPr sz="1800" dirty="0">
                <a:latin typeface="Microsoft Sans Serif"/>
                <a:cs typeface="Microsoft Sans Serif"/>
              </a:rPr>
              <a:t>for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 in </a:t>
            </a:r>
            <a:r>
              <a:rPr sz="1800" spc="-10" dirty="0">
                <a:latin typeface="Microsoft Sans Serif"/>
                <a:cs typeface="Microsoft Sans Serif"/>
              </a:rPr>
              <a:t>range(len(matrix1)):</a:t>
            </a:r>
            <a:endParaRPr sz="1800">
              <a:latin typeface="Microsoft Sans Serif"/>
              <a:cs typeface="Microsoft Sans Serif"/>
            </a:endParaRPr>
          </a:p>
          <a:p>
            <a:pPr marL="524510" marR="1130300" indent="-255270">
              <a:lnSpc>
                <a:spcPts val="2020"/>
              </a:lnSpc>
              <a:spcBef>
                <a:spcPts val="105"/>
              </a:spcBef>
            </a:pPr>
            <a:r>
              <a:rPr sz="1800" dirty="0">
                <a:latin typeface="Microsoft Sans Serif"/>
                <a:cs typeface="Microsoft Sans Serif"/>
              </a:rPr>
              <a:t>for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j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in </a:t>
            </a:r>
            <a:r>
              <a:rPr sz="1800" spc="-10" dirty="0">
                <a:latin typeface="Microsoft Sans Serif"/>
                <a:cs typeface="Microsoft Sans Serif"/>
              </a:rPr>
              <a:t>range(len(matrix2[0])): </a:t>
            </a:r>
            <a:r>
              <a:rPr sz="1800" dirty="0">
                <a:latin typeface="Microsoft Sans Serif"/>
                <a:cs typeface="Microsoft Sans Serif"/>
              </a:rPr>
              <a:t>for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k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in </a:t>
            </a:r>
            <a:r>
              <a:rPr sz="1800" spc="-10" dirty="0">
                <a:latin typeface="Microsoft Sans Serif"/>
                <a:cs typeface="Microsoft Sans Serif"/>
              </a:rPr>
              <a:t>range(len(matrix2)):</a:t>
            </a:r>
            <a:endParaRPr sz="1800">
              <a:latin typeface="Microsoft Sans Serif"/>
              <a:cs typeface="Microsoft Sans Serif"/>
            </a:endParaRPr>
          </a:p>
          <a:p>
            <a:pPr marL="12700" marR="5080" indent="768350">
              <a:lnSpc>
                <a:spcPts val="4029"/>
              </a:lnSpc>
              <a:spcBef>
                <a:spcPts val="204"/>
              </a:spcBef>
            </a:pPr>
            <a:r>
              <a:rPr sz="1800" dirty="0">
                <a:latin typeface="Microsoft Sans Serif"/>
                <a:cs typeface="Microsoft Sans Serif"/>
              </a:rPr>
              <a:t>res[i][j]</a:t>
            </a:r>
            <a:r>
              <a:rPr sz="1800" spc="-3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+=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matrix1[i][k]</a:t>
            </a:r>
            <a:r>
              <a:rPr sz="1800" spc="-3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*</a:t>
            </a:r>
            <a:r>
              <a:rPr sz="1800" spc="-3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matrix2[k][j] </a:t>
            </a:r>
            <a:r>
              <a:rPr sz="1800" dirty="0">
                <a:latin typeface="Microsoft Sans Serif"/>
                <a:cs typeface="Microsoft Sans Serif"/>
              </a:rPr>
              <a:t>print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(res)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Matrices:</a:t>
            </a:r>
            <a:r>
              <a:rPr spc="-225" dirty="0"/>
              <a:t> </a:t>
            </a:r>
            <a:r>
              <a:rPr spc="-10" dirty="0"/>
              <a:t>computer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4050" y="875389"/>
            <a:ext cx="4589145" cy="1068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090"/>
              </a:lnSpc>
              <a:spcBef>
                <a:spcPts val="100"/>
              </a:spcBef>
            </a:pPr>
            <a:r>
              <a:rPr sz="1800" dirty="0">
                <a:latin typeface="Microsoft Sans Serif"/>
                <a:cs typeface="Microsoft Sans Serif"/>
              </a:rPr>
              <a:t>M1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= np.array([[3, 6,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9], [5, </a:t>
            </a:r>
            <a:r>
              <a:rPr sz="1800" spc="-10" dirty="0">
                <a:latin typeface="Microsoft Sans Serif"/>
                <a:cs typeface="Microsoft Sans Serif"/>
              </a:rPr>
              <a:t>-</a:t>
            </a:r>
            <a:r>
              <a:rPr sz="1800" dirty="0">
                <a:latin typeface="Microsoft Sans Serif"/>
                <a:cs typeface="Microsoft Sans Serif"/>
              </a:rPr>
              <a:t>10,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15],</a:t>
            </a:r>
            <a:r>
              <a:rPr sz="1800" spc="-10" dirty="0">
                <a:latin typeface="Microsoft Sans Serif"/>
                <a:cs typeface="Microsoft Sans Serif"/>
              </a:rPr>
              <a:t> [4,8,12]])</a:t>
            </a:r>
            <a:endParaRPr sz="1800">
              <a:latin typeface="Microsoft Sans Serif"/>
              <a:cs typeface="Microsoft Sans Serif"/>
            </a:endParaRPr>
          </a:p>
          <a:p>
            <a:pPr marL="12700" marR="2455545">
              <a:lnSpc>
                <a:spcPts val="2010"/>
              </a:lnSpc>
              <a:spcBef>
                <a:spcPts val="120"/>
              </a:spcBef>
            </a:pPr>
            <a:r>
              <a:rPr sz="1800" dirty="0">
                <a:latin typeface="Microsoft Sans Serif"/>
                <a:cs typeface="Microsoft Sans Serif"/>
              </a:rPr>
              <a:t>M2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=</a:t>
            </a:r>
            <a:r>
              <a:rPr sz="1800" spc="2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M1.transpose() print(M1)</a:t>
            </a: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ts val="1980"/>
              </a:lnSpc>
            </a:pPr>
            <a:r>
              <a:rPr sz="1800" spc="-10" dirty="0">
                <a:latin typeface="Microsoft Sans Serif"/>
                <a:cs typeface="Microsoft Sans Serif"/>
              </a:rPr>
              <a:t>print(M2)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Matrices:</a:t>
            </a:r>
            <a:r>
              <a:rPr spc="-225" dirty="0"/>
              <a:t> </a:t>
            </a:r>
            <a:r>
              <a:rPr spc="-10" dirty="0"/>
              <a:t>computer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18539" y="833480"/>
            <a:ext cx="2562225" cy="3882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416685" algn="ctr">
              <a:lnSpc>
                <a:spcPts val="2085"/>
              </a:lnSpc>
              <a:spcBef>
                <a:spcPts val="100"/>
              </a:spcBef>
            </a:pPr>
            <a:r>
              <a:rPr sz="1800" dirty="0">
                <a:latin typeface="Microsoft Sans Serif"/>
                <a:cs typeface="Microsoft Sans Serif"/>
              </a:rPr>
              <a:t>X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=</a:t>
            </a:r>
            <a:r>
              <a:rPr sz="1800" spc="2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[[12,7],</a:t>
            </a:r>
            <a:endParaRPr sz="1800">
              <a:latin typeface="Microsoft Sans Serif"/>
              <a:cs typeface="Microsoft Sans Serif"/>
            </a:endParaRPr>
          </a:p>
          <a:p>
            <a:pPr marR="1444625" algn="ctr">
              <a:lnSpc>
                <a:spcPts val="2014"/>
              </a:lnSpc>
            </a:pPr>
            <a:r>
              <a:rPr sz="1800" dirty="0">
                <a:latin typeface="Microsoft Sans Serif"/>
                <a:cs typeface="Microsoft Sans Serif"/>
              </a:rPr>
              <a:t>[4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spc="-20" dirty="0">
                <a:latin typeface="Microsoft Sans Serif"/>
                <a:cs typeface="Microsoft Sans Serif"/>
              </a:rPr>
              <a:t>,5],</a:t>
            </a:r>
            <a:endParaRPr sz="1800">
              <a:latin typeface="Microsoft Sans Serif"/>
              <a:cs typeface="Microsoft Sans Serif"/>
            </a:endParaRPr>
          </a:p>
          <a:p>
            <a:pPr marR="1444625" algn="ctr">
              <a:lnSpc>
                <a:spcPts val="2090"/>
              </a:lnSpc>
            </a:pPr>
            <a:r>
              <a:rPr sz="1800" dirty="0">
                <a:latin typeface="Microsoft Sans Serif"/>
                <a:cs typeface="Microsoft Sans Serif"/>
              </a:rPr>
              <a:t>[3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spc="-20" dirty="0">
                <a:latin typeface="Microsoft Sans Serif"/>
                <a:cs typeface="Microsoft Sans Serif"/>
              </a:rPr>
              <a:t>,8]]</a:t>
            </a: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ts val="2090"/>
              </a:lnSpc>
              <a:spcBef>
                <a:spcPts val="1870"/>
              </a:spcBef>
            </a:pPr>
            <a:r>
              <a:rPr sz="1800" dirty="0">
                <a:latin typeface="Microsoft Sans Serif"/>
                <a:cs typeface="Microsoft Sans Serif"/>
              </a:rPr>
              <a:t>result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= </a:t>
            </a:r>
            <a:r>
              <a:rPr sz="1800" spc="-10" dirty="0">
                <a:latin typeface="Microsoft Sans Serif"/>
                <a:cs typeface="Microsoft Sans Serif"/>
              </a:rPr>
              <a:t>[[0,0,0],</a:t>
            </a:r>
            <a:endParaRPr sz="1800">
              <a:latin typeface="Microsoft Sans Serif"/>
              <a:cs typeface="Microsoft Sans Serif"/>
            </a:endParaRPr>
          </a:p>
          <a:p>
            <a:pPr marL="588645">
              <a:lnSpc>
                <a:spcPts val="2090"/>
              </a:lnSpc>
            </a:pPr>
            <a:r>
              <a:rPr sz="1800" spc="-10" dirty="0">
                <a:latin typeface="Microsoft Sans Serif"/>
                <a:cs typeface="Microsoft Sans Serif"/>
              </a:rPr>
              <a:t>[0,0,0]]</a:t>
            </a:r>
            <a:endParaRPr sz="18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839"/>
              </a:spcBef>
            </a:pP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Microsoft Sans Serif"/>
                <a:cs typeface="Microsoft Sans Serif"/>
              </a:rPr>
              <a:t>for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in </a:t>
            </a:r>
            <a:r>
              <a:rPr sz="1800" spc="-10" dirty="0">
                <a:latin typeface="Microsoft Sans Serif"/>
                <a:cs typeface="Microsoft Sans Serif"/>
              </a:rPr>
              <a:t>range(len(X)):</a:t>
            </a:r>
            <a:endParaRPr sz="1800">
              <a:latin typeface="Microsoft Sans Serif"/>
              <a:cs typeface="Microsoft Sans Serif"/>
            </a:endParaRPr>
          </a:p>
          <a:p>
            <a:pPr marL="203835">
              <a:lnSpc>
                <a:spcPts val="2090"/>
              </a:lnSpc>
              <a:spcBef>
                <a:spcPts val="1870"/>
              </a:spcBef>
            </a:pPr>
            <a:r>
              <a:rPr sz="1800" dirty="0">
                <a:latin typeface="Microsoft Sans Serif"/>
                <a:cs typeface="Microsoft Sans Serif"/>
              </a:rPr>
              <a:t>for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j in </a:t>
            </a:r>
            <a:r>
              <a:rPr sz="1800" spc="-10" dirty="0">
                <a:latin typeface="Microsoft Sans Serif"/>
                <a:cs typeface="Microsoft Sans Serif"/>
              </a:rPr>
              <a:t>range(len(X[0])):</a:t>
            </a:r>
            <a:endParaRPr sz="1800">
              <a:latin typeface="Microsoft Sans Serif"/>
              <a:cs typeface="Microsoft Sans Serif"/>
            </a:endParaRPr>
          </a:p>
          <a:p>
            <a:pPr marL="461009">
              <a:lnSpc>
                <a:spcPts val="2090"/>
              </a:lnSpc>
            </a:pPr>
            <a:r>
              <a:rPr sz="1800" dirty="0">
                <a:latin typeface="Microsoft Sans Serif"/>
                <a:cs typeface="Microsoft Sans Serif"/>
              </a:rPr>
              <a:t>result[j][i]</a:t>
            </a:r>
            <a:r>
              <a:rPr sz="1800" spc="-3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=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X[i][j]</a:t>
            </a:r>
            <a:endParaRPr sz="18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800">
              <a:latin typeface="Microsoft Sans Serif"/>
              <a:cs typeface="Microsoft Sans Serif"/>
            </a:endParaRPr>
          </a:p>
          <a:p>
            <a:pPr marL="203835" marR="1209040" indent="-191770">
              <a:lnSpc>
                <a:spcPts val="2010"/>
              </a:lnSpc>
            </a:pPr>
            <a:r>
              <a:rPr sz="1800" dirty="0">
                <a:latin typeface="Microsoft Sans Serif"/>
                <a:cs typeface="Microsoft Sans Serif"/>
              </a:rPr>
              <a:t>for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r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in </a:t>
            </a:r>
            <a:r>
              <a:rPr sz="1800" spc="-10" dirty="0">
                <a:latin typeface="Microsoft Sans Serif"/>
                <a:cs typeface="Microsoft Sans Serif"/>
              </a:rPr>
              <a:t>result: print(r)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Matrices:</a:t>
            </a:r>
            <a:r>
              <a:rPr spc="-225" dirty="0"/>
              <a:t> </a:t>
            </a:r>
            <a:r>
              <a:rPr spc="-10" dirty="0"/>
              <a:t>computer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81659" y="945239"/>
            <a:ext cx="4160520" cy="1323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Microsoft Sans Serif"/>
                <a:cs typeface="Microsoft Sans Serif"/>
              </a:rPr>
              <a:t>import numpy as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np</a:t>
            </a: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ts val="2085"/>
              </a:lnSpc>
              <a:spcBef>
                <a:spcPts val="1870"/>
              </a:spcBef>
            </a:pPr>
            <a:r>
              <a:rPr sz="1800" dirty="0">
                <a:latin typeface="Microsoft Sans Serif"/>
                <a:cs typeface="Microsoft Sans Serif"/>
              </a:rPr>
              <a:t>A</a:t>
            </a:r>
            <a:r>
              <a:rPr sz="1800" spc="-1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=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np.array([[6,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1,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1],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[4, </a:t>
            </a:r>
            <a:r>
              <a:rPr sz="1800" spc="-10" dirty="0">
                <a:latin typeface="Microsoft Sans Serif"/>
                <a:cs typeface="Microsoft Sans Serif"/>
              </a:rPr>
              <a:t>-</a:t>
            </a:r>
            <a:r>
              <a:rPr sz="1800" dirty="0">
                <a:latin typeface="Microsoft Sans Serif"/>
                <a:cs typeface="Microsoft Sans Serif"/>
              </a:rPr>
              <a:t>2,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5],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[2,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8,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spc="-20" dirty="0">
                <a:latin typeface="Microsoft Sans Serif"/>
                <a:cs typeface="Microsoft Sans Serif"/>
              </a:rPr>
              <a:t>7]])</a:t>
            </a:r>
            <a:endParaRPr sz="1800">
              <a:latin typeface="Microsoft Sans Serif"/>
              <a:cs typeface="Microsoft Sans Serif"/>
            </a:endParaRPr>
          </a:p>
          <a:p>
            <a:pPr marL="12700" marR="2218690">
              <a:lnSpc>
                <a:spcPts val="2020"/>
              </a:lnSpc>
              <a:spcBef>
                <a:spcPts val="105"/>
              </a:spcBef>
            </a:pPr>
            <a:r>
              <a:rPr sz="1800" dirty="0">
                <a:latin typeface="Microsoft Sans Serif"/>
                <a:cs typeface="Microsoft Sans Serif"/>
              </a:rPr>
              <a:t>B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=</a:t>
            </a:r>
            <a:r>
              <a:rPr sz="1800" spc="2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np.linalg.inv(A) </a:t>
            </a:r>
            <a:r>
              <a:rPr sz="1800" dirty="0">
                <a:latin typeface="Microsoft Sans Serif"/>
                <a:cs typeface="Microsoft Sans Serif"/>
              </a:rPr>
              <a:t>print</a:t>
            </a:r>
            <a:r>
              <a:rPr sz="1800" spc="-40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(B)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Matrices:</a:t>
            </a:r>
            <a:r>
              <a:rPr spc="-225" dirty="0"/>
              <a:t> </a:t>
            </a:r>
            <a:r>
              <a:rPr spc="-10" dirty="0"/>
              <a:t>computer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Matrices:</a:t>
            </a:r>
            <a:r>
              <a:rPr spc="-225" dirty="0"/>
              <a:t> </a:t>
            </a:r>
            <a:r>
              <a:rPr spc="-10" dirty="0"/>
              <a:t>computer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9051" y="834974"/>
            <a:ext cx="2980246" cy="1374463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3887470" y="1458319"/>
            <a:ext cx="1080770" cy="107950"/>
            <a:chOff x="3887470" y="1458319"/>
            <a:chExt cx="1080770" cy="107950"/>
          </a:xfrm>
        </p:grpSpPr>
        <p:sp>
          <p:nvSpPr>
            <p:cNvPr id="5" name="object 5"/>
            <p:cNvSpPr/>
            <p:nvPr/>
          </p:nvSpPr>
          <p:spPr>
            <a:xfrm>
              <a:off x="3887470" y="1512929"/>
              <a:ext cx="925830" cy="0"/>
            </a:xfrm>
            <a:custGeom>
              <a:avLst/>
              <a:gdLst/>
              <a:ahLst/>
              <a:cxnLst/>
              <a:rect l="l" t="t" r="r" b="b"/>
              <a:pathLst>
                <a:path w="925829">
                  <a:moveTo>
                    <a:pt x="0" y="0"/>
                  </a:moveTo>
                  <a:lnTo>
                    <a:pt x="92582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805680" y="1458319"/>
              <a:ext cx="162560" cy="107950"/>
            </a:xfrm>
            <a:custGeom>
              <a:avLst/>
              <a:gdLst/>
              <a:ahLst/>
              <a:cxnLst/>
              <a:rect l="l" t="t" r="r" b="b"/>
              <a:pathLst>
                <a:path w="162560" h="107950">
                  <a:moveTo>
                    <a:pt x="0" y="0"/>
                  </a:moveTo>
                  <a:lnTo>
                    <a:pt x="0" y="107950"/>
                  </a:lnTo>
                  <a:lnTo>
                    <a:pt x="162560" y="546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4715509" y="658219"/>
            <a:ext cx="4284980" cy="1502410"/>
            <a:chOff x="4715509" y="658219"/>
            <a:chExt cx="4284980" cy="1502410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39359" y="658219"/>
              <a:ext cx="3961130" cy="150241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4715509" y="1368150"/>
              <a:ext cx="421640" cy="0"/>
            </a:xfrm>
            <a:custGeom>
              <a:avLst/>
              <a:gdLst/>
              <a:ahLst/>
              <a:cxnLst/>
              <a:rect l="l" t="t" r="r" b="b"/>
              <a:pathLst>
                <a:path w="421639">
                  <a:moveTo>
                    <a:pt x="0" y="0"/>
                  </a:moveTo>
                  <a:lnTo>
                    <a:pt x="42163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129529" y="1314810"/>
              <a:ext cx="162560" cy="107950"/>
            </a:xfrm>
            <a:custGeom>
              <a:avLst/>
              <a:gdLst/>
              <a:ahLst/>
              <a:cxnLst/>
              <a:rect l="l" t="t" r="r" b="b"/>
              <a:pathLst>
                <a:path w="162560" h="107950">
                  <a:moveTo>
                    <a:pt x="0" y="0"/>
                  </a:moveTo>
                  <a:lnTo>
                    <a:pt x="0" y="107950"/>
                  </a:lnTo>
                  <a:lnTo>
                    <a:pt x="162560" y="533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7146290" y="2268579"/>
            <a:ext cx="107950" cy="647700"/>
            <a:chOff x="7146290" y="2268579"/>
            <a:chExt cx="107950" cy="647700"/>
          </a:xfrm>
        </p:grpSpPr>
        <p:sp>
          <p:nvSpPr>
            <p:cNvPr id="12" name="object 12"/>
            <p:cNvSpPr/>
            <p:nvPr/>
          </p:nvSpPr>
          <p:spPr>
            <a:xfrm>
              <a:off x="7199630" y="2268579"/>
              <a:ext cx="0" cy="492759"/>
            </a:xfrm>
            <a:custGeom>
              <a:avLst/>
              <a:gdLst/>
              <a:ahLst/>
              <a:cxnLst/>
              <a:rect l="l" t="t" r="r" b="b"/>
              <a:pathLst>
                <a:path h="492760">
                  <a:moveTo>
                    <a:pt x="0" y="0"/>
                  </a:moveTo>
                  <a:lnTo>
                    <a:pt x="0" y="49276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146290" y="2754989"/>
              <a:ext cx="107950" cy="161290"/>
            </a:xfrm>
            <a:custGeom>
              <a:avLst/>
              <a:gdLst/>
              <a:ahLst/>
              <a:cxnLst/>
              <a:rect l="l" t="t" r="r" b="b"/>
              <a:pathLst>
                <a:path w="107950" h="161289">
                  <a:moveTo>
                    <a:pt x="107950" y="0"/>
                  </a:moveTo>
                  <a:lnTo>
                    <a:pt x="0" y="0"/>
                  </a:lnTo>
                  <a:lnTo>
                    <a:pt x="53339" y="161289"/>
                  </a:lnTo>
                  <a:lnTo>
                    <a:pt x="1079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248253" y="3317264"/>
            <a:ext cx="4111689" cy="1428150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03630" y="3352807"/>
            <a:ext cx="3229914" cy="1499305"/>
          </a:xfrm>
          <a:prstGeom prst="rect">
            <a:avLst/>
          </a:prstGeom>
        </p:spPr>
      </p:pic>
      <p:grpSp>
        <p:nvGrpSpPr>
          <p:cNvPr id="16" name="object 16"/>
          <p:cNvGrpSpPr/>
          <p:nvPr/>
        </p:nvGrpSpPr>
        <p:grpSpPr>
          <a:xfrm>
            <a:off x="4032250" y="4050389"/>
            <a:ext cx="1079500" cy="107950"/>
            <a:chOff x="4032250" y="4050389"/>
            <a:chExt cx="1079500" cy="107950"/>
          </a:xfrm>
        </p:grpSpPr>
        <p:sp>
          <p:nvSpPr>
            <p:cNvPr id="17" name="object 17"/>
            <p:cNvSpPr/>
            <p:nvPr/>
          </p:nvSpPr>
          <p:spPr>
            <a:xfrm>
              <a:off x="4187189" y="4103729"/>
              <a:ext cx="924560" cy="0"/>
            </a:xfrm>
            <a:custGeom>
              <a:avLst/>
              <a:gdLst/>
              <a:ahLst/>
              <a:cxnLst/>
              <a:rect l="l" t="t" r="r" b="b"/>
              <a:pathLst>
                <a:path w="924560">
                  <a:moveTo>
                    <a:pt x="924560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032250" y="4050389"/>
              <a:ext cx="161290" cy="107950"/>
            </a:xfrm>
            <a:custGeom>
              <a:avLst/>
              <a:gdLst/>
              <a:ahLst/>
              <a:cxnLst/>
              <a:rect l="l" t="t" r="r" b="b"/>
              <a:pathLst>
                <a:path w="161289" h="107950">
                  <a:moveTo>
                    <a:pt x="161289" y="0"/>
                  </a:moveTo>
                  <a:lnTo>
                    <a:pt x="0" y="53340"/>
                  </a:lnTo>
                  <a:lnTo>
                    <a:pt x="161289" y="107950"/>
                  </a:lnTo>
                  <a:lnTo>
                    <a:pt x="16128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301750" y="2423519"/>
            <a:ext cx="178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Microsoft Sans Serif"/>
                <a:cs typeface="Microsoft Sans Serif"/>
              </a:rPr>
              <a:t>A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669539" y="2387960"/>
            <a:ext cx="89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Microsoft Sans Serif"/>
                <a:cs typeface="Microsoft Sans Serif"/>
              </a:rPr>
              <a:t>I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Matrices:</a:t>
            </a:r>
            <a:r>
              <a:rPr spc="-225" dirty="0"/>
              <a:t> </a:t>
            </a:r>
            <a:r>
              <a:rPr spc="-10" dirty="0"/>
              <a:t>computer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0346" y="895688"/>
            <a:ext cx="3110267" cy="1797946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5778496" y="826195"/>
            <a:ext cx="3000375" cy="4610735"/>
            <a:chOff x="5778496" y="826195"/>
            <a:chExt cx="3000375" cy="461073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87324" y="826195"/>
              <a:ext cx="2815319" cy="190473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272020" y="2758799"/>
              <a:ext cx="0" cy="542290"/>
            </a:xfrm>
            <a:custGeom>
              <a:avLst/>
              <a:gdLst/>
              <a:ahLst/>
              <a:cxnLst/>
              <a:rect l="l" t="t" r="r" b="b"/>
              <a:pathLst>
                <a:path h="542289">
                  <a:moveTo>
                    <a:pt x="0" y="0"/>
                  </a:moveTo>
                  <a:lnTo>
                    <a:pt x="0" y="54228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217410" y="3294739"/>
              <a:ext cx="109220" cy="161290"/>
            </a:xfrm>
            <a:custGeom>
              <a:avLst/>
              <a:gdLst/>
              <a:ahLst/>
              <a:cxnLst/>
              <a:rect l="l" t="t" r="r" b="b"/>
              <a:pathLst>
                <a:path w="109220" h="161289">
                  <a:moveTo>
                    <a:pt x="109220" y="0"/>
                  </a:moveTo>
                  <a:lnTo>
                    <a:pt x="0" y="0"/>
                  </a:lnTo>
                  <a:lnTo>
                    <a:pt x="54610" y="161289"/>
                  </a:lnTo>
                  <a:lnTo>
                    <a:pt x="1092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78496" y="3484595"/>
              <a:ext cx="2999751" cy="1952008"/>
            </a:xfrm>
            <a:prstGeom prst="rect">
              <a:avLst/>
            </a:prstGeom>
          </p:spPr>
        </p:pic>
      </p:grpSp>
      <p:grpSp>
        <p:nvGrpSpPr>
          <p:cNvPr id="9" name="object 9"/>
          <p:cNvGrpSpPr/>
          <p:nvPr/>
        </p:nvGrpSpPr>
        <p:grpSpPr>
          <a:xfrm>
            <a:off x="4103370" y="1601829"/>
            <a:ext cx="1440180" cy="107950"/>
            <a:chOff x="4103370" y="1601829"/>
            <a:chExt cx="1440180" cy="107950"/>
          </a:xfrm>
        </p:grpSpPr>
        <p:sp>
          <p:nvSpPr>
            <p:cNvPr id="10" name="object 10"/>
            <p:cNvSpPr/>
            <p:nvPr/>
          </p:nvSpPr>
          <p:spPr>
            <a:xfrm>
              <a:off x="4103370" y="1656439"/>
              <a:ext cx="1285240" cy="0"/>
            </a:xfrm>
            <a:custGeom>
              <a:avLst/>
              <a:gdLst/>
              <a:ahLst/>
              <a:cxnLst/>
              <a:rect l="l" t="t" r="r" b="b"/>
              <a:pathLst>
                <a:path w="1285239">
                  <a:moveTo>
                    <a:pt x="0" y="0"/>
                  </a:moveTo>
                  <a:lnTo>
                    <a:pt x="128523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382260" y="1601829"/>
              <a:ext cx="161290" cy="107950"/>
            </a:xfrm>
            <a:custGeom>
              <a:avLst/>
              <a:gdLst/>
              <a:ahLst/>
              <a:cxnLst/>
              <a:rect l="l" t="t" r="r" b="b"/>
              <a:pathLst>
                <a:path w="161289" h="107950">
                  <a:moveTo>
                    <a:pt x="0" y="0"/>
                  </a:moveTo>
                  <a:lnTo>
                    <a:pt x="0" y="107950"/>
                  </a:lnTo>
                  <a:lnTo>
                    <a:pt x="161289" y="546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Matrices:</a:t>
            </a:r>
            <a:r>
              <a:rPr spc="-225" dirty="0"/>
              <a:t> </a:t>
            </a:r>
            <a:r>
              <a:rPr spc="-10" dirty="0"/>
              <a:t>computer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306320" y="1046839"/>
          <a:ext cx="1996439" cy="1828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3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81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8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3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R="29845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3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217804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4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B2B2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2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37465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10" dirty="0">
                          <a:latin typeface="Microsoft Sans Serif"/>
                          <a:cs typeface="Microsoft Sans Serif"/>
                        </a:rPr>
                        <a:t>-</a:t>
                      </a: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3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217804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4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37465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10" dirty="0">
                          <a:latin typeface="Microsoft Sans Serif"/>
                          <a:cs typeface="Microsoft Sans Serif"/>
                        </a:rPr>
                        <a:t>-</a:t>
                      </a: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217804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E5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</TotalTime>
  <Words>3065</Words>
  <Application>Microsoft Office PowerPoint</Application>
  <PresentationFormat>Custom</PresentationFormat>
  <Paragraphs>585</Paragraphs>
  <Slides>59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7" baseType="lpstr">
      <vt:lpstr>PMingLiU-ExtB</vt:lpstr>
      <vt:lpstr>Arial</vt:lpstr>
      <vt:lpstr>Calibri</vt:lpstr>
      <vt:lpstr>Courier New</vt:lpstr>
      <vt:lpstr>Georgia</vt:lpstr>
      <vt:lpstr>Microsoft Sans Serif</vt:lpstr>
      <vt:lpstr>Times New Roman</vt:lpstr>
      <vt:lpstr>Office Theme</vt:lpstr>
      <vt:lpstr>Module 2: Mathematical Physics I</vt:lpstr>
      <vt:lpstr>Frame of refrence</vt:lpstr>
      <vt:lpstr>Scalar and vector</vt:lpstr>
      <vt:lpstr>Vectors opreations</vt:lpstr>
      <vt:lpstr>Vectors opreations</vt:lpstr>
      <vt:lpstr>Vectors operations</vt:lpstr>
      <vt:lpstr>Vectors operations</vt:lpstr>
      <vt:lpstr>Vectors operations</vt:lpstr>
      <vt:lpstr>Vectors operations</vt:lpstr>
      <vt:lpstr>Vectors operations Find area vector and area that is orthogonal to the plane containing the points P=(3,0,1), Q=(4,−2,1), and R=(5,3,−1).</vt:lpstr>
      <vt:lpstr>Gradient, divergence and curl</vt:lpstr>
      <vt:lpstr>Gradient, divergence and curl</vt:lpstr>
      <vt:lpstr>Integral</vt:lpstr>
      <vt:lpstr>Matrix</vt:lpstr>
      <vt:lpstr>Matrix</vt:lpstr>
      <vt:lpstr>Matrix operations</vt:lpstr>
      <vt:lpstr>Matrix operations</vt:lpstr>
      <vt:lpstr>PowerPoint Presentation</vt:lpstr>
      <vt:lpstr>PowerPoint Presentation</vt:lpstr>
      <vt:lpstr>Matrix operations</vt:lpstr>
      <vt:lpstr>Matrix operations</vt:lpstr>
      <vt:lpstr>Matrix operations</vt:lpstr>
      <vt:lpstr>Matrix operations</vt:lpstr>
      <vt:lpstr>Matrix operations</vt:lpstr>
      <vt:lpstr>Matrix operations</vt:lpstr>
      <vt:lpstr>Matrix operations</vt:lpstr>
      <vt:lpstr>Matrix operations</vt:lpstr>
      <vt:lpstr>PowerPoint Presentation</vt:lpstr>
      <vt:lpstr>Matrix operations</vt:lpstr>
      <vt:lpstr>Matrix operations</vt:lpstr>
      <vt:lpstr>Matrix operations</vt:lpstr>
      <vt:lpstr>Matrix operations</vt:lpstr>
      <vt:lpstr>Matrix operations</vt:lpstr>
      <vt:lpstr>PowerPoint Presentation</vt:lpstr>
      <vt:lpstr>Matrix operations</vt:lpstr>
      <vt:lpstr>Matrix operations</vt:lpstr>
      <vt:lpstr>Matrix operations</vt:lpstr>
      <vt:lpstr>Matrix operations</vt:lpstr>
      <vt:lpstr>Matrix operations Inverse of the matrix can also be calculated using</vt:lpstr>
      <vt:lpstr>Matrix operations</vt:lpstr>
      <vt:lpstr>Vectors: computer</vt:lpstr>
      <vt:lpstr>Vectors: computer</vt:lpstr>
      <vt:lpstr>Vectors: computer</vt:lpstr>
      <vt:lpstr>Vectors: computer</vt:lpstr>
      <vt:lpstr>Vectors: computer</vt:lpstr>
      <vt:lpstr>Vectors: computer</vt:lpstr>
      <vt:lpstr>Vectors: computer</vt:lpstr>
      <vt:lpstr>Vectors: computer</vt:lpstr>
      <vt:lpstr>Matrices: computer</vt:lpstr>
      <vt:lpstr>Matrices: computer</vt:lpstr>
      <vt:lpstr>Matrices: computer</vt:lpstr>
      <vt:lpstr>Matrices: computer</vt:lpstr>
      <vt:lpstr>Matrices: computer</vt:lpstr>
      <vt:lpstr>Matrices: computer</vt:lpstr>
      <vt:lpstr>Matrices: computer</vt:lpstr>
      <vt:lpstr>Matrices: computer</vt:lpstr>
      <vt:lpstr>Matrices: computer</vt:lpstr>
      <vt:lpstr>Matrices: computer</vt:lpstr>
      <vt:lpstr>Matrices: computer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shweta mukherjee</cp:lastModifiedBy>
  <cp:revision>1</cp:revision>
  <dcterms:created xsi:type="dcterms:W3CDTF">2025-09-17T03:52:43Z</dcterms:created>
  <dcterms:modified xsi:type="dcterms:W3CDTF">2025-09-17T04:34:54Z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2021-03-14T00:00:00Z</vt:filetime>
  </property>
  <property fmtid="{D5CDD505-2E9C-101B-9397-08002B2CF9AE}" pid="3" name="Creator">
    <vt:lpwstr>Impress</vt:lpwstr>
  </property>
  <property fmtid="{D5CDD505-2E9C-101B-9397-08002B2CF9AE}" pid="4" name="Producer">
    <vt:lpwstr>LibreOffice 6.0</vt:lpwstr>
  </property>
  <property fmtid="{D5CDD505-2E9C-101B-9397-08002B2CF9AE}" pid="5" name="LastSaved">
    <vt:filetime>2021-03-14T00:00:00Z</vt:filetime>
  </property>
</Properties>
</file>